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28" r:id="rId2"/>
    <p:sldId id="315" r:id="rId3"/>
    <p:sldId id="507" r:id="rId4"/>
    <p:sldId id="506" r:id="rId5"/>
    <p:sldId id="524" r:id="rId6"/>
    <p:sldId id="515" r:id="rId7"/>
    <p:sldId id="510" r:id="rId8"/>
    <p:sldId id="509" r:id="rId9"/>
    <p:sldId id="511" r:id="rId10"/>
    <p:sldId id="516" r:id="rId11"/>
    <p:sldId id="512" r:id="rId12"/>
    <p:sldId id="522" r:id="rId13"/>
    <p:sldId id="517" r:id="rId14"/>
    <p:sldId id="751" r:id="rId15"/>
    <p:sldId id="752" r:id="rId16"/>
    <p:sldId id="513" r:id="rId17"/>
    <p:sldId id="518" r:id="rId18"/>
    <p:sldId id="519" r:id="rId19"/>
    <p:sldId id="526" r:id="rId20"/>
    <p:sldId id="750" r:id="rId21"/>
    <p:sldId id="521" r:id="rId22"/>
    <p:sldId id="308" r:id="rId23"/>
    <p:sldId id="310" r:id="rId24"/>
    <p:sldId id="324" r:id="rId25"/>
    <p:sldId id="325" r:id="rId26"/>
    <p:sldId id="312" r:id="rId27"/>
    <p:sldId id="318" r:id="rId28"/>
    <p:sldId id="527" r:id="rId29"/>
    <p:sldId id="425" r:id="rId30"/>
    <p:sldId id="747" r:id="rId31"/>
    <p:sldId id="748" r:id="rId32"/>
    <p:sldId id="749" r:id="rId33"/>
    <p:sldId id="439" r:id="rId34"/>
    <p:sldId id="443" r:id="rId35"/>
    <p:sldId id="316" r:id="rId36"/>
    <p:sldId id="317" r:id="rId37"/>
    <p:sldId id="328" r:id="rId38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DC3A4-37F3-42D1-A71C-962336F7E4DD}" v="31" dt="2026-01-26T09:20:39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31" autoAdjust="0"/>
    <p:restoredTop sz="94639" autoAdjust="0"/>
  </p:normalViewPr>
  <p:slideViewPr>
    <p:cSldViewPr>
      <p:cViewPr varScale="1">
        <p:scale>
          <a:sx n="161" d="100"/>
          <a:sy n="161" d="100"/>
        </p:scale>
        <p:origin x="169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Høj Lorenzen" userId="bBWxxBQ7lkasMs2MbwWOgVQi6AWwF9tq+T+K2+XYcig=" providerId="None" clId="Web-{395DC3A4-37F3-42D1-A71C-962336F7E4DD}"/>
    <pc:docChg chg="delSld modSld">
      <pc:chgData name="Kasper Høj Lorenzen" userId="bBWxxBQ7lkasMs2MbwWOgVQi6AWwF9tq+T+K2+XYcig=" providerId="None" clId="Web-{395DC3A4-37F3-42D1-A71C-962336F7E4DD}" dt="2026-01-26T09:20:39.300" v="28"/>
      <pc:docMkLst>
        <pc:docMk/>
      </pc:docMkLst>
      <pc:sldChg chg="del">
        <pc:chgData name="Kasper Høj Lorenzen" userId="bBWxxBQ7lkasMs2MbwWOgVQi6AWwF9tq+T+K2+XYcig=" providerId="None" clId="Web-{395DC3A4-37F3-42D1-A71C-962336F7E4DD}" dt="2026-01-26T08:29:12.446" v="4"/>
        <pc:sldMkLst>
          <pc:docMk/>
          <pc:sldMk cId="1855490715" sldId="292"/>
        </pc:sldMkLst>
      </pc:sldChg>
      <pc:sldChg chg="modSp">
        <pc:chgData name="Kasper Høj Lorenzen" userId="bBWxxBQ7lkasMs2MbwWOgVQi6AWwF9tq+T+K2+XYcig=" providerId="None" clId="Web-{395DC3A4-37F3-42D1-A71C-962336F7E4DD}" dt="2026-01-26T08:28:57.789" v="3" actId="20577"/>
        <pc:sldMkLst>
          <pc:docMk/>
          <pc:sldMk cId="1011219067" sldId="315"/>
        </pc:sldMkLst>
        <pc:spChg chg="mod">
          <ac:chgData name="Kasper Høj Lorenzen" userId="bBWxxBQ7lkasMs2MbwWOgVQi6AWwF9tq+T+K2+XYcig=" providerId="None" clId="Web-{395DC3A4-37F3-42D1-A71C-962336F7E4DD}" dt="2026-01-26T08:28:57.789" v="3" actId="20577"/>
          <ac:spMkLst>
            <pc:docMk/>
            <pc:sldMk cId="1011219067" sldId="315"/>
            <ac:spMk id="11" creationId="{00000000-0000-0000-0000-000000000000}"/>
          </ac:spMkLst>
        </pc:spChg>
      </pc:sldChg>
      <pc:sldChg chg="delSp">
        <pc:chgData name="Kasper Høj Lorenzen" userId="bBWxxBQ7lkasMs2MbwWOgVQi6AWwF9tq+T+K2+XYcig=" providerId="None" clId="Web-{395DC3A4-37F3-42D1-A71C-962336F7E4DD}" dt="2026-01-26T09:20:39.300" v="28"/>
        <pc:sldMkLst>
          <pc:docMk/>
          <pc:sldMk cId="3016666576" sldId="318"/>
        </pc:sldMkLst>
        <pc:picChg chg="del">
          <ac:chgData name="Kasper Høj Lorenzen" userId="bBWxxBQ7lkasMs2MbwWOgVQi6AWwF9tq+T+K2+XYcig=" providerId="None" clId="Web-{395DC3A4-37F3-42D1-A71C-962336F7E4DD}" dt="2026-01-26T09:20:39.300" v="28"/>
          <ac:picMkLst>
            <pc:docMk/>
            <pc:sldMk cId="3016666576" sldId="318"/>
            <ac:picMk id="3" creationId="{CFF1A6D3-3130-70EB-BAAD-EE7CA1988B1D}"/>
          </ac:picMkLst>
        </pc:picChg>
      </pc:sldChg>
      <pc:sldChg chg="del">
        <pc:chgData name="Kasper Høj Lorenzen" userId="bBWxxBQ7lkasMs2MbwWOgVQi6AWwF9tq+T+K2+XYcig=" providerId="None" clId="Web-{395DC3A4-37F3-42D1-A71C-962336F7E4DD}" dt="2026-01-26T09:20:29.628" v="27"/>
        <pc:sldMkLst>
          <pc:docMk/>
          <pc:sldMk cId="1469695412" sldId="327"/>
        </pc:sldMkLst>
      </pc:sldChg>
      <pc:sldChg chg="modSp">
        <pc:chgData name="Kasper Høj Lorenzen" userId="bBWxxBQ7lkasMs2MbwWOgVQi6AWwF9tq+T+K2+XYcig=" providerId="None" clId="Web-{395DC3A4-37F3-42D1-A71C-962336F7E4DD}" dt="2026-01-26T08:58:41.044" v="23" actId="20577"/>
        <pc:sldMkLst>
          <pc:docMk/>
          <pc:sldMk cId="36292551" sldId="506"/>
        </pc:sldMkLst>
        <pc:spChg chg="mod">
          <ac:chgData name="Kasper Høj Lorenzen" userId="bBWxxBQ7lkasMs2MbwWOgVQi6AWwF9tq+T+K2+XYcig=" providerId="None" clId="Web-{395DC3A4-37F3-42D1-A71C-962336F7E4DD}" dt="2026-01-26T08:58:41.044" v="23" actId="20577"/>
          <ac:spMkLst>
            <pc:docMk/>
            <pc:sldMk cId="36292551" sldId="506"/>
            <ac:spMk id="7" creationId="{FA39E3D1-0A00-4C85-8A25-D9D9827A2936}"/>
          </ac:spMkLst>
        </pc:spChg>
      </pc:sldChg>
      <pc:sldChg chg="delSp modSp">
        <pc:chgData name="Kasper Høj Lorenzen" userId="bBWxxBQ7lkasMs2MbwWOgVQi6AWwF9tq+T+K2+XYcig=" providerId="None" clId="Web-{395DC3A4-37F3-42D1-A71C-962336F7E4DD}" dt="2026-01-26T09:03:25.542" v="26"/>
        <pc:sldMkLst>
          <pc:docMk/>
          <pc:sldMk cId="4104725687" sldId="517"/>
        </pc:sldMkLst>
        <pc:spChg chg="del mod">
          <ac:chgData name="Kasper Høj Lorenzen" userId="bBWxxBQ7lkasMs2MbwWOgVQi6AWwF9tq+T+K2+XYcig=" providerId="None" clId="Web-{395DC3A4-37F3-42D1-A71C-962336F7E4DD}" dt="2026-01-26T09:03:25.542" v="26"/>
          <ac:spMkLst>
            <pc:docMk/>
            <pc:sldMk cId="4104725687" sldId="517"/>
            <ac:spMk id="4" creationId="{00000000-0000-0000-0000-000000000000}"/>
          </ac:spMkLst>
        </pc:spChg>
      </pc:sldChg>
      <pc:sldChg chg="addSp delSp modSp">
        <pc:chgData name="Kasper Høj Lorenzen" userId="bBWxxBQ7lkasMs2MbwWOgVQi6AWwF9tq+T+K2+XYcig=" providerId="None" clId="Web-{395DC3A4-37F3-42D1-A71C-962336F7E4DD}" dt="2026-01-26T08:58:14.857" v="10" actId="20577"/>
        <pc:sldMkLst>
          <pc:docMk/>
          <pc:sldMk cId="4112066896" sldId="528"/>
        </pc:sldMkLst>
        <pc:spChg chg="add del">
          <ac:chgData name="Kasper Høj Lorenzen" userId="bBWxxBQ7lkasMs2MbwWOgVQi6AWwF9tq+T+K2+XYcig=" providerId="None" clId="Web-{395DC3A4-37F3-42D1-A71C-962336F7E4DD}" dt="2026-01-26T08:28:02.130" v="1"/>
          <ac:spMkLst>
            <pc:docMk/>
            <pc:sldMk cId="4112066896" sldId="528"/>
            <ac:spMk id="3" creationId="{3EE30C28-4255-7AC7-85EB-3BA08E0595EF}"/>
          </ac:spMkLst>
        </pc:spChg>
        <pc:spChg chg="mod">
          <ac:chgData name="Kasper Høj Lorenzen" userId="bBWxxBQ7lkasMs2MbwWOgVQi6AWwF9tq+T+K2+XYcig=" providerId="None" clId="Web-{395DC3A4-37F3-42D1-A71C-962336F7E4DD}" dt="2026-01-26T08:58:14.857" v="10" actId="20577"/>
          <ac:spMkLst>
            <pc:docMk/>
            <pc:sldMk cId="4112066896" sldId="528"/>
            <ac:spMk id="12" creationId="{30F2D887-CDA1-1500-D429-2620F67BCBF1}"/>
          </ac:spMkLst>
        </pc:spChg>
      </pc:sldChg>
      <pc:sldChg chg="del">
        <pc:chgData name="Kasper Høj Lorenzen" userId="bBWxxBQ7lkasMs2MbwWOgVQi6AWwF9tq+T+K2+XYcig=" providerId="None" clId="Web-{395DC3A4-37F3-42D1-A71C-962336F7E4DD}" dt="2026-01-26T08:59:44.717" v="24"/>
        <pc:sldMkLst>
          <pc:docMk/>
          <pc:sldMk cId="2399039352" sldId="52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513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97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7922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246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87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156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424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70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0072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308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76A0-30D7-4D7A-A7D9-74402E02671B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E9C8E-5382-4313-B63F-5388F287E61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874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gif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ecibe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B68E-C444-D115-8CBA-2714C125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>
            <a:extLst>
              <a:ext uri="{FF2B5EF4-FFF2-40B4-BE49-F238E27FC236}">
                <a16:creationId xmlns:a16="http://schemas.microsoft.com/office/drawing/2014/main" id="{30D9C696-CA94-0D23-9395-59EBF37D44BF}"/>
              </a:ext>
            </a:extLst>
          </p:cNvPr>
          <p:cNvGrpSpPr/>
          <p:nvPr/>
        </p:nvGrpSpPr>
        <p:grpSpPr>
          <a:xfrm>
            <a:off x="7832326" y="188640"/>
            <a:ext cx="1198077" cy="1368152"/>
            <a:chOff x="7746442" y="116632"/>
            <a:chExt cx="1283962" cy="14207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F5100D3-1189-C718-E58A-8FEE96A1CE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6442" y="116632"/>
              <a:ext cx="1283962" cy="1189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kstboks 6">
              <a:extLst>
                <a:ext uri="{FF2B5EF4-FFF2-40B4-BE49-F238E27FC236}">
                  <a16:creationId xmlns:a16="http://schemas.microsoft.com/office/drawing/2014/main" id="{879B0296-5B2C-A696-2949-29C4ED722ABC}"/>
                </a:ext>
              </a:extLst>
            </p:cNvPr>
            <p:cNvSpPr txBox="1"/>
            <p:nvPr/>
          </p:nvSpPr>
          <p:spPr>
            <a:xfrm>
              <a:off x="7832327" y="1306586"/>
              <a:ext cx="11121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sz="900" i="1" dirty="0"/>
                <a:t>(Print-On-Demand)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FB54551-AB6F-2092-6C8F-1C577FA65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23023"/>
            <a:ext cx="2618473" cy="475253"/>
          </a:xfrm>
        </p:spPr>
        <p:txBody>
          <a:bodyPr>
            <a:normAutofit/>
          </a:bodyPr>
          <a:lstStyle/>
          <a:p>
            <a:pPr algn="l"/>
            <a:r>
              <a:rPr lang="da-DK" sz="2400" b="1" i="1" dirty="0"/>
              <a:t>ELE-plan for i dag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30F2D887-CDA1-1500-D429-2620F67BCBF1}"/>
              </a:ext>
            </a:extLst>
          </p:cNvPr>
          <p:cNvSpPr txBox="1">
            <a:spLocks/>
          </p:cNvSpPr>
          <p:nvPr/>
        </p:nvSpPr>
        <p:spPr>
          <a:xfrm>
            <a:off x="648708" y="476673"/>
            <a:ext cx="7183619" cy="11160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200" b="1" i="1" dirty="0"/>
              <a:t>Praktiske forhold</a:t>
            </a:r>
            <a:endParaRPr lang="da-DK" sz="2200" i="1" dirty="0"/>
          </a:p>
          <a:p>
            <a:pPr marL="342900" indent="-342900" algn="l">
              <a:buFontTx/>
              <a:buChar char="-"/>
            </a:pPr>
            <a:r>
              <a:rPr lang="da-DK" sz="2200" i="1" dirty="0"/>
              <a:t>Litteraturkilde og undervisning</a:t>
            </a:r>
            <a:endParaRPr lang="da-DK" sz="2200" i="1" dirty="0">
              <a:ea typeface="Calibri"/>
              <a:cs typeface="Calibri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1501828-CD5D-F527-B77B-88A6F4700A08}"/>
              </a:ext>
            </a:extLst>
          </p:cNvPr>
          <p:cNvSpPr txBox="1">
            <a:spLocks/>
          </p:cNvSpPr>
          <p:nvPr/>
        </p:nvSpPr>
        <p:spPr>
          <a:xfrm>
            <a:off x="648708" y="1739703"/>
            <a:ext cx="7739715" cy="8974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200" b="1" i="1" dirty="0"/>
              <a:t>Modkoblingsprincippet</a:t>
            </a:r>
            <a:endParaRPr lang="da-DK" sz="2200" i="1" dirty="0"/>
          </a:p>
          <a:p>
            <a:pPr marL="342900" indent="-342900" algn="l">
              <a:buFontTx/>
              <a:buChar char="-"/>
            </a:pPr>
            <a:r>
              <a:rPr lang="da-DK" sz="2200" i="1" dirty="0"/>
              <a:t>Eksempler på ideelle koblinger - øvelsesopgaver på klasse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AE8F139-A193-A2BA-B545-35CDF4FEF831}"/>
              </a:ext>
            </a:extLst>
          </p:cNvPr>
          <p:cNvSpPr txBox="1">
            <a:spLocks/>
          </p:cNvSpPr>
          <p:nvPr/>
        </p:nvSpPr>
        <p:spPr>
          <a:xfrm>
            <a:off x="648708" y="5298200"/>
            <a:ext cx="6875620" cy="79208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200" b="1" i="1" dirty="0"/>
              <a:t>Hvorfor fejlberegninger?</a:t>
            </a:r>
          </a:p>
          <a:p>
            <a:pPr marL="342900" indent="-342900" algn="l">
              <a:buFontTx/>
              <a:buChar char="-"/>
            </a:pPr>
            <a:r>
              <a:rPr lang="da-DK" sz="2200" i="1" dirty="0"/>
              <a:t>Målenøjagtighed - systematik ved dimensionering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00E32EB8-DDC3-B5CC-82C2-DEE552BCEF95}"/>
              </a:ext>
            </a:extLst>
          </p:cNvPr>
          <p:cNvSpPr txBox="1">
            <a:spLocks/>
          </p:cNvSpPr>
          <p:nvPr/>
        </p:nvSpPr>
        <p:spPr>
          <a:xfrm>
            <a:off x="648708" y="2784192"/>
            <a:ext cx="5147428" cy="110395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200" b="1" i="1" dirty="0"/>
              <a:t>Definition af dB</a:t>
            </a:r>
            <a:endParaRPr lang="da-DK" sz="2200" i="1" dirty="0"/>
          </a:p>
          <a:p>
            <a:pPr marL="342900" indent="-342900" algn="l">
              <a:buFontTx/>
              <a:buChar char="-"/>
            </a:pPr>
            <a:r>
              <a:rPr lang="da-DK" sz="2200" i="1" dirty="0"/>
              <a:t>Hvorfor denne logaritmiske relation?</a:t>
            </a:r>
          </a:p>
          <a:p>
            <a:pPr marL="342900" indent="-342900" algn="l">
              <a:buFontTx/>
              <a:buChar char="-"/>
            </a:pPr>
            <a:r>
              <a:rPr lang="da-DK" sz="2200" i="1" dirty="0"/>
              <a:t>Forstærkning ved kaskadekobling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CFD0F7C9-FFEC-A37F-1252-1237FB7AB581}"/>
              </a:ext>
            </a:extLst>
          </p:cNvPr>
          <p:cNvSpPr txBox="1">
            <a:spLocks/>
          </p:cNvSpPr>
          <p:nvPr/>
        </p:nvSpPr>
        <p:spPr>
          <a:xfrm>
            <a:off x="648708" y="4035171"/>
            <a:ext cx="4283331" cy="111600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200" b="1" i="1" dirty="0"/>
              <a:t>Forstærker model</a:t>
            </a:r>
          </a:p>
          <a:p>
            <a:pPr marL="342900" indent="-342900" algn="l">
              <a:buFontTx/>
              <a:buChar char="-"/>
            </a:pPr>
            <a:r>
              <a:rPr lang="da-DK" sz="2200" i="1" dirty="0"/>
              <a:t>Ækvivalent - ”lidt Thevenin-agtigt”</a:t>
            </a:r>
          </a:p>
          <a:p>
            <a:pPr marL="342900" indent="-342900" algn="l">
              <a:buFontTx/>
              <a:buChar char="-"/>
            </a:pPr>
            <a:r>
              <a:rPr lang="da-DK" sz="2200" i="1" dirty="0"/>
              <a:t>Eksempel på kaskadekobling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EE30C28-4255-7AC7-85EB-3BA08E0595EF}"/>
              </a:ext>
            </a:extLst>
          </p:cNvPr>
          <p:cNvSpPr txBox="1">
            <a:spLocks/>
          </p:cNvSpPr>
          <p:nvPr/>
        </p:nvSpPr>
        <p:spPr>
          <a:xfrm>
            <a:off x="648708" y="6237312"/>
            <a:ext cx="2808312" cy="4082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200" b="1" i="1" dirty="0"/>
              <a:t>Konstruktionsopgaven</a:t>
            </a:r>
          </a:p>
        </p:txBody>
      </p:sp>
    </p:spTree>
    <p:extLst>
      <p:ext uri="{BB962C8B-B14F-4D97-AF65-F5344CB8AC3E}">
        <p14:creationId xmlns:p14="http://schemas.microsoft.com/office/powerpoint/2010/main" val="411206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50742" y="838932"/>
            <a:ext cx="880898" cy="432048"/>
          </a:xfrm>
        </p:spPr>
        <p:txBody>
          <a:bodyPr>
            <a:noAutofit/>
          </a:bodyPr>
          <a:lstStyle/>
          <a:p>
            <a:pPr algn="l"/>
            <a:r>
              <a:rPr lang="da-DK" sz="2400" b="1" i="1" dirty="0"/>
              <a:t>Teori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450742" y="3212976"/>
            <a:ext cx="3448000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Konstruktionsopgave</a:t>
            </a:r>
          </a:p>
        </p:txBody>
      </p:sp>
      <p:sp>
        <p:nvSpPr>
          <p:cNvPr id="11" name="Undertitel 2"/>
          <p:cNvSpPr txBox="1">
            <a:spLocks/>
          </p:cNvSpPr>
          <p:nvPr/>
        </p:nvSpPr>
        <p:spPr>
          <a:xfrm>
            <a:off x="971600" y="3786820"/>
            <a:ext cx="7272808" cy="25180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Praktisk opgave i laboratoriet.</a:t>
            </a:r>
          </a:p>
          <a:p>
            <a:pPr marL="342900" indent="-342900" algn="l">
              <a:buFontTx/>
              <a:buChar char="-"/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Dokumentationen skal være tilstrækkelig til at kunne danne basis for eksamensforedrag.</a:t>
            </a:r>
            <a:endParaRPr lang="da-DK" sz="2400" i="1" dirty="0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 algn="l">
              <a:buFontTx/>
              <a:buChar char="-"/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Studér materialet - dan hold som det passer jer!</a:t>
            </a:r>
          </a:p>
        </p:txBody>
      </p:sp>
      <p:sp>
        <p:nvSpPr>
          <p:cNvPr id="12" name="Titel 1"/>
          <p:cNvSpPr txBox="1">
            <a:spLocks/>
          </p:cNvSpPr>
          <p:nvPr/>
        </p:nvSpPr>
        <p:spPr>
          <a:xfrm>
            <a:off x="35496" y="44624"/>
            <a:ext cx="3448000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Undervisningsform</a:t>
            </a:r>
          </a:p>
        </p:txBody>
      </p:sp>
      <p:sp>
        <p:nvSpPr>
          <p:cNvPr id="7" name="Undertitel 2">
            <a:extLst>
              <a:ext uri="{FF2B5EF4-FFF2-40B4-BE49-F238E27FC236}">
                <a16:creationId xmlns:a16="http://schemas.microsoft.com/office/drawing/2014/main" id="{98F9A4C7-C5A6-46A4-9906-2D64CB4A87EF}"/>
              </a:ext>
            </a:extLst>
          </p:cNvPr>
          <p:cNvSpPr txBox="1">
            <a:spLocks/>
          </p:cNvSpPr>
          <p:nvPr/>
        </p:nvSpPr>
        <p:spPr>
          <a:xfrm>
            <a:off x="971600" y="1340768"/>
            <a:ext cx="5400600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Normal gennemgang.</a:t>
            </a:r>
          </a:p>
          <a:p>
            <a:pPr marL="342900" indent="-342900" algn="l">
              <a:buFontTx/>
              <a:buChar char="-"/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Øvelsesopgaver – regn dem hjemme.</a:t>
            </a:r>
          </a:p>
          <a:p>
            <a:pPr marL="342900" indent="-342900" algn="l">
              <a:buFontTx/>
              <a:buChar char="-"/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Enkelte afsnit som selvstudie.</a:t>
            </a:r>
          </a:p>
        </p:txBody>
      </p:sp>
    </p:spTree>
    <p:extLst>
      <p:ext uri="{BB962C8B-B14F-4D97-AF65-F5344CB8AC3E}">
        <p14:creationId xmlns:p14="http://schemas.microsoft.com/office/powerpoint/2010/main" val="101121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9EDD8CBD-D246-4912-B7DA-21A9F96810A6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08823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Pensumliste: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F536558-26D6-6C7F-464B-D556653E8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643982"/>
            <a:ext cx="4876577" cy="56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6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51A567CB-5A7F-43AF-8905-FCF32AC3A48C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460851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Vedr. forberedelse til lektioner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1B9D0607-2869-429A-B841-292B76CCE9D6}"/>
              </a:ext>
            </a:extLst>
          </p:cNvPr>
          <p:cNvCxnSpPr>
            <a:cxnSpLocks/>
          </p:cNvCxnSpPr>
          <p:nvPr/>
        </p:nvCxnSpPr>
        <p:spPr>
          <a:xfrm flipH="1" flipV="1">
            <a:off x="4644008" y="3429000"/>
            <a:ext cx="1008112" cy="8158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e 3">
            <a:extLst>
              <a:ext uri="{FF2B5EF4-FFF2-40B4-BE49-F238E27FC236}">
                <a16:creationId xmlns:a16="http://schemas.microsoft.com/office/drawing/2014/main" id="{71C5849C-84F9-4E37-AFFF-B75AF678C9D4}"/>
              </a:ext>
            </a:extLst>
          </p:cNvPr>
          <p:cNvGrpSpPr/>
          <p:nvPr/>
        </p:nvGrpSpPr>
        <p:grpSpPr>
          <a:xfrm>
            <a:off x="5436096" y="4293096"/>
            <a:ext cx="3047535" cy="1485608"/>
            <a:chOff x="5412897" y="2951497"/>
            <a:chExt cx="3047535" cy="1485608"/>
          </a:xfrm>
        </p:grpSpPr>
        <p:sp>
          <p:nvSpPr>
            <p:cNvPr id="7" name="Titel 1">
              <a:extLst>
                <a:ext uri="{FF2B5EF4-FFF2-40B4-BE49-F238E27FC236}">
                  <a16:creationId xmlns:a16="http://schemas.microsoft.com/office/drawing/2014/main" id="{FA39E3D1-0A00-4C85-8A25-D9D9827A2936}"/>
                </a:ext>
              </a:extLst>
            </p:cNvPr>
            <p:cNvSpPr txBox="1">
              <a:spLocks/>
            </p:cNvSpPr>
            <p:nvPr/>
          </p:nvSpPr>
          <p:spPr>
            <a:xfrm>
              <a:off x="5796136" y="3383545"/>
              <a:ext cx="2539823" cy="57606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600" i="1" dirty="0"/>
                <a:t>Forberedelsesark </a:t>
              </a:r>
              <a:r>
                <a:rPr lang="da-DK" sz="1600" i="1"/>
                <a:t>på Itslearning</a:t>
              </a:r>
              <a:br>
                <a:rPr lang="da-DK" sz="1600" i="1" dirty="0"/>
              </a:br>
              <a:r>
                <a:rPr lang="da-DK" sz="1600" i="1" dirty="0"/>
                <a:t> – brug dem hvis I vil!</a:t>
              </a:r>
            </a:p>
          </p:txBody>
        </p:sp>
        <p:sp>
          <p:nvSpPr>
            <p:cNvPr id="9" name="Sky 8">
              <a:extLst>
                <a:ext uri="{FF2B5EF4-FFF2-40B4-BE49-F238E27FC236}">
                  <a16:creationId xmlns:a16="http://schemas.microsoft.com/office/drawing/2014/main" id="{2F5E0E99-12AD-445C-8572-6E732F5521DB}"/>
                </a:ext>
              </a:extLst>
            </p:cNvPr>
            <p:cNvSpPr/>
            <p:nvPr/>
          </p:nvSpPr>
          <p:spPr>
            <a:xfrm>
              <a:off x="5412897" y="2951497"/>
              <a:ext cx="3047535" cy="1485608"/>
            </a:xfrm>
            <a:prstGeom prst="clou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pic>
        <p:nvPicPr>
          <p:cNvPr id="17" name="Billede 16">
            <a:extLst>
              <a:ext uri="{FF2B5EF4-FFF2-40B4-BE49-F238E27FC236}">
                <a16:creationId xmlns:a16="http://schemas.microsoft.com/office/drawing/2014/main" id="{80CA5B67-A584-4DCA-A8E8-04BEC6C22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" r="3595"/>
          <a:stretch/>
        </p:blipFill>
        <p:spPr>
          <a:xfrm>
            <a:off x="937019" y="980728"/>
            <a:ext cx="3439641" cy="45145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92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496" y="44624"/>
            <a:ext cx="4896544" cy="432048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På 1. semester var det således: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70E5E6BB-759F-6B3A-8B03-0DE5C3A52378}"/>
              </a:ext>
            </a:extLst>
          </p:cNvPr>
          <p:cNvGrpSpPr/>
          <p:nvPr/>
        </p:nvGrpSpPr>
        <p:grpSpPr>
          <a:xfrm>
            <a:off x="1259632" y="836712"/>
            <a:ext cx="6336704" cy="4680520"/>
            <a:chOff x="1259632" y="836712"/>
            <a:chExt cx="6336704" cy="4680520"/>
          </a:xfrm>
        </p:grpSpPr>
        <p:sp>
          <p:nvSpPr>
            <p:cNvPr id="11" name="Titel 1">
              <a:extLst>
                <a:ext uri="{FF2B5EF4-FFF2-40B4-BE49-F238E27FC236}">
                  <a16:creationId xmlns:a16="http://schemas.microsoft.com/office/drawing/2014/main" id="{AE70F220-1DE7-ED0E-6149-95072CD6C060}"/>
                </a:ext>
              </a:extLst>
            </p:cNvPr>
            <p:cNvSpPr txBox="1">
              <a:spLocks/>
            </p:cNvSpPr>
            <p:nvPr/>
          </p:nvSpPr>
          <p:spPr>
            <a:xfrm>
              <a:off x="1308759" y="878012"/>
              <a:ext cx="1943475" cy="30380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/>
                <a:t>Den ideelle Op Amp</a:t>
              </a:r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91FF3B31-4AED-AEE8-A2B8-4FDC2C96EE1D}"/>
                </a:ext>
              </a:extLst>
            </p:cNvPr>
            <p:cNvSpPr txBox="1">
              <a:spLocks/>
            </p:cNvSpPr>
            <p:nvPr/>
          </p:nvSpPr>
          <p:spPr>
            <a:xfrm>
              <a:off x="2344978" y="1402094"/>
              <a:ext cx="4166011" cy="30380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400" i="1" dirty="0"/>
                <a:t>I skal blot være bekendte med terminalegenskaberne!</a:t>
              </a:r>
            </a:p>
          </p:txBody>
        </p:sp>
        <p:pic>
          <p:nvPicPr>
            <p:cNvPr id="15" name="Billede 14">
              <a:extLst>
                <a:ext uri="{FF2B5EF4-FFF2-40B4-BE49-F238E27FC236}">
                  <a16:creationId xmlns:a16="http://schemas.microsoft.com/office/drawing/2014/main" id="{C6DB4C0F-8F9E-25E4-866E-9D0540CC6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0497" y="1925881"/>
              <a:ext cx="3814413" cy="2980964"/>
            </a:xfrm>
            <a:prstGeom prst="rect">
              <a:avLst/>
            </a:prstGeom>
          </p:spPr>
        </p:pic>
        <p:sp>
          <p:nvSpPr>
            <p:cNvPr id="16" name="Rektangel 15">
              <a:extLst>
                <a:ext uri="{FF2B5EF4-FFF2-40B4-BE49-F238E27FC236}">
                  <a16:creationId xmlns:a16="http://schemas.microsoft.com/office/drawing/2014/main" id="{3C8E37DD-F046-34CA-A773-9D7A350DD5A7}"/>
                </a:ext>
              </a:extLst>
            </p:cNvPr>
            <p:cNvSpPr/>
            <p:nvPr/>
          </p:nvSpPr>
          <p:spPr>
            <a:xfrm>
              <a:off x="1259632" y="836712"/>
              <a:ext cx="6336704" cy="468052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</p:spTree>
    <p:extLst>
      <p:ext uri="{BB962C8B-B14F-4D97-AF65-F5344CB8AC3E}">
        <p14:creationId xmlns:p14="http://schemas.microsoft.com/office/powerpoint/2010/main" val="274784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/>
        </p:nvSpPr>
        <p:spPr>
          <a:xfrm>
            <a:off x="35496" y="44624"/>
            <a:ext cx="3960440" cy="489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Modkoblingsprincippet</a:t>
            </a:r>
          </a:p>
        </p:txBody>
      </p: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216568A8-2361-4F3E-8DB7-21CAA15612E2}"/>
              </a:ext>
            </a:extLst>
          </p:cNvPr>
          <p:cNvGrpSpPr/>
          <p:nvPr/>
        </p:nvGrpSpPr>
        <p:grpSpPr>
          <a:xfrm>
            <a:off x="737812" y="991854"/>
            <a:ext cx="3289122" cy="3664321"/>
            <a:chOff x="3203848" y="1052736"/>
            <a:chExt cx="4873298" cy="5429208"/>
          </a:xfrm>
        </p:grpSpPr>
        <p:pic>
          <p:nvPicPr>
            <p:cNvPr id="17" name="Billede 16">
              <a:extLst>
                <a:ext uri="{FF2B5EF4-FFF2-40B4-BE49-F238E27FC236}">
                  <a16:creationId xmlns:a16="http://schemas.microsoft.com/office/drawing/2014/main" id="{4B74744B-8495-4CA2-9C30-A67E9776B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3848" y="2636912"/>
              <a:ext cx="4873298" cy="3845032"/>
            </a:xfrm>
            <a:prstGeom prst="rect">
              <a:avLst/>
            </a:prstGeom>
          </p:spPr>
        </p:pic>
        <p:grpSp>
          <p:nvGrpSpPr>
            <p:cNvPr id="18" name="Gruppe 17">
              <a:extLst>
                <a:ext uri="{FF2B5EF4-FFF2-40B4-BE49-F238E27FC236}">
                  <a16:creationId xmlns:a16="http://schemas.microsoft.com/office/drawing/2014/main" id="{4DEB572F-2078-41E2-9C69-BBEFB0CDD2CE}"/>
                </a:ext>
              </a:extLst>
            </p:cNvPr>
            <p:cNvGrpSpPr/>
            <p:nvPr/>
          </p:nvGrpSpPr>
          <p:grpSpPr>
            <a:xfrm>
              <a:off x="3347864" y="1052736"/>
              <a:ext cx="2808312" cy="1240938"/>
              <a:chOff x="539552" y="2996952"/>
              <a:chExt cx="4882832" cy="2160240"/>
            </a:xfrm>
          </p:grpSpPr>
          <p:sp>
            <p:nvSpPr>
              <p:cNvPr id="25" name="Sky 24">
                <a:extLst>
                  <a:ext uri="{FF2B5EF4-FFF2-40B4-BE49-F238E27FC236}">
                    <a16:creationId xmlns:a16="http://schemas.microsoft.com/office/drawing/2014/main" id="{0BBC4491-1755-4215-981A-ECF6612EC623}"/>
                  </a:ext>
                </a:extLst>
              </p:cNvPr>
              <p:cNvSpPr/>
              <p:nvPr/>
            </p:nvSpPr>
            <p:spPr>
              <a:xfrm>
                <a:off x="539552" y="2996952"/>
                <a:ext cx="4882832" cy="2160240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9" name="Titel 1">
                <a:extLst>
                  <a:ext uri="{FF2B5EF4-FFF2-40B4-BE49-F238E27FC236}">
                    <a16:creationId xmlns:a16="http://schemas.microsoft.com/office/drawing/2014/main" id="{6B014943-6ED4-46F7-9739-7C2463BADC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4754" y="3501008"/>
                <a:ext cx="3530499" cy="79208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1600" i="1" dirty="0"/>
                  <a:t>Brøkdel af </a:t>
                </a:r>
                <a:r>
                  <a:rPr lang="da-DK" sz="1600" i="1" dirty="0" err="1"/>
                  <a:t>v</a:t>
                </a:r>
                <a:r>
                  <a:rPr lang="da-DK" sz="1600" i="1" baseline="-25000" dirty="0" err="1"/>
                  <a:t>O</a:t>
                </a:r>
                <a:endParaRPr lang="da-DK" sz="1600" i="1" baseline="-25000" dirty="0"/>
              </a:p>
            </p:txBody>
          </p:sp>
        </p:grpSp>
        <p:sp>
          <p:nvSpPr>
            <p:cNvPr id="19" name="Bue 18">
              <a:extLst>
                <a:ext uri="{FF2B5EF4-FFF2-40B4-BE49-F238E27FC236}">
                  <a16:creationId xmlns:a16="http://schemas.microsoft.com/office/drawing/2014/main" id="{A6E35EF8-97E8-4110-85EF-CE4D2D3DCD21}"/>
                </a:ext>
              </a:extLst>
            </p:cNvPr>
            <p:cNvSpPr/>
            <p:nvPr/>
          </p:nvSpPr>
          <p:spPr>
            <a:xfrm>
              <a:off x="5004048" y="2294059"/>
              <a:ext cx="1272898" cy="1559693"/>
            </a:xfrm>
            <a:prstGeom prst="arc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1" name="Bue 20">
              <a:extLst>
                <a:ext uri="{FF2B5EF4-FFF2-40B4-BE49-F238E27FC236}">
                  <a16:creationId xmlns:a16="http://schemas.microsoft.com/office/drawing/2014/main" id="{4DB82DF3-9B9A-427F-9102-859CEC2A622E}"/>
                </a:ext>
              </a:extLst>
            </p:cNvPr>
            <p:cNvSpPr/>
            <p:nvPr/>
          </p:nvSpPr>
          <p:spPr>
            <a:xfrm flipH="1">
              <a:off x="3203848" y="2294059"/>
              <a:ext cx="1272898" cy="1559693"/>
            </a:xfrm>
            <a:prstGeom prst="arc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52874BF-BF85-54F6-FE2C-7628BF57D675}"/>
              </a:ext>
            </a:extLst>
          </p:cNvPr>
          <p:cNvSpPr txBox="1">
            <a:spLocks/>
          </p:cNvSpPr>
          <p:nvPr/>
        </p:nvSpPr>
        <p:spPr>
          <a:xfrm>
            <a:off x="5652120" y="6165304"/>
            <a:ext cx="3240360" cy="3459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Se evt. PPS bagerst til </a:t>
            </a:r>
            <a:r>
              <a:rPr lang="da-DK" sz="1400" i="1" dirty="0" err="1"/>
              <a:t>rep</a:t>
            </a:r>
            <a:r>
              <a:rPr lang="da-DK" sz="1400" i="1" dirty="0"/>
              <a:t>. af modkobling</a:t>
            </a:r>
          </a:p>
        </p:txBody>
      </p:sp>
    </p:spTree>
    <p:extLst>
      <p:ext uri="{BB962C8B-B14F-4D97-AF65-F5344CB8AC3E}">
        <p14:creationId xmlns:p14="http://schemas.microsoft.com/office/powerpoint/2010/main" val="392091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/>
        </p:nvSpPr>
        <p:spPr>
          <a:xfrm>
            <a:off x="35496" y="44624"/>
            <a:ext cx="3960440" cy="489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Modkoblingsprincippet</a:t>
            </a:r>
          </a:p>
        </p:txBody>
      </p: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216568A8-2361-4F3E-8DB7-21CAA15612E2}"/>
              </a:ext>
            </a:extLst>
          </p:cNvPr>
          <p:cNvGrpSpPr/>
          <p:nvPr/>
        </p:nvGrpSpPr>
        <p:grpSpPr>
          <a:xfrm>
            <a:off x="737812" y="991854"/>
            <a:ext cx="3289122" cy="3664321"/>
            <a:chOff x="3203848" y="1052736"/>
            <a:chExt cx="4873298" cy="5429208"/>
          </a:xfrm>
        </p:grpSpPr>
        <p:pic>
          <p:nvPicPr>
            <p:cNvPr id="17" name="Billede 16">
              <a:extLst>
                <a:ext uri="{FF2B5EF4-FFF2-40B4-BE49-F238E27FC236}">
                  <a16:creationId xmlns:a16="http://schemas.microsoft.com/office/drawing/2014/main" id="{4B74744B-8495-4CA2-9C30-A67E9776B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3848" y="2636912"/>
              <a:ext cx="4873298" cy="3845032"/>
            </a:xfrm>
            <a:prstGeom prst="rect">
              <a:avLst/>
            </a:prstGeom>
          </p:spPr>
        </p:pic>
        <p:grpSp>
          <p:nvGrpSpPr>
            <p:cNvPr id="18" name="Gruppe 17">
              <a:extLst>
                <a:ext uri="{FF2B5EF4-FFF2-40B4-BE49-F238E27FC236}">
                  <a16:creationId xmlns:a16="http://schemas.microsoft.com/office/drawing/2014/main" id="{4DEB572F-2078-41E2-9C69-BBEFB0CDD2CE}"/>
                </a:ext>
              </a:extLst>
            </p:cNvPr>
            <p:cNvGrpSpPr/>
            <p:nvPr/>
          </p:nvGrpSpPr>
          <p:grpSpPr>
            <a:xfrm>
              <a:off x="3347864" y="1052736"/>
              <a:ext cx="2808312" cy="1240938"/>
              <a:chOff x="539552" y="2996952"/>
              <a:chExt cx="4882832" cy="2160240"/>
            </a:xfrm>
          </p:grpSpPr>
          <p:sp>
            <p:nvSpPr>
              <p:cNvPr id="25" name="Sky 24">
                <a:extLst>
                  <a:ext uri="{FF2B5EF4-FFF2-40B4-BE49-F238E27FC236}">
                    <a16:creationId xmlns:a16="http://schemas.microsoft.com/office/drawing/2014/main" id="{0BBC4491-1755-4215-981A-ECF6612EC623}"/>
                  </a:ext>
                </a:extLst>
              </p:cNvPr>
              <p:cNvSpPr/>
              <p:nvPr/>
            </p:nvSpPr>
            <p:spPr>
              <a:xfrm>
                <a:off x="539552" y="2996952"/>
                <a:ext cx="4882832" cy="2160240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9" name="Titel 1">
                <a:extLst>
                  <a:ext uri="{FF2B5EF4-FFF2-40B4-BE49-F238E27FC236}">
                    <a16:creationId xmlns:a16="http://schemas.microsoft.com/office/drawing/2014/main" id="{6B014943-6ED4-46F7-9739-7C2463BADC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4754" y="3501008"/>
                <a:ext cx="3530499" cy="79208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1600" i="1" dirty="0"/>
                  <a:t>Brøkdel af </a:t>
                </a:r>
                <a:r>
                  <a:rPr lang="da-DK" sz="1600" i="1" dirty="0" err="1"/>
                  <a:t>v</a:t>
                </a:r>
                <a:r>
                  <a:rPr lang="da-DK" sz="1600" i="1" baseline="-25000" dirty="0" err="1"/>
                  <a:t>O</a:t>
                </a:r>
                <a:endParaRPr lang="da-DK" sz="1600" i="1" baseline="-25000" dirty="0"/>
              </a:p>
            </p:txBody>
          </p:sp>
        </p:grpSp>
        <p:sp>
          <p:nvSpPr>
            <p:cNvPr id="19" name="Bue 18">
              <a:extLst>
                <a:ext uri="{FF2B5EF4-FFF2-40B4-BE49-F238E27FC236}">
                  <a16:creationId xmlns:a16="http://schemas.microsoft.com/office/drawing/2014/main" id="{A6E35EF8-97E8-4110-85EF-CE4D2D3DCD21}"/>
                </a:ext>
              </a:extLst>
            </p:cNvPr>
            <p:cNvSpPr/>
            <p:nvPr/>
          </p:nvSpPr>
          <p:spPr>
            <a:xfrm>
              <a:off x="5004048" y="2294059"/>
              <a:ext cx="1272898" cy="1559693"/>
            </a:xfrm>
            <a:prstGeom prst="arc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1" name="Bue 20">
              <a:extLst>
                <a:ext uri="{FF2B5EF4-FFF2-40B4-BE49-F238E27FC236}">
                  <a16:creationId xmlns:a16="http://schemas.microsoft.com/office/drawing/2014/main" id="{4DB82DF3-9B9A-427F-9102-859CEC2A622E}"/>
                </a:ext>
              </a:extLst>
            </p:cNvPr>
            <p:cNvSpPr/>
            <p:nvPr/>
          </p:nvSpPr>
          <p:spPr>
            <a:xfrm flipH="1">
              <a:off x="3203848" y="2294059"/>
              <a:ext cx="1272898" cy="1559693"/>
            </a:xfrm>
            <a:prstGeom prst="arc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30" name="Gruppe 29">
            <a:extLst>
              <a:ext uri="{FF2B5EF4-FFF2-40B4-BE49-F238E27FC236}">
                <a16:creationId xmlns:a16="http://schemas.microsoft.com/office/drawing/2014/main" id="{8E838122-349A-4DC6-8926-DA19A53DB945}"/>
              </a:ext>
            </a:extLst>
          </p:cNvPr>
          <p:cNvGrpSpPr/>
          <p:nvPr/>
        </p:nvGrpSpPr>
        <p:grpSpPr>
          <a:xfrm>
            <a:off x="737812" y="4851871"/>
            <a:ext cx="3230058" cy="1453281"/>
            <a:chOff x="4943355" y="1853917"/>
            <a:chExt cx="3841924" cy="1728574"/>
          </a:xfrm>
        </p:grpSpPr>
        <p:sp>
          <p:nvSpPr>
            <p:cNvPr id="31" name="Undertitel 2">
              <a:extLst>
                <a:ext uri="{FF2B5EF4-FFF2-40B4-BE49-F238E27FC236}">
                  <a16:creationId xmlns:a16="http://schemas.microsoft.com/office/drawing/2014/main" id="{84A36E46-A9AA-4713-92B4-766F40B78F0F}"/>
                </a:ext>
              </a:extLst>
            </p:cNvPr>
            <p:cNvSpPr txBox="1">
              <a:spLocks/>
            </p:cNvSpPr>
            <p:nvPr/>
          </p:nvSpPr>
          <p:spPr>
            <a:xfrm>
              <a:off x="6732240" y="3212976"/>
              <a:ext cx="2053039" cy="3695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tabLst>
                  <a:tab pos="1617663" algn="l"/>
                </a:tabLst>
              </a:pPr>
              <a:r>
                <a:rPr lang="da-DK" sz="1400" b="1" i="1" dirty="0">
                  <a:solidFill>
                    <a:schemeClr val="tx1"/>
                  </a:solidFill>
                </a:rPr>
                <a:t>Negativ Feedback</a:t>
              </a:r>
            </a:p>
          </p:txBody>
        </p:sp>
        <p:sp>
          <p:nvSpPr>
            <p:cNvPr id="32" name="Undertitel 2">
              <a:extLst>
                <a:ext uri="{FF2B5EF4-FFF2-40B4-BE49-F238E27FC236}">
                  <a16:creationId xmlns:a16="http://schemas.microsoft.com/office/drawing/2014/main" id="{9BF8DAB8-7351-4158-A7D5-DBD3F5C178ED}"/>
                </a:ext>
              </a:extLst>
            </p:cNvPr>
            <p:cNvSpPr txBox="1">
              <a:spLocks/>
            </p:cNvSpPr>
            <p:nvPr/>
          </p:nvSpPr>
          <p:spPr>
            <a:xfrm>
              <a:off x="4943355" y="1853917"/>
              <a:ext cx="1414786" cy="3695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tabLst>
                  <a:tab pos="1617663" algn="l"/>
                </a:tabLst>
              </a:pPr>
              <a:r>
                <a:rPr lang="da-DK" sz="1400" b="1" i="1" dirty="0">
                  <a:solidFill>
                    <a:schemeClr val="tx1"/>
                  </a:solidFill>
                </a:rPr>
                <a:t>Modkobling</a:t>
              </a:r>
            </a:p>
          </p:txBody>
        </p:sp>
        <p:cxnSp>
          <p:nvCxnSpPr>
            <p:cNvPr id="33" name="Lige pilforbindelse 32">
              <a:extLst>
                <a:ext uri="{FF2B5EF4-FFF2-40B4-BE49-F238E27FC236}">
                  <a16:creationId xmlns:a16="http://schemas.microsoft.com/office/drawing/2014/main" id="{13A19E2F-954A-480A-81F2-565DBC9D5F99}"/>
                </a:ext>
              </a:extLst>
            </p:cNvPr>
            <p:cNvCxnSpPr>
              <a:cxnSpLocks/>
            </p:cNvCxnSpPr>
            <p:nvPr/>
          </p:nvCxnSpPr>
          <p:spPr>
            <a:xfrm>
              <a:off x="6373271" y="2329480"/>
              <a:ext cx="358970" cy="73650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9018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/>
        </p:nvSpPr>
        <p:spPr>
          <a:xfrm>
            <a:off x="35496" y="44624"/>
            <a:ext cx="3960440" cy="489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Modkoblingsprincippet</a:t>
            </a:r>
          </a:p>
        </p:txBody>
      </p:sp>
      <p:grpSp>
        <p:nvGrpSpPr>
          <p:cNvPr id="14" name="Gruppe 13">
            <a:extLst>
              <a:ext uri="{FF2B5EF4-FFF2-40B4-BE49-F238E27FC236}">
                <a16:creationId xmlns:a16="http://schemas.microsoft.com/office/drawing/2014/main" id="{47652916-E6A1-4E19-987D-50AAEF0CB9F4}"/>
              </a:ext>
            </a:extLst>
          </p:cNvPr>
          <p:cNvGrpSpPr/>
          <p:nvPr/>
        </p:nvGrpSpPr>
        <p:grpSpPr>
          <a:xfrm>
            <a:off x="5724128" y="694239"/>
            <a:ext cx="2489200" cy="1506595"/>
            <a:chOff x="6008708" y="694239"/>
            <a:chExt cx="2489200" cy="1506595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EEA3A6D-8EE2-495D-86A8-1C32993C9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8708" y="694239"/>
              <a:ext cx="2489200" cy="1417638"/>
              <a:chOff x="4016" y="6396"/>
              <a:chExt cx="3919" cy="2234"/>
            </a:xfrm>
          </p:grpSpPr>
          <p:sp>
            <p:nvSpPr>
              <p:cNvPr id="17" name="Freeform 3">
                <a:extLst>
                  <a:ext uri="{FF2B5EF4-FFF2-40B4-BE49-F238E27FC236}">
                    <a16:creationId xmlns:a16="http://schemas.microsoft.com/office/drawing/2014/main" id="{D2224276-18BF-4714-A5F7-2D105A30C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3" y="6441"/>
                <a:ext cx="944" cy="1250"/>
              </a:xfrm>
              <a:custGeom>
                <a:avLst/>
                <a:gdLst>
                  <a:gd name="T0" fmla="*/ 0 w 20000"/>
                  <a:gd name="T1" fmla="*/ 19989 h 20000"/>
                  <a:gd name="T2" fmla="*/ 19987 w 20000"/>
                  <a:gd name="T3" fmla="*/ 9994 h 20000"/>
                  <a:gd name="T4" fmla="*/ 0 w 20000"/>
                  <a:gd name="T5" fmla="*/ 0 h 20000"/>
                  <a:gd name="T6" fmla="*/ 0 w 20000"/>
                  <a:gd name="T7" fmla="*/ 19989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000" h="20000">
                    <a:moveTo>
                      <a:pt x="0" y="19989"/>
                    </a:moveTo>
                    <a:lnTo>
                      <a:pt x="19987" y="9994"/>
                    </a:lnTo>
                    <a:lnTo>
                      <a:pt x="0" y="0"/>
                    </a:lnTo>
                    <a:lnTo>
                      <a:pt x="0" y="19989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69696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8" name="Line 4">
                <a:extLst>
                  <a:ext uri="{FF2B5EF4-FFF2-40B4-BE49-F238E27FC236}">
                    <a16:creationId xmlns:a16="http://schemas.microsoft.com/office/drawing/2014/main" id="{25630CE6-7988-4493-B965-0E08C296B2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00" y="6753"/>
                <a:ext cx="13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9" name="Line 5">
                <a:extLst>
                  <a:ext uri="{FF2B5EF4-FFF2-40B4-BE49-F238E27FC236}">
                    <a16:creationId xmlns:a16="http://schemas.microsoft.com/office/drawing/2014/main" id="{0A033F20-4DB5-43C2-AF86-D1C8382034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8" y="7276"/>
                <a:ext cx="1" cy="157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21" name="Line 6">
                <a:extLst>
                  <a:ext uri="{FF2B5EF4-FFF2-40B4-BE49-F238E27FC236}">
                    <a16:creationId xmlns:a16="http://schemas.microsoft.com/office/drawing/2014/main" id="{FFBBDA8B-D620-416E-B333-5BF485D26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86" y="7362"/>
                <a:ext cx="13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25" name="Line 7">
                <a:extLst>
                  <a:ext uri="{FF2B5EF4-FFF2-40B4-BE49-F238E27FC236}">
                    <a16:creationId xmlns:a16="http://schemas.microsoft.com/office/drawing/2014/main" id="{FEBB4296-C4CE-45FA-8596-1548F6507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78" y="7069"/>
                <a:ext cx="1007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29" name="Line 8">
                <a:extLst>
                  <a:ext uri="{FF2B5EF4-FFF2-40B4-BE49-F238E27FC236}">
                    <a16:creationId xmlns:a16="http://schemas.microsoft.com/office/drawing/2014/main" id="{6C844295-CF4B-49BA-B3E4-3FD225AC0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6" y="7371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30" name="Line 9">
                <a:extLst>
                  <a:ext uri="{FF2B5EF4-FFF2-40B4-BE49-F238E27FC236}">
                    <a16:creationId xmlns:a16="http://schemas.microsoft.com/office/drawing/2014/main" id="{B8929C7F-DB12-496D-8BB8-367E3239E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59" y="7292"/>
                <a:ext cx="0" cy="958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grpSp>
            <p:nvGrpSpPr>
              <p:cNvPr id="31" name="Group 10">
                <a:extLst>
                  <a:ext uri="{FF2B5EF4-FFF2-40B4-BE49-F238E27FC236}">
                    <a16:creationId xmlns:a16="http://schemas.microsoft.com/office/drawing/2014/main" id="{FC3D07F4-D2B1-4972-AB7D-FB1DDC712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45" y="8431"/>
                <a:ext cx="214" cy="199"/>
                <a:chOff x="25" y="0"/>
                <a:chExt cx="19952" cy="20000"/>
              </a:xfrm>
            </p:grpSpPr>
            <p:sp>
              <p:nvSpPr>
                <p:cNvPr id="38" name="Line 11">
                  <a:extLst>
                    <a:ext uri="{FF2B5EF4-FFF2-40B4-BE49-F238E27FC236}">
                      <a16:creationId xmlns:a16="http://schemas.microsoft.com/office/drawing/2014/main" id="{70F63C7F-CF41-443E-A1C4-19AA14ED1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94" y="0"/>
                  <a:ext cx="58" cy="14464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39" name="Line 12">
                  <a:extLst>
                    <a:ext uri="{FF2B5EF4-FFF2-40B4-BE49-F238E27FC236}">
                      <a16:creationId xmlns:a16="http://schemas.microsoft.com/office/drawing/2014/main" id="{EEA27717-75F8-4491-AC44-B84266AB15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" y="10521"/>
                  <a:ext cx="19952" cy="9479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</p:grpSp>
          <p:sp>
            <p:nvSpPr>
              <p:cNvPr id="32" name="Text Box 13">
                <a:extLst>
                  <a:ext uri="{FF2B5EF4-FFF2-40B4-BE49-F238E27FC236}">
                    <a16:creationId xmlns:a16="http://schemas.microsoft.com/office/drawing/2014/main" id="{9ECEAAA9-E319-40B3-A2A4-7EB83BBC40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9" y="7558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v</a:t>
                </a:r>
                <a:r>
                  <a:rPr kumimoji="0" lang="LID4096" altLang="LID4096" sz="1200" b="0" i="0" u="none" strike="noStrike" cap="none" normalizeH="0" baseline="-25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o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" name="Line 14">
                <a:extLst>
                  <a:ext uri="{FF2B5EF4-FFF2-40B4-BE49-F238E27FC236}">
                    <a16:creationId xmlns:a16="http://schemas.microsoft.com/office/drawing/2014/main" id="{60303908-B236-419E-9429-EC37891A5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45" y="6743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34" name="Text Box 15">
                <a:extLst>
                  <a:ext uri="{FF2B5EF4-FFF2-40B4-BE49-F238E27FC236}">
                    <a16:creationId xmlns:a16="http://schemas.microsoft.com/office/drawing/2014/main" id="{294407B1-A81D-4C4C-BE19-4FE163726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" y="6396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e</a:t>
                </a:r>
                <a:r>
                  <a:rPr kumimoji="0" lang="LID4096" altLang="LID4096" sz="1200" b="0" i="0" u="none" strike="noStrike" cap="none" normalizeH="0" baseline="30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-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" name="Text Box 16">
                <a:extLst>
                  <a:ext uri="{FF2B5EF4-FFF2-40B4-BE49-F238E27FC236}">
                    <a16:creationId xmlns:a16="http://schemas.microsoft.com/office/drawing/2014/main" id="{272D25DA-5FB0-4CB6-BBCC-12B36CCF63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7" y="7326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e</a:t>
                </a:r>
                <a:r>
                  <a:rPr kumimoji="0" lang="LID4096" altLang="LID4096" sz="1200" b="0" i="0" u="none" strike="noStrike" cap="none" normalizeH="0" baseline="30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+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" name="Line 17">
                <a:extLst>
                  <a:ext uri="{FF2B5EF4-FFF2-40B4-BE49-F238E27FC236}">
                    <a16:creationId xmlns:a16="http://schemas.microsoft.com/office/drawing/2014/main" id="{FBA0CFB2-471F-44E2-9FB9-28B08024B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3" y="6865"/>
                <a:ext cx="0" cy="4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37" name="Text Box 18">
                <a:extLst>
                  <a:ext uri="{FF2B5EF4-FFF2-40B4-BE49-F238E27FC236}">
                    <a16:creationId xmlns:a16="http://schemas.microsoft.com/office/drawing/2014/main" id="{C1EB3B8D-DE82-4652-AC2B-CC4C54AACB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6" y="6839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v</a:t>
                </a:r>
                <a:r>
                  <a:rPr kumimoji="0" lang="LID4096" altLang="LID4096" sz="12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id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" name="Undertitel 2">
              <a:extLst>
                <a:ext uri="{FF2B5EF4-FFF2-40B4-BE49-F238E27FC236}">
                  <a16:creationId xmlns:a16="http://schemas.microsoft.com/office/drawing/2014/main" id="{687B174E-2FDC-47B8-B26C-9B95CE27745D}"/>
                </a:ext>
              </a:extLst>
            </p:cNvPr>
            <p:cNvSpPr txBox="1">
              <a:spLocks/>
            </p:cNvSpPr>
            <p:nvPr/>
          </p:nvSpPr>
          <p:spPr>
            <a:xfrm>
              <a:off x="6678869" y="1903219"/>
              <a:ext cx="896953" cy="297615"/>
            </a:xfrm>
            <a:prstGeom prst="rect">
              <a:avLst/>
            </a:prstGeom>
          </p:spPr>
          <p:txBody>
            <a:bodyPr anchor="ctr" anchorCtr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400" i="1" dirty="0" err="1"/>
                <a:t>v</a:t>
              </a:r>
              <a:r>
                <a:rPr lang="da-DK" sz="1400" i="1" baseline="-25000" dirty="0" err="1"/>
                <a:t>o</a:t>
              </a:r>
              <a:r>
                <a:rPr lang="da-DK" sz="1400" i="1" dirty="0"/>
                <a:t> = </a:t>
              </a:r>
              <a:r>
                <a:rPr lang="da-DK" sz="1400" i="1" dirty="0" err="1"/>
                <a:t>A</a:t>
              </a:r>
              <a:r>
                <a:rPr lang="da-DK" sz="1400" i="1" baseline="-25000" dirty="0" err="1"/>
                <a:t>OL</a:t>
              </a:r>
              <a:r>
                <a:rPr lang="da-DK" sz="1400" i="1" dirty="0" err="1"/>
                <a:t>v</a:t>
              </a:r>
              <a:r>
                <a:rPr lang="da-DK" sz="1400" i="1" baseline="-25000" dirty="0" err="1"/>
                <a:t>id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uppe 11">
            <a:extLst>
              <a:ext uri="{FF2B5EF4-FFF2-40B4-BE49-F238E27FC236}">
                <a16:creationId xmlns:a16="http://schemas.microsoft.com/office/drawing/2014/main" id="{83465FF1-F609-4FA5-8A47-2D42F16A5E10}"/>
              </a:ext>
            </a:extLst>
          </p:cNvPr>
          <p:cNvGrpSpPr/>
          <p:nvPr/>
        </p:nvGrpSpPr>
        <p:grpSpPr>
          <a:xfrm>
            <a:off x="6673978" y="2200834"/>
            <a:ext cx="1016826" cy="652102"/>
            <a:chOff x="6958558" y="2200834"/>
            <a:chExt cx="1016826" cy="652102"/>
          </a:xfrm>
        </p:grpSpPr>
        <p:grpSp>
          <p:nvGrpSpPr>
            <p:cNvPr id="6" name="Gruppe 5">
              <a:extLst>
                <a:ext uri="{FF2B5EF4-FFF2-40B4-BE49-F238E27FC236}">
                  <a16:creationId xmlns:a16="http://schemas.microsoft.com/office/drawing/2014/main" id="{887F63FE-73F2-4016-B1F3-973510985F96}"/>
                </a:ext>
              </a:extLst>
            </p:cNvPr>
            <p:cNvGrpSpPr/>
            <p:nvPr/>
          </p:nvGrpSpPr>
          <p:grpSpPr>
            <a:xfrm>
              <a:off x="6958558" y="2560029"/>
              <a:ext cx="1016826" cy="292907"/>
              <a:chOff x="6979304" y="2957389"/>
              <a:chExt cx="1016826" cy="292907"/>
            </a:xfrm>
          </p:grpSpPr>
          <p:sp>
            <p:nvSpPr>
              <p:cNvPr id="45" name="Undertitel 2">
                <a:extLst>
                  <a:ext uri="{FF2B5EF4-FFF2-40B4-BE49-F238E27FC236}">
                    <a16:creationId xmlns:a16="http://schemas.microsoft.com/office/drawing/2014/main" id="{D089DF82-790A-408C-BCE5-194DA18A11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79304" y="2957389"/>
                <a:ext cx="481018" cy="292907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 anchorCtr="0">
                <a:normAutofit lnSpcReduction="1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tabLst>
                    <a:tab pos="1617663" algn="l"/>
                  </a:tabLst>
                </a:pPr>
                <a:r>
                  <a:rPr lang="da-DK" sz="1400" i="1" dirty="0">
                    <a:solidFill>
                      <a:schemeClr val="tx1"/>
                    </a:solidFill>
                  </a:rPr>
                  <a:t>A</a:t>
                </a:r>
                <a:r>
                  <a:rPr lang="da-DK" sz="1400" i="1" baseline="-25000" dirty="0">
                    <a:solidFill>
                      <a:schemeClr val="tx1"/>
                    </a:solidFill>
                  </a:rPr>
                  <a:t>OL</a:t>
                </a:r>
                <a:endParaRPr lang="da-DK" sz="1400" i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" name="Lige pilforbindelse 3">
                <a:extLst>
                  <a:ext uri="{FF2B5EF4-FFF2-40B4-BE49-F238E27FC236}">
                    <a16:creationId xmlns:a16="http://schemas.microsoft.com/office/drawing/2014/main" id="{C77A422A-D6BB-4F5A-B542-B2F8F06B79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80312" y="3103842"/>
                <a:ext cx="28803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Undertitel 2">
                <a:extLst>
                  <a:ext uri="{FF2B5EF4-FFF2-40B4-BE49-F238E27FC236}">
                    <a16:creationId xmlns:a16="http://schemas.microsoft.com/office/drawing/2014/main" id="{BFE31FC0-8803-4CF2-A18B-7205A1E7C3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67512" y="2957389"/>
                <a:ext cx="328618" cy="292907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 anchorCtr="0">
                <a:normAutofit lnSpcReduction="1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tabLst>
                    <a:tab pos="1617663" algn="l"/>
                  </a:tabLst>
                </a:pPr>
                <a:r>
                  <a:rPr lang="da-DK" sz="1400" i="1" dirty="0">
                    <a:solidFill>
                      <a:schemeClr val="tx1"/>
                    </a:solidFill>
                  </a:rPr>
                  <a:t>∞</a:t>
                </a:r>
              </a:p>
            </p:txBody>
          </p:sp>
        </p:grpSp>
        <p:cxnSp>
          <p:nvCxnSpPr>
            <p:cNvPr id="8" name="Lige pilforbindelse 7">
              <a:extLst>
                <a:ext uri="{FF2B5EF4-FFF2-40B4-BE49-F238E27FC236}">
                  <a16:creationId xmlns:a16="http://schemas.microsoft.com/office/drawing/2014/main" id="{0E938DFA-D7E5-4FBC-A05A-0400D52A3D0F}"/>
                </a:ext>
              </a:extLst>
            </p:cNvPr>
            <p:cNvCxnSpPr/>
            <p:nvPr/>
          </p:nvCxnSpPr>
          <p:spPr>
            <a:xfrm flipV="1">
              <a:off x="7145012" y="2200834"/>
              <a:ext cx="0" cy="36004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uppe 58">
            <a:extLst>
              <a:ext uri="{FF2B5EF4-FFF2-40B4-BE49-F238E27FC236}">
                <a16:creationId xmlns:a16="http://schemas.microsoft.com/office/drawing/2014/main" id="{703C94E8-8579-4904-B1D8-BA56E2D8ADBA}"/>
              </a:ext>
            </a:extLst>
          </p:cNvPr>
          <p:cNvGrpSpPr/>
          <p:nvPr/>
        </p:nvGrpSpPr>
        <p:grpSpPr>
          <a:xfrm>
            <a:off x="737812" y="991854"/>
            <a:ext cx="3289122" cy="3664321"/>
            <a:chOff x="3203848" y="1052736"/>
            <a:chExt cx="4873298" cy="5429208"/>
          </a:xfrm>
        </p:grpSpPr>
        <p:pic>
          <p:nvPicPr>
            <p:cNvPr id="60" name="Billede 59">
              <a:extLst>
                <a:ext uri="{FF2B5EF4-FFF2-40B4-BE49-F238E27FC236}">
                  <a16:creationId xmlns:a16="http://schemas.microsoft.com/office/drawing/2014/main" id="{3C08EF5C-F61F-4613-AEA7-22430AE9E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3848" y="2636912"/>
              <a:ext cx="4873298" cy="3845032"/>
            </a:xfrm>
            <a:prstGeom prst="rect">
              <a:avLst/>
            </a:prstGeom>
          </p:spPr>
        </p:pic>
        <p:grpSp>
          <p:nvGrpSpPr>
            <p:cNvPr id="61" name="Gruppe 60">
              <a:extLst>
                <a:ext uri="{FF2B5EF4-FFF2-40B4-BE49-F238E27FC236}">
                  <a16:creationId xmlns:a16="http://schemas.microsoft.com/office/drawing/2014/main" id="{725E6CB3-8B8F-49B6-8B82-614C3BDCF29A}"/>
                </a:ext>
              </a:extLst>
            </p:cNvPr>
            <p:cNvGrpSpPr/>
            <p:nvPr/>
          </p:nvGrpSpPr>
          <p:grpSpPr>
            <a:xfrm>
              <a:off x="3347864" y="1052736"/>
              <a:ext cx="2808312" cy="1240938"/>
              <a:chOff x="539552" y="2996952"/>
              <a:chExt cx="4882832" cy="2160240"/>
            </a:xfrm>
          </p:grpSpPr>
          <p:sp>
            <p:nvSpPr>
              <p:cNvPr id="64" name="Sky 63">
                <a:extLst>
                  <a:ext uri="{FF2B5EF4-FFF2-40B4-BE49-F238E27FC236}">
                    <a16:creationId xmlns:a16="http://schemas.microsoft.com/office/drawing/2014/main" id="{A616A610-6655-4C3A-8798-CDA897E102D3}"/>
                  </a:ext>
                </a:extLst>
              </p:cNvPr>
              <p:cNvSpPr/>
              <p:nvPr/>
            </p:nvSpPr>
            <p:spPr>
              <a:xfrm>
                <a:off x="539552" y="2996952"/>
                <a:ext cx="4882832" cy="2160240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9AA0780C-F7F3-49A0-88B8-AA0E353FD9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4754" y="3501008"/>
                <a:ext cx="3530499" cy="79208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1600" i="1" dirty="0"/>
                  <a:t>Brøkdel af </a:t>
                </a:r>
                <a:r>
                  <a:rPr lang="da-DK" sz="1600" i="1" dirty="0" err="1"/>
                  <a:t>v</a:t>
                </a:r>
                <a:r>
                  <a:rPr lang="da-DK" sz="1600" i="1" baseline="-25000" dirty="0" err="1"/>
                  <a:t>O</a:t>
                </a:r>
                <a:endParaRPr lang="da-DK" sz="1600" i="1" baseline="-25000" dirty="0"/>
              </a:p>
            </p:txBody>
          </p:sp>
        </p:grpSp>
        <p:sp>
          <p:nvSpPr>
            <p:cNvPr id="62" name="Bue 61">
              <a:extLst>
                <a:ext uri="{FF2B5EF4-FFF2-40B4-BE49-F238E27FC236}">
                  <a16:creationId xmlns:a16="http://schemas.microsoft.com/office/drawing/2014/main" id="{BA55FE8B-A1C9-4C3F-94E8-34F68DACF1B7}"/>
                </a:ext>
              </a:extLst>
            </p:cNvPr>
            <p:cNvSpPr/>
            <p:nvPr/>
          </p:nvSpPr>
          <p:spPr>
            <a:xfrm>
              <a:off x="5004048" y="2294059"/>
              <a:ext cx="1272898" cy="1559693"/>
            </a:xfrm>
            <a:prstGeom prst="arc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3" name="Bue 62">
              <a:extLst>
                <a:ext uri="{FF2B5EF4-FFF2-40B4-BE49-F238E27FC236}">
                  <a16:creationId xmlns:a16="http://schemas.microsoft.com/office/drawing/2014/main" id="{3F513C18-ECBC-4746-9946-15F524C471EA}"/>
                </a:ext>
              </a:extLst>
            </p:cNvPr>
            <p:cNvSpPr/>
            <p:nvPr/>
          </p:nvSpPr>
          <p:spPr>
            <a:xfrm flipH="1">
              <a:off x="3203848" y="2294059"/>
              <a:ext cx="1272898" cy="1559693"/>
            </a:xfrm>
            <a:prstGeom prst="arc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66" name="Gruppe 65">
            <a:extLst>
              <a:ext uri="{FF2B5EF4-FFF2-40B4-BE49-F238E27FC236}">
                <a16:creationId xmlns:a16="http://schemas.microsoft.com/office/drawing/2014/main" id="{4930E011-EEC4-43C5-82AE-E50F89CBA6BF}"/>
              </a:ext>
            </a:extLst>
          </p:cNvPr>
          <p:cNvGrpSpPr/>
          <p:nvPr/>
        </p:nvGrpSpPr>
        <p:grpSpPr>
          <a:xfrm>
            <a:off x="737812" y="4851871"/>
            <a:ext cx="3230058" cy="1453281"/>
            <a:chOff x="4943355" y="1853917"/>
            <a:chExt cx="3841924" cy="1728574"/>
          </a:xfrm>
        </p:grpSpPr>
        <p:sp>
          <p:nvSpPr>
            <p:cNvPr id="67" name="Undertitel 2">
              <a:extLst>
                <a:ext uri="{FF2B5EF4-FFF2-40B4-BE49-F238E27FC236}">
                  <a16:creationId xmlns:a16="http://schemas.microsoft.com/office/drawing/2014/main" id="{794E4D15-6184-4B2E-8F5A-86FC9411BFE3}"/>
                </a:ext>
              </a:extLst>
            </p:cNvPr>
            <p:cNvSpPr txBox="1">
              <a:spLocks/>
            </p:cNvSpPr>
            <p:nvPr/>
          </p:nvSpPr>
          <p:spPr>
            <a:xfrm>
              <a:off x="6732240" y="3212976"/>
              <a:ext cx="2053039" cy="3695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tabLst>
                  <a:tab pos="1617663" algn="l"/>
                </a:tabLst>
              </a:pPr>
              <a:r>
                <a:rPr lang="da-DK" sz="1400" b="1" i="1" dirty="0">
                  <a:solidFill>
                    <a:schemeClr val="tx1"/>
                  </a:solidFill>
                </a:rPr>
                <a:t>Negativ Feedback</a:t>
              </a:r>
            </a:p>
          </p:txBody>
        </p:sp>
        <p:sp>
          <p:nvSpPr>
            <p:cNvPr id="68" name="Undertitel 2">
              <a:extLst>
                <a:ext uri="{FF2B5EF4-FFF2-40B4-BE49-F238E27FC236}">
                  <a16:creationId xmlns:a16="http://schemas.microsoft.com/office/drawing/2014/main" id="{8B22E7B7-E6EB-4CFB-BE35-9F31920870A5}"/>
                </a:ext>
              </a:extLst>
            </p:cNvPr>
            <p:cNvSpPr txBox="1">
              <a:spLocks/>
            </p:cNvSpPr>
            <p:nvPr/>
          </p:nvSpPr>
          <p:spPr>
            <a:xfrm>
              <a:off x="4943355" y="1853917"/>
              <a:ext cx="1414786" cy="3695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tabLst>
                  <a:tab pos="1617663" algn="l"/>
                </a:tabLst>
              </a:pPr>
              <a:r>
                <a:rPr lang="da-DK" sz="1400" b="1" i="1" dirty="0">
                  <a:solidFill>
                    <a:schemeClr val="tx1"/>
                  </a:solidFill>
                </a:rPr>
                <a:t>Modkobling</a:t>
              </a:r>
            </a:p>
          </p:txBody>
        </p:sp>
        <p:cxnSp>
          <p:nvCxnSpPr>
            <p:cNvPr id="69" name="Lige pilforbindelse 68">
              <a:extLst>
                <a:ext uri="{FF2B5EF4-FFF2-40B4-BE49-F238E27FC236}">
                  <a16:creationId xmlns:a16="http://schemas.microsoft.com/office/drawing/2014/main" id="{E8E49A91-F535-4241-A9AA-7474C94CC2C4}"/>
                </a:ext>
              </a:extLst>
            </p:cNvPr>
            <p:cNvCxnSpPr>
              <a:cxnSpLocks/>
            </p:cNvCxnSpPr>
            <p:nvPr/>
          </p:nvCxnSpPr>
          <p:spPr>
            <a:xfrm>
              <a:off x="6373271" y="2329480"/>
              <a:ext cx="358970" cy="73650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786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/>
        </p:nvSpPr>
        <p:spPr>
          <a:xfrm>
            <a:off x="35496" y="44624"/>
            <a:ext cx="3960440" cy="489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Modkoblingsprincippet</a:t>
            </a:r>
          </a:p>
        </p:txBody>
      </p:sp>
      <p:grpSp>
        <p:nvGrpSpPr>
          <p:cNvPr id="14" name="Gruppe 13">
            <a:extLst>
              <a:ext uri="{FF2B5EF4-FFF2-40B4-BE49-F238E27FC236}">
                <a16:creationId xmlns:a16="http://schemas.microsoft.com/office/drawing/2014/main" id="{47652916-E6A1-4E19-987D-50AAEF0CB9F4}"/>
              </a:ext>
            </a:extLst>
          </p:cNvPr>
          <p:cNvGrpSpPr/>
          <p:nvPr/>
        </p:nvGrpSpPr>
        <p:grpSpPr>
          <a:xfrm>
            <a:off x="5724128" y="694239"/>
            <a:ext cx="2489200" cy="1506595"/>
            <a:chOff x="6008708" y="694239"/>
            <a:chExt cx="2489200" cy="1506595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EEA3A6D-8EE2-495D-86A8-1C32993C9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8708" y="694239"/>
              <a:ext cx="2489200" cy="1417638"/>
              <a:chOff x="4016" y="6396"/>
              <a:chExt cx="3919" cy="2234"/>
            </a:xfrm>
          </p:grpSpPr>
          <p:sp>
            <p:nvSpPr>
              <p:cNvPr id="17" name="Freeform 3">
                <a:extLst>
                  <a:ext uri="{FF2B5EF4-FFF2-40B4-BE49-F238E27FC236}">
                    <a16:creationId xmlns:a16="http://schemas.microsoft.com/office/drawing/2014/main" id="{D2224276-18BF-4714-A5F7-2D105A30C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3" y="6441"/>
                <a:ext cx="944" cy="1250"/>
              </a:xfrm>
              <a:custGeom>
                <a:avLst/>
                <a:gdLst>
                  <a:gd name="T0" fmla="*/ 0 w 20000"/>
                  <a:gd name="T1" fmla="*/ 19989 h 20000"/>
                  <a:gd name="T2" fmla="*/ 19987 w 20000"/>
                  <a:gd name="T3" fmla="*/ 9994 h 20000"/>
                  <a:gd name="T4" fmla="*/ 0 w 20000"/>
                  <a:gd name="T5" fmla="*/ 0 h 20000"/>
                  <a:gd name="T6" fmla="*/ 0 w 20000"/>
                  <a:gd name="T7" fmla="*/ 19989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000" h="20000">
                    <a:moveTo>
                      <a:pt x="0" y="19989"/>
                    </a:moveTo>
                    <a:lnTo>
                      <a:pt x="19987" y="9994"/>
                    </a:lnTo>
                    <a:lnTo>
                      <a:pt x="0" y="0"/>
                    </a:lnTo>
                    <a:lnTo>
                      <a:pt x="0" y="19989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69696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8" name="Line 4">
                <a:extLst>
                  <a:ext uri="{FF2B5EF4-FFF2-40B4-BE49-F238E27FC236}">
                    <a16:creationId xmlns:a16="http://schemas.microsoft.com/office/drawing/2014/main" id="{25630CE6-7988-4493-B965-0E08C296B2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00" y="6753"/>
                <a:ext cx="13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9" name="Line 5">
                <a:extLst>
                  <a:ext uri="{FF2B5EF4-FFF2-40B4-BE49-F238E27FC236}">
                    <a16:creationId xmlns:a16="http://schemas.microsoft.com/office/drawing/2014/main" id="{0A033F20-4DB5-43C2-AF86-D1C8382034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8" y="7276"/>
                <a:ext cx="1" cy="157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21" name="Line 6">
                <a:extLst>
                  <a:ext uri="{FF2B5EF4-FFF2-40B4-BE49-F238E27FC236}">
                    <a16:creationId xmlns:a16="http://schemas.microsoft.com/office/drawing/2014/main" id="{FFBBDA8B-D620-416E-B333-5BF485D26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86" y="7362"/>
                <a:ext cx="13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25" name="Line 7">
                <a:extLst>
                  <a:ext uri="{FF2B5EF4-FFF2-40B4-BE49-F238E27FC236}">
                    <a16:creationId xmlns:a16="http://schemas.microsoft.com/office/drawing/2014/main" id="{FEBB4296-C4CE-45FA-8596-1548F6507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78" y="7069"/>
                <a:ext cx="1007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29" name="Line 8">
                <a:extLst>
                  <a:ext uri="{FF2B5EF4-FFF2-40B4-BE49-F238E27FC236}">
                    <a16:creationId xmlns:a16="http://schemas.microsoft.com/office/drawing/2014/main" id="{6C844295-CF4B-49BA-B3E4-3FD225AC0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6" y="7371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30" name="Line 9">
                <a:extLst>
                  <a:ext uri="{FF2B5EF4-FFF2-40B4-BE49-F238E27FC236}">
                    <a16:creationId xmlns:a16="http://schemas.microsoft.com/office/drawing/2014/main" id="{B8929C7F-DB12-496D-8BB8-367E3239E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59" y="7292"/>
                <a:ext cx="0" cy="958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grpSp>
            <p:nvGrpSpPr>
              <p:cNvPr id="31" name="Group 10">
                <a:extLst>
                  <a:ext uri="{FF2B5EF4-FFF2-40B4-BE49-F238E27FC236}">
                    <a16:creationId xmlns:a16="http://schemas.microsoft.com/office/drawing/2014/main" id="{FC3D07F4-D2B1-4972-AB7D-FB1DDC712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45" y="8431"/>
                <a:ext cx="214" cy="199"/>
                <a:chOff x="25" y="0"/>
                <a:chExt cx="19952" cy="20000"/>
              </a:xfrm>
            </p:grpSpPr>
            <p:sp>
              <p:nvSpPr>
                <p:cNvPr id="38" name="Line 11">
                  <a:extLst>
                    <a:ext uri="{FF2B5EF4-FFF2-40B4-BE49-F238E27FC236}">
                      <a16:creationId xmlns:a16="http://schemas.microsoft.com/office/drawing/2014/main" id="{70F63C7F-CF41-443E-A1C4-19AA14ED1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94" y="0"/>
                  <a:ext cx="58" cy="14464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39" name="Line 12">
                  <a:extLst>
                    <a:ext uri="{FF2B5EF4-FFF2-40B4-BE49-F238E27FC236}">
                      <a16:creationId xmlns:a16="http://schemas.microsoft.com/office/drawing/2014/main" id="{EEA27717-75F8-4491-AC44-B84266AB15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" y="10521"/>
                  <a:ext cx="19952" cy="9479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</p:grpSp>
          <p:sp>
            <p:nvSpPr>
              <p:cNvPr id="32" name="Text Box 13">
                <a:extLst>
                  <a:ext uri="{FF2B5EF4-FFF2-40B4-BE49-F238E27FC236}">
                    <a16:creationId xmlns:a16="http://schemas.microsoft.com/office/drawing/2014/main" id="{9ECEAAA9-E319-40B3-A2A4-7EB83BBC40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9" y="7558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v</a:t>
                </a:r>
                <a:r>
                  <a:rPr kumimoji="0" lang="LID4096" altLang="LID4096" sz="1200" b="0" i="0" u="none" strike="noStrike" cap="none" normalizeH="0" baseline="-25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o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" name="Line 14">
                <a:extLst>
                  <a:ext uri="{FF2B5EF4-FFF2-40B4-BE49-F238E27FC236}">
                    <a16:creationId xmlns:a16="http://schemas.microsoft.com/office/drawing/2014/main" id="{60303908-B236-419E-9429-EC37891A5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45" y="6743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34" name="Text Box 15">
                <a:extLst>
                  <a:ext uri="{FF2B5EF4-FFF2-40B4-BE49-F238E27FC236}">
                    <a16:creationId xmlns:a16="http://schemas.microsoft.com/office/drawing/2014/main" id="{294407B1-A81D-4C4C-BE19-4FE163726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" y="6396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e</a:t>
                </a:r>
                <a:r>
                  <a:rPr kumimoji="0" lang="LID4096" altLang="LID4096" sz="1200" b="0" i="0" u="none" strike="noStrike" cap="none" normalizeH="0" baseline="30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-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" name="Text Box 16">
                <a:extLst>
                  <a:ext uri="{FF2B5EF4-FFF2-40B4-BE49-F238E27FC236}">
                    <a16:creationId xmlns:a16="http://schemas.microsoft.com/office/drawing/2014/main" id="{272D25DA-5FB0-4CB6-BBCC-12B36CCF63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7" y="7326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e</a:t>
                </a:r>
                <a:r>
                  <a:rPr kumimoji="0" lang="LID4096" altLang="LID4096" sz="1200" b="0" i="0" u="none" strike="noStrike" cap="none" normalizeH="0" baseline="30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+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" name="Line 17">
                <a:extLst>
                  <a:ext uri="{FF2B5EF4-FFF2-40B4-BE49-F238E27FC236}">
                    <a16:creationId xmlns:a16="http://schemas.microsoft.com/office/drawing/2014/main" id="{FBA0CFB2-471F-44E2-9FB9-28B08024B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3" y="6865"/>
                <a:ext cx="0" cy="4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37" name="Text Box 18">
                <a:extLst>
                  <a:ext uri="{FF2B5EF4-FFF2-40B4-BE49-F238E27FC236}">
                    <a16:creationId xmlns:a16="http://schemas.microsoft.com/office/drawing/2014/main" id="{C1EB3B8D-DE82-4652-AC2B-CC4C54AACB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6" y="6839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v</a:t>
                </a:r>
                <a:r>
                  <a:rPr kumimoji="0" lang="LID4096" altLang="LID4096" sz="12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id</a:t>
                </a:r>
                <a:endParaRPr kumimoji="0" lang="LID4096" altLang="LID4096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" name="Undertitel 2">
              <a:extLst>
                <a:ext uri="{FF2B5EF4-FFF2-40B4-BE49-F238E27FC236}">
                  <a16:creationId xmlns:a16="http://schemas.microsoft.com/office/drawing/2014/main" id="{687B174E-2FDC-47B8-B26C-9B95CE27745D}"/>
                </a:ext>
              </a:extLst>
            </p:cNvPr>
            <p:cNvSpPr txBox="1">
              <a:spLocks/>
            </p:cNvSpPr>
            <p:nvPr/>
          </p:nvSpPr>
          <p:spPr>
            <a:xfrm>
              <a:off x="6678869" y="1903219"/>
              <a:ext cx="896953" cy="297615"/>
            </a:xfrm>
            <a:prstGeom prst="rect">
              <a:avLst/>
            </a:prstGeom>
          </p:spPr>
          <p:txBody>
            <a:bodyPr anchor="ctr" anchorCtr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400" i="1" dirty="0" err="1"/>
                <a:t>v</a:t>
              </a:r>
              <a:r>
                <a:rPr lang="da-DK" sz="1400" i="1" baseline="-25000" dirty="0" err="1"/>
                <a:t>o</a:t>
              </a:r>
              <a:r>
                <a:rPr lang="da-DK" sz="1400" i="1" dirty="0"/>
                <a:t> = </a:t>
              </a:r>
              <a:r>
                <a:rPr lang="da-DK" sz="1400" i="1" dirty="0" err="1"/>
                <a:t>A</a:t>
              </a:r>
              <a:r>
                <a:rPr lang="da-DK" sz="1400" i="1" baseline="-25000" dirty="0" err="1"/>
                <a:t>OL</a:t>
              </a:r>
              <a:r>
                <a:rPr lang="da-DK" sz="1400" i="1" dirty="0" err="1"/>
                <a:t>v</a:t>
              </a:r>
              <a:r>
                <a:rPr lang="da-DK" sz="1400" i="1" baseline="-25000" dirty="0" err="1"/>
                <a:t>id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Undertitel 2">
                <a:extLst>
                  <a:ext uri="{FF2B5EF4-FFF2-40B4-BE49-F238E27FC236}">
                    <a16:creationId xmlns:a16="http://schemas.microsoft.com/office/drawing/2014/main" id="{BF9AC977-0E3A-4FDD-9E57-3B5104BE3D79}"/>
                  </a:ext>
                </a:extLst>
              </p:cNvPr>
              <p:cNvSpPr txBox="1">
                <a:spLocks/>
              </p:cNvSpPr>
              <p:nvPr/>
            </p:nvSpPr>
            <p:spPr>
              <a:xfrm rot="5400000">
                <a:off x="6822937" y="2866063"/>
                <a:ext cx="252028" cy="360040"/>
              </a:xfrm>
              <a:prstGeom prst="rect">
                <a:avLst/>
              </a:prstGeom>
            </p:spPr>
            <p:txBody>
              <a:bodyPr anchor="ctr" anchorCtr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  <a:tabLst>
                    <a:tab pos="1617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400" b="0" i="0" dirty="0" smtClean="0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</m:oMath>
                  </m:oMathPara>
                </a14:m>
                <a:endParaRPr lang="da-DK" sz="14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Undertitel 2">
                <a:extLst>
                  <a:ext uri="{FF2B5EF4-FFF2-40B4-BE49-F238E27FC236}">
                    <a16:creationId xmlns:a16="http://schemas.microsoft.com/office/drawing/2014/main" id="{BF9AC977-0E3A-4FDD-9E57-3B5104BE3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822937" y="2866063"/>
                <a:ext cx="252028" cy="360040"/>
              </a:xfrm>
              <a:prstGeom prst="rect">
                <a:avLst/>
              </a:prstGeom>
              <a:blipFill>
                <a:blip r:embed="rId2"/>
                <a:stretch>
                  <a:fillRect t="-73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Undertitel 2">
            <a:extLst>
              <a:ext uri="{FF2B5EF4-FFF2-40B4-BE49-F238E27FC236}">
                <a16:creationId xmlns:a16="http://schemas.microsoft.com/office/drawing/2014/main" id="{55E778F8-9F9E-40D5-813E-901991E30C0C}"/>
              </a:ext>
            </a:extLst>
          </p:cNvPr>
          <p:cNvSpPr txBox="1">
            <a:spLocks/>
          </p:cNvSpPr>
          <p:nvPr/>
        </p:nvSpPr>
        <p:spPr>
          <a:xfrm>
            <a:off x="6610574" y="3167316"/>
            <a:ext cx="691198" cy="262280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617663" algn="l"/>
              </a:tabLst>
            </a:pPr>
            <a:r>
              <a:rPr lang="da-DK" sz="1400" i="1" dirty="0"/>
              <a:t>v</a:t>
            </a:r>
            <a:r>
              <a:rPr lang="da-DK" sz="1400" i="1" baseline="-25000" dirty="0"/>
              <a:t>id</a:t>
            </a:r>
            <a:r>
              <a:rPr lang="da-DK" sz="1400" i="1" dirty="0"/>
              <a:t> = 0</a:t>
            </a:r>
            <a:endParaRPr lang="da-DK" sz="1400" i="1" baseline="-25000" dirty="0">
              <a:solidFill>
                <a:srgbClr val="FF0000"/>
              </a:solidFill>
            </a:endParaRPr>
          </a:p>
        </p:txBody>
      </p:sp>
      <p:sp>
        <p:nvSpPr>
          <p:cNvPr id="43" name="Undertitel 2">
            <a:extLst>
              <a:ext uri="{FF2B5EF4-FFF2-40B4-BE49-F238E27FC236}">
                <a16:creationId xmlns:a16="http://schemas.microsoft.com/office/drawing/2014/main" id="{6CB4CB56-2CEC-4678-8E51-029280EFFD19}"/>
              </a:ext>
            </a:extLst>
          </p:cNvPr>
          <p:cNvSpPr txBox="1">
            <a:spLocks/>
          </p:cNvSpPr>
          <p:nvPr/>
        </p:nvSpPr>
        <p:spPr>
          <a:xfrm>
            <a:off x="7599788" y="3169560"/>
            <a:ext cx="609699" cy="257793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617663" algn="l"/>
              </a:tabLst>
            </a:pPr>
            <a:r>
              <a:rPr lang="da-DK" sz="1400" i="1" dirty="0"/>
              <a:t>e</a:t>
            </a:r>
            <a:r>
              <a:rPr lang="da-DK" sz="1400" i="1" baseline="30000" dirty="0"/>
              <a:t>-</a:t>
            </a:r>
            <a:r>
              <a:rPr lang="da-DK" sz="1400" i="1" dirty="0"/>
              <a:t> = e</a:t>
            </a:r>
            <a:r>
              <a:rPr lang="da-DK" sz="1400" i="1" baseline="30000" dirty="0"/>
              <a:t>+</a:t>
            </a:r>
            <a:endParaRPr lang="da-DK" sz="1400" i="1" baseline="30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Undertitel 2">
                <a:extLst>
                  <a:ext uri="{FF2B5EF4-FFF2-40B4-BE49-F238E27FC236}">
                    <a16:creationId xmlns:a16="http://schemas.microsoft.com/office/drawing/2014/main" id="{BEA766C5-283C-470D-AC95-4EDB7FB4C1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52059" y="3130495"/>
                <a:ext cx="344277" cy="335923"/>
              </a:xfrm>
              <a:prstGeom prst="rect">
                <a:avLst/>
              </a:prstGeom>
            </p:spPr>
            <p:txBody>
              <a:bodyPr anchor="ctr" anchorCtr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  <a:tabLst>
                    <a:tab pos="1617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400" b="0" i="0" dirty="0" smtClean="0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</m:oMath>
                  </m:oMathPara>
                </a14:m>
                <a:endParaRPr lang="da-DK" sz="14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Undertitel 2">
                <a:extLst>
                  <a:ext uri="{FF2B5EF4-FFF2-40B4-BE49-F238E27FC236}">
                    <a16:creationId xmlns:a16="http://schemas.microsoft.com/office/drawing/2014/main" id="{BEA766C5-283C-470D-AC95-4EDB7FB4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059" y="3130495"/>
                <a:ext cx="344277" cy="3359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pe 11">
            <a:extLst>
              <a:ext uri="{FF2B5EF4-FFF2-40B4-BE49-F238E27FC236}">
                <a16:creationId xmlns:a16="http://schemas.microsoft.com/office/drawing/2014/main" id="{83465FF1-F609-4FA5-8A47-2D42F16A5E10}"/>
              </a:ext>
            </a:extLst>
          </p:cNvPr>
          <p:cNvGrpSpPr/>
          <p:nvPr/>
        </p:nvGrpSpPr>
        <p:grpSpPr>
          <a:xfrm>
            <a:off x="6673978" y="2200834"/>
            <a:ext cx="1016826" cy="652102"/>
            <a:chOff x="6958558" y="2200834"/>
            <a:chExt cx="1016826" cy="652102"/>
          </a:xfrm>
        </p:grpSpPr>
        <p:grpSp>
          <p:nvGrpSpPr>
            <p:cNvPr id="6" name="Gruppe 5">
              <a:extLst>
                <a:ext uri="{FF2B5EF4-FFF2-40B4-BE49-F238E27FC236}">
                  <a16:creationId xmlns:a16="http://schemas.microsoft.com/office/drawing/2014/main" id="{887F63FE-73F2-4016-B1F3-973510985F96}"/>
                </a:ext>
              </a:extLst>
            </p:cNvPr>
            <p:cNvGrpSpPr/>
            <p:nvPr/>
          </p:nvGrpSpPr>
          <p:grpSpPr>
            <a:xfrm>
              <a:off x="6958558" y="2560029"/>
              <a:ext cx="1016826" cy="292907"/>
              <a:chOff x="6979304" y="2957389"/>
              <a:chExt cx="1016826" cy="292907"/>
            </a:xfrm>
          </p:grpSpPr>
          <p:sp>
            <p:nvSpPr>
              <p:cNvPr id="45" name="Undertitel 2">
                <a:extLst>
                  <a:ext uri="{FF2B5EF4-FFF2-40B4-BE49-F238E27FC236}">
                    <a16:creationId xmlns:a16="http://schemas.microsoft.com/office/drawing/2014/main" id="{D089DF82-790A-408C-BCE5-194DA18A11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79304" y="2957389"/>
                <a:ext cx="481018" cy="292907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 anchorCtr="0">
                <a:normAutofit lnSpcReduction="1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tabLst>
                    <a:tab pos="1617663" algn="l"/>
                  </a:tabLst>
                </a:pPr>
                <a:r>
                  <a:rPr lang="da-DK" sz="1400" i="1" dirty="0">
                    <a:solidFill>
                      <a:schemeClr val="tx1"/>
                    </a:solidFill>
                  </a:rPr>
                  <a:t>A</a:t>
                </a:r>
                <a:r>
                  <a:rPr lang="da-DK" sz="1400" i="1" baseline="-25000" dirty="0">
                    <a:solidFill>
                      <a:schemeClr val="tx1"/>
                    </a:solidFill>
                  </a:rPr>
                  <a:t>OL</a:t>
                </a:r>
                <a:endParaRPr lang="da-DK" sz="1400" i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" name="Lige pilforbindelse 3">
                <a:extLst>
                  <a:ext uri="{FF2B5EF4-FFF2-40B4-BE49-F238E27FC236}">
                    <a16:creationId xmlns:a16="http://schemas.microsoft.com/office/drawing/2014/main" id="{C77A422A-D6BB-4F5A-B542-B2F8F06B79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80312" y="3103842"/>
                <a:ext cx="28803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Undertitel 2">
                <a:extLst>
                  <a:ext uri="{FF2B5EF4-FFF2-40B4-BE49-F238E27FC236}">
                    <a16:creationId xmlns:a16="http://schemas.microsoft.com/office/drawing/2014/main" id="{BFE31FC0-8803-4CF2-A18B-7205A1E7C3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67512" y="2957389"/>
                <a:ext cx="328618" cy="292907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 anchorCtr="0">
                <a:normAutofit lnSpcReduction="1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tabLst>
                    <a:tab pos="1617663" algn="l"/>
                  </a:tabLst>
                </a:pPr>
                <a:r>
                  <a:rPr lang="da-DK" sz="1400" i="1" dirty="0">
                    <a:solidFill>
                      <a:schemeClr val="tx1"/>
                    </a:solidFill>
                  </a:rPr>
                  <a:t>∞</a:t>
                </a:r>
              </a:p>
            </p:txBody>
          </p:sp>
        </p:grpSp>
        <p:cxnSp>
          <p:nvCxnSpPr>
            <p:cNvPr id="8" name="Lige pilforbindelse 7">
              <a:extLst>
                <a:ext uri="{FF2B5EF4-FFF2-40B4-BE49-F238E27FC236}">
                  <a16:creationId xmlns:a16="http://schemas.microsoft.com/office/drawing/2014/main" id="{0E938DFA-D7E5-4FBC-A05A-0400D52A3D0F}"/>
                </a:ext>
              </a:extLst>
            </p:cNvPr>
            <p:cNvCxnSpPr/>
            <p:nvPr/>
          </p:nvCxnSpPr>
          <p:spPr>
            <a:xfrm flipV="1">
              <a:off x="7145012" y="2200834"/>
              <a:ext cx="0" cy="36004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uppe 58">
            <a:extLst>
              <a:ext uri="{FF2B5EF4-FFF2-40B4-BE49-F238E27FC236}">
                <a16:creationId xmlns:a16="http://schemas.microsoft.com/office/drawing/2014/main" id="{703C94E8-8579-4904-B1D8-BA56E2D8ADBA}"/>
              </a:ext>
            </a:extLst>
          </p:cNvPr>
          <p:cNvGrpSpPr/>
          <p:nvPr/>
        </p:nvGrpSpPr>
        <p:grpSpPr>
          <a:xfrm>
            <a:off x="737812" y="991854"/>
            <a:ext cx="3289122" cy="3664321"/>
            <a:chOff x="3203848" y="1052736"/>
            <a:chExt cx="4873298" cy="5429208"/>
          </a:xfrm>
        </p:grpSpPr>
        <p:pic>
          <p:nvPicPr>
            <p:cNvPr id="60" name="Billede 59">
              <a:extLst>
                <a:ext uri="{FF2B5EF4-FFF2-40B4-BE49-F238E27FC236}">
                  <a16:creationId xmlns:a16="http://schemas.microsoft.com/office/drawing/2014/main" id="{3C08EF5C-F61F-4613-AEA7-22430AE9E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3848" y="2636912"/>
              <a:ext cx="4873298" cy="3845032"/>
            </a:xfrm>
            <a:prstGeom prst="rect">
              <a:avLst/>
            </a:prstGeom>
          </p:spPr>
        </p:pic>
        <p:grpSp>
          <p:nvGrpSpPr>
            <p:cNvPr id="61" name="Gruppe 60">
              <a:extLst>
                <a:ext uri="{FF2B5EF4-FFF2-40B4-BE49-F238E27FC236}">
                  <a16:creationId xmlns:a16="http://schemas.microsoft.com/office/drawing/2014/main" id="{725E6CB3-8B8F-49B6-8B82-614C3BDCF29A}"/>
                </a:ext>
              </a:extLst>
            </p:cNvPr>
            <p:cNvGrpSpPr/>
            <p:nvPr/>
          </p:nvGrpSpPr>
          <p:grpSpPr>
            <a:xfrm>
              <a:off x="3347864" y="1052736"/>
              <a:ext cx="2808312" cy="1240938"/>
              <a:chOff x="539552" y="2996952"/>
              <a:chExt cx="4882832" cy="2160240"/>
            </a:xfrm>
          </p:grpSpPr>
          <p:sp>
            <p:nvSpPr>
              <p:cNvPr id="64" name="Sky 63">
                <a:extLst>
                  <a:ext uri="{FF2B5EF4-FFF2-40B4-BE49-F238E27FC236}">
                    <a16:creationId xmlns:a16="http://schemas.microsoft.com/office/drawing/2014/main" id="{A616A610-6655-4C3A-8798-CDA897E102D3}"/>
                  </a:ext>
                </a:extLst>
              </p:cNvPr>
              <p:cNvSpPr/>
              <p:nvPr/>
            </p:nvSpPr>
            <p:spPr>
              <a:xfrm>
                <a:off x="539552" y="2996952"/>
                <a:ext cx="4882832" cy="2160240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9AA0780C-F7F3-49A0-88B8-AA0E353FD9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4754" y="3501008"/>
                <a:ext cx="3530499" cy="79208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1600" i="1" dirty="0"/>
                  <a:t>Brøkdel af </a:t>
                </a:r>
                <a:r>
                  <a:rPr lang="da-DK" sz="1600" i="1" dirty="0" err="1"/>
                  <a:t>v</a:t>
                </a:r>
                <a:r>
                  <a:rPr lang="da-DK" sz="1600" i="1" baseline="-25000" dirty="0" err="1"/>
                  <a:t>O</a:t>
                </a:r>
                <a:endParaRPr lang="da-DK" sz="1600" i="1" baseline="-25000" dirty="0"/>
              </a:p>
            </p:txBody>
          </p:sp>
        </p:grpSp>
        <p:sp>
          <p:nvSpPr>
            <p:cNvPr id="62" name="Bue 61">
              <a:extLst>
                <a:ext uri="{FF2B5EF4-FFF2-40B4-BE49-F238E27FC236}">
                  <a16:creationId xmlns:a16="http://schemas.microsoft.com/office/drawing/2014/main" id="{BA55FE8B-A1C9-4C3F-94E8-34F68DACF1B7}"/>
                </a:ext>
              </a:extLst>
            </p:cNvPr>
            <p:cNvSpPr/>
            <p:nvPr/>
          </p:nvSpPr>
          <p:spPr>
            <a:xfrm>
              <a:off x="5004048" y="2294059"/>
              <a:ext cx="1272898" cy="1559693"/>
            </a:xfrm>
            <a:prstGeom prst="arc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3" name="Bue 62">
              <a:extLst>
                <a:ext uri="{FF2B5EF4-FFF2-40B4-BE49-F238E27FC236}">
                  <a16:creationId xmlns:a16="http://schemas.microsoft.com/office/drawing/2014/main" id="{3F513C18-ECBC-4746-9946-15F524C471EA}"/>
                </a:ext>
              </a:extLst>
            </p:cNvPr>
            <p:cNvSpPr/>
            <p:nvPr/>
          </p:nvSpPr>
          <p:spPr>
            <a:xfrm flipH="1">
              <a:off x="3203848" y="2294059"/>
              <a:ext cx="1272898" cy="1559693"/>
            </a:xfrm>
            <a:prstGeom prst="arc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66" name="Gruppe 65">
            <a:extLst>
              <a:ext uri="{FF2B5EF4-FFF2-40B4-BE49-F238E27FC236}">
                <a16:creationId xmlns:a16="http://schemas.microsoft.com/office/drawing/2014/main" id="{4930E011-EEC4-43C5-82AE-E50F89CBA6BF}"/>
              </a:ext>
            </a:extLst>
          </p:cNvPr>
          <p:cNvGrpSpPr/>
          <p:nvPr/>
        </p:nvGrpSpPr>
        <p:grpSpPr>
          <a:xfrm>
            <a:off x="737812" y="4851871"/>
            <a:ext cx="3230058" cy="1453281"/>
            <a:chOff x="4943355" y="1853917"/>
            <a:chExt cx="3841924" cy="1728574"/>
          </a:xfrm>
        </p:grpSpPr>
        <p:sp>
          <p:nvSpPr>
            <p:cNvPr id="67" name="Undertitel 2">
              <a:extLst>
                <a:ext uri="{FF2B5EF4-FFF2-40B4-BE49-F238E27FC236}">
                  <a16:creationId xmlns:a16="http://schemas.microsoft.com/office/drawing/2014/main" id="{794E4D15-6184-4B2E-8F5A-86FC9411BFE3}"/>
                </a:ext>
              </a:extLst>
            </p:cNvPr>
            <p:cNvSpPr txBox="1">
              <a:spLocks/>
            </p:cNvSpPr>
            <p:nvPr/>
          </p:nvSpPr>
          <p:spPr>
            <a:xfrm>
              <a:off x="6732240" y="3212976"/>
              <a:ext cx="2053039" cy="3695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tabLst>
                  <a:tab pos="1617663" algn="l"/>
                </a:tabLst>
              </a:pPr>
              <a:r>
                <a:rPr lang="da-DK" sz="1400" b="1" i="1" dirty="0">
                  <a:solidFill>
                    <a:schemeClr val="tx1"/>
                  </a:solidFill>
                </a:rPr>
                <a:t>Negativ Feedback</a:t>
              </a:r>
            </a:p>
          </p:txBody>
        </p:sp>
        <p:sp>
          <p:nvSpPr>
            <p:cNvPr id="68" name="Undertitel 2">
              <a:extLst>
                <a:ext uri="{FF2B5EF4-FFF2-40B4-BE49-F238E27FC236}">
                  <a16:creationId xmlns:a16="http://schemas.microsoft.com/office/drawing/2014/main" id="{8B22E7B7-E6EB-4CFB-BE35-9F31920870A5}"/>
                </a:ext>
              </a:extLst>
            </p:cNvPr>
            <p:cNvSpPr txBox="1">
              <a:spLocks/>
            </p:cNvSpPr>
            <p:nvPr/>
          </p:nvSpPr>
          <p:spPr>
            <a:xfrm>
              <a:off x="4943355" y="1853917"/>
              <a:ext cx="1414786" cy="3695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tabLst>
                  <a:tab pos="1617663" algn="l"/>
                </a:tabLst>
              </a:pPr>
              <a:r>
                <a:rPr lang="da-DK" sz="1400" b="1" i="1" dirty="0">
                  <a:solidFill>
                    <a:schemeClr val="tx1"/>
                  </a:solidFill>
                </a:rPr>
                <a:t>Modkobling</a:t>
              </a:r>
            </a:p>
          </p:txBody>
        </p:sp>
        <p:cxnSp>
          <p:nvCxnSpPr>
            <p:cNvPr id="69" name="Lige pilforbindelse 68">
              <a:extLst>
                <a:ext uri="{FF2B5EF4-FFF2-40B4-BE49-F238E27FC236}">
                  <a16:creationId xmlns:a16="http://schemas.microsoft.com/office/drawing/2014/main" id="{E8E49A91-F535-4241-A9AA-7474C94CC2C4}"/>
                </a:ext>
              </a:extLst>
            </p:cNvPr>
            <p:cNvCxnSpPr>
              <a:cxnSpLocks/>
            </p:cNvCxnSpPr>
            <p:nvPr/>
          </p:nvCxnSpPr>
          <p:spPr>
            <a:xfrm>
              <a:off x="6373271" y="2329480"/>
              <a:ext cx="358970" cy="73650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e 9">
            <a:extLst>
              <a:ext uri="{FF2B5EF4-FFF2-40B4-BE49-F238E27FC236}">
                <a16:creationId xmlns:a16="http://schemas.microsoft.com/office/drawing/2014/main" id="{1A6F13B7-9B5F-9069-E5E7-60059592A847}"/>
              </a:ext>
            </a:extLst>
          </p:cNvPr>
          <p:cNvGrpSpPr/>
          <p:nvPr/>
        </p:nvGrpSpPr>
        <p:grpSpPr>
          <a:xfrm>
            <a:off x="8100392" y="2695748"/>
            <a:ext cx="964438" cy="1022908"/>
            <a:chOff x="8100392" y="2695748"/>
            <a:chExt cx="964438" cy="1022908"/>
          </a:xfrm>
        </p:grpSpPr>
        <p:pic>
          <p:nvPicPr>
            <p:cNvPr id="70" name="Billede 69">
              <a:extLst>
                <a:ext uri="{FF2B5EF4-FFF2-40B4-BE49-F238E27FC236}">
                  <a16:creationId xmlns:a16="http://schemas.microsoft.com/office/drawing/2014/main" id="{BAA57175-601D-4898-93DA-9DFF8E985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172400" y="2998576"/>
              <a:ext cx="720080" cy="720080"/>
            </a:xfrm>
            <a:prstGeom prst="rect">
              <a:avLst/>
            </a:prstGeom>
          </p:spPr>
        </p:pic>
        <p:grpSp>
          <p:nvGrpSpPr>
            <p:cNvPr id="7" name="Gruppe 6">
              <a:extLst>
                <a:ext uri="{FF2B5EF4-FFF2-40B4-BE49-F238E27FC236}">
                  <a16:creationId xmlns:a16="http://schemas.microsoft.com/office/drawing/2014/main" id="{A6EAFFC7-A61A-1773-475F-C682B4B2B01E}"/>
                </a:ext>
              </a:extLst>
            </p:cNvPr>
            <p:cNvGrpSpPr/>
            <p:nvPr/>
          </p:nvGrpSpPr>
          <p:grpSpPr>
            <a:xfrm>
              <a:off x="8100392" y="2695748"/>
              <a:ext cx="964438" cy="332851"/>
              <a:chOff x="8100392" y="2695748"/>
              <a:chExt cx="964438" cy="332851"/>
            </a:xfrm>
          </p:grpSpPr>
          <p:sp>
            <p:nvSpPr>
              <p:cNvPr id="2" name="Taleboble: oval 1">
                <a:extLst>
                  <a:ext uri="{FF2B5EF4-FFF2-40B4-BE49-F238E27FC236}">
                    <a16:creationId xmlns:a16="http://schemas.microsoft.com/office/drawing/2014/main" id="{E9984108-1770-4774-AC48-E2DC1B4C88CE}"/>
                  </a:ext>
                </a:extLst>
              </p:cNvPr>
              <p:cNvSpPr/>
              <p:nvPr/>
            </p:nvSpPr>
            <p:spPr>
              <a:xfrm>
                <a:off x="8120482" y="2717933"/>
                <a:ext cx="852156" cy="310666"/>
              </a:xfrm>
              <a:prstGeom prst="wedgeEllipseCallout">
                <a:avLst>
                  <a:gd name="adj1" fmla="val -7793"/>
                  <a:gd name="adj2" fmla="val 71187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1C282700-ECF3-41AB-B223-44AAFF9C23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00392" y="2695748"/>
                <a:ext cx="964438" cy="2880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1000" i="1" baseline="-25000" dirty="0"/>
                  <a:t>Kun med modkobling!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2609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58BE8ED2-CD69-448D-A75D-52FE18D63FB8}"/>
              </a:ext>
            </a:extLst>
          </p:cNvPr>
          <p:cNvSpPr txBox="1">
            <a:spLocks/>
          </p:cNvSpPr>
          <p:nvPr/>
        </p:nvSpPr>
        <p:spPr>
          <a:xfrm>
            <a:off x="26486" y="44624"/>
            <a:ext cx="7137802" cy="432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Dette gælder også med påtrykt indgangsspænding v</a:t>
            </a:r>
            <a:r>
              <a:rPr lang="da-DK" sz="2400" i="1" baseline="-25000" dirty="0"/>
              <a:t>in</a:t>
            </a:r>
            <a:r>
              <a:rPr lang="da-DK" sz="2400" i="1" dirty="0"/>
              <a:t>:</a:t>
            </a:r>
          </a:p>
        </p:txBody>
      </p:sp>
      <p:grpSp>
        <p:nvGrpSpPr>
          <p:cNvPr id="2" name="Gruppe 1">
            <a:extLst>
              <a:ext uri="{FF2B5EF4-FFF2-40B4-BE49-F238E27FC236}">
                <a16:creationId xmlns:a16="http://schemas.microsoft.com/office/drawing/2014/main" id="{90A6B5FA-ACCF-4D2D-9C6D-BEDEFF651BB6}"/>
              </a:ext>
            </a:extLst>
          </p:cNvPr>
          <p:cNvGrpSpPr/>
          <p:nvPr/>
        </p:nvGrpSpPr>
        <p:grpSpPr>
          <a:xfrm>
            <a:off x="1974540" y="1042645"/>
            <a:ext cx="5194920" cy="2954241"/>
            <a:chOff x="457200" y="764704"/>
            <a:chExt cx="8229600" cy="4680000"/>
          </a:xfrm>
        </p:grpSpPr>
        <p:pic>
          <p:nvPicPr>
            <p:cNvPr id="4" name="Picture 2" descr="ch14fig04.jpg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054"/>
            <a:stretch/>
          </p:blipFill>
          <p:spPr bwMode="auto">
            <a:xfrm>
              <a:off x="457200" y="764704"/>
              <a:ext cx="8229600" cy="468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" name="Lige pilforbindelse 11">
              <a:extLst>
                <a:ext uri="{FF2B5EF4-FFF2-40B4-BE49-F238E27FC236}">
                  <a16:creationId xmlns:a16="http://schemas.microsoft.com/office/drawing/2014/main" id="{88D357E6-AD5B-487A-94A2-652F03770240}"/>
                </a:ext>
              </a:extLst>
            </p:cNvPr>
            <p:cNvCxnSpPr/>
            <p:nvPr/>
          </p:nvCxnSpPr>
          <p:spPr>
            <a:xfrm>
              <a:off x="3624265" y="2924944"/>
              <a:ext cx="0" cy="108012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Undertitel 2">
              <a:extLst>
                <a:ext uri="{FF2B5EF4-FFF2-40B4-BE49-F238E27FC236}">
                  <a16:creationId xmlns:a16="http://schemas.microsoft.com/office/drawing/2014/main" id="{0E6247FE-A4C8-4B9A-875A-8F4C7C28BAC1}"/>
                </a:ext>
              </a:extLst>
            </p:cNvPr>
            <p:cNvSpPr txBox="1">
              <a:spLocks/>
            </p:cNvSpPr>
            <p:nvPr/>
          </p:nvSpPr>
          <p:spPr>
            <a:xfrm>
              <a:off x="3075410" y="3068960"/>
              <a:ext cx="648072" cy="593656"/>
            </a:xfrm>
            <a:prstGeom prst="rect">
              <a:avLst/>
            </a:prstGeom>
          </p:spPr>
          <p:txBody>
            <a:bodyPr anchor="ctr" anchorCtr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800" i="1" dirty="0">
                  <a:solidFill>
                    <a:srgbClr val="FF0000"/>
                  </a:solidFill>
                </a:rPr>
                <a:t>v</a:t>
              </a:r>
              <a:r>
                <a:rPr lang="da-DK" sz="1800" i="1" baseline="-25000" dirty="0">
                  <a:solidFill>
                    <a:srgbClr val="FF0000"/>
                  </a:solidFill>
                </a:rPr>
                <a:t>id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Undertitel 2"/>
          <p:cNvSpPr txBox="1">
            <a:spLocks/>
          </p:cNvSpPr>
          <p:nvPr/>
        </p:nvSpPr>
        <p:spPr>
          <a:xfrm>
            <a:off x="1025168" y="5079408"/>
            <a:ext cx="1242575" cy="34415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1617663" algn="l"/>
              </a:tabLst>
            </a:pPr>
            <a:r>
              <a:rPr lang="da-DK" sz="1400" i="1" dirty="0">
                <a:solidFill>
                  <a:schemeClr val="tx1"/>
                </a:solidFill>
              </a:rPr>
              <a:t>Modkobling:</a:t>
            </a:r>
          </a:p>
        </p:txBody>
      </p:sp>
      <p:grpSp>
        <p:nvGrpSpPr>
          <p:cNvPr id="14" name="Gruppe 13">
            <a:extLst>
              <a:ext uri="{FF2B5EF4-FFF2-40B4-BE49-F238E27FC236}">
                <a16:creationId xmlns:a16="http://schemas.microsoft.com/office/drawing/2014/main" id="{911F03C7-16F7-7A8C-1D44-3AA39A2C0B17}"/>
              </a:ext>
            </a:extLst>
          </p:cNvPr>
          <p:cNvGrpSpPr/>
          <p:nvPr/>
        </p:nvGrpSpPr>
        <p:grpSpPr>
          <a:xfrm>
            <a:off x="2555776" y="5046880"/>
            <a:ext cx="3983037" cy="369515"/>
            <a:chOff x="2555776" y="5046880"/>
            <a:chExt cx="3983037" cy="3695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Undertitel 2"/>
                <p:cNvSpPr txBox="1">
                  <a:spLocks/>
                </p:cNvSpPr>
                <p:nvPr/>
              </p:nvSpPr>
              <p:spPr>
                <a:xfrm>
                  <a:off x="3635896" y="5046880"/>
                  <a:ext cx="432805" cy="369515"/>
                </a:xfrm>
                <a:prstGeom prst="rect">
                  <a:avLst/>
                </a:prstGeom>
              </p:spPr>
              <p:txBody>
                <a:bodyPr anchor="ctr" anchorCtr="0">
                  <a:noAutofit/>
                </a:bodyPr>
                <a:lstStyle>
                  <a:lvl1pPr marL="342900" indent="-3429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  <a:tabLst>
                      <a:tab pos="1617663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sz="14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⇒</m:t>
                        </m:r>
                      </m:oMath>
                    </m:oMathPara>
                  </a14:m>
                  <a:endParaRPr lang="da-DK" sz="1400" baseline="-25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Undertitel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896" y="5046880"/>
                  <a:ext cx="432805" cy="3695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Undertitel 2"/>
            <p:cNvSpPr txBox="1">
              <a:spLocks/>
            </p:cNvSpPr>
            <p:nvPr/>
          </p:nvSpPr>
          <p:spPr>
            <a:xfrm>
              <a:off x="4211960" y="5087383"/>
              <a:ext cx="760318" cy="288508"/>
            </a:xfrm>
            <a:prstGeom prst="rect">
              <a:avLst/>
            </a:prstGeom>
          </p:spPr>
          <p:txBody>
            <a:bodyPr anchor="ctr" anchorCtr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  <a:tabLst>
                  <a:tab pos="1617663" algn="l"/>
                </a:tabLst>
              </a:pPr>
              <a:r>
                <a:rPr lang="da-DK" sz="1400" i="1" dirty="0"/>
                <a:t>v</a:t>
              </a:r>
              <a:r>
                <a:rPr lang="da-DK" sz="1400" i="1" baseline="-25000" dirty="0"/>
                <a:t>id</a:t>
              </a:r>
              <a:r>
                <a:rPr lang="da-DK" sz="1400" i="1" dirty="0"/>
                <a:t> = 0</a:t>
              </a:r>
              <a:endParaRPr lang="da-DK" sz="14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" name="Undertitel 2"/>
            <p:cNvSpPr txBox="1">
              <a:spLocks/>
            </p:cNvSpPr>
            <p:nvPr/>
          </p:nvSpPr>
          <p:spPr>
            <a:xfrm>
              <a:off x="5868144" y="5089851"/>
              <a:ext cx="670669" cy="283572"/>
            </a:xfrm>
            <a:prstGeom prst="rect">
              <a:avLst/>
            </a:prstGeom>
          </p:spPr>
          <p:txBody>
            <a:bodyPr anchor="ctr" anchorCtr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  <a:tabLst>
                  <a:tab pos="1617663" algn="l"/>
                </a:tabLst>
              </a:pPr>
              <a:r>
                <a:rPr lang="da-DK" sz="1400" i="1" dirty="0"/>
                <a:t>e</a:t>
              </a:r>
              <a:r>
                <a:rPr lang="da-DK" sz="1400" i="1" baseline="30000" dirty="0"/>
                <a:t>-</a:t>
              </a:r>
              <a:r>
                <a:rPr lang="da-DK" sz="1400" i="1" dirty="0"/>
                <a:t> = e</a:t>
              </a:r>
              <a:r>
                <a:rPr lang="da-DK" sz="1400" i="1" baseline="30000" dirty="0"/>
                <a:t>+</a:t>
              </a:r>
              <a:endParaRPr lang="da-DK" sz="1400" i="1" baseline="30000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Undertitel 2"/>
                <p:cNvSpPr txBox="1">
                  <a:spLocks/>
                </p:cNvSpPr>
                <p:nvPr/>
              </p:nvSpPr>
              <p:spPr>
                <a:xfrm>
                  <a:off x="5220072" y="5046880"/>
                  <a:ext cx="378705" cy="369515"/>
                </a:xfrm>
                <a:prstGeom prst="rect">
                  <a:avLst/>
                </a:prstGeom>
              </p:spPr>
              <p:txBody>
                <a:bodyPr anchor="ctr" anchorCtr="0">
                  <a:noAutofit/>
                </a:bodyPr>
                <a:lstStyle>
                  <a:lvl1pPr marL="342900" indent="-3429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  <a:tabLst>
                      <a:tab pos="1617663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sz="14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⇒</m:t>
                        </m:r>
                      </m:oMath>
                    </m:oMathPara>
                  </a14:m>
                  <a:endParaRPr lang="da-DK" sz="1400" baseline="-25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Undertitel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072" y="5046880"/>
                  <a:ext cx="378705" cy="3695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uppe 14">
              <a:extLst>
                <a:ext uri="{FF2B5EF4-FFF2-40B4-BE49-F238E27FC236}">
                  <a16:creationId xmlns:a16="http://schemas.microsoft.com/office/drawing/2014/main" id="{FA27EBBC-4BD1-4B04-92F9-9C61902A8577}"/>
                </a:ext>
              </a:extLst>
            </p:cNvPr>
            <p:cNvGrpSpPr/>
            <p:nvPr/>
          </p:nvGrpSpPr>
          <p:grpSpPr>
            <a:xfrm>
              <a:off x="2555776" y="5105035"/>
              <a:ext cx="1016826" cy="292907"/>
              <a:chOff x="6979304" y="2957389"/>
              <a:chExt cx="1016826" cy="292907"/>
            </a:xfrm>
            <a:noFill/>
            <a:effectLst/>
          </p:grpSpPr>
          <p:sp>
            <p:nvSpPr>
              <p:cNvPr id="17" name="Undertitel 2">
                <a:extLst>
                  <a:ext uri="{FF2B5EF4-FFF2-40B4-BE49-F238E27FC236}">
                    <a16:creationId xmlns:a16="http://schemas.microsoft.com/office/drawing/2014/main" id="{90C80E70-6323-435A-BB56-5FCFBF98C8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79304" y="2957389"/>
                <a:ext cx="481018" cy="29290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 anchorCtr="0">
                <a:normAutofit lnSpcReduction="1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tabLst>
                    <a:tab pos="1617663" algn="l"/>
                  </a:tabLst>
                </a:pPr>
                <a:r>
                  <a:rPr lang="da-DK" sz="1400" i="1" dirty="0">
                    <a:solidFill>
                      <a:schemeClr val="tx1"/>
                    </a:solidFill>
                  </a:rPr>
                  <a:t>A</a:t>
                </a:r>
                <a:r>
                  <a:rPr lang="da-DK" sz="1400" i="1" baseline="-25000" dirty="0">
                    <a:solidFill>
                      <a:schemeClr val="tx1"/>
                    </a:solidFill>
                  </a:rPr>
                  <a:t>OL</a:t>
                </a:r>
                <a:endParaRPr lang="da-DK" sz="1400" i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Lige pilforbindelse 17">
                <a:extLst>
                  <a:ext uri="{FF2B5EF4-FFF2-40B4-BE49-F238E27FC236}">
                    <a16:creationId xmlns:a16="http://schemas.microsoft.com/office/drawing/2014/main" id="{232EF97E-5A7A-4151-8167-23CA5581F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80312" y="3103842"/>
                <a:ext cx="288032" cy="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Undertitel 2">
                <a:extLst>
                  <a:ext uri="{FF2B5EF4-FFF2-40B4-BE49-F238E27FC236}">
                    <a16:creationId xmlns:a16="http://schemas.microsoft.com/office/drawing/2014/main" id="{EE69683E-8388-4881-8FC3-70C1ABBA57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67512" y="2957389"/>
                <a:ext cx="328618" cy="29290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 anchorCtr="0">
                <a:normAutofit lnSpcReduction="1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tabLst>
                    <a:tab pos="1617663" algn="l"/>
                  </a:tabLst>
                </a:pPr>
                <a:r>
                  <a:rPr lang="da-DK" sz="1400" i="1" dirty="0">
                    <a:solidFill>
                      <a:schemeClr val="tx1"/>
                    </a:solidFill>
                  </a:rPr>
                  <a:t>∞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4375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illede 20">
            <a:extLst>
              <a:ext uri="{FF2B5EF4-FFF2-40B4-BE49-F238E27FC236}">
                <a16:creationId xmlns:a16="http://schemas.microsoft.com/office/drawing/2014/main" id="{FEC71F61-35B9-4CE5-953C-51080A441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456856" y="1124744"/>
            <a:ext cx="8230289" cy="55446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0BBC84C-0933-EEED-2792-D1E01BB3BF42}"/>
              </a:ext>
            </a:extLst>
          </p:cNvPr>
          <p:cNvSpPr txBox="1">
            <a:spLocks/>
          </p:cNvSpPr>
          <p:nvPr/>
        </p:nvSpPr>
        <p:spPr>
          <a:xfrm>
            <a:off x="323528" y="476672"/>
            <a:ext cx="756084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Alle Op </a:t>
            </a:r>
            <a:r>
              <a:rPr lang="da-DK" sz="2000" i="1" dirty="0" err="1"/>
              <a:t>Amps</a:t>
            </a:r>
            <a:r>
              <a:rPr lang="da-DK" sz="2000" i="1" dirty="0"/>
              <a:t> kan regnes ideelle. Find værdien af </a:t>
            </a:r>
            <a:r>
              <a:rPr lang="da-DK" sz="2000" i="1" dirty="0" err="1"/>
              <a:t>v</a:t>
            </a:r>
            <a:r>
              <a:rPr lang="da-DK" sz="2000" i="1" baseline="-25000" dirty="0" err="1"/>
              <a:t>o</a:t>
            </a:r>
            <a:r>
              <a:rPr lang="da-DK" sz="2000" i="1" dirty="0"/>
              <a:t> i alle seks tilfælde.</a:t>
            </a:r>
          </a:p>
        </p:txBody>
      </p:sp>
    </p:spTree>
    <p:extLst>
      <p:ext uri="{BB962C8B-B14F-4D97-AF65-F5344CB8AC3E}">
        <p14:creationId xmlns:p14="http://schemas.microsoft.com/office/powerpoint/2010/main" val="3648995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e 6">
            <a:extLst>
              <a:ext uri="{FF2B5EF4-FFF2-40B4-BE49-F238E27FC236}">
                <a16:creationId xmlns:a16="http://schemas.microsoft.com/office/drawing/2014/main" id="{B7B5E104-ECEB-E35A-E320-B04155BE72C8}"/>
              </a:ext>
            </a:extLst>
          </p:cNvPr>
          <p:cNvGrpSpPr/>
          <p:nvPr/>
        </p:nvGrpSpPr>
        <p:grpSpPr>
          <a:xfrm>
            <a:off x="323528" y="1903570"/>
            <a:ext cx="8640960" cy="3613662"/>
            <a:chOff x="323528" y="1831562"/>
            <a:chExt cx="8640960" cy="3613662"/>
          </a:xfrm>
        </p:grpSpPr>
        <p:pic>
          <p:nvPicPr>
            <p:cNvPr id="7" name="Billede 2">
              <a:extLst>
                <a:ext uri="{FF2B5EF4-FFF2-40B4-BE49-F238E27FC236}">
                  <a16:creationId xmlns:a16="http://schemas.microsoft.com/office/drawing/2014/main" id="{6D234FD6-A6E2-8763-900F-E575EB6FA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6332" y="3139262"/>
              <a:ext cx="3068156" cy="1441866"/>
            </a:xfrm>
            <a:prstGeom prst="rect">
              <a:avLst/>
            </a:prstGeom>
          </p:spPr>
        </p:pic>
        <p:pic>
          <p:nvPicPr>
            <p:cNvPr id="8" name="Billede 1">
              <a:extLst>
                <a:ext uri="{FF2B5EF4-FFF2-40B4-BE49-F238E27FC236}">
                  <a16:creationId xmlns:a16="http://schemas.microsoft.com/office/drawing/2014/main" id="{A8AD9459-CF15-FA92-D2E1-46B65E9C5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528" y="1831562"/>
              <a:ext cx="2328265" cy="3613662"/>
            </a:xfrm>
            <a:prstGeom prst="rect">
              <a:avLst/>
            </a:prstGeom>
          </p:spPr>
        </p:pic>
        <p:pic>
          <p:nvPicPr>
            <p:cNvPr id="9" name="Billede 3">
              <a:extLst>
                <a:ext uri="{FF2B5EF4-FFF2-40B4-BE49-F238E27FC236}">
                  <a16:creationId xmlns:a16="http://schemas.microsoft.com/office/drawing/2014/main" id="{8AB56CC3-2492-5E58-530B-3AC83D8FD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3808" y="1988840"/>
              <a:ext cx="3158239" cy="3319374"/>
            </a:xfrm>
            <a:prstGeom prst="rect">
              <a:avLst/>
            </a:prstGeom>
          </p:spPr>
        </p:pic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029ED565-953F-4FF1-3860-ACDC8BDFB061}"/>
              </a:ext>
            </a:extLst>
          </p:cNvPr>
          <p:cNvSpPr txBox="1">
            <a:spLocks/>
          </p:cNvSpPr>
          <p:nvPr/>
        </p:nvSpPr>
        <p:spPr>
          <a:xfrm>
            <a:off x="323528" y="476672"/>
            <a:ext cx="756084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Alle Op </a:t>
            </a:r>
            <a:r>
              <a:rPr lang="da-DK" sz="2000" i="1" dirty="0" err="1"/>
              <a:t>Amps</a:t>
            </a:r>
            <a:r>
              <a:rPr lang="da-DK" sz="2000" i="1" dirty="0"/>
              <a:t> kan regnes ideelle. Find værdien af </a:t>
            </a:r>
            <a:r>
              <a:rPr lang="da-DK" sz="2000" i="1" dirty="0" err="1"/>
              <a:t>v</a:t>
            </a:r>
            <a:r>
              <a:rPr lang="da-DK" sz="2000" i="1" baseline="-25000" dirty="0" err="1"/>
              <a:t>o</a:t>
            </a:r>
            <a:r>
              <a:rPr lang="da-DK" sz="2000" i="1" dirty="0"/>
              <a:t> i alle fem tilfælde.</a:t>
            </a:r>
          </a:p>
        </p:txBody>
      </p:sp>
    </p:spTree>
    <p:extLst>
      <p:ext uri="{BB962C8B-B14F-4D97-AF65-F5344CB8AC3E}">
        <p14:creationId xmlns:p14="http://schemas.microsoft.com/office/powerpoint/2010/main" val="213024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791580" y="836712"/>
            <a:ext cx="7560840" cy="432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er ”bel” (B) henholdsvis ”decibel” (dB) defineret?</a:t>
            </a:r>
          </a:p>
        </p:txBody>
      </p:sp>
      <p:sp>
        <p:nvSpPr>
          <p:cNvPr id="5" name="Undertitel 2">
            <a:extLst>
              <a:ext uri="{FF2B5EF4-FFF2-40B4-BE49-F238E27FC236}">
                <a16:creationId xmlns:a16="http://schemas.microsoft.com/office/drawing/2014/main" id="{75DBE1E8-AA52-4C03-9E4A-52B7FB62DDD6}"/>
              </a:ext>
            </a:extLst>
          </p:cNvPr>
          <p:cNvSpPr txBox="1">
            <a:spLocks/>
          </p:cNvSpPr>
          <p:nvPr/>
        </p:nvSpPr>
        <p:spPr>
          <a:xfrm>
            <a:off x="29318" y="32268"/>
            <a:ext cx="2952328" cy="431107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800" i="1" dirty="0"/>
              <a:t>Definition af ”dB”</a:t>
            </a:r>
            <a:endParaRPr lang="da-DK" sz="2800" i="1" baseline="-25000" dirty="0">
              <a:solidFill>
                <a:srgbClr val="FF0000"/>
              </a:solidFill>
            </a:endParaRPr>
          </a:p>
        </p:txBody>
      </p:sp>
      <p:sp>
        <p:nvSpPr>
          <p:cNvPr id="6" name="Undertitel 2">
            <a:extLst>
              <a:ext uri="{FF2B5EF4-FFF2-40B4-BE49-F238E27FC236}">
                <a16:creationId xmlns:a16="http://schemas.microsoft.com/office/drawing/2014/main" id="{18D780F1-8358-4538-8270-B998873D8835}"/>
              </a:ext>
            </a:extLst>
          </p:cNvPr>
          <p:cNvSpPr txBox="1">
            <a:spLocks/>
          </p:cNvSpPr>
          <p:nvPr/>
        </p:nvSpPr>
        <p:spPr>
          <a:xfrm>
            <a:off x="3059832" y="6453336"/>
            <a:ext cx="5904656" cy="288032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600" i="1" dirty="0"/>
              <a:t>Interesseret i lidt historie så kig her: </a:t>
            </a:r>
            <a:r>
              <a:rPr lang="da-DK" sz="1600" i="1" dirty="0">
                <a:hlinkClick r:id="rId2"/>
              </a:rPr>
              <a:t>https://en.wikipedia.org/wiki/Decibel</a:t>
            </a:r>
            <a:endParaRPr lang="da-DK" sz="1600" i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725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BE0F-CFCA-3F4D-811E-C53E78B48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dertitel 2">
            <a:extLst>
              <a:ext uri="{FF2B5EF4-FFF2-40B4-BE49-F238E27FC236}">
                <a16:creationId xmlns:a16="http://schemas.microsoft.com/office/drawing/2014/main" id="{BAAC6030-A747-9064-B2A6-6202C0E927F1}"/>
              </a:ext>
            </a:extLst>
          </p:cNvPr>
          <p:cNvSpPr txBox="1">
            <a:spLocks/>
          </p:cNvSpPr>
          <p:nvPr/>
        </p:nvSpPr>
        <p:spPr>
          <a:xfrm>
            <a:off x="29318" y="32268"/>
            <a:ext cx="5766818" cy="431107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800" i="1" dirty="0"/>
              <a:t>Repræsentation af stort dynamikområde</a:t>
            </a:r>
            <a:endParaRPr lang="da-DK" sz="2800" i="1" baseline="-25000" dirty="0">
              <a:solidFill>
                <a:srgbClr val="FF0000"/>
              </a:solidFill>
            </a:endParaRP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202E6273-F371-9C8D-6B9A-4C6CBE9D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268760"/>
            <a:ext cx="6076661" cy="48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428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A663-5D1C-F035-0905-5E93A0BF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dertitel 2">
            <a:extLst>
              <a:ext uri="{FF2B5EF4-FFF2-40B4-BE49-F238E27FC236}">
                <a16:creationId xmlns:a16="http://schemas.microsoft.com/office/drawing/2014/main" id="{5BF997F1-E4CE-B160-2120-CFE40348D269}"/>
              </a:ext>
            </a:extLst>
          </p:cNvPr>
          <p:cNvSpPr txBox="1">
            <a:spLocks/>
          </p:cNvSpPr>
          <p:nvPr/>
        </p:nvSpPr>
        <p:spPr>
          <a:xfrm>
            <a:off x="29318" y="32268"/>
            <a:ext cx="5118746" cy="431107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800" i="1" dirty="0" err="1"/>
              <a:t>Ulineære</a:t>
            </a:r>
            <a:r>
              <a:rPr lang="da-DK" sz="2800" i="1" dirty="0"/>
              <a:t> funktioner → Rette </a:t>
            </a:r>
            <a:r>
              <a:rPr lang="da-DK" sz="2800" i="1" dirty="0" err="1"/>
              <a:t>linier</a:t>
            </a:r>
            <a:endParaRPr lang="da-DK" sz="2800" i="1" baseline="-25000" dirty="0">
              <a:solidFill>
                <a:srgbClr val="FF0000"/>
              </a:solidFill>
            </a:endParaRP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46B8C195-274A-FD00-7F37-E52DD6DDA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037" y="893898"/>
            <a:ext cx="4609565" cy="2545121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889A662B-A095-0135-68BB-E923D3D31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079" y="3645024"/>
            <a:ext cx="4463480" cy="254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90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dertitel 2">
            <a:extLst>
              <a:ext uri="{FF2B5EF4-FFF2-40B4-BE49-F238E27FC236}">
                <a16:creationId xmlns:a16="http://schemas.microsoft.com/office/drawing/2014/main" id="{75DBE1E8-AA52-4C03-9E4A-52B7FB62DDD6}"/>
              </a:ext>
            </a:extLst>
          </p:cNvPr>
          <p:cNvSpPr txBox="1">
            <a:spLocks/>
          </p:cNvSpPr>
          <p:nvPr/>
        </p:nvSpPr>
        <p:spPr>
          <a:xfrm>
            <a:off x="0" y="44624"/>
            <a:ext cx="2411760" cy="431107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800" i="1" dirty="0"/>
              <a:t>Kaskadekobling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39ADC0D-63E2-0BA7-CCA4-5C3C93555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764704"/>
            <a:ext cx="6258732" cy="552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25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Undertitel 2"/>
          <p:cNvSpPr txBox="1">
            <a:spLocks/>
          </p:cNvSpPr>
          <p:nvPr/>
        </p:nvSpPr>
        <p:spPr>
          <a:xfrm>
            <a:off x="29318" y="32268"/>
            <a:ext cx="2952328" cy="431107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800" i="1" dirty="0"/>
              <a:t>Forstærker model</a:t>
            </a:r>
            <a:endParaRPr lang="da-DK" sz="2800" i="1" baseline="-25000" dirty="0">
              <a:solidFill>
                <a:srgbClr val="FF0000"/>
              </a:solidFill>
            </a:endParaRPr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C77AEB42-487A-48BB-B410-D2E49C13672B}"/>
              </a:ext>
            </a:extLst>
          </p:cNvPr>
          <p:cNvGrpSpPr/>
          <p:nvPr/>
        </p:nvGrpSpPr>
        <p:grpSpPr>
          <a:xfrm>
            <a:off x="1105024" y="548680"/>
            <a:ext cx="7499424" cy="2880320"/>
            <a:chOff x="1105024" y="692696"/>
            <a:chExt cx="7499424" cy="2880320"/>
          </a:xfrm>
        </p:grpSpPr>
        <p:pic>
          <p:nvPicPr>
            <p:cNvPr id="9" name="Picture 5" descr="AAAZYOD0.EPS                                                   00056AF1Hard Drive-Seat One            B36702C6:">
              <a:extLst>
                <a:ext uri="{FF2B5EF4-FFF2-40B4-BE49-F238E27FC236}">
                  <a16:creationId xmlns:a16="http://schemas.microsoft.com/office/drawing/2014/main" id="{21502AB0-F985-434D-9122-E42066E791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226"/>
            <a:stretch/>
          </p:blipFill>
          <p:spPr bwMode="auto">
            <a:xfrm>
              <a:off x="1105024" y="692696"/>
              <a:ext cx="6995368" cy="2520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BA7FEFCA-BBD9-4734-A456-5DBF5EE7D3D4}"/>
                </a:ext>
              </a:extLst>
            </p:cNvPr>
            <p:cNvSpPr/>
            <p:nvPr/>
          </p:nvSpPr>
          <p:spPr>
            <a:xfrm>
              <a:off x="2754548" y="1295418"/>
              <a:ext cx="4392488" cy="19396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BFBF23ED-D0E4-4685-A818-9788B1326177}"/>
                </a:ext>
              </a:extLst>
            </p:cNvPr>
            <p:cNvSpPr/>
            <p:nvPr/>
          </p:nvSpPr>
          <p:spPr>
            <a:xfrm>
              <a:off x="7308304" y="3203684"/>
              <a:ext cx="129614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i="1" dirty="0"/>
                <a:t>(Figur 1.17)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0292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/>
        </p:nvGraphicFramePr>
        <p:xfrm>
          <a:off x="1591948" y="4207892"/>
          <a:ext cx="5960104" cy="1030600"/>
        </p:xfrm>
        <a:graphic>
          <a:graphicData uri="http://schemas.openxmlformats.org/drawingml/2006/table">
            <a:tbl>
              <a:tblPr firstRow="1" firstCol="1" bandRow="1"/>
              <a:tblGrid>
                <a:gridCol w="1003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b="1" i="1" dirty="0">
                          <a:effectLst/>
                          <a:latin typeface="+mn-lt"/>
                          <a:ea typeface="Times New Roman"/>
                        </a:rPr>
                        <a:t>Forstærker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b="1" i="1" dirty="0">
                          <a:effectLst/>
                          <a:latin typeface="+mn-lt"/>
                          <a:ea typeface="Times New Roman"/>
                        </a:rPr>
                        <a:t>Spændingsforstærkning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b="1" i="1" dirty="0">
                          <a:effectLst/>
                          <a:latin typeface="+mn-lt"/>
                          <a:ea typeface="Times New Roman"/>
                        </a:rPr>
                        <a:t>Indgangsmodstand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b="1" i="1" dirty="0">
                          <a:effectLst/>
                          <a:latin typeface="+mn-lt"/>
                          <a:ea typeface="Times New Roman"/>
                        </a:rPr>
                        <a:t>Udgangsmodstand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1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28625" algn="l"/>
                          <a:tab pos="788670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v1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	11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>
                          <a:effectLst/>
                          <a:latin typeface="+mn-lt"/>
                          <a:ea typeface="Times New Roman"/>
                        </a:rPr>
                        <a:t>i1</a:t>
                      </a: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 = 100 kΩ</a:t>
                      </a:r>
                      <a:endParaRPr lang="da-DK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o1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 0 Ω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28625" algn="l"/>
                          <a:tab pos="788670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v2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	-10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i2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 10 kΩ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>
                          <a:effectLst/>
                          <a:latin typeface="+mn-lt"/>
                          <a:ea typeface="Times New Roman"/>
                        </a:rPr>
                        <a:t>o2</a:t>
                      </a: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 = 0 Ω</a:t>
                      </a:r>
                      <a:endParaRPr lang="da-DK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A</a:t>
                      </a:r>
                      <a:r>
                        <a:rPr lang="da-DK" sz="1100" baseline="-25000">
                          <a:effectLst/>
                          <a:latin typeface="+mn-lt"/>
                          <a:ea typeface="Times New Roman"/>
                        </a:rPr>
                        <a:t>3</a:t>
                      </a:r>
                      <a:endParaRPr lang="da-DK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28625" algn="l"/>
                          <a:tab pos="788670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v3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	5,5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i3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 10 kΩ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o3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 20 Ω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ktangel 4"/>
          <p:cNvSpPr/>
          <p:nvPr/>
        </p:nvSpPr>
        <p:spPr>
          <a:xfrm>
            <a:off x="395536" y="5395282"/>
            <a:ext cx="83529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/>
              <a:t>I sidste ende er A</a:t>
            </a:r>
            <a:r>
              <a:rPr lang="da-DK" i="1" baseline="-25000" dirty="0"/>
              <a:t>3</a:t>
            </a:r>
            <a:r>
              <a:rPr lang="da-DK" i="1" dirty="0"/>
              <a:t> belastet med en modstand på 1 kΩ.</a:t>
            </a:r>
          </a:p>
          <a:p>
            <a:r>
              <a:rPr lang="da-DK" i="1" dirty="0"/>
              <a:t>Find spændingsforstærkningen (A</a:t>
            </a:r>
            <a:r>
              <a:rPr lang="da-DK" i="1" baseline="-25000" dirty="0"/>
              <a:t>v</a:t>
            </a:r>
            <a:r>
              <a:rPr lang="da-DK" i="1" dirty="0"/>
              <a:t> = </a:t>
            </a:r>
            <a:r>
              <a:rPr lang="da-DK" i="1" dirty="0" err="1"/>
              <a:t>v</a:t>
            </a:r>
            <a:r>
              <a:rPr lang="da-DK" i="1" baseline="-25000" dirty="0" err="1"/>
              <a:t>o</a:t>
            </a:r>
            <a:r>
              <a:rPr lang="da-DK" i="1" baseline="-25000" dirty="0"/>
              <a:t> </a:t>
            </a:r>
            <a:r>
              <a:rPr lang="da-DK" i="1" dirty="0"/>
              <a:t>/v</a:t>
            </a:r>
            <a:r>
              <a:rPr lang="da-DK" i="1" baseline="-25000" dirty="0"/>
              <a:t>i1</a:t>
            </a:r>
            <a:r>
              <a:rPr lang="da-DK" i="1" dirty="0"/>
              <a:t>) og strømforstærkningen (A</a:t>
            </a:r>
            <a:r>
              <a:rPr lang="da-DK" i="1" baseline="-25000" dirty="0"/>
              <a:t>i</a:t>
            </a:r>
            <a:r>
              <a:rPr lang="da-DK" i="1" dirty="0"/>
              <a:t> = </a:t>
            </a:r>
            <a:r>
              <a:rPr lang="da-DK" i="1" dirty="0" err="1"/>
              <a:t>i</a:t>
            </a:r>
            <a:r>
              <a:rPr lang="da-DK" i="1" baseline="-25000" dirty="0" err="1"/>
              <a:t>o</a:t>
            </a:r>
            <a:r>
              <a:rPr lang="da-DK" i="1" baseline="-25000" dirty="0"/>
              <a:t> </a:t>
            </a:r>
            <a:r>
              <a:rPr lang="da-DK" i="1" dirty="0"/>
              <a:t>/i</a:t>
            </a:r>
            <a:r>
              <a:rPr lang="da-DK" i="1" baseline="-25000" dirty="0"/>
              <a:t>i1</a:t>
            </a:r>
            <a:r>
              <a:rPr lang="da-DK" i="1" dirty="0"/>
              <a:t>).</a:t>
            </a:r>
          </a:p>
          <a:p>
            <a:r>
              <a:rPr lang="da-DK" i="1" dirty="0"/>
              <a:t>Hvad bliver den overordnede spændings- og strømforstærkning i dB?</a:t>
            </a:r>
          </a:p>
        </p:txBody>
      </p:sp>
      <p:sp>
        <p:nvSpPr>
          <p:cNvPr id="8" name="Rektangel 7"/>
          <p:cNvSpPr/>
          <p:nvPr/>
        </p:nvSpPr>
        <p:spPr>
          <a:xfrm>
            <a:off x="395536" y="3356992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4 fra forberedelsen:</a:t>
            </a:r>
          </a:p>
        </p:txBody>
      </p:sp>
      <p:sp>
        <p:nvSpPr>
          <p:cNvPr id="2" name="Rektangel 1"/>
          <p:cNvSpPr/>
          <p:nvPr/>
        </p:nvSpPr>
        <p:spPr>
          <a:xfrm>
            <a:off x="395536" y="3789040"/>
            <a:ext cx="58326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/>
              <a:t>Tre forstærkere med understående data er kaskadekoblede.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C0106A86-28A0-4CA1-B0B3-25F8D3524D29}"/>
              </a:ext>
            </a:extLst>
          </p:cNvPr>
          <p:cNvGrpSpPr/>
          <p:nvPr/>
        </p:nvGrpSpPr>
        <p:grpSpPr>
          <a:xfrm>
            <a:off x="1105024" y="548680"/>
            <a:ext cx="7499424" cy="2880320"/>
            <a:chOff x="1105024" y="692696"/>
            <a:chExt cx="7499424" cy="2880320"/>
          </a:xfrm>
        </p:grpSpPr>
        <p:pic>
          <p:nvPicPr>
            <p:cNvPr id="20485" name="Picture 5" descr="AAAZYOD0.EPS                                                   00056AF1Hard Drive-Seat One            B36702C6: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226"/>
            <a:stretch/>
          </p:blipFill>
          <p:spPr bwMode="auto">
            <a:xfrm>
              <a:off x="1105024" y="692696"/>
              <a:ext cx="6995368" cy="2520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ktangel 9"/>
            <p:cNvSpPr/>
            <p:nvPr/>
          </p:nvSpPr>
          <p:spPr>
            <a:xfrm>
              <a:off x="2754548" y="1295418"/>
              <a:ext cx="4392488" cy="19396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" name="Rektangel 10"/>
            <p:cNvSpPr/>
            <p:nvPr/>
          </p:nvSpPr>
          <p:spPr>
            <a:xfrm>
              <a:off x="7308304" y="3203684"/>
              <a:ext cx="129614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i="1" dirty="0"/>
                <a:t>(Figur 1.17)</a:t>
              </a:r>
            </a:p>
          </p:txBody>
        </p:sp>
      </p:grpSp>
      <p:sp>
        <p:nvSpPr>
          <p:cNvPr id="13" name="Undertitel 2">
            <a:extLst>
              <a:ext uri="{FF2B5EF4-FFF2-40B4-BE49-F238E27FC236}">
                <a16:creationId xmlns:a16="http://schemas.microsoft.com/office/drawing/2014/main" id="{DBF26937-AE90-4E2A-BA61-E0EE083A80FE}"/>
              </a:ext>
            </a:extLst>
          </p:cNvPr>
          <p:cNvSpPr txBox="1">
            <a:spLocks/>
          </p:cNvSpPr>
          <p:nvPr/>
        </p:nvSpPr>
        <p:spPr>
          <a:xfrm>
            <a:off x="29318" y="32268"/>
            <a:ext cx="2952328" cy="431107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800" i="1" dirty="0"/>
              <a:t>Forstærker model</a:t>
            </a:r>
            <a:endParaRPr lang="da-DK" sz="2800" i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01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Undertitel 2">
            <a:extLst>
              <a:ext uri="{FF2B5EF4-FFF2-40B4-BE49-F238E27FC236}">
                <a16:creationId xmlns:a16="http://schemas.microsoft.com/office/drawing/2014/main" id="{DBF26937-AE90-4E2A-BA61-E0EE083A80FE}"/>
              </a:ext>
            </a:extLst>
          </p:cNvPr>
          <p:cNvSpPr txBox="1">
            <a:spLocks/>
          </p:cNvSpPr>
          <p:nvPr/>
        </p:nvSpPr>
        <p:spPr>
          <a:xfrm>
            <a:off x="29318" y="32268"/>
            <a:ext cx="2952328" cy="431107"/>
          </a:xfrm>
          <a:prstGeom prst="rect">
            <a:avLst/>
          </a:prstGeom>
        </p:spPr>
        <p:txBody>
          <a:bodyPr anchor="ctr" anchorCtr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800" i="1" dirty="0"/>
              <a:t>Kaskadekobling</a:t>
            </a:r>
            <a:endParaRPr lang="da-DK" sz="2800" i="1" baseline="-25000" dirty="0">
              <a:solidFill>
                <a:srgbClr val="FF0000"/>
              </a:solidFill>
            </a:endParaRPr>
          </a:p>
        </p:txBody>
      </p:sp>
      <p:graphicFrame>
        <p:nvGraphicFramePr>
          <p:cNvPr id="49" name="Tabel 48">
            <a:extLst>
              <a:ext uri="{FF2B5EF4-FFF2-40B4-BE49-F238E27FC236}">
                <a16:creationId xmlns:a16="http://schemas.microsoft.com/office/drawing/2014/main" id="{95C497A9-5A74-35B9-0A9C-CF7203559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846603"/>
              </p:ext>
            </p:extLst>
          </p:nvPr>
        </p:nvGraphicFramePr>
        <p:xfrm>
          <a:off x="1591948" y="4198600"/>
          <a:ext cx="5960104" cy="1030600"/>
        </p:xfrm>
        <a:graphic>
          <a:graphicData uri="http://schemas.openxmlformats.org/drawingml/2006/table">
            <a:tbl>
              <a:tblPr firstRow="1" firstCol="1" bandRow="1"/>
              <a:tblGrid>
                <a:gridCol w="1003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b="1" i="1" dirty="0">
                          <a:effectLst/>
                          <a:latin typeface="+mn-lt"/>
                          <a:ea typeface="Times New Roman"/>
                        </a:rPr>
                        <a:t>Forstærker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b="1" i="1" dirty="0">
                          <a:effectLst/>
                          <a:latin typeface="+mn-lt"/>
                          <a:ea typeface="Times New Roman"/>
                        </a:rPr>
                        <a:t>Spændingsforstærkning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b="1" i="1" dirty="0">
                          <a:effectLst/>
                          <a:latin typeface="+mn-lt"/>
                          <a:ea typeface="Times New Roman"/>
                        </a:rPr>
                        <a:t>Indgangsmodstand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b="1" i="1" dirty="0">
                          <a:effectLst/>
                          <a:latin typeface="+mn-lt"/>
                          <a:ea typeface="Times New Roman"/>
                        </a:rPr>
                        <a:t>Udgangsmodstand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1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28625" algn="l"/>
                          <a:tab pos="788670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v1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	11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>
                          <a:effectLst/>
                          <a:latin typeface="+mn-lt"/>
                          <a:ea typeface="Times New Roman"/>
                        </a:rPr>
                        <a:t>i1</a:t>
                      </a: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 = 100 kΩ</a:t>
                      </a:r>
                      <a:endParaRPr lang="da-DK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o1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 0 Ω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28625" algn="l"/>
                          <a:tab pos="788670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v2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	-10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i2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 10 kΩ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>
                          <a:effectLst/>
                          <a:latin typeface="+mn-lt"/>
                          <a:ea typeface="Times New Roman"/>
                        </a:rPr>
                        <a:t>o2</a:t>
                      </a: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 = 0 Ω</a:t>
                      </a:r>
                      <a:endParaRPr lang="da-DK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a-DK" sz="1100">
                          <a:effectLst/>
                          <a:latin typeface="+mn-lt"/>
                          <a:ea typeface="Times New Roman"/>
                        </a:rPr>
                        <a:t>A</a:t>
                      </a:r>
                      <a:r>
                        <a:rPr lang="da-DK" sz="1100" baseline="-25000">
                          <a:effectLst/>
                          <a:latin typeface="+mn-lt"/>
                          <a:ea typeface="Times New Roman"/>
                        </a:rPr>
                        <a:t>3</a:t>
                      </a:r>
                      <a:endParaRPr lang="da-DK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28625" algn="l"/>
                          <a:tab pos="788670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A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v3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	5,5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i3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 10 kΩ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407035" algn="l"/>
                        </a:tabLst>
                      </a:pP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	R</a:t>
                      </a:r>
                      <a:r>
                        <a:rPr lang="da-DK" sz="1100" baseline="-25000" dirty="0">
                          <a:effectLst/>
                          <a:latin typeface="+mn-lt"/>
                          <a:ea typeface="Times New Roman"/>
                        </a:rPr>
                        <a:t>o3</a:t>
                      </a:r>
                      <a:r>
                        <a:rPr lang="da-DK" sz="1100" dirty="0">
                          <a:effectLst/>
                          <a:latin typeface="+mn-lt"/>
                          <a:ea typeface="Times New Roman"/>
                        </a:rPr>
                        <a:t> = 20 Ω</a:t>
                      </a:r>
                      <a:endParaRPr lang="da-DK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1" name="Gruppe 60">
            <a:extLst>
              <a:ext uri="{FF2B5EF4-FFF2-40B4-BE49-F238E27FC236}">
                <a16:creationId xmlns:a16="http://schemas.microsoft.com/office/drawing/2014/main" id="{361CD708-7262-C9A4-02B0-C03267A13F54}"/>
              </a:ext>
            </a:extLst>
          </p:cNvPr>
          <p:cNvGrpSpPr/>
          <p:nvPr/>
        </p:nvGrpSpPr>
        <p:grpSpPr>
          <a:xfrm>
            <a:off x="418950" y="836712"/>
            <a:ext cx="8301429" cy="2679705"/>
            <a:chOff x="418950" y="836712"/>
            <a:chExt cx="8301429" cy="2679705"/>
          </a:xfrm>
        </p:grpSpPr>
        <p:grpSp>
          <p:nvGrpSpPr>
            <p:cNvPr id="50" name="Gruppe 49">
              <a:extLst>
                <a:ext uri="{FF2B5EF4-FFF2-40B4-BE49-F238E27FC236}">
                  <a16:creationId xmlns:a16="http://schemas.microsoft.com/office/drawing/2014/main" id="{65E90465-E43A-C4D5-4E84-D20C9592A17A}"/>
                </a:ext>
              </a:extLst>
            </p:cNvPr>
            <p:cNvGrpSpPr/>
            <p:nvPr/>
          </p:nvGrpSpPr>
          <p:grpSpPr>
            <a:xfrm>
              <a:off x="418950" y="1713717"/>
              <a:ext cx="8301429" cy="1802700"/>
              <a:chOff x="418950" y="1713717"/>
              <a:chExt cx="8301429" cy="1802700"/>
            </a:xfrm>
          </p:grpSpPr>
          <p:grpSp>
            <p:nvGrpSpPr>
              <p:cNvPr id="43" name="Gruppe 42">
                <a:extLst>
                  <a:ext uri="{FF2B5EF4-FFF2-40B4-BE49-F238E27FC236}">
                    <a16:creationId xmlns:a16="http://schemas.microsoft.com/office/drawing/2014/main" id="{CB0F9BD9-A2C7-2CC8-0286-0B808BDAF977}"/>
                  </a:ext>
                </a:extLst>
              </p:cNvPr>
              <p:cNvGrpSpPr/>
              <p:nvPr/>
            </p:nvGrpSpPr>
            <p:grpSpPr>
              <a:xfrm>
                <a:off x="418950" y="1779068"/>
                <a:ext cx="8301429" cy="1473301"/>
                <a:chOff x="418950" y="1779068"/>
                <a:chExt cx="8301429" cy="1473301"/>
              </a:xfrm>
            </p:grpSpPr>
            <p:pic>
              <p:nvPicPr>
                <p:cNvPr id="7" name="Billede 6">
                  <a:extLst>
                    <a:ext uri="{FF2B5EF4-FFF2-40B4-BE49-F238E27FC236}">
                      <a16:creationId xmlns:a16="http://schemas.microsoft.com/office/drawing/2014/main" id="{D58EE4AD-7894-FF35-7AA8-E7FD47B6FC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9552" y="1988840"/>
                  <a:ext cx="7920880" cy="1263529"/>
                </a:xfrm>
                <a:prstGeom prst="rect">
                  <a:avLst/>
                </a:prstGeom>
              </p:spPr>
            </p:pic>
            <p:cxnSp>
              <p:nvCxnSpPr>
                <p:cNvPr id="12" name="Lige pilforbindelse 11">
                  <a:extLst>
                    <a:ext uri="{FF2B5EF4-FFF2-40B4-BE49-F238E27FC236}">
                      <a16:creationId xmlns:a16="http://schemas.microsoft.com/office/drawing/2014/main" id="{0ECBF925-E2C5-83E6-C77D-C2B8A1F094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3735" y="2327035"/>
                  <a:ext cx="0" cy="57606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Lige pilforbindelse 14">
                  <a:extLst>
                    <a:ext uri="{FF2B5EF4-FFF2-40B4-BE49-F238E27FC236}">
                      <a16:creationId xmlns:a16="http://schemas.microsoft.com/office/drawing/2014/main" id="{818F68CA-7F88-FAEB-18C3-0404EBF2B2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38358" y="2327035"/>
                  <a:ext cx="0" cy="57606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Lige pilforbindelse 16">
                  <a:extLst>
                    <a:ext uri="{FF2B5EF4-FFF2-40B4-BE49-F238E27FC236}">
                      <a16:creationId xmlns:a16="http://schemas.microsoft.com/office/drawing/2014/main" id="{B3A8C56A-BA66-061C-3FCC-4120161A4D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3842" y="2327035"/>
                  <a:ext cx="0" cy="57606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Lige pilforbindelse 18">
                  <a:extLst>
                    <a:ext uri="{FF2B5EF4-FFF2-40B4-BE49-F238E27FC236}">
                      <a16:creationId xmlns:a16="http://schemas.microsoft.com/office/drawing/2014/main" id="{0E8A6A32-0EC6-6257-9ADB-5AAE8B09F0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8424" y="2327035"/>
                  <a:ext cx="0" cy="57606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Lige pilforbindelse 23">
                  <a:extLst>
                    <a:ext uri="{FF2B5EF4-FFF2-40B4-BE49-F238E27FC236}">
                      <a16:creationId xmlns:a16="http://schemas.microsoft.com/office/drawing/2014/main" id="{2ECD6154-51E5-1F9F-4C0F-09C969B443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7584" y="2153500"/>
                  <a:ext cx="7200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Lige pilforbindelse 25">
                  <a:extLst>
                    <a:ext uri="{FF2B5EF4-FFF2-40B4-BE49-F238E27FC236}">
                      <a16:creationId xmlns:a16="http://schemas.microsoft.com/office/drawing/2014/main" id="{E861B03C-F590-4BB3-322A-4467A441B2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56376" y="2161438"/>
                  <a:ext cx="7200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 Box 18">
                  <a:extLst>
                    <a:ext uri="{FF2B5EF4-FFF2-40B4-BE49-F238E27FC236}">
                      <a16:creationId xmlns:a16="http://schemas.microsoft.com/office/drawing/2014/main" id="{1D410F7F-46E7-319B-27D0-BE406B30C9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50" y="2452101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LID4096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kumimoji="0" lang="da-DK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1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" name="Text Box 18">
                  <a:extLst>
                    <a:ext uri="{FF2B5EF4-FFF2-40B4-BE49-F238E27FC236}">
                      <a16:creationId xmlns:a16="http://schemas.microsoft.com/office/drawing/2014/main" id="{5C5012FE-C119-223C-CF85-FD3E7521C7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689" y="2452101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LID4096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lang="en-US" altLang="LID4096" sz="1200" baseline="-25000" dirty="0">
                      <a:latin typeface="Calibri" panose="020F0502020204030204" pitchFamily="34" charset="0"/>
                    </a:rPr>
                    <a:t>2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" name="Text Box 18">
                  <a:extLst>
                    <a:ext uri="{FF2B5EF4-FFF2-40B4-BE49-F238E27FC236}">
                      <a16:creationId xmlns:a16="http://schemas.microsoft.com/office/drawing/2014/main" id="{41D04595-C682-676A-1ADE-B69BAD6E6C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75385" y="2452101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LID4096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lang="en-US" altLang="LID4096" sz="1200" baseline="-25000" dirty="0">
                      <a:latin typeface="Calibri" panose="020F0502020204030204" pitchFamily="34" charset="0"/>
                    </a:rPr>
                    <a:t>3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" name="Text Box 18">
                  <a:extLst>
                    <a:ext uri="{FF2B5EF4-FFF2-40B4-BE49-F238E27FC236}">
                      <a16:creationId xmlns:a16="http://schemas.microsoft.com/office/drawing/2014/main" id="{770C0F22-2F47-7D18-6F0F-FA46BCB465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16416" y="2452101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LID4096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lang="en-US" altLang="LID4096" sz="1200" baseline="-25000" dirty="0">
                      <a:latin typeface="Calibri" panose="020F0502020204030204" pitchFamily="34" charset="0"/>
                    </a:rPr>
                    <a:t>o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Text Box 18">
                  <a:extLst>
                    <a:ext uri="{FF2B5EF4-FFF2-40B4-BE49-F238E27FC236}">
                      <a16:creationId xmlns:a16="http://schemas.microsoft.com/office/drawing/2014/main" id="{93EBE302-277D-F0BF-C6D5-B97EECDBEB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35328" y="2276872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R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1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" name="Text Box 18">
                  <a:extLst>
                    <a:ext uri="{FF2B5EF4-FFF2-40B4-BE49-F238E27FC236}">
                      <a16:creationId xmlns:a16="http://schemas.microsoft.com/office/drawing/2014/main" id="{1DC2705F-03C3-214C-E52C-25A1235D64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88137" y="2276872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R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lang="en-US" altLang="LID4096" sz="1200" baseline="-25000" dirty="0">
                      <a:latin typeface="Calibri" panose="020F0502020204030204" pitchFamily="34" charset="0"/>
                    </a:rPr>
                    <a:t>2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" name="Text Box 18">
                  <a:extLst>
                    <a:ext uri="{FF2B5EF4-FFF2-40B4-BE49-F238E27FC236}">
                      <a16:creationId xmlns:a16="http://schemas.microsoft.com/office/drawing/2014/main" id="{F24EE0B5-359D-21D4-6044-B7C87119FC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96614" y="2276872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R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lang="en-US" altLang="LID4096" sz="1200" baseline="-25000" dirty="0">
                      <a:latin typeface="Calibri" panose="020F0502020204030204" pitchFamily="34" charset="0"/>
                    </a:rPr>
                    <a:t>3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" name="Text Box 18">
                  <a:extLst>
                    <a:ext uri="{FF2B5EF4-FFF2-40B4-BE49-F238E27FC236}">
                      <a16:creationId xmlns:a16="http://schemas.microsoft.com/office/drawing/2014/main" id="{FDE4F19B-D585-7829-47BE-4218DFC394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67744" y="1779068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R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o1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" name="Text Box 18">
                  <a:extLst>
                    <a:ext uri="{FF2B5EF4-FFF2-40B4-BE49-F238E27FC236}">
                      <a16:creationId xmlns:a16="http://schemas.microsoft.com/office/drawing/2014/main" id="{96966525-7100-25C5-21C3-B5F739246F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1901" y="1779068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R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o2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Text Box 18">
                  <a:extLst>
                    <a:ext uri="{FF2B5EF4-FFF2-40B4-BE49-F238E27FC236}">
                      <a16:creationId xmlns:a16="http://schemas.microsoft.com/office/drawing/2014/main" id="{7432C05A-3DB5-C9F5-969A-528DCD555E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71820" y="1779068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R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o3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" name="Text Box 18">
                  <a:extLst>
                    <a:ext uri="{FF2B5EF4-FFF2-40B4-BE49-F238E27FC236}">
                      <a16:creationId xmlns:a16="http://schemas.microsoft.com/office/drawing/2014/main" id="{F58BDB04-57DD-3F1E-5B80-B5A2592FF8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4807" y="2467005"/>
                  <a:ext cx="616274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A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v1</a:t>
                  </a: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∙</a:t>
                  </a:r>
                  <a:r>
                    <a:rPr kumimoji="0" lang="LID4096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1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" name="Text Box 18">
                  <a:extLst>
                    <a:ext uri="{FF2B5EF4-FFF2-40B4-BE49-F238E27FC236}">
                      <a16:creationId xmlns:a16="http://schemas.microsoft.com/office/drawing/2014/main" id="{D47D0317-CF4B-8619-0654-C0843A76E9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56122" y="2467005"/>
                  <a:ext cx="616274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A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v3</a:t>
                  </a: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∙</a:t>
                  </a:r>
                  <a:r>
                    <a:rPr kumimoji="0" lang="LID4096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3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" name="Text Box 18">
                  <a:extLst>
                    <a:ext uri="{FF2B5EF4-FFF2-40B4-BE49-F238E27FC236}">
                      <a16:creationId xmlns:a16="http://schemas.microsoft.com/office/drawing/2014/main" id="{A3208C00-5869-BDC6-89EF-0A72EE4415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94714" y="2467005"/>
                  <a:ext cx="616274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A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v2</a:t>
                  </a: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∙</a:t>
                  </a:r>
                  <a:r>
                    <a:rPr kumimoji="0" lang="LID4096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kumimoji="0" lang="LID4096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2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" name="Text Box 18">
                  <a:extLst>
                    <a:ext uri="{FF2B5EF4-FFF2-40B4-BE49-F238E27FC236}">
                      <a16:creationId xmlns:a16="http://schemas.microsoft.com/office/drawing/2014/main" id="{7E7C1C82-0755-1CA3-A684-4BDB1889D4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52152" y="2467005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R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L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Text Box 18">
                  <a:extLst>
                    <a:ext uri="{FF2B5EF4-FFF2-40B4-BE49-F238E27FC236}">
                      <a16:creationId xmlns:a16="http://schemas.microsoft.com/office/drawing/2014/main" id="{6209F6A0-6ED4-C592-AE91-BB659B6E00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42276" y="1845176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o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" name="Text Box 18">
                  <a:extLst>
                    <a:ext uri="{FF2B5EF4-FFF2-40B4-BE49-F238E27FC236}">
                      <a16:creationId xmlns:a16="http://schemas.microsoft.com/office/drawing/2014/main" id="{B1CF4449-522B-5B25-D0FE-E5413324D5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7108" y="1845176"/>
                  <a:ext cx="403963" cy="2976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LID4096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</a:t>
                  </a:r>
                  <a:r>
                    <a:rPr kumimoji="0" lang="en-US" altLang="LID4096" sz="12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i1</a:t>
                  </a:r>
                  <a:endParaRPr kumimoji="0" lang="LID4096" altLang="LID4096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" name="Rektangel 43">
                <a:extLst>
                  <a:ext uri="{FF2B5EF4-FFF2-40B4-BE49-F238E27FC236}">
                    <a16:creationId xmlns:a16="http://schemas.microsoft.com/office/drawing/2014/main" id="{BA5E1F65-F9B5-8884-1E80-7B69FCE5280A}"/>
                  </a:ext>
                </a:extLst>
              </p:cNvPr>
              <p:cNvSpPr/>
              <p:nvPr/>
            </p:nvSpPr>
            <p:spPr>
              <a:xfrm>
                <a:off x="1146903" y="1713717"/>
                <a:ext cx="6321250" cy="1802700"/>
              </a:xfrm>
              <a:prstGeom prst="rect">
                <a:avLst/>
              </a:prstGeom>
              <a:noFill/>
              <a:ln w="6350"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cxnSp>
            <p:nvCxnSpPr>
              <p:cNvPr id="46" name="Lige forbindelse 45">
                <a:extLst>
                  <a:ext uri="{FF2B5EF4-FFF2-40B4-BE49-F238E27FC236}">
                    <a16:creationId xmlns:a16="http://schemas.microsoft.com/office/drawing/2014/main" id="{42281F2A-E2D9-E235-11DB-9C66D20F6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4004" y="1718481"/>
                <a:ext cx="0" cy="1797936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Lige forbindelse 47">
                <a:extLst>
                  <a:ext uri="{FF2B5EF4-FFF2-40B4-BE49-F238E27FC236}">
                    <a16:creationId xmlns:a16="http://schemas.microsoft.com/office/drawing/2014/main" id="{689D489D-A6F5-116D-8C95-14CCD3FF9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0768" y="1716688"/>
                <a:ext cx="0" cy="1797936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uppe 53">
              <a:extLst>
                <a:ext uri="{FF2B5EF4-FFF2-40B4-BE49-F238E27FC236}">
                  <a16:creationId xmlns:a16="http://schemas.microsoft.com/office/drawing/2014/main" id="{8BE15496-0BD4-4766-7ECA-D4F7623BF40F}"/>
                </a:ext>
              </a:extLst>
            </p:cNvPr>
            <p:cNvGrpSpPr/>
            <p:nvPr/>
          </p:nvGrpSpPr>
          <p:grpSpPr>
            <a:xfrm>
              <a:off x="1763688" y="836712"/>
              <a:ext cx="648072" cy="720080"/>
              <a:chOff x="1880689" y="712221"/>
              <a:chExt cx="648072" cy="720080"/>
            </a:xfrm>
          </p:grpSpPr>
          <p:sp>
            <p:nvSpPr>
              <p:cNvPr id="51" name="Ligebenet trekant 50">
                <a:extLst>
                  <a:ext uri="{FF2B5EF4-FFF2-40B4-BE49-F238E27FC236}">
                    <a16:creationId xmlns:a16="http://schemas.microsoft.com/office/drawing/2014/main" id="{E064393D-C8F3-C8C6-AF8F-2D1FEDADD238}"/>
                  </a:ext>
                </a:extLst>
              </p:cNvPr>
              <p:cNvSpPr/>
              <p:nvPr/>
            </p:nvSpPr>
            <p:spPr>
              <a:xfrm rot="5400000">
                <a:off x="1844685" y="748225"/>
                <a:ext cx="720080" cy="648072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3" name="Text Box 18">
                <a:extLst>
                  <a:ext uri="{FF2B5EF4-FFF2-40B4-BE49-F238E27FC236}">
                    <a16:creationId xmlns:a16="http://schemas.microsoft.com/office/drawing/2014/main" id="{2F0DCE60-D6FC-FA91-AC58-B950FB60F6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7704" y="920387"/>
                <a:ext cx="403963" cy="2976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LID4096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A</a:t>
                </a:r>
                <a:r>
                  <a:rPr lang="en-US" altLang="LID4096" sz="1200" baseline="-25000" dirty="0">
                    <a:latin typeface="Calibri" panose="020F0502020204030204" pitchFamily="34" charset="0"/>
                  </a:rPr>
                  <a:t>1</a:t>
                </a:r>
                <a:endParaRPr kumimoji="0" lang="LID4096" altLang="LID4096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5" name="Gruppe 54">
              <a:extLst>
                <a:ext uri="{FF2B5EF4-FFF2-40B4-BE49-F238E27FC236}">
                  <a16:creationId xmlns:a16="http://schemas.microsoft.com/office/drawing/2014/main" id="{C570766E-DAFA-A45D-5CB2-2435248D66FE}"/>
                </a:ext>
              </a:extLst>
            </p:cNvPr>
            <p:cNvGrpSpPr/>
            <p:nvPr/>
          </p:nvGrpSpPr>
          <p:grpSpPr>
            <a:xfrm>
              <a:off x="3779912" y="836712"/>
              <a:ext cx="648072" cy="720080"/>
              <a:chOff x="1880689" y="712221"/>
              <a:chExt cx="648072" cy="720080"/>
            </a:xfrm>
          </p:grpSpPr>
          <p:sp>
            <p:nvSpPr>
              <p:cNvPr id="56" name="Ligebenet trekant 55">
                <a:extLst>
                  <a:ext uri="{FF2B5EF4-FFF2-40B4-BE49-F238E27FC236}">
                    <a16:creationId xmlns:a16="http://schemas.microsoft.com/office/drawing/2014/main" id="{4E1A9F4D-B33A-FAE6-D904-98B23710B8B1}"/>
                  </a:ext>
                </a:extLst>
              </p:cNvPr>
              <p:cNvSpPr/>
              <p:nvPr/>
            </p:nvSpPr>
            <p:spPr>
              <a:xfrm rot="5400000">
                <a:off x="1844685" y="748225"/>
                <a:ext cx="720080" cy="648072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7" name="Text Box 18">
                <a:extLst>
                  <a:ext uri="{FF2B5EF4-FFF2-40B4-BE49-F238E27FC236}">
                    <a16:creationId xmlns:a16="http://schemas.microsoft.com/office/drawing/2014/main" id="{FF06FE69-138D-41B2-04A7-893209017E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7704" y="920387"/>
                <a:ext cx="403963" cy="2976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LID4096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A</a:t>
                </a:r>
                <a:r>
                  <a:rPr lang="en-US" altLang="LID4096" sz="1200" baseline="-25000" dirty="0">
                    <a:latin typeface="Calibri" panose="020F0502020204030204" pitchFamily="34" charset="0"/>
                  </a:rPr>
                  <a:t>2</a:t>
                </a:r>
                <a:endParaRPr kumimoji="0" lang="LID4096" altLang="LID4096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8" name="Gruppe 57">
              <a:extLst>
                <a:ext uri="{FF2B5EF4-FFF2-40B4-BE49-F238E27FC236}">
                  <a16:creationId xmlns:a16="http://schemas.microsoft.com/office/drawing/2014/main" id="{48133EF7-A215-8E61-6AE4-0455E0C18395}"/>
                </a:ext>
              </a:extLst>
            </p:cNvPr>
            <p:cNvGrpSpPr/>
            <p:nvPr/>
          </p:nvGrpSpPr>
          <p:grpSpPr>
            <a:xfrm>
              <a:off x="5940152" y="836712"/>
              <a:ext cx="648072" cy="720080"/>
              <a:chOff x="1880689" y="712221"/>
              <a:chExt cx="648072" cy="720080"/>
            </a:xfrm>
          </p:grpSpPr>
          <p:sp>
            <p:nvSpPr>
              <p:cNvPr id="59" name="Ligebenet trekant 58">
                <a:extLst>
                  <a:ext uri="{FF2B5EF4-FFF2-40B4-BE49-F238E27FC236}">
                    <a16:creationId xmlns:a16="http://schemas.microsoft.com/office/drawing/2014/main" id="{0C68CFC8-041F-4FDA-7FEB-C060ABB664C8}"/>
                  </a:ext>
                </a:extLst>
              </p:cNvPr>
              <p:cNvSpPr/>
              <p:nvPr/>
            </p:nvSpPr>
            <p:spPr>
              <a:xfrm rot="5400000">
                <a:off x="1844685" y="748225"/>
                <a:ext cx="720080" cy="648072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0" name="Text Box 18">
                <a:extLst>
                  <a:ext uri="{FF2B5EF4-FFF2-40B4-BE49-F238E27FC236}">
                    <a16:creationId xmlns:a16="http://schemas.microsoft.com/office/drawing/2014/main" id="{A1A89BF1-E9F4-4DDA-18B1-9B07BDF575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7704" y="920387"/>
                <a:ext cx="403963" cy="2976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LID4096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A</a:t>
                </a:r>
                <a:r>
                  <a:rPr lang="en-US" altLang="LID4096" sz="1200" baseline="-25000" dirty="0">
                    <a:latin typeface="Calibri" panose="020F0502020204030204" pitchFamily="34" charset="0"/>
                  </a:rPr>
                  <a:t>3</a:t>
                </a:r>
                <a:endParaRPr kumimoji="0" lang="LID4096" altLang="LID4096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Rektangel 1">
            <a:extLst>
              <a:ext uri="{FF2B5EF4-FFF2-40B4-BE49-F238E27FC236}">
                <a16:creationId xmlns:a16="http://schemas.microsoft.com/office/drawing/2014/main" id="{79C59721-9AAE-BD0A-744B-51B23F8EA684}"/>
              </a:ext>
            </a:extLst>
          </p:cNvPr>
          <p:cNvSpPr/>
          <p:nvPr/>
        </p:nvSpPr>
        <p:spPr>
          <a:xfrm>
            <a:off x="3275856" y="6372036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a-DK" i="1" dirty="0">
                <a:solidFill>
                  <a:srgbClr val="FF0000"/>
                </a:solidFill>
              </a:rPr>
              <a:t>Realisering af de 3 forstærkere med </a:t>
            </a:r>
            <a:r>
              <a:rPr lang="da-DK" b="1" i="1" dirty="0">
                <a:solidFill>
                  <a:srgbClr val="FF0000"/>
                </a:solidFill>
              </a:rPr>
              <a:t>ideelle</a:t>
            </a:r>
            <a:r>
              <a:rPr lang="da-DK" i="1" dirty="0">
                <a:solidFill>
                  <a:srgbClr val="FF0000"/>
                </a:solidFill>
              </a:rPr>
              <a:t> Op </a:t>
            </a:r>
            <a:r>
              <a:rPr lang="da-DK" i="1" dirty="0" err="1">
                <a:solidFill>
                  <a:srgbClr val="FF0000"/>
                </a:solidFill>
              </a:rPr>
              <a:t>Amps</a:t>
            </a:r>
            <a:endParaRPr lang="da-DK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247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6372-1C64-8631-921F-76521922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C88AF15-D0A2-5A53-BFCB-97BB81047A87}"/>
              </a:ext>
            </a:extLst>
          </p:cNvPr>
          <p:cNvSpPr txBox="1">
            <a:spLocks/>
          </p:cNvSpPr>
          <p:nvPr/>
        </p:nvSpPr>
        <p:spPr>
          <a:xfrm>
            <a:off x="1259632" y="1196752"/>
            <a:ext cx="3780420" cy="432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Her kommer så en opgave!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63D3A888-6950-1AC8-FD5B-4F9299B7D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629557"/>
            <a:ext cx="1328724" cy="195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4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496" y="37356"/>
            <a:ext cx="2664296" cy="473197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Målenøjagtighed</a:t>
            </a:r>
          </a:p>
        </p:txBody>
      </p:sp>
      <p:sp>
        <p:nvSpPr>
          <p:cNvPr id="14" name="Titel 1"/>
          <p:cNvSpPr txBox="1">
            <a:spLocks/>
          </p:cNvSpPr>
          <p:nvPr/>
        </p:nvSpPr>
        <p:spPr>
          <a:xfrm>
            <a:off x="459160" y="1637584"/>
            <a:ext cx="6849144" cy="41764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analogt multimeter med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måleområderne</a:t>
            </a:r>
            <a:b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300 mV, 3 V, 30 V, etc.</a:t>
            </a:r>
            <a:b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Nøjagtighed ±2 % ”Full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Scale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b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7000"/>
              </a:lnSpc>
              <a:buFont typeface="+mj-lt"/>
              <a:buAutoNum type="arabicPeriod"/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digitalt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oscilloscope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fra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Keysight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2000 X-serien.</a:t>
            </a:r>
            <a:b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Offset” er justeret til 0 V.</a:t>
            </a:r>
            <a:b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l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digitalt multimeter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Keysight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U3401A.</a:t>
            </a:r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2" t="28833" r="16737" b="25808"/>
          <a:stretch/>
        </p:blipFill>
        <p:spPr>
          <a:xfrm>
            <a:off x="6548678" y="4893010"/>
            <a:ext cx="1969353" cy="1440990"/>
          </a:xfrm>
          <a:prstGeom prst="rect">
            <a:avLst/>
          </a:prstGeom>
        </p:spPr>
      </p:pic>
      <p:pic>
        <p:nvPicPr>
          <p:cNvPr id="3" name="Billed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979" y="1412776"/>
            <a:ext cx="1336853" cy="1327820"/>
          </a:xfrm>
          <a:prstGeom prst="rect">
            <a:avLst/>
          </a:prstGeom>
        </p:spPr>
      </p:pic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" b="21699"/>
          <a:stretch/>
        </p:blipFill>
        <p:spPr>
          <a:xfrm>
            <a:off x="7187723" y="3284984"/>
            <a:ext cx="1632749" cy="1253364"/>
          </a:xfrm>
          <a:prstGeom prst="rect">
            <a:avLst/>
          </a:prstGeom>
        </p:spPr>
      </p:pic>
      <p:sp>
        <p:nvSpPr>
          <p:cNvPr id="15" name="Titel 1"/>
          <p:cNvSpPr txBox="1">
            <a:spLocks/>
          </p:cNvSpPr>
          <p:nvPr/>
        </p:nvSpPr>
        <p:spPr>
          <a:xfrm>
            <a:off x="243136" y="6301478"/>
            <a:ext cx="8442928" cy="458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Hvad er den absolutte og relative nøjagtighed på de tre målinger?</a:t>
            </a:r>
          </a:p>
        </p:txBody>
      </p:sp>
      <p:sp>
        <p:nvSpPr>
          <p:cNvPr id="18" name="Titel 1"/>
          <p:cNvSpPr txBox="1">
            <a:spLocks/>
          </p:cNvSpPr>
          <p:nvPr/>
        </p:nvSpPr>
        <p:spPr>
          <a:xfrm>
            <a:off x="243136" y="548680"/>
            <a:ext cx="8793360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7000"/>
              </a:lnSpc>
              <a:spcAft>
                <a:spcPts val="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DC spænding måles med tre forskellige instrumenter i ELE Lab., og i alle tilfælde er udlæsningen 15 V:</a:t>
            </a:r>
          </a:p>
        </p:txBody>
      </p:sp>
    </p:spTree>
    <p:extLst>
      <p:ext uri="{BB962C8B-B14F-4D97-AF65-F5344CB8AC3E}">
        <p14:creationId xmlns:p14="http://schemas.microsoft.com/office/powerpoint/2010/main" val="399604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"/>
          <a:stretch/>
        </p:blipFill>
        <p:spPr>
          <a:xfrm>
            <a:off x="136043" y="1196752"/>
            <a:ext cx="8871914" cy="4392488"/>
          </a:xfrm>
          <a:prstGeom prst="rect">
            <a:avLst/>
          </a:prstGeom>
        </p:spPr>
      </p:pic>
      <p:sp>
        <p:nvSpPr>
          <p:cNvPr id="13" name="Titel 1"/>
          <p:cNvSpPr>
            <a:spLocks noGrp="1"/>
          </p:cNvSpPr>
          <p:nvPr>
            <p:ph type="ctrTitle"/>
          </p:nvPr>
        </p:nvSpPr>
        <p:spPr>
          <a:xfrm>
            <a:off x="35496" y="6466"/>
            <a:ext cx="3672408" cy="473197"/>
          </a:xfrm>
        </p:spPr>
        <p:txBody>
          <a:bodyPr>
            <a:normAutofit/>
          </a:bodyPr>
          <a:lstStyle/>
          <a:p>
            <a:pPr algn="l"/>
            <a:r>
              <a:rPr lang="da-DK" sz="2400" i="1" dirty="0"/>
              <a:t>Fra 2000 X-Series datablad</a:t>
            </a:r>
          </a:p>
        </p:txBody>
      </p:sp>
    </p:spTree>
    <p:extLst>
      <p:ext uri="{BB962C8B-B14F-4D97-AF65-F5344CB8AC3E}">
        <p14:creationId xmlns:p14="http://schemas.microsoft.com/office/powerpoint/2010/main" val="390400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"/>
          <a:stretch/>
        </p:blipFill>
        <p:spPr>
          <a:xfrm>
            <a:off x="136043" y="1196752"/>
            <a:ext cx="8871914" cy="4392488"/>
          </a:xfrm>
          <a:prstGeom prst="rect">
            <a:avLst/>
          </a:prstGeom>
        </p:spPr>
      </p:pic>
      <p:sp>
        <p:nvSpPr>
          <p:cNvPr id="13" name="Titel 1"/>
          <p:cNvSpPr>
            <a:spLocks noGrp="1"/>
          </p:cNvSpPr>
          <p:nvPr>
            <p:ph type="ctrTitle"/>
          </p:nvPr>
        </p:nvSpPr>
        <p:spPr>
          <a:xfrm>
            <a:off x="35496" y="6466"/>
            <a:ext cx="3672408" cy="473197"/>
          </a:xfrm>
        </p:spPr>
        <p:txBody>
          <a:bodyPr>
            <a:normAutofit/>
          </a:bodyPr>
          <a:lstStyle/>
          <a:p>
            <a:pPr algn="l"/>
            <a:r>
              <a:rPr lang="da-DK" sz="2400" i="1" dirty="0"/>
              <a:t>Fra 2000 X-Series datablad</a:t>
            </a:r>
          </a:p>
        </p:txBody>
      </p:sp>
      <p:sp>
        <p:nvSpPr>
          <p:cNvPr id="10" name="Rektangel 9"/>
          <p:cNvSpPr/>
          <p:nvPr/>
        </p:nvSpPr>
        <p:spPr>
          <a:xfrm>
            <a:off x="611560" y="2615096"/>
            <a:ext cx="6768752" cy="3570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8042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"/>
          <a:stretch/>
        </p:blipFill>
        <p:spPr>
          <a:xfrm>
            <a:off x="136043" y="1196752"/>
            <a:ext cx="8871914" cy="4392488"/>
          </a:xfrm>
          <a:prstGeom prst="rect">
            <a:avLst/>
          </a:prstGeom>
        </p:spPr>
      </p:pic>
      <p:sp>
        <p:nvSpPr>
          <p:cNvPr id="13" name="Titel 1"/>
          <p:cNvSpPr>
            <a:spLocks noGrp="1"/>
          </p:cNvSpPr>
          <p:nvPr>
            <p:ph type="ctrTitle"/>
          </p:nvPr>
        </p:nvSpPr>
        <p:spPr>
          <a:xfrm>
            <a:off x="35496" y="6466"/>
            <a:ext cx="3672408" cy="473197"/>
          </a:xfrm>
        </p:spPr>
        <p:txBody>
          <a:bodyPr>
            <a:normAutofit/>
          </a:bodyPr>
          <a:lstStyle/>
          <a:p>
            <a:pPr algn="l"/>
            <a:r>
              <a:rPr lang="da-DK" sz="2400" i="1" dirty="0"/>
              <a:t>Fra 2000 X-Series datablad</a:t>
            </a:r>
          </a:p>
        </p:txBody>
      </p:sp>
      <p:sp>
        <p:nvSpPr>
          <p:cNvPr id="10" name="Rektangel 9"/>
          <p:cNvSpPr/>
          <p:nvPr/>
        </p:nvSpPr>
        <p:spPr>
          <a:xfrm>
            <a:off x="611560" y="2615096"/>
            <a:ext cx="6768752" cy="3570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2" name="Lige pilforbindelse 11"/>
          <p:cNvCxnSpPr>
            <a:cxnSpLocks/>
          </p:cNvCxnSpPr>
          <p:nvPr/>
        </p:nvCxnSpPr>
        <p:spPr>
          <a:xfrm flipH="1">
            <a:off x="1475656" y="2797856"/>
            <a:ext cx="1764196" cy="368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pilforbindelse 16"/>
          <p:cNvCxnSpPr>
            <a:cxnSpLocks/>
          </p:cNvCxnSpPr>
          <p:nvPr/>
        </p:nvCxnSpPr>
        <p:spPr>
          <a:xfrm flipH="1">
            <a:off x="1691680" y="2772296"/>
            <a:ext cx="3528392" cy="7287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330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18" y="836712"/>
            <a:ext cx="8317164" cy="4608512"/>
          </a:xfrm>
          <a:prstGeom prst="rect">
            <a:avLst/>
          </a:prstGeom>
        </p:spPr>
      </p:pic>
      <p:sp>
        <p:nvSpPr>
          <p:cNvPr id="13" name="Titel 1"/>
          <p:cNvSpPr>
            <a:spLocks noGrp="1"/>
          </p:cNvSpPr>
          <p:nvPr>
            <p:ph type="ctrTitle"/>
          </p:nvPr>
        </p:nvSpPr>
        <p:spPr>
          <a:xfrm>
            <a:off x="35496" y="6466"/>
            <a:ext cx="5328592" cy="473197"/>
          </a:xfrm>
        </p:spPr>
        <p:txBody>
          <a:bodyPr>
            <a:normAutofit/>
          </a:bodyPr>
          <a:lstStyle/>
          <a:p>
            <a:pPr algn="l"/>
            <a:r>
              <a:rPr lang="da-DK" sz="2400" i="1" dirty="0"/>
              <a:t>Fra Agilent U3401 multimeter datablad</a:t>
            </a:r>
          </a:p>
        </p:txBody>
      </p:sp>
    </p:spTree>
    <p:extLst>
      <p:ext uri="{BB962C8B-B14F-4D97-AF65-F5344CB8AC3E}">
        <p14:creationId xmlns:p14="http://schemas.microsoft.com/office/powerpoint/2010/main" val="3826501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18" y="836712"/>
            <a:ext cx="8317164" cy="4608512"/>
          </a:xfrm>
          <a:prstGeom prst="rect">
            <a:avLst/>
          </a:prstGeom>
        </p:spPr>
      </p:pic>
      <p:sp>
        <p:nvSpPr>
          <p:cNvPr id="13" name="Titel 1"/>
          <p:cNvSpPr>
            <a:spLocks noGrp="1"/>
          </p:cNvSpPr>
          <p:nvPr>
            <p:ph type="ctrTitle"/>
          </p:nvPr>
        </p:nvSpPr>
        <p:spPr>
          <a:xfrm>
            <a:off x="35496" y="6466"/>
            <a:ext cx="5328592" cy="473197"/>
          </a:xfrm>
        </p:spPr>
        <p:txBody>
          <a:bodyPr>
            <a:normAutofit/>
          </a:bodyPr>
          <a:lstStyle/>
          <a:p>
            <a:pPr algn="l"/>
            <a:r>
              <a:rPr lang="da-DK" sz="2400" i="1" dirty="0"/>
              <a:t>Fra Agilent U3401 multimeter datablad</a:t>
            </a:r>
          </a:p>
        </p:txBody>
      </p:sp>
      <p:sp>
        <p:nvSpPr>
          <p:cNvPr id="10" name="Rektangel 9"/>
          <p:cNvSpPr/>
          <p:nvPr/>
        </p:nvSpPr>
        <p:spPr>
          <a:xfrm>
            <a:off x="1763688" y="3292048"/>
            <a:ext cx="3456384" cy="26826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6054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dertitel 2"/>
          <p:cNvSpPr>
            <a:spLocks noGrp="1"/>
          </p:cNvSpPr>
          <p:nvPr>
            <p:ph type="subTitle" idx="1"/>
          </p:nvPr>
        </p:nvSpPr>
        <p:spPr>
          <a:xfrm>
            <a:off x="35496" y="44624"/>
            <a:ext cx="3384376" cy="476086"/>
          </a:xfrm>
        </p:spPr>
        <p:txBody>
          <a:bodyPr>
            <a:normAutofit lnSpcReduction="10000"/>
          </a:bodyPr>
          <a:lstStyle/>
          <a:p>
            <a:pPr algn="l">
              <a:tabLst>
                <a:tab pos="1617663" algn="l"/>
              </a:tabLst>
            </a:pPr>
            <a:r>
              <a:rPr lang="da-DK" sz="2800" i="1" dirty="0">
                <a:solidFill>
                  <a:schemeClr val="tx1"/>
                </a:solidFill>
              </a:rPr>
              <a:t>Konstruktionsopgave</a:t>
            </a:r>
            <a:endParaRPr lang="da-DK" sz="2800" dirty="0">
              <a:solidFill>
                <a:schemeClr val="tx1"/>
              </a:solidFill>
            </a:endParaRP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C27D3104-7C62-4A41-8125-E0C10783569B}"/>
              </a:ext>
            </a:extLst>
          </p:cNvPr>
          <p:cNvCxnSpPr>
            <a:cxnSpLocks/>
          </p:cNvCxnSpPr>
          <p:nvPr/>
        </p:nvCxnSpPr>
        <p:spPr>
          <a:xfrm>
            <a:off x="5580112" y="3429000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boks 7">
            <a:extLst>
              <a:ext uri="{FF2B5EF4-FFF2-40B4-BE49-F238E27FC236}">
                <a16:creationId xmlns:a16="http://schemas.microsoft.com/office/drawing/2014/main" id="{2712F07D-85B0-4FDC-BEB4-FB39DA4BE41B}"/>
              </a:ext>
            </a:extLst>
          </p:cNvPr>
          <p:cNvSpPr txBox="1"/>
          <p:nvPr/>
        </p:nvSpPr>
        <p:spPr>
          <a:xfrm>
            <a:off x="6804248" y="3198166"/>
            <a:ext cx="756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i="1" dirty="0"/>
              <a:t>ITSL</a:t>
            </a:r>
          </a:p>
        </p:txBody>
      </p:sp>
    </p:spTree>
    <p:extLst>
      <p:ext uri="{BB962C8B-B14F-4D97-AF65-F5344CB8AC3E}">
        <p14:creationId xmlns:p14="http://schemas.microsoft.com/office/powerpoint/2010/main" val="3016666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59832" y="1196752"/>
            <a:ext cx="3024336" cy="1728192"/>
          </a:xfrm>
        </p:spPr>
        <p:txBody>
          <a:bodyPr>
            <a:noAutofit/>
          </a:bodyPr>
          <a:lstStyle/>
          <a:p>
            <a:r>
              <a:rPr lang="da-DK" sz="4800" b="1" i="1" dirty="0" err="1"/>
              <a:t>Rep</a:t>
            </a:r>
            <a:r>
              <a:rPr lang="da-DK" sz="4800" b="1" i="1" dirty="0"/>
              <a:t>.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611560" y="3716654"/>
            <a:ext cx="7920880" cy="1368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Følgende sidste PPS er lidt </a:t>
            </a:r>
            <a:r>
              <a:rPr lang="da-DK" sz="2400" i="1" dirty="0" err="1"/>
              <a:t>rep</a:t>
            </a:r>
            <a:r>
              <a:rPr lang="da-DK" sz="2400" i="1" dirty="0"/>
              <a:t>. fra 1. semester. Disse uddyber begrundelsen for, at v</a:t>
            </a:r>
            <a:r>
              <a:rPr lang="da-DK" sz="2400" i="1" baseline="-25000" dirty="0"/>
              <a:t>id</a:t>
            </a:r>
            <a:r>
              <a:rPr lang="da-DK" sz="2400" i="1" dirty="0"/>
              <a:t> = 0, når en Op Amp er modkoblet.</a:t>
            </a:r>
          </a:p>
        </p:txBody>
      </p:sp>
    </p:spTree>
    <p:extLst>
      <p:ext uri="{BB962C8B-B14F-4D97-AF65-F5344CB8AC3E}">
        <p14:creationId xmlns:p14="http://schemas.microsoft.com/office/powerpoint/2010/main" val="1397255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4" r="-39"/>
          <a:stretch/>
        </p:blipFill>
        <p:spPr>
          <a:xfrm>
            <a:off x="323528" y="1498485"/>
            <a:ext cx="5940000" cy="3946739"/>
          </a:xfrm>
          <a:prstGeom prst="rect">
            <a:avLst/>
          </a:prstGeom>
        </p:spPr>
      </p:pic>
      <p:sp>
        <p:nvSpPr>
          <p:cNvPr id="10" name="Titel 1"/>
          <p:cNvSpPr txBox="1">
            <a:spLocks/>
          </p:cNvSpPr>
          <p:nvPr/>
        </p:nvSpPr>
        <p:spPr>
          <a:xfrm>
            <a:off x="251520" y="6102886"/>
            <a:ext cx="2880320" cy="478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Figur 2.4 med v</a:t>
            </a:r>
            <a:r>
              <a:rPr lang="da-DK" sz="2400" i="1" baseline="-25000" dirty="0"/>
              <a:t>in</a:t>
            </a:r>
            <a:r>
              <a:rPr lang="da-DK" sz="2400" i="1" dirty="0"/>
              <a:t> = 0</a:t>
            </a:r>
          </a:p>
        </p:txBody>
      </p:sp>
      <p:cxnSp>
        <p:nvCxnSpPr>
          <p:cNvPr id="5" name="Lige pilforbindelse 4"/>
          <p:cNvCxnSpPr>
            <a:cxnSpLocks/>
          </p:cNvCxnSpPr>
          <p:nvPr/>
        </p:nvCxnSpPr>
        <p:spPr>
          <a:xfrm flipH="1" flipV="1">
            <a:off x="827584" y="4221088"/>
            <a:ext cx="1440160" cy="188179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el 1">
            <a:extLst>
              <a:ext uri="{FF2B5EF4-FFF2-40B4-BE49-F238E27FC236}">
                <a16:creationId xmlns:a16="http://schemas.microsoft.com/office/drawing/2014/main" id="{FEF4713B-B803-413A-B546-D4325166DF7A}"/>
              </a:ext>
            </a:extLst>
          </p:cNvPr>
          <p:cNvSpPr txBox="1">
            <a:spLocks/>
          </p:cNvSpPr>
          <p:nvPr/>
        </p:nvSpPr>
        <p:spPr>
          <a:xfrm>
            <a:off x="28684" y="38608"/>
            <a:ext cx="3799172" cy="511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Modkoblingsprincippet</a:t>
            </a:r>
          </a:p>
        </p:txBody>
      </p:sp>
    </p:spTree>
    <p:extLst>
      <p:ext uri="{BB962C8B-B14F-4D97-AF65-F5344CB8AC3E}">
        <p14:creationId xmlns:p14="http://schemas.microsoft.com/office/powerpoint/2010/main" val="3567043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4" r="-39"/>
          <a:stretch/>
        </p:blipFill>
        <p:spPr>
          <a:xfrm>
            <a:off x="323528" y="1498485"/>
            <a:ext cx="5940000" cy="3946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1186425" y="5772170"/>
                <a:ext cx="1800200" cy="720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a-DK" sz="2000" b="0" i="1" smtClean="0">
                              <a:latin typeface="+mn-lt"/>
                            </a:rPr>
                            <m:t>e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a-DK" sz="2000" b="0" i="1" smtClean="0">
                              <a:latin typeface="+mn-lt"/>
                            </a:rPr>
                            <m:t>−</m:t>
                          </m:r>
                        </m:sup>
                      </m:sSup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0" i="1" smtClean="0">
                              <a:latin typeface="+mn-lt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2000" b="0" i="1" baseline="-25000" smtClean="0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0" i="1" smtClean="0">
                              <a:latin typeface="+mn-lt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2000" b="0" i="1" baseline="-25000" smtClean="0">
                              <a:latin typeface="+mn-lt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sz="2000" b="0" i="1" smtClean="0">
                              <a:latin typeface="+mn-lt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000" b="0" i="1" smtClean="0">
                              <a:latin typeface="+mn-lt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2000" b="0" i="1" baseline="-25000" smtClean="0">
                              <a:latin typeface="+mn-lt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000" b="0" i="1" smtClean="0">
                          <a:latin typeface="+mn-lt"/>
                          <a:ea typeface="Cambria Math"/>
                        </a:rPr>
                        <m:t>∙ 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000" b="0" i="1" smtClean="0">
                              <a:latin typeface="+mn-lt"/>
                              <a:ea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000" b="0" i="1" smtClean="0">
                              <a:latin typeface="+mn-lt"/>
                              <a:ea typeface="Cambria Math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da-DK" sz="20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425" y="5772170"/>
                <a:ext cx="1800200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Bue 2">
            <a:extLst>
              <a:ext uri="{FF2B5EF4-FFF2-40B4-BE49-F238E27FC236}">
                <a16:creationId xmlns:a16="http://schemas.microsoft.com/office/drawing/2014/main" id="{89B51D30-1DDC-DCD6-F67D-D6EB2383F501}"/>
              </a:ext>
            </a:extLst>
          </p:cNvPr>
          <p:cNvSpPr/>
          <p:nvPr/>
        </p:nvSpPr>
        <p:spPr>
          <a:xfrm rot="13694028">
            <a:off x="1605081" y="2903496"/>
            <a:ext cx="2376264" cy="2376264"/>
          </a:xfrm>
          <a:prstGeom prst="arc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287727C8-46A3-4BE1-3F33-26B3EE251B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7624" y="3875604"/>
                <a:ext cx="528042" cy="4320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e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da-DK" sz="2400" i="1" dirty="0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287727C8-46A3-4BE1-3F33-26B3EE251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875604"/>
                <a:ext cx="528042" cy="432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5603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4" r="-39"/>
          <a:stretch/>
        </p:blipFill>
        <p:spPr>
          <a:xfrm>
            <a:off x="323528" y="1498485"/>
            <a:ext cx="5940000" cy="3946739"/>
          </a:xfrm>
          <a:prstGeom prst="rect">
            <a:avLst/>
          </a:prstGeom>
        </p:spPr>
      </p:pic>
      <p:sp>
        <p:nvSpPr>
          <p:cNvPr id="4" name="Bue 3">
            <a:extLst>
              <a:ext uri="{FF2B5EF4-FFF2-40B4-BE49-F238E27FC236}">
                <a16:creationId xmlns:a16="http://schemas.microsoft.com/office/drawing/2014/main" id="{638DBC79-80BE-2FE9-0F70-56D86FBE3E39}"/>
              </a:ext>
            </a:extLst>
          </p:cNvPr>
          <p:cNvSpPr/>
          <p:nvPr/>
        </p:nvSpPr>
        <p:spPr>
          <a:xfrm rot="13694028">
            <a:off x="1605081" y="2903496"/>
            <a:ext cx="2376264" cy="2376264"/>
          </a:xfrm>
          <a:prstGeom prst="arc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299552F3-D59F-5460-D2D3-82873D35F3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7624" y="3875604"/>
                <a:ext cx="528042" cy="4320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e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da-DK" sz="2400" i="1" dirty="0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299552F3-D59F-5460-D2D3-82873D35F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875604"/>
                <a:ext cx="528042" cy="43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pe 6">
            <a:extLst>
              <a:ext uri="{FF2B5EF4-FFF2-40B4-BE49-F238E27FC236}">
                <a16:creationId xmlns:a16="http://schemas.microsoft.com/office/drawing/2014/main" id="{6A42A6EE-206B-9513-769D-B9BFBFD74919}"/>
              </a:ext>
            </a:extLst>
          </p:cNvPr>
          <p:cNvGrpSpPr/>
          <p:nvPr/>
        </p:nvGrpSpPr>
        <p:grpSpPr>
          <a:xfrm>
            <a:off x="6008708" y="694239"/>
            <a:ext cx="2489200" cy="1868650"/>
            <a:chOff x="6008708" y="694239"/>
            <a:chExt cx="2489200" cy="1868650"/>
          </a:xfrm>
        </p:grpSpPr>
        <p:grpSp>
          <p:nvGrpSpPr>
            <p:cNvPr id="3" name="Gruppe 2">
              <a:extLst>
                <a:ext uri="{FF2B5EF4-FFF2-40B4-BE49-F238E27FC236}">
                  <a16:creationId xmlns:a16="http://schemas.microsoft.com/office/drawing/2014/main" id="{FBE95B77-FD88-4887-A613-F5C6F072BF31}"/>
                </a:ext>
              </a:extLst>
            </p:cNvPr>
            <p:cNvGrpSpPr/>
            <p:nvPr/>
          </p:nvGrpSpPr>
          <p:grpSpPr>
            <a:xfrm>
              <a:off x="6008708" y="694239"/>
              <a:ext cx="2489200" cy="1506595"/>
              <a:chOff x="6008708" y="694239"/>
              <a:chExt cx="2489200" cy="1506595"/>
            </a:xfrm>
          </p:grpSpPr>
          <p:grpSp>
            <p:nvGrpSpPr>
              <p:cNvPr id="9" name="Group 2">
                <a:extLst>
                  <a:ext uri="{FF2B5EF4-FFF2-40B4-BE49-F238E27FC236}">
                    <a16:creationId xmlns:a16="http://schemas.microsoft.com/office/drawing/2014/main" id="{544160A2-1191-42CC-96C3-007FDFA300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08708" y="694239"/>
                <a:ext cx="2489200" cy="1417638"/>
                <a:chOff x="4016" y="6396"/>
                <a:chExt cx="3919" cy="2234"/>
              </a:xfrm>
            </p:grpSpPr>
            <p:sp>
              <p:nvSpPr>
                <p:cNvPr id="13" name="Freeform 3">
                  <a:extLst>
                    <a:ext uri="{FF2B5EF4-FFF2-40B4-BE49-F238E27FC236}">
                      <a16:creationId xmlns:a16="http://schemas.microsoft.com/office/drawing/2014/main" id="{24096B40-B2D6-4AF3-BF66-F958EC8B11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3" y="6441"/>
                  <a:ext cx="944" cy="1250"/>
                </a:xfrm>
                <a:custGeom>
                  <a:avLst/>
                  <a:gdLst>
                    <a:gd name="T0" fmla="*/ 0 w 20000"/>
                    <a:gd name="T1" fmla="*/ 19989 h 20000"/>
                    <a:gd name="T2" fmla="*/ 19987 w 20000"/>
                    <a:gd name="T3" fmla="*/ 9994 h 20000"/>
                    <a:gd name="T4" fmla="*/ 0 w 20000"/>
                    <a:gd name="T5" fmla="*/ 0 h 20000"/>
                    <a:gd name="T6" fmla="*/ 0 w 20000"/>
                    <a:gd name="T7" fmla="*/ 19989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000" h="20000">
                      <a:moveTo>
                        <a:pt x="0" y="19989"/>
                      </a:moveTo>
                      <a:lnTo>
                        <a:pt x="19987" y="9994"/>
                      </a:lnTo>
                      <a:lnTo>
                        <a:pt x="0" y="0"/>
                      </a:lnTo>
                      <a:lnTo>
                        <a:pt x="0" y="1998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rgbClr val="969696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14" name="Line 4">
                  <a:extLst>
                    <a:ext uri="{FF2B5EF4-FFF2-40B4-BE49-F238E27FC236}">
                      <a16:creationId xmlns:a16="http://schemas.microsoft.com/office/drawing/2014/main" id="{6A965838-A495-4150-8C30-C607F27D15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00" y="6753"/>
                  <a:ext cx="136" cy="1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15" name="Line 5">
                  <a:extLst>
                    <a:ext uri="{FF2B5EF4-FFF2-40B4-BE49-F238E27FC236}">
                      <a16:creationId xmlns:a16="http://schemas.microsoft.com/office/drawing/2014/main" id="{4EAF447B-CF22-42B7-8726-35EA7D2528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448" y="7276"/>
                  <a:ext cx="1" cy="157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8C295BAB-6097-415C-B043-670E7266F1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386" y="7362"/>
                  <a:ext cx="136" cy="1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FFF61455-3453-4A65-92B4-A62C47BFB2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78" y="7069"/>
                  <a:ext cx="1007" cy="1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ADD397DE-2A6B-4033-8EC3-F4B8E60F44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56" y="7371"/>
                  <a:ext cx="576" cy="1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41E45AE4-57A2-48EE-8ACD-981C809423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59" y="7292"/>
                  <a:ext cx="0" cy="958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grpSp>
              <p:nvGrpSpPr>
                <p:cNvPr id="20" name="Group 10">
                  <a:extLst>
                    <a:ext uri="{FF2B5EF4-FFF2-40B4-BE49-F238E27FC236}">
                      <a16:creationId xmlns:a16="http://schemas.microsoft.com/office/drawing/2014/main" id="{BDBD0D3F-EDD5-4BCF-AF6D-688EE9A6BD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45" y="8431"/>
                  <a:ext cx="214" cy="199"/>
                  <a:chOff x="25" y="0"/>
                  <a:chExt cx="19952" cy="20000"/>
                </a:xfrm>
              </p:grpSpPr>
              <p:sp>
                <p:nvSpPr>
                  <p:cNvPr id="27" name="Line 11">
                    <a:extLst>
                      <a:ext uri="{FF2B5EF4-FFF2-40B4-BE49-F238E27FC236}">
                        <a16:creationId xmlns:a16="http://schemas.microsoft.com/office/drawing/2014/main" id="{795ABBF1-3F0D-4485-B186-523230C0CD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194" y="0"/>
                    <a:ext cx="58" cy="14464"/>
                  </a:xfrm>
                  <a:prstGeom prst="line">
                    <a:avLst/>
                  </a:prstGeom>
                  <a:noFill/>
                  <a:ln w="12700">
                    <a:solidFill>
                      <a:srgbClr val="969696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LID4096"/>
                  </a:p>
                </p:txBody>
              </p:sp>
              <p:sp>
                <p:nvSpPr>
                  <p:cNvPr id="28" name="Line 12">
                    <a:extLst>
                      <a:ext uri="{FF2B5EF4-FFF2-40B4-BE49-F238E27FC236}">
                        <a16:creationId xmlns:a16="http://schemas.microsoft.com/office/drawing/2014/main" id="{3F27DB25-D8E7-4EC4-8786-55FDFF8BA5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" y="10521"/>
                    <a:ext cx="19952" cy="9479"/>
                  </a:xfrm>
                  <a:prstGeom prst="line">
                    <a:avLst/>
                  </a:prstGeom>
                  <a:noFill/>
                  <a:ln w="12700">
                    <a:solidFill>
                      <a:srgbClr val="969696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LID4096"/>
                  </a:p>
                </p:txBody>
              </p:sp>
            </p:grpSp>
            <p:sp>
              <p:nvSpPr>
                <p:cNvPr id="21" name="Text Box 13">
                  <a:extLst>
                    <a:ext uri="{FF2B5EF4-FFF2-40B4-BE49-F238E27FC236}">
                      <a16:creationId xmlns:a16="http://schemas.microsoft.com/office/drawing/2014/main" id="{B43D7902-EB96-4CFD-8E91-3C35DC90C0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99" y="7558"/>
                  <a:ext cx="636" cy="4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LID4096" altLang="LID4096" sz="1200" b="0" i="0" u="none" strike="noStrike" cap="none" normalizeH="0" baseline="0">
                      <a:ln>
                        <a:noFill/>
                      </a:ln>
                      <a:solidFill>
                        <a:srgbClr val="808080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kumimoji="0" lang="LID4096" altLang="LID4096" sz="1200" b="0" i="0" u="none" strike="noStrike" cap="none" normalizeH="0" baseline="-25000">
                      <a:ln>
                        <a:noFill/>
                      </a:ln>
                      <a:solidFill>
                        <a:srgbClr val="808080"/>
                      </a:solidFill>
                      <a:effectLst/>
                      <a:latin typeface="Calibri" panose="020F0502020204030204" pitchFamily="34" charset="0"/>
                    </a:rPr>
                    <a:t>o</a:t>
                  </a:r>
                  <a:endParaRPr kumimoji="0" lang="LID4096" altLang="LID4096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" name="Line 14">
                  <a:extLst>
                    <a:ext uri="{FF2B5EF4-FFF2-40B4-BE49-F238E27FC236}">
                      <a16:creationId xmlns:a16="http://schemas.microsoft.com/office/drawing/2014/main" id="{1DD5D7F8-5C37-4811-BE7D-132BBA264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45" y="6743"/>
                  <a:ext cx="576" cy="1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23" name="Text Box 15">
                  <a:extLst>
                    <a:ext uri="{FF2B5EF4-FFF2-40B4-BE49-F238E27FC236}">
                      <a16:creationId xmlns:a16="http://schemas.microsoft.com/office/drawing/2014/main" id="{77633F7F-69B8-4362-9CCE-CF5CC0FAC0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2" y="6396"/>
                  <a:ext cx="636" cy="4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LID4096" altLang="LID4096" sz="1200" b="0" i="0" u="none" strike="noStrike" cap="none" normalizeH="0" baseline="0">
                      <a:ln>
                        <a:noFill/>
                      </a:ln>
                      <a:solidFill>
                        <a:srgbClr val="808080"/>
                      </a:solidFill>
                      <a:effectLst/>
                      <a:latin typeface="Calibri" panose="020F0502020204030204" pitchFamily="34" charset="0"/>
                    </a:rPr>
                    <a:t>e</a:t>
                  </a:r>
                  <a:r>
                    <a:rPr kumimoji="0" lang="LID4096" altLang="LID4096" sz="1200" b="0" i="0" u="none" strike="noStrike" cap="none" normalizeH="0" baseline="30000">
                      <a:ln>
                        <a:noFill/>
                      </a:ln>
                      <a:solidFill>
                        <a:srgbClr val="808080"/>
                      </a:solidFill>
                      <a:effectLst/>
                      <a:latin typeface="Calibri" panose="020F0502020204030204" pitchFamily="34" charset="0"/>
                    </a:rPr>
                    <a:t>-</a:t>
                  </a:r>
                  <a:endParaRPr kumimoji="0" lang="LID4096" altLang="LID4096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" name="Text Box 16">
                  <a:extLst>
                    <a:ext uri="{FF2B5EF4-FFF2-40B4-BE49-F238E27FC236}">
                      <a16:creationId xmlns:a16="http://schemas.microsoft.com/office/drawing/2014/main" id="{9AD437D5-182F-4527-893F-0B04E0F6C3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57" y="7326"/>
                  <a:ext cx="636" cy="4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LID4096" altLang="LID4096" sz="1200" b="0" i="0" u="none" strike="noStrike" cap="none" normalizeH="0" baseline="0">
                      <a:ln>
                        <a:noFill/>
                      </a:ln>
                      <a:solidFill>
                        <a:srgbClr val="808080"/>
                      </a:solidFill>
                      <a:effectLst/>
                      <a:latin typeface="Calibri" panose="020F0502020204030204" pitchFamily="34" charset="0"/>
                    </a:rPr>
                    <a:t>e</a:t>
                  </a:r>
                  <a:r>
                    <a:rPr kumimoji="0" lang="LID4096" altLang="LID4096" sz="1200" b="0" i="0" u="none" strike="noStrike" cap="none" normalizeH="0" baseline="30000">
                      <a:ln>
                        <a:noFill/>
                      </a:ln>
                      <a:solidFill>
                        <a:srgbClr val="808080"/>
                      </a:solidFill>
                      <a:effectLst/>
                      <a:latin typeface="Calibri" panose="020F0502020204030204" pitchFamily="34" charset="0"/>
                    </a:rPr>
                    <a:t>+</a:t>
                  </a:r>
                  <a:endParaRPr kumimoji="0" lang="LID4096" altLang="LID4096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" name="Line 17">
                  <a:extLst>
                    <a:ext uri="{FF2B5EF4-FFF2-40B4-BE49-F238E27FC236}">
                      <a16:creationId xmlns:a16="http://schemas.microsoft.com/office/drawing/2014/main" id="{E952FAAB-1307-483C-B002-94C8410F71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3" y="6865"/>
                  <a:ext cx="0" cy="42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26" name="Text Box 18">
                  <a:extLst>
                    <a:ext uri="{FF2B5EF4-FFF2-40B4-BE49-F238E27FC236}">
                      <a16:creationId xmlns:a16="http://schemas.microsoft.com/office/drawing/2014/main" id="{BE4B8BA4-2501-4C57-8B25-C6182B8AA9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16" y="6839"/>
                  <a:ext cx="636" cy="4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LID4096" altLang="LID4096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v</a:t>
                  </a:r>
                  <a:r>
                    <a:rPr kumimoji="0" lang="LID4096" altLang="LID4096" sz="1200" b="0" i="0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</a:rPr>
                    <a:t>id</a:t>
                  </a:r>
                  <a:endParaRPr kumimoji="0" lang="LID4096" altLang="LID4096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2" name="Undertitel 2">
                <a:extLst>
                  <a:ext uri="{FF2B5EF4-FFF2-40B4-BE49-F238E27FC236}">
                    <a16:creationId xmlns:a16="http://schemas.microsoft.com/office/drawing/2014/main" id="{576E7C1B-BC4D-4E96-B083-170CBDD0C3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2240" y="1903219"/>
                <a:ext cx="896953" cy="297615"/>
              </a:xfrm>
              <a:prstGeom prst="rect">
                <a:avLst/>
              </a:prstGeom>
            </p:spPr>
            <p:txBody>
              <a:bodyPr anchor="ctr" anchorCtr="0">
                <a:normAutofit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400" i="1" dirty="0" err="1"/>
                  <a:t>v</a:t>
                </a:r>
                <a:r>
                  <a:rPr lang="da-DK" sz="1400" i="1" baseline="-25000" dirty="0" err="1"/>
                  <a:t>o</a:t>
                </a:r>
                <a:r>
                  <a:rPr lang="da-DK" sz="1400" i="1" dirty="0"/>
                  <a:t> = </a:t>
                </a:r>
                <a:r>
                  <a:rPr lang="da-DK" sz="1400" i="1" dirty="0" err="1"/>
                  <a:t>A</a:t>
                </a:r>
                <a:r>
                  <a:rPr lang="da-DK" sz="1400" i="1" baseline="-25000" dirty="0" err="1"/>
                  <a:t>OL</a:t>
                </a:r>
                <a:r>
                  <a:rPr lang="da-DK" sz="1400" i="1" dirty="0" err="1"/>
                  <a:t>v</a:t>
                </a:r>
                <a:r>
                  <a:rPr lang="da-DK" sz="1400" i="1" baseline="-25000" dirty="0" err="1"/>
                  <a:t>id</a:t>
                </a:r>
                <a:endParaRPr lang="da-DK" sz="14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6" name="Undertitel 2">
              <a:extLst>
                <a:ext uri="{FF2B5EF4-FFF2-40B4-BE49-F238E27FC236}">
                  <a16:creationId xmlns:a16="http://schemas.microsoft.com/office/drawing/2014/main" id="{7BB3A975-AABD-40F9-2C08-2827FFAC9411}"/>
                </a:ext>
              </a:extLst>
            </p:cNvPr>
            <p:cNvSpPr txBox="1">
              <a:spLocks/>
            </p:cNvSpPr>
            <p:nvPr/>
          </p:nvSpPr>
          <p:spPr>
            <a:xfrm>
              <a:off x="6873650" y="2265274"/>
              <a:ext cx="1083034" cy="297615"/>
            </a:xfrm>
            <a:prstGeom prst="rect">
              <a:avLst/>
            </a:prstGeom>
          </p:spPr>
          <p:txBody>
            <a:bodyPr anchor="ctr" anchorCtr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1617663" algn="l"/>
                </a:tabLst>
              </a:pPr>
              <a:r>
                <a:rPr lang="da-DK" sz="1400" i="1" dirty="0"/>
                <a:t>= A</a:t>
              </a:r>
              <a:r>
                <a:rPr lang="da-DK" sz="1400" i="1" baseline="-25000" dirty="0"/>
                <a:t>OL</a:t>
              </a:r>
              <a:r>
                <a:rPr lang="da-DK" sz="1400" i="1" dirty="0"/>
                <a:t>(e</a:t>
              </a:r>
              <a:r>
                <a:rPr lang="da-DK" sz="1400" i="1" baseline="30000" dirty="0"/>
                <a:t>+ </a:t>
              </a:r>
              <a:r>
                <a:rPr lang="da-DK" sz="1400" i="1" dirty="0"/>
                <a:t>- e</a:t>
              </a:r>
              <a:r>
                <a:rPr lang="da-DK" sz="1400" i="1" baseline="30000" dirty="0"/>
                <a:t>-</a:t>
              </a:r>
              <a:r>
                <a:rPr lang="da-DK" sz="1400" i="1" dirty="0"/>
                <a:t>)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4313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4" r="-39"/>
          <a:stretch/>
        </p:blipFill>
        <p:spPr>
          <a:xfrm>
            <a:off x="323528" y="1498485"/>
            <a:ext cx="5940000" cy="3946739"/>
          </a:xfrm>
          <a:prstGeom prst="rect">
            <a:avLst/>
          </a:prstGeom>
        </p:spPr>
      </p:pic>
      <p:grpSp>
        <p:nvGrpSpPr>
          <p:cNvPr id="3" name="Gruppe 2">
            <a:extLst>
              <a:ext uri="{FF2B5EF4-FFF2-40B4-BE49-F238E27FC236}">
                <a16:creationId xmlns:a16="http://schemas.microsoft.com/office/drawing/2014/main" id="{FBE95B77-FD88-4887-A613-F5C6F072BF31}"/>
              </a:ext>
            </a:extLst>
          </p:cNvPr>
          <p:cNvGrpSpPr/>
          <p:nvPr/>
        </p:nvGrpSpPr>
        <p:grpSpPr>
          <a:xfrm>
            <a:off x="6008705" y="694239"/>
            <a:ext cx="2489196" cy="2230705"/>
            <a:chOff x="6008705" y="694239"/>
            <a:chExt cx="2489196" cy="2230705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544160A2-1191-42CC-96C3-007FDFA300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8705" y="694239"/>
              <a:ext cx="2489196" cy="1417638"/>
              <a:chOff x="4016" y="6396"/>
              <a:chExt cx="3919" cy="2234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24096B40-B2D6-4AF3-BF66-F958EC8B1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3" y="6441"/>
                <a:ext cx="944" cy="1250"/>
              </a:xfrm>
              <a:custGeom>
                <a:avLst/>
                <a:gdLst>
                  <a:gd name="T0" fmla="*/ 0 w 20000"/>
                  <a:gd name="T1" fmla="*/ 19989 h 20000"/>
                  <a:gd name="T2" fmla="*/ 19987 w 20000"/>
                  <a:gd name="T3" fmla="*/ 9994 h 20000"/>
                  <a:gd name="T4" fmla="*/ 0 w 20000"/>
                  <a:gd name="T5" fmla="*/ 0 h 20000"/>
                  <a:gd name="T6" fmla="*/ 0 w 20000"/>
                  <a:gd name="T7" fmla="*/ 19989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000" h="20000">
                    <a:moveTo>
                      <a:pt x="0" y="19989"/>
                    </a:moveTo>
                    <a:lnTo>
                      <a:pt x="19987" y="9994"/>
                    </a:lnTo>
                    <a:lnTo>
                      <a:pt x="0" y="0"/>
                    </a:lnTo>
                    <a:lnTo>
                      <a:pt x="0" y="19989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69696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4" name="Line 4">
                <a:extLst>
                  <a:ext uri="{FF2B5EF4-FFF2-40B4-BE49-F238E27FC236}">
                    <a16:creationId xmlns:a16="http://schemas.microsoft.com/office/drawing/2014/main" id="{6A965838-A495-4150-8C30-C607F27D15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00" y="6753"/>
                <a:ext cx="13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5" name="Line 5">
                <a:extLst>
                  <a:ext uri="{FF2B5EF4-FFF2-40B4-BE49-F238E27FC236}">
                    <a16:creationId xmlns:a16="http://schemas.microsoft.com/office/drawing/2014/main" id="{4EAF447B-CF22-42B7-8726-35EA7D25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48" y="7276"/>
                <a:ext cx="1" cy="157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6" name="Line 6">
                <a:extLst>
                  <a:ext uri="{FF2B5EF4-FFF2-40B4-BE49-F238E27FC236}">
                    <a16:creationId xmlns:a16="http://schemas.microsoft.com/office/drawing/2014/main" id="{8C295BAB-6097-415C-B043-670E7266F1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86" y="7362"/>
                <a:ext cx="13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7" name="Line 7">
                <a:extLst>
                  <a:ext uri="{FF2B5EF4-FFF2-40B4-BE49-F238E27FC236}">
                    <a16:creationId xmlns:a16="http://schemas.microsoft.com/office/drawing/2014/main" id="{FFF61455-3453-4A65-92B4-A62C47BFB2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78" y="7069"/>
                <a:ext cx="1007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8" name="Line 8">
                <a:extLst>
                  <a:ext uri="{FF2B5EF4-FFF2-40B4-BE49-F238E27FC236}">
                    <a16:creationId xmlns:a16="http://schemas.microsoft.com/office/drawing/2014/main" id="{ADD397DE-2A6B-4033-8EC3-F4B8E60F4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6" y="7371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19" name="Line 9">
                <a:extLst>
                  <a:ext uri="{FF2B5EF4-FFF2-40B4-BE49-F238E27FC236}">
                    <a16:creationId xmlns:a16="http://schemas.microsoft.com/office/drawing/2014/main" id="{41E45AE4-57A2-48EE-8ACD-981C80942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59" y="7292"/>
                <a:ext cx="0" cy="958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grpSp>
            <p:nvGrpSpPr>
              <p:cNvPr id="20" name="Group 10">
                <a:extLst>
                  <a:ext uri="{FF2B5EF4-FFF2-40B4-BE49-F238E27FC236}">
                    <a16:creationId xmlns:a16="http://schemas.microsoft.com/office/drawing/2014/main" id="{BDBD0D3F-EDD5-4BCF-AF6D-688EE9A6BD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45" y="8431"/>
                <a:ext cx="214" cy="199"/>
                <a:chOff x="25" y="0"/>
                <a:chExt cx="19952" cy="20000"/>
              </a:xfrm>
            </p:grpSpPr>
            <p:sp>
              <p:nvSpPr>
                <p:cNvPr id="27" name="Line 11">
                  <a:extLst>
                    <a:ext uri="{FF2B5EF4-FFF2-40B4-BE49-F238E27FC236}">
                      <a16:creationId xmlns:a16="http://schemas.microsoft.com/office/drawing/2014/main" id="{795ABBF1-3F0D-4485-B186-523230C0C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94" y="0"/>
                  <a:ext cx="58" cy="14464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  <p:sp>
              <p:nvSpPr>
                <p:cNvPr id="28" name="Line 12">
                  <a:extLst>
                    <a:ext uri="{FF2B5EF4-FFF2-40B4-BE49-F238E27FC236}">
                      <a16:creationId xmlns:a16="http://schemas.microsoft.com/office/drawing/2014/main" id="{3F27DB25-D8E7-4EC4-8786-55FDFF8BA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" y="10521"/>
                  <a:ext cx="19952" cy="9479"/>
                </a:xfrm>
                <a:prstGeom prst="line">
                  <a:avLst/>
                </a:prstGeom>
                <a:noFill/>
                <a:ln w="12700">
                  <a:solidFill>
                    <a:srgbClr val="969696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LID4096"/>
                </a:p>
              </p:txBody>
            </p:sp>
          </p:grpSp>
          <p:sp>
            <p:nvSpPr>
              <p:cNvPr id="21" name="Text Box 13">
                <a:extLst>
                  <a:ext uri="{FF2B5EF4-FFF2-40B4-BE49-F238E27FC236}">
                    <a16:creationId xmlns:a16="http://schemas.microsoft.com/office/drawing/2014/main" id="{B43D7902-EB96-4CFD-8E91-3C35DC90C0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9" y="7558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v</a:t>
                </a:r>
                <a:r>
                  <a:rPr kumimoji="0" lang="LID4096" altLang="LID4096" sz="1200" b="0" i="0" u="none" strike="noStrike" cap="none" normalizeH="0" baseline="-25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o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" name="Line 14">
                <a:extLst>
                  <a:ext uri="{FF2B5EF4-FFF2-40B4-BE49-F238E27FC236}">
                    <a16:creationId xmlns:a16="http://schemas.microsoft.com/office/drawing/2014/main" id="{1DD5D7F8-5C37-4811-BE7D-132BBA2644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45" y="6743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23" name="Text Box 15">
                <a:extLst>
                  <a:ext uri="{FF2B5EF4-FFF2-40B4-BE49-F238E27FC236}">
                    <a16:creationId xmlns:a16="http://schemas.microsoft.com/office/drawing/2014/main" id="{77633F7F-69B8-4362-9CCE-CF5CC0FAC0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" y="6396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e</a:t>
                </a:r>
                <a:r>
                  <a:rPr kumimoji="0" lang="LID4096" altLang="LID4096" sz="1200" b="0" i="0" u="none" strike="noStrike" cap="none" normalizeH="0" baseline="30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-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" name="Text Box 16">
                <a:extLst>
                  <a:ext uri="{FF2B5EF4-FFF2-40B4-BE49-F238E27FC236}">
                    <a16:creationId xmlns:a16="http://schemas.microsoft.com/office/drawing/2014/main" id="{9AD437D5-182F-4527-893F-0B04E0F6C3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7" y="7326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e</a:t>
                </a:r>
                <a:r>
                  <a:rPr kumimoji="0" lang="LID4096" altLang="LID4096" sz="1200" b="0" i="0" u="none" strike="noStrike" cap="none" normalizeH="0" baseline="30000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alibri" panose="020F0502020204030204" pitchFamily="34" charset="0"/>
                  </a:rPr>
                  <a:t>+</a:t>
                </a:r>
                <a:endParaRPr kumimoji="0" lang="LID4096" altLang="LID4096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Line 17">
                <a:extLst>
                  <a:ext uri="{FF2B5EF4-FFF2-40B4-BE49-F238E27FC236}">
                    <a16:creationId xmlns:a16="http://schemas.microsoft.com/office/drawing/2014/main" id="{E952FAAB-1307-483C-B002-94C8410F7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3" y="6865"/>
                <a:ext cx="0" cy="4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LID4096"/>
              </a:p>
            </p:txBody>
          </p:sp>
          <p:sp>
            <p:nvSpPr>
              <p:cNvPr id="26" name="Text Box 18">
                <a:extLst>
                  <a:ext uri="{FF2B5EF4-FFF2-40B4-BE49-F238E27FC236}">
                    <a16:creationId xmlns:a16="http://schemas.microsoft.com/office/drawing/2014/main" id="{BE4B8BA4-2501-4C57-8B25-C6182B8AA9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6" y="6839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v</a:t>
                </a:r>
                <a:r>
                  <a:rPr kumimoji="0" lang="LID4096" altLang="LID4096" sz="12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id</a:t>
                </a:r>
                <a:endParaRPr kumimoji="0" lang="LID4096" altLang="LID4096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" name="Text Box 18">
                <a:extLst>
                  <a:ext uri="{FF2B5EF4-FFF2-40B4-BE49-F238E27FC236}">
                    <a16:creationId xmlns:a16="http://schemas.microsoft.com/office/drawing/2014/main" id="{CC96FFA3-DAC6-5182-4DDF-6D9183C227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9" y="6839"/>
                <a:ext cx="636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LID4096" altLang="LID4096" sz="12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</a:rPr>
                  <a:t>v</a:t>
                </a:r>
                <a:r>
                  <a:rPr kumimoji="0" lang="en-US" altLang="LID4096" sz="1200" b="0" i="0" u="none" strike="noStrike" cap="none" normalizeH="0" baseline="-2500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</a:rPr>
                  <a:t>x</a:t>
                </a:r>
                <a:endParaRPr kumimoji="0" lang="LID4096" altLang="LID4096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Undertitel 2">
              <a:extLst>
                <a:ext uri="{FF2B5EF4-FFF2-40B4-BE49-F238E27FC236}">
                  <a16:creationId xmlns:a16="http://schemas.microsoft.com/office/drawing/2014/main" id="{576E7C1B-BC4D-4E96-B083-170CBDD0C376}"/>
                </a:ext>
              </a:extLst>
            </p:cNvPr>
            <p:cNvSpPr txBox="1">
              <a:spLocks/>
            </p:cNvSpPr>
            <p:nvPr/>
          </p:nvSpPr>
          <p:spPr>
            <a:xfrm>
              <a:off x="6732240" y="1903219"/>
              <a:ext cx="896953" cy="297615"/>
            </a:xfrm>
            <a:prstGeom prst="rect">
              <a:avLst/>
            </a:prstGeom>
          </p:spPr>
          <p:txBody>
            <a:bodyPr anchor="ctr" anchorCtr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1617663" algn="l"/>
                </a:tabLst>
              </a:pPr>
              <a:r>
                <a:rPr lang="da-DK" sz="1400" i="1" dirty="0" err="1"/>
                <a:t>v</a:t>
              </a:r>
              <a:r>
                <a:rPr lang="da-DK" sz="1400" i="1" baseline="-25000" dirty="0" err="1"/>
                <a:t>o</a:t>
              </a:r>
              <a:r>
                <a:rPr lang="da-DK" sz="1400" i="1" dirty="0"/>
                <a:t> = </a:t>
              </a:r>
              <a:r>
                <a:rPr lang="da-DK" sz="1400" i="1" dirty="0" err="1"/>
                <a:t>A</a:t>
              </a:r>
              <a:r>
                <a:rPr lang="da-DK" sz="1400" i="1" baseline="-25000" dirty="0" err="1"/>
                <a:t>OL</a:t>
              </a:r>
              <a:r>
                <a:rPr lang="da-DK" sz="1400" i="1" dirty="0" err="1"/>
                <a:t>v</a:t>
              </a:r>
              <a:r>
                <a:rPr lang="da-DK" sz="1400" i="1" baseline="-25000" dirty="0" err="1"/>
                <a:t>id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29" name="Undertitel 2">
              <a:extLst>
                <a:ext uri="{FF2B5EF4-FFF2-40B4-BE49-F238E27FC236}">
                  <a16:creationId xmlns:a16="http://schemas.microsoft.com/office/drawing/2014/main" id="{405FED35-A4E3-4C4A-B772-17C8A2C06DE9}"/>
                </a:ext>
              </a:extLst>
            </p:cNvPr>
            <p:cNvSpPr txBox="1">
              <a:spLocks/>
            </p:cNvSpPr>
            <p:nvPr/>
          </p:nvSpPr>
          <p:spPr>
            <a:xfrm>
              <a:off x="6873650" y="2265274"/>
              <a:ext cx="1083034" cy="297615"/>
            </a:xfrm>
            <a:prstGeom prst="rect">
              <a:avLst/>
            </a:prstGeom>
          </p:spPr>
          <p:txBody>
            <a:bodyPr anchor="ctr" anchorCtr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1617663" algn="l"/>
                </a:tabLst>
              </a:pPr>
              <a:r>
                <a:rPr lang="da-DK" sz="1400" i="1" dirty="0"/>
                <a:t>= A</a:t>
              </a:r>
              <a:r>
                <a:rPr lang="da-DK" sz="1400" i="1" baseline="-25000" dirty="0"/>
                <a:t>OL</a:t>
              </a:r>
              <a:r>
                <a:rPr lang="da-DK" sz="1400" i="1" dirty="0"/>
                <a:t>(e</a:t>
              </a:r>
              <a:r>
                <a:rPr lang="da-DK" sz="1400" i="1" baseline="30000" dirty="0"/>
                <a:t>+ </a:t>
              </a:r>
              <a:r>
                <a:rPr lang="da-DK" sz="1400" i="1" dirty="0"/>
                <a:t>- e</a:t>
              </a:r>
              <a:r>
                <a:rPr lang="da-DK" sz="1400" i="1" baseline="30000" dirty="0"/>
                <a:t>-</a:t>
              </a:r>
              <a:r>
                <a:rPr lang="da-DK" sz="1400" i="1" dirty="0"/>
                <a:t>)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0" name="Undertitel 2">
              <a:extLst>
                <a:ext uri="{FF2B5EF4-FFF2-40B4-BE49-F238E27FC236}">
                  <a16:creationId xmlns:a16="http://schemas.microsoft.com/office/drawing/2014/main" id="{655013E6-8D04-458D-8FA9-F84E02509008}"/>
                </a:ext>
              </a:extLst>
            </p:cNvPr>
            <p:cNvSpPr txBox="1">
              <a:spLocks/>
            </p:cNvSpPr>
            <p:nvPr/>
          </p:nvSpPr>
          <p:spPr>
            <a:xfrm>
              <a:off x="6919719" y="2627329"/>
              <a:ext cx="765067" cy="297615"/>
            </a:xfrm>
            <a:prstGeom prst="rect">
              <a:avLst/>
            </a:prstGeom>
          </p:spPr>
          <p:txBody>
            <a:bodyPr anchor="ctr" anchorCtr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1617663" algn="l"/>
                </a:tabLst>
              </a:pPr>
              <a:r>
                <a:rPr lang="da-DK" sz="1400" i="1" dirty="0"/>
                <a:t>= - </a:t>
              </a:r>
              <a:r>
                <a:rPr lang="da-DK" sz="1400" i="1" dirty="0" err="1"/>
                <a:t>A</a:t>
              </a:r>
              <a:r>
                <a:rPr lang="da-DK" sz="1400" i="1" baseline="-25000" dirty="0" err="1"/>
                <a:t>OL</a:t>
              </a:r>
              <a:r>
                <a:rPr lang="da-DK" sz="1400" i="1" dirty="0" err="1"/>
                <a:t>v</a:t>
              </a:r>
              <a:r>
                <a:rPr lang="da-DK" sz="1400" i="1" baseline="-25000" dirty="0" err="1"/>
                <a:t>x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" name="Bue 3">
            <a:extLst>
              <a:ext uri="{FF2B5EF4-FFF2-40B4-BE49-F238E27FC236}">
                <a16:creationId xmlns:a16="http://schemas.microsoft.com/office/drawing/2014/main" id="{095C1031-4372-0647-400C-E2D05C6DD466}"/>
              </a:ext>
            </a:extLst>
          </p:cNvPr>
          <p:cNvSpPr/>
          <p:nvPr/>
        </p:nvSpPr>
        <p:spPr>
          <a:xfrm rot="13694028">
            <a:off x="1605081" y="2903496"/>
            <a:ext cx="2376264" cy="2376264"/>
          </a:xfrm>
          <a:prstGeom prst="arc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2F781E0F-14AC-63DE-2F44-AC29E22EF0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7624" y="3875604"/>
                <a:ext cx="528042" cy="4320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e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a-DK" sz="2400" b="0" i="1" smtClean="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da-DK" sz="2400" i="1" dirty="0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2F781E0F-14AC-63DE-2F44-AC29E22EF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875604"/>
                <a:ext cx="528042" cy="43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EE95F9AF-F637-AE3C-C679-81269FCB7308}"/>
              </a:ext>
            </a:extLst>
          </p:cNvPr>
          <p:cNvCxnSpPr/>
          <p:nvPr/>
        </p:nvCxnSpPr>
        <p:spPr>
          <a:xfrm flipV="1">
            <a:off x="6776727" y="974784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735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Undertitel 2"/>
              <p:cNvSpPr txBox="1">
                <a:spLocks/>
              </p:cNvSpPr>
              <p:nvPr/>
            </p:nvSpPr>
            <p:spPr>
              <a:xfrm>
                <a:off x="1689194" y="3861048"/>
                <a:ext cx="5115054" cy="1008112"/>
              </a:xfrm>
              <a:prstGeom prst="rect">
                <a:avLst/>
              </a:prstGeom>
            </p:spPr>
            <p:txBody>
              <a:bodyPr anchor="ctr" anchorCtr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400" i="1" dirty="0"/>
                  <a:t>v</a:t>
                </a:r>
                <a:r>
                  <a:rPr lang="da-DK" sz="2400" i="1" baseline="-25000" dirty="0" err="1"/>
                  <a:t>x</a:t>
                </a:r>
                <a:r>
                  <a:rPr lang="da-DK" sz="2400" i="1" dirty="0"/>
                  <a:t> &gt; 0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b="0" dirty="0"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/>
                  <a:t>  </a:t>
                </a:r>
                <a:r>
                  <a:rPr lang="da-DK" sz="2400" i="1" dirty="0" err="1"/>
                  <a:t>v</a:t>
                </a:r>
                <a:r>
                  <a:rPr lang="da-DK" sz="2400" i="1" baseline="-25000" dirty="0" err="1"/>
                  <a:t>o</a:t>
                </a:r>
                <a:r>
                  <a:rPr lang="da-DK" sz="2400" i="1" dirty="0"/>
                  <a:t> → -∞  </a:t>
                </a:r>
                <a14:m>
                  <m:oMath xmlns:m="http://schemas.openxmlformats.org/officeDocument/2006/math"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da-DK" sz="2400" b="0" dirty="0"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/>
                  <a:t>  e</a:t>
                </a:r>
                <a:r>
                  <a:rPr lang="da-DK" sz="2400" i="1" baseline="30000" dirty="0"/>
                  <a:t>-</a:t>
                </a:r>
                <a:r>
                  <a:rPr lang="da-DK" sz="2400" i="1" dirty="0"/>
                  <a:t> → -∞</a:t>
                </a:r>
                <a:endParaRPr lang="da-DK" sz="2400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Undertitel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194" y="3861048"/>
                <a:ext cx="5115054" cy="1008112"/>
              </a:xfrm>
              <a:prstGeom prst="rect">
                <a:avLst/>
              </a:prstGeom>
              <a:blipFill>
                <a:blip r:embed="rId2"/>
                <a:stretch>
                  <a:fillRect l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Undertitel 2"/>
              <p:cNvSpPr txBox="1">
                <a:spLocks/>
              </p:cNvSpPr>
              <p:nvPr/>
            </p:nvSpPr>
            <p:spPr>
              <a:xfrm>
                <a:off x="1689194" y="4941168"/>
                <a:ext cx="5115054" cy="936104"/>
              </a:xfrm>
              <a:prstGeom prst="rect">
                <a:avLst/>
              </a:prstGeom>
            </p:spPr>
            <p:txBody>
              <a:bodyPr anchor="ctr" anchorCtr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400" i="1" dirty="0" err="1"/>
                  <a:t>v</a:t>
                </a:r>
                <a:r>
                  <a:rPr lang="da-DK" sz="2400" i="1" baseline="-25000" dirty="0" err="1"/>
                  <a:t>x</a:t>
                </a:r>
                <a:r>
                  <a:rPr lang="da-DK" sz="2400" i="1" dirty="0"/>
                  <a:t> &lt; 0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b="0" dirty="0"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/>
                  <a:t>  </a:t>
                </a:r>
                <a:r>
                  <a:rPr lang="da-DK" sz="2400" i="1" dirty="0" err="1"/>
                  <a:t>v</a:t>
                </a:r>
                <a:r>
                  <a:rPr lang="da-DK" sz="2400" i="1" baseline="-25000" dirty="0" err="1"/>
                  <a:t>o</a:t>
                </a:r>
                <a:r>
                  <a:rPr lang="da-DK" sz="2400" i="1" dirty="0"/>
                  <a:t> → +∞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b="0" dirty="0"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/>
                  <a:t>  e</a:t>
                </a:r>
                <a:r>
                  <a:rPr lang="da-DK" sz="2400" i="1" baseline="30000" dirty="0"/>
                  <a:t>-</a:t>
                </a:r>
                <a:r>
                  <a:rPr lang="da-DK" sz="2400" i="1" dirty="0"/>
                  <a:t> → +∞</a:t>
                </a:r>
                <a:endParaRPr lang="da-DK" sz="2400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Undertitel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194" y="4941168"/>
                <a:ext cx="5115054" cy="936104"/>
              </a:xfrm>
              <a:prstGeom prst="rect">
                <a:avLst/>
              </a:prstGeom>
              <a:blipFill>
                <a:blip r:embed="rId3"/>
                <a:stretch>
                  <a:fillRect l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4" r="-39"/>
          <a:stretch/>
        </p:blipFill>
        <p:spPr>
          <a:xfrm>
            <a:off x="1368304" y="0"/>
            <a:ext cx="5940000" cy="394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1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Undertitel 2"/>
              <p:cNvSpPr txBox="1">
                <a:spLocks/>
              </p:cNvSpPr>
              <p:nvPr/>
            </p:nvSpPr>
            <p:spPr>
              <a:xfrm>
                <a:off x="1689194" y="3861048"/>
                <a:ext cx="5115054" cy="1008112"/>
              </a:xfrm>
              <a:prstGeom prst="rect">
                <a:avLst/>
              </a:prstGeom>
            </p:spPr>
            <p:txBody>
              <a:bodyPr anchor="ctr" anchorCtr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400" i="1" dirty="0"/>
                  <a:t>v</a:t>
                </a:r>
                <a:r>
                  <a:rPr lang="da-DK" sz="2400" i="1" baseline="-25000" dirty="0" err="1"/>
                  <a:t>x</a:t>
                </a:r>
                <a:r>
                  <a:rPr lang="da-DK" sz="2400" i="1" dirty="0"/>
                  <a:t> &gt; 0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b="0" dirty="0"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/>
                  <a:t>  </a:t>
                </a:r>
                <a:r>
                  <a:rPr lang="da-DK" sz="2400" i="1" dirty="0" err="1"/>
                  <a:t>v</a:t>
                </a:r>
                <a:r>
                  <a:rPr lang="da-DK" sz="2400" i="1" baseline="-25000" dirty="0" err="1"/>
                  <a:t>o</a:t>
                </a:r>
                <a:r>
                  <a:rPr lang="da-DK" sz="2400" i="1" dirty="0"/>
                  <a:t> → -∞  </a:t>
                </a:r>
                <a14:m>
                  <m:oMath xmlns:m="http://schemas.openxmlformats.org/officeDocument/2006/math"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da-DK" sz="2400" b="0" dirty="0"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/>
                  <a:t>  e</a:t>
                </a:r>
                <a:r>
                  <a:rPr lang="da-DK" sz="2400" i="1" baseline="30000" dirty="0"/>
                  <a:t>-</a:t>
                </a:r>
                <a:r>
                  <a:rPr lang="da-DK" sz="2400" i="1" dirty="0"/>
                  <a:t> → -∞</a:t>
                </a:r>
                <a:endParaRPr lang="da-DK" sz="2400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Undertitel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194" y="3861048"/>
                <a:ext cx="5115054" cy="1008112"/>
              </a:xfrm>
              <a:prstGeom prst="rect">
                <a:avLst/>
              </a:prstGeom>
              <a:blipFill>
                <a:blip r:embed="rId2"/>
                <a:stretch>
                  <a:fillRect l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Undertitel 2"/>
              <p:cNvSpPr txBox="1">
                <a:spLocks/>
              </p:cNvSpPr>
              <p:nvPr/>
            </p:nvSpPr>
            <p:spPr>
              <a:xfrm>
                <a:off x="1689194" y="4941168"/>
                <a:ext cx="5115054" cy="936104"/>
              </a:xfrm>
              <a:prstGeom prst="rect">
                <a:avLst/>
              </a:prstGeom>
            </p:spPr>
            <p:txBody>
              <a:bodyPr anchor="ctr" anchorCtr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400" i="1" dirty="0" err="1"/>
                  <a:t>v</a:t>
                </a:r>
                <a:r>
                  <a:rPr lang="da-DK" sz="2400" i="1" baseline="-25000" dirty="0" err="1"/>
                  <a:t>x</a:t>
                </a:r>
                <a:r>
                  <a:rPr lang="da-DK" sz="2400" i="1" dirty="0"/>
                  <a:t> &lt; 0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b="0" dirty="0"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/>
                  <a:t>  </a:t>
                </a:r>
                <a:r>
                  <a:rPr lang="da-DK" sz="2400" i="1" dirty="0" err="1"/>
                  <a:t>v</a:t>
                </a:r>
                <a:r>
                  <a:rPr lang="da-DK" sz="2400" i="1" baseline="-25000" dirty="0" err="1"/>
                  <a:t>o</a:t>
                </a:r>
                <a:r>
                  <a:rPr lang="da-DK" sz="2400" i="1" dirty="0"/>
                  <a:t> → +∞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b="0" dirty="0"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/>
                  <a:t>  e</a:t>
                </a:r>
                <a:r>
                  <a:rPr lang="da-DK" sz="2400" i="1" baseline="30000" dirty="0"/>
                  <a:t>-</a:t>
                </a:r>
                <a:r>
                  <a:rPr lang="da-DK" sz="2400" i="1" dirty="0"/>
                  <a:t> → +∞</a:t>
                </a:r>
                <a:endParaRPr lang="da-DK" sz="2400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Undertitel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194" y="4941168"/>
                <a:ext cx="5115054" cy="936104"/>
              </a:xfrm>
              <a:prstGeom prst="rect">
                <a:avLst/>
              </a:prstGeom>
              <a:blipFill>
                <a:blip r:embed="rId3"/>
                <a:stretch>
                  <a:fillRect l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Undertitel 2"/>
          <p:cNvSpPr txBox="1">
            <a:spLocks/>
          </p:cNvSpPr>
          <p:nvPr/>
        </p:nvSpPr>
        <p:spPr>
          <a:xfrm>
            <a:off x="5004048" y="5952153"/>
            <a:ext cx="3667436" cy="64807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2400" b="1" i="1" dirty="0"/>
              <a:t>Balance ved v</a:t>
            </a:r>
            <a:r>
              <a:rPr lang="da-DK" sz="2400" b="1" i="1" baseline="-25000" dirty="0"/>
              <a:t>id</a:t>
            </a:r>
            <a:r>
              <a:rPr lang="da-DK" sz="2400" b="1" i="1" dirty="0"/>
              <a:t> = -</a:t>
            </a:r>
            <a:r>
              <a:rPr lang="da-DK" sz="2400" b="1" i="1" dirty="0" err="1"/>
              <a:t>v</a:t>
            </a:r>
            <a:r>
              <a:rPr lang="da-DK" sz="2400" b="1" i="1" baseline="-25000" dirty="0" err="1"/>
              <a:t>x</a:t>
            </a:r>
            <a:r>
              <a:rPr lang="da-DK" sz="2400" b="1" i="1" dirty="0"/>
              <a:t> = 0</a:t>
            </a:r>
            <a:endParaRPr lang="da-DK" sz="2400" b="1" i="1" baseline="-25000" dirty="0">
              <a:solidFill>
                <a:srgbClr val="FF0000"/>
              </a:solidFill>
            </a:endParaRPr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4" r="-39"/>
          <a:stretch/>
        </p:blipFill>
        <p:spPr>
          <a:xfrm>
            <a:off x="1368304" y="0"/>
            <a:ext cx="5940000" cy="394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9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h14fig04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4"/>
          <a:stretch/>
        </p:blipFill>
        <p:spPr bwMode="auto">
          <a:xfrm>
            <a:off x="457200" y="764704"/>
            <a:ext cx="8229600" cy="46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26486" y="44624"/>
            <a:ext cx="7137802" cy="432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Dette gælder også med påtrykt indgangsspænding v</a:t>
            </a:r>
            <a:r>
              <a:rPr lang="da-DK" sz="2400" i="1" baseline="-25000" dirty="0"/>
              <a:t>in</a:t>
            </a:r>
            <a:r>
              <a:rPr lang="da-DK" sz="2400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14766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h14fig04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4"/>
          <a:stretch/>
        </p:blipFill>
        <p:spPr bwMode="auto">
          <a:xfrm>
            <a:off x="457200" y="764704"/>
            <a:ext cx="8229600" cy="46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Undertitel 2"/>
          <p:cNvSpPr txBox="1">
            <a:spLocks/>
          </p:cNvSpPr>
          <p:nvPr/>
        </p:nvSpPr>
        <p:spPr>
          <a:xfrm>
            <a:off x="1060452" y="5682970"/>
            <a:ext cx="2071388" cy="8926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 anchorCtr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Modkobling</a:t>
            </a:r>
          </a:p>
          <a:p>
            <a:pPr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A</a:t>
            </a:r>
            <a:r>
              <a:rPr lang="da-DK" sz="2400" i="1" baseline="-25000" dirty="0">
                <a:solidFill>
                  <a:schemeClr val="tx1"/>
                </a:solidFill>
              </a:rPr>
              <a:t>OL</a:t>
            </a:r>
            <a:r>
              <a:rPr lang="da-DK" sz="2400" i="1" dirty="0">
                <a:solidFill>
                  <a:schemeClr val="tx1"/>
                </a:solidFill>
              </a:rPr>
              <a:t> → 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Undertitel 2"/>
              <p:cNvSpPr txBox="1">
                <a:spLocks/>
              </p:cNvSpPr>
              <p:nvPr/>
            </p:nvSpPr>
            <p:spPr>
              <a:xfrm>
                <a:off x="3635896" y="5769260"/>
                <a:ext cx="576064" cy="720080"/>
              </a:xfrm>
              <a:prstGeom prst="rect">
                <a:avLst/>
              </a:prstGeom>
            </p:spPr>
            <p:txBody>
              <a:bodyPr anchor="ctr" anchorCtr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  <a:tabLst>
                    <a:tab pos="1617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800" b="0" i="0" dirty="0" smtClean="0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</m:oMath>
                  </m:oMathPara>
                </a14:m>
                <a:endParaRPr lang="da-DK" sz="28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Undertitel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5769260"/>
                <a:ext cx="576064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Undertitel 2"/>
          <p:cNvSpPr txBox="1">
            <a:spLocks/>
          </p:cNvSpPr>
          <p:nvPr/>
        </p:nvSpPr>
        <p:spPr>
          <a:xfrm>
            <a:off x="4390226" y="5848189"/>
            <a:ext cx="1011984" cy="56222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617663" algn="l"/>
              </a:tabLst>
            </a:pPr>
            <a:r>
              <a:rPr lang="da-DK" sz="2400" i="1" dirty="0"/>
              <a:t>v</a:t>
            </a:r>
            <a:r>
              <a:rPr lang="da-DK" sz="2400" i="1" baseline="-25000" dirty="0"/>
              <a:t>id</a:t>
            </a:r>
            <a:r>
              <a:rPr lang="da-DK" sz="2400" i="1" dirty="0"/>
              <a:t> = 0</a:t>
            </a:r>
            <a:endParaRPr lang="da-DK" sz="2400" i="1" baseline="-25000" dirty="0">
              <a:solidFill>
                <a:srgbClr val="FF0000"/>
              </a:solidFill>
            </a:endParaRPr>
          </a:p>
        </p:txBody>
      </p:sp>
      <p:sp>
        <p:nvSpPr>
          <p:cNvPr id="9" name="Undertitel 2"/>
          <p:cNvSpPr txBox="1">
            <a:spLocks/>
          </p:cNvSpPr>
          <p:nvPr/>
        </p:nvSpPr>
        <p:spPr>
          <a:xfrm>
            <a:off x="6393922" y="5853000"/>
            <a:ext cx="892661" cy="552600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617663" algn="l"/>
              </a:tabLst>
            </a:pPr>
            <a:r>
              <a:rPr lang="da-DK" sz="2400" i="1" dirty="0"/>
              <a:t>e</a:t>
            </a:r>
            <a:r>
              <a:rPr lang="da-DK" sz="2400" i="1" baseline="30000" dirty="0"/>
              <a:t>-</a:t>
            </a:r>
            <a:r>
              <a:rPr lang="da-DK" sz="2400" i="1" dirty="0"/>
              <a:t> = e</a:t>
            </a:r>
            <a:r>
              <a:rPr lang="da-DK" sz="2400" i="1" baseline="30000" dirty="0"/>
              <a:t>+</a:t>
            </a:r>
            <a:endParaRPr lang="da-DK" sz="2400" i="1" baseline="30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Undertitel 2"/>
              <p:cNvSpPr txBox="1">
                <a:spLocks/>
              </p:cNvSpPr>
              <p:nvPr/>
            </p:nvSpPr>
            <p:spPr>
              <a:xfrm>
                <a:off x="5652120" y="5769260"/>
                <a:ext cx="504056" cy="720080"/>
              </a:xfrm>
              <a:prstGeom prst="rect">
                <a:avLst/>
              </a:prstGeom>
            </p:spPr>
            <p:txBody>
              <a:bodyPr anchor="ctr" anchorCtr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  <a:tabLst>
                    <a:tab pos="1617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800" b="0" i="0" dirty="0" smtClean="0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</m:oMath>
                  </m:oMathPara>
                </a14:m>
                <a:endParaRPr lang="da-DK" sz="28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Undertitel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5769260"/>
                <a:ext cx="504056" cy="720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el 1">
            <a:extLst>
              <a:ext uri="{FF2B5EF4-FFF2-40B4-BE49-F238E27FC236}">
                <a16:creationId xmlns:a16="http://schemas.microsoft.com/office/drawing/2014/main" id="{58BE8ED2-CD69-448D-A75D-52FE18D63FB8}"/>
              </a:ext>
            </a:extLst>
          </p:cNvPr>
          <p:cNvSpPr txBox="1">
            <a:spLocks/>
          </p:cNvSpPr>
          <p:nvPr/>
        </p:nvSpPr>
        <p:spPr>
          <a:xfrm>
            <a:off x="26486" y="44624"/>
            <a:ext cx="7137802" cy="432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Dette gælder også med påtrykt indgangsspænding v</a:t>
            </a:r>
            <a:r>
              <a:rPr lang="da-DK" sz="2400" i="1" baseline="-25000" dirty="0"/>
              <a:t>in</a:t>
            </a:r>
            <a:r>
              <a:rPr lang="da-DK" sz="2400" i="1" dirty="0"/>
              <a:t>: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88D357E6-AD5B-487A-94A2-652F03770240}"/>
              </a:ext>
            </a:extLst>
          </p:cNvPr>
          <p:cNvCxnSpPr/>
          <p:nvPr/>
        </p:nvCxnSpPr>
        <p:spPr>
          <a:xfrm>
            <a:off x="3624265" y="2924944"/>
            <a:ext cx="0" cy="10801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Undertitel 2">
            <a:extLst>
              <a:ext uri="{FF2B5EF4-FFF2-40B4-BE49-F238E27FC236}">
                <a16:creationId xmlns:a16="http://schemas.microsoft.com/office/drawing/2014/main" id="{0E6247FE-A4C8-4B9A-875A-8F4C7C28BAC1}"/>
              </a:ext>
            </a:extLst>
          </p:cNvPr>
          <p:cNvSpPr txBox="1">
            <a:spLocks/>
          </p:cNvSpPr>
          <p:nvPr/>
        </p:nvSpPr>
        <p:spPr>
          <a:xfrm>
            <a:off x="3131840" y="3068960"/>
            <a:ext cx="648072" cy="59365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400" i="1" dirty="0">
                <a:solidFill>
                  <a:srgbClr val="FF0000"/>
                </a:solidFill>
              </a:rPr>
              <a:t>v</a:t>
            </a:r>
            <a:r>
              <a:rPr lang="da-DK" sz="2400" i="1" baseline="-25000" dirty="0">
                <a:solidFill>
                  <a:srgbClr val="FF0000"/>
                </a:solidFill>
              </a:rPr>
              <a:t>id</a:t>
            </a:r>
            <a:endParaRPr lang="da-DK" sz="2400" b="1" i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568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51F14-78D6-86D2-0845-9E5C482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CBF56482-A551-FC5F-8502-3D80A1179CFE}"/>
              </a:ext>
            </a:extLst>
          </p:cNvPr>
          <p:cNvSpPr txBox="1">
            <a:spLocks/>
          </p:cNvSpPr>
          <p:nvPr/>
        </p:nvSpPr>
        <p:spPr>
          <a:xfrm>
            <a:off x="107504" y="20947"/>
            <a:ext cx="705678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Op </a:t>
            </a:r>
            <a:r>
              <a:rPr lang="da-DK" sz="2400" i="1" dirty="0" err="1"/>
              <a:t>Amps</a:t>
            </a:r>
            <a:r>
              <a:rPr lang="da-DK" sz="2400" i="1" dirty="0"/>
              <a:t> i kaskadekobling fra Sp.4 forsynes med ±15 V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4AB7302-4433-31F1-2713-D0E01F47D8F3}"/>
              </a:ext>
            </a:extLst>
          </p:cNvPr>
          <p:cNvSpPr txBox="1">
            <a:spLocks/>
          </p:cNvSpPr>
          <p:nvPr/>
        </p:nvSpPr>
        <p:spPr>
          <a:xfrm>
            <a:off x="823860" y="764704"/>
            <a:ext cx="7496280" cy="997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Hvad bliver den samlede strøm fra de to forsyninger, når indgangen påtrykkes et positivt signal på v</a:t>
            </a:r>
            <a:r>
              <a:rPr lang="da-DK" sz="2400" i="1" baseline="-25000" dirty="0"/>
              <a:t>s</a:t>
            </a:r>
            <a:r>
              <a:rPr lang="da-DK" sz="2400" i="1" dirty="0"/>
              <a:t> = 10 mV?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FB0AA9EC-96B6-01DF-C12E-C22C37DC32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458" y="2060849"/>
            <a:ext cx="6808030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71965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3686</TotalTime>
  <Words>940</Words>
  <Application>Microsoft Office PowerPoint</Application>
  <PresentationFormat>On-screen Show (4:3)</PresentationFormat>
  <Paragraphs>207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Kontortema</vt:lpstr>
      <vt:lpstr>ELE-plan for i dag</vt:lpstr>
      <vt:lpstr>Teori</vt:lpstr>
      <vt:lpstr>PowerPoint Presentation</vt:lpstr>
      <vt:lpstr>PowerPoint Presentation</vt:lpstr>
      <vt:lpstr>På 1. semester var det således: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Målenøjagtighed</vt:lpstr>
      <vt:lpstr>Fra 2000 X-Series datablad</vt:lpstr>
      <vt:lpstr>Fra 2000 X-Series datablad</vt:lpstr>
      <vt:lpstr>Fra 2000 X-Series datablad</vt:lpstr>
      <vt:lpstr>Fra Agilent U3401 multimeter datablad</vt:lpstr>
      <vt:lpstr>Fra Agilent U3401 multimeter datablad</vt:lpstr>
      <vt:lpstr>PowerPoint Presentation</vt:lpstr>
      <vt:lpstr>Rep.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ELE2</dc:title>
  <dc:creator>Jan Petersen</dc:creator>
  <cp:lastModifiedBy>Jan Petersen</cp:lastModifiedBy>
  <cp:revision>225</cp:revision>
  <dcterms:created xsi:type="dcterms:W3CDTF">2013-01-28T12:22:54Z</dcterms:created>
  <dcterms:modified xsi:type="dcterms:W3CDTF">2026-01-26T09:20:40Z</dcterms:modified>
</cp:coreProperties>
</file>
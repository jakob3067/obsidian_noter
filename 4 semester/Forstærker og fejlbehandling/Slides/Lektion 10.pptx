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738" r:id="rId2"/>
    <p:sldId id="753" r:id="rId3"/>
    <p:sldId id="437" r:id="rId4"/>
    <p:sldId id="754" r:id="rId5"/>
    <p:sldId id="483" r:id="rId6"/>
    <p:sldId id="484" r:id="rId7"/>
    <p:sldId id="485" r:id="rId8"/>
    <p:sldId id="409" r:id="rId9"/>
    <p:sldId id="408" r:id="rId10"/>
    <p:sldId id="739" r:id="rId11"/>
    <p:sldId id="489" r:id="rId12"/>
    <p:sldId id="737" r:id="rId13"/>
    <p:sldId id="445" r:id="rId14"/>
    <p:sldId id="757" r:id="rId15"/>
    <p:sldId id="506" r:id="rId16"/>
    <p:sldId id="478" r:id="rId17"/>
    <p:sldId id="507" r:id="rId18"/>
    <p:sldId id="740" r:id="rId19"/>
    <p:sldId id="513" r:id="rId20"/>
    <p:sldId id="758" r:id="rId21"/>
    <p:sldId id="505" r:id="rId22"/>
    <p:sldId id="479" r:id="rId23"/>
    <p:sldId id="741" r:id="rId24"/>
    <p:sldId id="520" r:id="rId25"/>
    <p:sldId id="423" r:id="rId26"/>
    <p:sldId id="486" r:id="rId27"/>
    <p:sldId id="424" r:id="rId28"/>
    <p:sldId id="470" r:id="rId29"/>
    <p:sldId id="493" r:id="rId30"/>
    <p:sldId id="472" r:id="rId31"/>
    <p:sldId id="747" r:id="rId32"/>
    <p:sldId id="750" r:id="rId33"/>
    <p:sldId id="749" r:id="rId34"/>
    <p:sldId id="751" r:id="rId35"/>
    <p:sldId id="752" r:id="rId36"/>
    <p:sldId id="454" r:id="rId37"/>
    <p:sldId id="455" r:id="rId38"/>
    <p:sldId id="457" r:id="rId39"/>
    <p:sldId id="509" r:id="rId40"/>
    <p:sldId id="517" r:id="rId41"/>
    <p:sldId id="518" r:id="rId42"/>
    <p:sldId id="432" r:id="rId43"/>
    <p:sldId id="464" r:id="rId44"/>
    <p:sldId id="463" r:id="rId45"/>
    <p:sldId id="465" r:id="rId46"/>
    <p:sldId id="467" r:id="rId47"/>
    <p:sldId id="466" r:id="rId48"/>
    <p:sldId id="487" r:id="rId49"/>
    <p:sldId id="512" r:id="rId50"/>
    <p:sldId id="480" r:id="rId51"/>
    <p:sldId id="736" r:id="rId52"/>
    <p:sldId id="755" r:id="rId53"/>
    <p:sldId id="756" r:id="rId54"/>
    <p:sldId id="519" r:id="rId55"/>
    <p:sldId id="500" r:id="rId56"/>
    <p:sldId id="501" r:id="rId57"/>
  </p:sldIdLst>
  <p:sldSz cx="9144000" cy="6858000" type="screen4x3"/>
  <p:notesSz cx="7099300" cy="10234613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0C7DB-039D-4E1B-AA33-DBA4B21C293E}" v="21" dt="2026-03-23T07:14:01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6412" autoAdjust="0"/>
  </p:normalViewPr>
  <p:slideViewPr>
    <p:cSldViewPr>
      <p:cViewPr varScale="1">
        <p:scale>
          <a:sx n="89" d="100"/>
          <a:sy n="89" d="100"/>
        </p:scale>
        <p:origin x="122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øj Lorenzen" userId="bBWxxBQ7lkasMs2MbwWOgVQi6AWwF9tq+T+K2+XYcig=" providerId="None" clId="Web-{74F0C7DB-039D-4E1B-AA33-DBA4B21C293E}"/>
    <pc:docChg chg="delSld modSld">
      <pc:chgData name="Kasper Høj Lorenzen" userId="bBWxxBQ7lkasMs2MbwWOgVQi6AWwF9tq+T+K2+XYcig=" providerId="None" clId="Web-{74F0C7DB-039D-4E1B-AA33-DBA4B21C293E}" dt="2026-03-23T07:14:01.726" v="19" actId="1076"/>
      <pc:docMkLst>
        <pc:docMk/>
      </pc:docMkLst>
      <pc:sldChg chg="addSp modSp">
        <pc:chgData name="Kasper Høj Lorenzen" userId="bBWxxBQ7lkasMs2MbwWOgVQi6AWwF9tq+T+K2+XYcig=" providerId="None" clId="Web-{74F0C7DB-039D-4E1B-AA33-DBA4B21C293E}" dt="2026-03-23T07:13:19.412" v="8" actId="1076"/>
        <pc:sldMkLst>
          <pc:docMk/>
          <pc:sldMk cId="11796016" sldId="507"/>
        </pc:sldMkLst>
        <pc:picChg chg="mod modCrop">
          <ac:chgData name="Kasper Høj Lorenzen" userId="bBWxxBQ7lkasMs2MbwWOgVQi6AWwF9tq+T+K2+XYcig=" providerId="None" clId="Web-{74F0C7DB-039D-4E1B-AA33-DBA4B21C293E}" dt="2026-03-23T07:13:19.412" v="8" actId="1076"/>
          <ac:picMkLst>
            <pc:docMk/>
            <pc:sldMk cId="11796016" sldId="507"/>
            <ac:picMk id="2" creationId="{1A52319B-91D5-4003-A8F1-30E5BFF7E016}"/>
          </ac:picMkLst>
        </pc:picChg>
        <pc:picChg chg="add mod ord">
          <ac:chgData name="Kasper Høj Lorenzen" userId="bBWxxBQ7lkasMs2MbwWOgVQi6AWwF9tq+T+K2+XYcig=" providerId="None" clId="Web-{74F0C7DB-039D-4E1B-AA33-DBA4B21C293E}" dt="2026-03-23T07:12:54.426" v="5"/>
          <ac:picMkLst>
            <pc:docMk/>
            <pc:sldMk cId="11796016" sldId="507"/>
            <ac:picMk id="3" creationId="{6AA0C715-8FEB-446D-9A41-5652EB6340A7}"/>
          </ac:picMkLst>
        </pc:picChg>
      </pc:sldChg>
      <pc:sldChg chg="del">
        <pc:chgData name="Kasper Høj Lorenzen" userId="bBWxxBQ7lkasMs2MbwWOgVQi6AWwF9tq+T+K2+XYcig=" providerId="None" clId="Web-{74F0C7DB-039D-4E1B-AA33-DBA4B21C293E}" dt="2026-03-23T07:06:36.008" v="0"/>
        <pc:sldMkLst>
          <pc:docMk/>
          <pc:sldMk cId="83715882" sldId="515"/>
        </pc:sldMkLst>
      </pc:sldChg>
      <pc:sldChg chg="addSp delSp modSp">
        <pc:chgData name="Kasper Høj Lorenzen" userId="bBWxxBQ7lkasMs2MbwWOgVQi6AWwF9tq+T+K2+XYcig=" providerId="None" clId="Web-{74F0C7DB-039D-4E1B-AA33-DBA4B21C293E}" dt="2026-03-23T07:14:01.726" v="19" actId="1076"/>
        <pc:sldMkLst>
          <pc:docMk/>
          <pc:sldMk cId="2403802304" sldId="740"/>
        </pc:sldMkLst>
        <pc:spChg chg="mod">
          <ac:chgData name="Kasper Høj Lorenzen" userId="bBWxxBQ7lkasMs2MbwWOgVQi6AWwF9tq+T+K2+XYcig=" providerId="None" clId="Web-{74F0C7DB-039D-4E1B-AA33-DBA4B21C293E}" dt="2026-03-23T07:13:57.210" v="18" actId="1076"/>
          <ac:spMkLst>
            <pc:docMk/>
            <pc:sldMk cId="2403802304" sldId="740"/>
            <ac:spMk id="4" creationId="{114D8674-B220-4EF4-605B-E4930B699869}"/>
          </ac:spMkLst>
        </pc:spChg>
        <pc:spChg chg="mod">
          <ac:chgData name="Kasper Høj Lorenzen" userId="bBWxxBQ7lkasMs2MbwWOgVQi6AWwF9tq+T+K2+XYcig=" providerId="None" clId="Web-{74F0C7DB-039D-4E1B-AA33-DBA4B21C293E}" dt="2026-03-23T07:13:52.069" v="17" actId="1076"/>
          <ac:spMkLst>
            <pc:docMk/>
            <pc:sldMk cId="2403802304" sldId="740"/>
            <ac:spMk id="5" creationId="{F09E3E68-4F13-0CEF-B99C-21977B0C120F}"/>
          </ac:spMkLst>
        </pc:spChg>
        <pc:spChg chg="mod">
          <ac:chgData name="Kasper Høj Lorenzen" userId="bBWxxBQ7lkasMs2MbwWOgVQi6AWwF9tq+T+K2+XYcig=" providerId="None" clId="Web-{74F0C7DB-039D-4E1B-AA33-DBA4B21C293E}" dt="2026-03-23T07:14:01.726" v="19" actId="1076"/>
          <ac:spMkLst>
            <pc:docMk/>
            <pc:sldMk cId="2403802304" sldId="740"/>
            <ac:spMk id="6" creationId="{840D6556-8901-7A67-5B2D-5FAEA3B593A3}"/>
          </ac:spMkLst>
        </pc:spChg>
        <pc:picChg chg="del">
          <ac:chgData name="Kasper Høj Lorenzen" userId="bBWxxBQ7lkasMs2MbwWOgVQi6AWwF9tq+T+K2+XYcig=" providerId="None" clId="Web-{74F0C7DB-039D-4E1B-AA33-DBA4B21C293E}" dt="2026-03-23T07:13:26.149" v="9"/>
          <ac:picMkLst>
            <pc:docMk/>
            <pc:sldMk cId="2403802304" sldId="740"/>
            <ac:picMk id="2" creationId="{1A52319B-91D5-4003-A8F1-30E5BFF7E016}"/>
          </ac:picMkLst>
        </pc:picChg>
        <pc:picChg chg="add ord">
          <ac:chgData name="Kasper Høj Lorenzen" userId="bBWxxBQ7lkasMs2MbwWOgVQi6AWwF9tq+T+K2+XYcig=" providerId="None" clId="Web-{74F0C7DB-039D-4E1B-AA33-DBA4B21C293E}" dt="2026-03-23T07:13:31.990" v="12"/>
          <ac:picMkLst>
            <pc:docMk/>
            <pc:sldMk cId="2403802304" sldId="740"/>
            <ac:picMk id="7" creationId="{6A89A22C-0BF9-82DF-8F29-B0B193F97922}"/>
          </ac:picMkLst>
        </pc:picChg>
        <pc:picChg chg="add mod ord">
          <ac:chgData name="Kasper Høj Lorenzen" userId="bBWxxBQ7lkasMs2MbwWOgVQi6AWwF9tq+T+K2+XYcig=" providerId="None" clId="Web-{74F0C7DB-039D-4E1B-AA33-DBA4B21C293E}" dt="2026-03-23T07:13:44.585" v="16" actId="1076"/>
          <ac:picMkLst>
            <pc:docMk/>
            <pc:sldMk cId="2403802304" sldId="740"/>
            <ac:picMk id="9" creationId="{2C01454C-A4A7-95FC-317A-904592ACFE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8E22EA1-B6F2-4814-AC42-8F7C3E4077CB}" type="datetimeFigureOut">
              <a:rPr lang="da-DK" smtClean="0"/>
              <a:t>23-03-2026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E10D978-FBB8-4DAF-B59F-1D9066427F3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37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829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2410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8295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6470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6086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327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BD15B-4E2E-4CD7-9515-94BDCF02CCAC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07BE-6FE6-4791-8641-A2A5CE77B957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856F-3BA9-48B1-A7D9-843F2A3141D7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0B68-F356-40D9-B12D-780A10707AB2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895BB-A11A-4223-86FA-3273380D73CB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4644-B88D-4A4D-9B92-A3A6DCB74574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BA81-0378-400E-9949-468497296517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078C-6F2F-4407-A491-B781B6EEE7E7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7A726-C13B-447B-B7C2-EB485418B452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048E-1FEF-44A2-AC6C-10E76F70E6A7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88038-2C06-47FD-B8AD-7F49A9A57378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EE4D1-1AE6-4104-80D0-AC94AB9B2714}" type="datetime2">
              <a:rPr lang="da-DK" smtClean="0"/>
              <a:t>23.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media/en/technical-documentation/data-sheets/AD620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media/en/technical-documentation/data-sheets/AD620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media/en/technical-documentation/data-sheets/AD620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media/en/technical-documentation/data-sheets/AD620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media/en/technical-documentation/data-sheets/AD620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media/en/technical-documentation/data-sheets/AD620.pdf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168352" cy="476086"/>
          </a:xfrm>
        </p:spPr>
        <p:txBody>
          <a:bodyPr>
            <a:noAutofit/>
          </a:bodyPr>
          <a:lstStyle/>
          <a:p>
            <a:pPr algn="l"/>
            <a:r>
              <a:rPr lang="da-DK" sz="2800" b="1" i="1" dirty="0"/>
              <a:t>ELE-plan for </a:t>
            </a:r>
            <a:r>
              <a:rPr lang="da-DK" sz="2800" b="1" i="1"/>
              <a:t>i dag:</a:t>
            </a:r>
            <a:endParaRPr lang="da-DK" sz="2800" b="1" i="1" dirty="0"/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8172400" y="6185068"/>
            <a:ext cx="683016" cy="268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Pause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95537" y="4188357"/>
            <a:ext cx="4320480" cy="1112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Instrumenteringsforstærker</a:t>
            </a:r>
            <a:r>
              <a:rPr lang="da-DK" sz="2400" i="1" dirty="0"/>
              <a:t>:</a:t>
            </a:r>
          </a:p>
          <a:p>
            <a:pPr algn="l">
              <a:tabLst>
                <a:tab pos="355600" algn="l"/>
              </a:tabLst>
            </a:pPr>
            <a:r>
              <a:rPr lang="da-DK" sz="2400" i="1" dirty="0"/>
              <a:t>	- Princip</a:t>
            </a:r>
          </a:p>
          <a:p>
            <a:pPr algn="l">
              <a:tabLst>
                <a:tab pos="355600" algn="l"/>
              </a:tabLst>
            </a:pPr>
            <a:r>
              <a:rPr lang="da-DK" sz="2400" i="1" dirty="0"/>
              <a:t>	- Et nærmere kig på AD620</a:t>
            </a:r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8172400" y="6358474"/>
            <a:ext cx="683016" cy="268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Pause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395537" y="5805264"/>
            <a:ext cx="676543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F1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9F76F9E-BC9E-258A-3C52-700F55F04FA3}"/>
              </a:ext>
            </a:extLst>
          </p:cNvPr>
          <p:cNvSpPr txBox="1">
            <a:spLocks/>
          </p:cNvSpPr>
          <p:nvPr/>
        </p:nvSpPr>
        <p:spPr>
          <a:xfrm>
            <a:off x="395537" y="660328"/>
            <a:ext cx="6120680" cy="185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Differentiel</a:t>
            </a:r>
            <a:r>
              <a:rPr lang="da-DK" sz="2400" i="1" dirty="0"/>
              <a:t> måling/transmission - alternativ?</a:t>
            </a:r>
            <a:br>
              <a:rPr lang="da-DK" sz="2400" i="1" dirty="0"/>
            </a:br>
            <a:r>
              <a:rPr lang="da-DK" sz="2400" b="1" i="1" dirty="0"/>
              <a:t>Fysisk udlægning</a:t>
            </a:r>
            <a:r>
              <a:rPr lang="da-DK" sz="2400" i="1" dirty="0"/>
              <a:t> af elektriske kredsløb</a:t>
            </a:r>
          </a:p>
          <a:p>
            <a:pPr algn="l"/>
            <a:r>
              <a:rPr lang="da-DK" sz="2400" b="1" i="1" dirty="0"/>
              <a:t>Eksempel</a:t>
            </a:r>
            <a:r>
              <a:rPr lang="da-DK" sz="2400" i="1" dirty="0"/>
              <a:t> hvor differentiel måling er krævet</a:t>
            </a:r>
            <a:br>
              <a:rPr lang="da-DK" sz="2400" i="1" dirty="0"/>
            </a:br>
            <a:r>
              <a:rPr lang="da-DK" sz="2400" b="1" i="1" dirty="0"/>
              <a:t>Balanceret</a:t>
            </a:r>
            <a:r>
              <a:rPr lang="da-DK" sz="2400" i="1" dirty="0"/>
              <a:t> transmission</a:t>
            </a:r>
          </a:p>
          <a:p>
            <a:pPr algn="l"/>
            <a:r>
              <a:rPr lang="da-DK" sz="2400" b="1" i="1" dirty="0"/>
              <a:t>CMRR  </a:t>
            </a:r>
            <a:r>
              <a:rPr lang="da-DK" sz="2400" i="1" dirty="0"/>
              <a:t>- betydning for de to grundkoblinger</a:t>
            </a:r>
            <a:endParaRPr lang="da-DK" sz="2400" b="1" i="1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DD7A47F-2116-966F-3C87-FE51F2A75046}"/>
              </a:ext>
            </a:extLst>
          </p:cNvPr>
          <p:cNvSpPr txBox="1">
            <a:spLocks/>
          </p:cNvSpPr>
          <p:nvPr/>
        </p:nvSpPr>
        <p:spPr>
          <a:xfrm>
            <a:off x="395537" y="3108237"/>
            <a:ext cx="1584176" cy="37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Subtraktor</a:t>
            </a:r>
            <a:endParaRPr lang="da-DK" sz="2400" i="1" dirty="0"/>
          </a:p>
        </p:txBody>
      </p:sp>
    </p:spTree>
    <p:extLst>
      <p:ext uri="{BB962C8B-B14F-4D97-AF65-F5344CB8AC3E}">
        <p14:creationId xmlns:p14="http://schemas.microsoft.com/office/powerpoint/2010/main" val="163630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6BE2-AB52-1FF7-2CCC-2CBA6C68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B788A-9A82-F4DB-B374-031F678F9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44624"/>
            <a:ext cx="3168352" cy="476086"/>
          </a:xfrm>
        </p:spPr>
        <p:txBody>
          <a:bodyPr>
            <a:noAutofit/>
          </a:bodyPr>
          <a:lstStyle/>
          <a:p>
            <a:pPr algn="l"/>
            <a:r>
              <a:rPr lang="da-DK" sz="2800" b="1" i="1" dirty="0"/>
              <a:t>ELE-plan for </a:t>
            </a:r>
            <a:r>
              <a:rPr lang="da-DK" sz="2800" b="1" i="1"/>
              <a:t>i dag:</a:t>
            </a:r>
            <a:endParaRPr lang="da-DK" sz="2800" b="1" i="1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6F4AD08-DEB0-94FE-741D-BCC6333907ED}"/>
              </a:ext>
            </a:extLst>
          </p:cNvPr>
          <p:cNvSpPr txBox="1">
            <a:spLocks/>
          </p:cNvSpPr>
          <p:nvPr/>
        </p:nvSpPr>
        <p:spPr>
          <a:xfrm>
            <a:off x="395537" y="4188357"/>
            <a:ext cx="4320480" cy="1112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Instrumenteringsforstærker</a:t>
            </a:r>
            <a:r>
              <a:rPr lang="da-DK" sz="2400" i="1" dirty="0"/>
              <a:t>:</a:t>
            </a:r>
          </a:p>
          <a:p>
            <a:pPr algn="l">
              <a:tabLst>
                <a:tab pos="355600" algn="l"/>
              </a:tabLst>
            </a:pPr>
            <a:r>
              <a:rPr lang="da-DK" sz="2400" i="1" dirty="0"/>
              <a:t>	- Princip</a:t>
            </a:r>
          </a:p>
          <a:p>
            <a:pPr algn="l">
              <a:tabLst>
                <a:tab pos="355600" algn="l"/>
              </a:tabLst>
            </a:pPr>
            <a:r>
              <a:rPr lang="da-DK" sz="2400" i="1" dirty="0"/>
              <a:t>	- Et nærmere kig på AD620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9402F887-9039-0C22-1250-4E2712335671}"/>
              </a:ext>
            </a:extLst>
          </p:cNvPr>
          <p:cNvSpPr txBox="1">
            <a:spLocks/>
          </p:cNvSpPr>
          <p:nvPr/>
        </p:nvSpPr>
        <p:spPr>
          <a:xfrm>
            <a:off x="395537" y="5805264"/>
            <a:ext cx="676543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F1</a:t>
            </a:r>
          </a:p>
        </p:txBody>
      </p: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DC757DDB-2E8B-0209-B13C-6DA4BCD1E1C0}"/>
              </a:ext>
            </a:extLst>
          </p:cNvPr>
          <p:cNvGrpSpPr/>
          <p:nvPr/>
        </p:nvGrpSpPr>
        <p:grpSpPr>
          <a:xfrm>
            <a:off x="3851920" y="3072233"/>
            <a:ext cx="1825207" cy="720080"/>
            <a:chOff x="6610216" y="1484784"/>
            <a:chExt cx="1922224" cy="720080"/>
          </a:xfrm>
        </p:grpSpPr>
        <p:sp>
          <p:nvSpPr>
            <p:cNvPr id="14" name="Sky 13">
              <a:extLst>
                <a:ext uri="{FF2B5EF4-FFF2-40B4-BE49-F238E27FC236}">
                  <a16:creationId xmlns:a16="http://schemas.microsoft.com/office/drawing/2014/main" id="{AB3BD3D3-4F1A-1D29-048E-8D03FB786D1F}"/>
                </a:ext>
              </a:extLst>
            </p:cNvPr>
            <p:cNvSpPr/>
            <p:nvPr/>
          </p:nvSpPr>
          <p:spPr>
            <a:xfrm>
              <a:off x="6610216" y="1484784"/>
              <a:ext cx="1922224" cy="720080"/>
            </a:xfrm>
            <a:prstGeom prst="cloud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F8D4DBDD-D816-6979-D3F1-6F67891E35F4}"/>
                </a:ext>
              </a:extLst>
            </p:cNvPr>
            <p:cNvSpPr txBox="1">
              <a:spLocks/>
            </p:cNvSpPr>
            <p:nvPr/>
          </p:nvSpPr>
          <p:spPr>
            <a:xfrm>
              <a:off x="6697440" y="1666081"/>
              <a:ext cx="1581157" cy="2911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200" i="1" dirty="0"/>
                <a:t>Differensforstærkere</a:t>
              </a:r>
              <a:endParaRPr lang="da-DK" sz="1200" i="1" baseline="-25000" dirty="0"/>
            </a:p>
          </p:txBody>
        </p:sp>
      </p:grp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DF03BEA7-7B92-1232-292A-728E2ABA9F1F}"/>
              </a:ext>
            </a:extLst>
          </p:cNvPr>
          <p:cNvCxnSpPr>
            <a:cxnSpLocks/>
          </p:cNvCxnSpPr>
          <p:nvPr/>
        </p:nvCxnSpPr>
        <p:spPr>
          <a:xfrm flipH="1">
            <a:off x="3930011" y="3812485"/>
            <a:ext cx="281949" cy="466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886456ED-07D2-7D53-DC3F-CA5FC154CD5D}"/>
              </a:ext>
            </a:extLst>
          </p:cNvPr>
          <p:cNvCxnSpPr>
            <a:cxnSpLocks/>
          </p:cNvCxnSpPr>
          <p:nvPr/>
        </p:nvCxnSpPr>
        <p:spPr>
          <a:xfrm flipH="1" flipV="1">
            <a:off x="2123728" y="3298046"/>
            <a:ext cx="1656184" cy="26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98700E91-7172-C63B-C1BF-7328FA910C22}"/>
              </a:ext>
            </a:extLst>
          </p:cNvPr>
          <p:cNvSpPr txBox="1">
            <a:spLocks/>
          </p:cNvSpPr>
          <p:nvPr/>
        </p:nvSpPr>
        <p:spPr>
          <a:xfrm>
            <a:off x="395537" y="660328"/>
            <a:ext cx="6120680" cy="185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Differentiel</a:t>
            </a:r>
            <a:r>
              <a:rPr lang="da-DK" sz="2400" i="1" dirty="0"/>
              <a:t> måling/transmission - alternativ?</a:t>
            </a:r>
            <a:br>
              <a:rPr lang="da-DK" sz="2400" i="1" dirty="0"/>
            </a:br>
            <a:r>
              <a:rPr lang="da-DK" sz="2400" b="1" i="1" dirty="0"/>
              <a:t>Fysisk udlægning</a:t>
            </a:r>
            <a:r>
              <a:rPr lang="da-DK" sz="2400" i="1" dirty="0"/>
              <a:t> af elektriske kredsløb</a:t>
            </a:r>
          </a:p>
          <a:p>
            <a:pPr algn="l"/>
            <a:r>
              <a:rPr lang="da-DK" sz="2400" b="1" i="1" dirty="0"/>
              <a:t>Eksempel</a:t>
            </a:r>
            <a:r>
              <a:rPr lang="da-DK" sz="2400" i="1" dirty="0"/>
              <a:t> hvor differentiel måling er krævet</a:t>
            </a:r>
            <a:br>
              <a:rPr lang="da-DK" sz="2400" i="1" dirty="0"/>
            </a:br>
            <a:r>
              <a:rPr lang="da-DK" sz="2400" b="1" i="1" dirty="0"/>
              <a:t>Balanceret</a:t>
            </a:r>
            <a:r>
              <a:rPr lang="da-DK" sz="2400" i="1" dirty="0"/>
              <a:t> transmission</a:t>
            </a:r>
          </a:p>
          <a:p>
            <a:pPr algn="l"/>
            <a:r>
              <a:rPr lang="da-DK" sz="2400" b="1" i="1" dirty="0"/>
              <a:t>CMRR  </a:t>
            </a:r>
            <a:r>
              <a:rPr lang="da-DK" sz="2400" i="1" dirty="0"/>
              <a:t>- betydning for de to grundkoblinger</a:t>
            </a:r>
            <a:endParaRPr lang="da-DK" sz="2400" b="1" i="1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2E3E282-F88A-2E67-F9F4-3C99CBE1342E}"/>
              </a:ext>
            </a:extLst>
          </p:cNvPr>
          <p:cNvSpPr txBox="1">
            <a:spLocks/>
          </p:cNvSpPr>
          <p:nvPr/>
        </p:nvSpPr>
        <p:spPr>
          <a:xfrm>
            <a:off x="395537" y="3108237"/>
            <a:ext cx="1584176" cy="37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Subtraktor</a:t>
            </a:r>
            <a:endParaRPr lang="da-DK" sz="2400" i="1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F687BCE-7174-BC3F-EF0F-2166A853EB1E}"/>
              </a:ext>
            </a:extLst>
          </p:cNvPr>
          <p:cNvSpPr txBox="1">
            <a:spLocks/>
          </p:cNvSpPr>
          <p:nvPr/>
        </p:nvSpPr>
        <p:spPr>
          <a:xfrm>
            <a:off x="8172400" y="6185068"/>
            <a:ext cx="683016" cy="268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Pause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C5A096C-FE74-1BAD-F985-C92E3FAFCD66}"/>
              </a:ext>
            </a:extLst>
          </p:cNvPr>
          <p:cNvSpPr txBox="1">
            <a:spLocks/>
          </p:cNvSpPr>
          <p:nvPr/>
        </p:nvSpPr>
        <p:spPr>
          <a:xfrm>
            <a:off x="8172400" y="6358474"/>
            <a:ext cx="683016" cy="268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56607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2016224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Repetition</a:t>
            </a:r>
          </a:p>
        </p:txBody>
      </p: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9A9F442E-C409-0E45-F452-9BBA51474276}"/>
              </a:ext>
            </a:extLst>
          </p:cNvPr>
          <p:cNvGrpSpPr/>
          <p:nvPr/>
        </p:nvGrpSpPr>
        <p:grpSpPr>
          <a:xfrm>
            <a:off x="467544" y="1268760"/>
            <a:ext cx="5220580" cy="2593881"/>
            <a:chOff x="611052" y="1234232"/>
            <a:chExt cx="5220580" cy="2593881"/>
          </a:xfrm>
        </p:grpSpPr>
        <p:pic>
          <p:nvPicPr>
            <p:cNvPr id="5" name="Billede 4">
              <a:extLst>
                <a:ext uri="{FF2B5EF4-FFF2-40B4-BE49-F238E27FC236}">
                  <a16:creationId xmlns:a16="http://schemas.microsoft.com/office/drawing/2014/main" id="{6E345AD5-1624-F1DA-C47A-04EC476FB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27584" y="1268760"/>
              <a:ext cx="5004048" cy="2559353"/>
            </a:xfrm>
            <a:prstGeom prst="rect">
              <a:avLst/>
            </a:prstGeom>
          </p:spPr>
        </p:pic>
        <p:sp>
          <p:nvSpPr>
            <p:cNvPr id="6" name="Titel 1">
              <a:extLst>
                <a:ext uri="{FF2B5EF4-FFF2-40B4-BE49-F238E27FC236}">
                  <a16:creationId xmlns:a16="http://schemas.microsoft.com/office/drawing/2014/main" id="{30552B43-2BBC-8A37-806B-42CD97B6B1C0}"/>
                </a:ext>
              </a:extLst>
            </p:cNvPr>
            <p:cNvSpPr txBox="1">
              <a:spLocks/>
            </p:cNvSpPr>
            <p:nvPr/>
          </p:nvSpPr>
          <p:spPr>
            <a:xfrm>
              <a:off x="5197584" y="2334310"/>
              <a:ext cx="432556" cy="32822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/>
                <a:t>v</a:t>
              </a:r>
              <a:r>
                <a:rPr lang="da-DK" sz="2000" i="1" baseline="-25000" dirty="0" err="1"/>
                <a:t>o</a:t>
              </a:r>
              <a:endParaRPr lang="da-DK" sz="2000" i="1" baseline="-25000" dirty="0"/>
            </a:p>
          </p:txBody>
        </p:sp>
        <p:sp>
          <p:nvSpPr>
            <p:cNvPr id="9" name="Titel 1">
              <a:extLst>
                <a:ext uri="{FF2B5EF4-FFF2-40B4-BE49-F238E27FC236}">
                  <a16:creationId xmlns:a16="http://schemas.microsoft.com/office/drawing/2014/main" id="{00C2AD16-34A1-605A-E88D-86CBAC7B5062}"/>
                </a:ext>
              </a:extLst>
            </p:cNvPr>
            <p:cNvSpPr txBox="1">
              <a:spLocks/>
            </p:cNvSpPr>
            <p:nvPr/>
          </p:nvSpPr>
          <p:spPr>
            <a:xfrm>
              <a:off x="611052" y="2420888"/>
              <a:ext cx="432556" cy="32822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/>
                <a:t>I</a:t>
              </a:r>
              <a:r>
                <a:rPr lang="da-DK" sz="2000" i="1" baseline="-25000" dirty="0" err="1"/>
                <a:t>in</a:t>
              </a:r>
              <a:endParaRPr lang="da-DK" sz="2000" i="1" baseline="-25000" dirty="0"/>
            </a:p>
          </p:txBody>
        </p: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6AF64508-0864-B3C3-5E58-1AAE1697ADD1}"/>
                </a:ext>
              </a:extLst>
            </p:cNvPr>
            <p:cNvSpPr txBox="1">
              <a:spLocks/>
            </p:cNvSpPr>
            <p:nvPr/>
          </p:nvSpPr>
          <p:spPr>
            <a:xfrm>
              <a:off x="1803963" y="2413392"/>
              <a:ext cx="432556" cy="32822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R</a:t>
              </a:r>
              <a:r>
                <a:rPr lang="da-DK" sz="2000" i="1" baseline="-25000" dirty="0"/>
                <a:t>1</a:t>
              </a:r>
            </a:p>
          </p:txBody>
        </p:sp>
        <p:sp>
          <p:nvSpPr>
            <p:cNvPr id="11" name="Titel 1">
              <a:extLst>
                <a:ext uri="{FF2B5EF4-FFF2-40B4-BE49-F238E27FC236}">
                  <a16:creationId xmlns:a16="http://schemas.microsoft.com/office/drawing/2014/main" id="{D583D992-C506-3349-FE9D-E0268A75B12D}"/>
                </a:ext>
              </a:extLst>
            </p:cNvPr>
            <p:cNvSpPr txBox="1">
              <a:spLocks/>
            </p:cNvSpPr>
            <p:nvPr/>
          </p:nvSpPr>
          <p:spPr>
            <a:xfrm>
              <a:off x="2711036" y="1234232"/>
              <a:ext cx="432556" cy="32822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R</a:t>
              </a:r>
              <a:r>
                <a:rPr lang="da-DK" sz="2000" i="1" baseline="-25000" dirty="0"/>
                <a:t>2</a:t>
              </a:r>
            </a:p>
          </p:txBody>
        </p:sp>
        <p:sp>
          <p:nvSpPr>
            <p:cNvPr id="12" name="Titel 1">
              <a:extLst>
                <a:ext uri="{FF2B5EF4-FFF2-40B4-BE49-F238E27FC236}">
                  <a16:creationId xmlns:a16="http://schemas.microsoft.com/office/drawing/2014/main" id="{12AA9DE6-ACCE-6E99-2479-9DCC34D61FB6}"/>
                </a:ext>
              </a:extLst>
            </p:cNvPr>
            <p:cNvSpPr txBox="1">
              <a:spLocks/>
            </p:cNvSpPr>
            <p:nvPr/>
          </p:nvSpPr>
          <p:spPr>
            <a:xfrm>
              <a:off x="2741475" y="2526340"/>
              <a:ext cx="568188" cy="32822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/>
                <a:t>V</a:t>
              </a:r>
              <a:r>
                <a:rPr lang="da-DK" sz="2000" i="1" baseline="-25000" dirty="0" err="1"/>
                <a:t>ref</a:t>
              </a:r>
              <a:endParaRPr lang="da-DK" sz="2000" i="1" baseline="-25000" dirty="0"/>
            </a:p>
          </p:txBody>
        </p:sp>
      </p:grp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16A06A81-8628-966C-E8CF-FDFF9F7E39BA}"/>
              </a:ext>
            </a:extLst>
          </p:cNvPr>
          <p:cNvGrpSpPr/>
          <p:nvPr/>
        </p:nvGrpSpPr>
        <p:grpSpPr>
          <a:xfrm>
            <a:off x="6568363" y="1600532"/>
            <a:ext cx="1703625" cy="1252404"/>
            <a:chOff x="6684799" y="1151553"/>
            <a:chExt cx="1703625" cy="1252404"/>
          </a:xfrm>
        </p:grpSpPr>
        <p:sp>
          <p:nvSpPr>
            <p:cNvPr id="15" name="Undertitel 2">
              <a:extLst>
                <a:ext uri="{FF2B5EF4-FFF2-40B4-BE49-F238E27FC236}">
                  <a16:creationId xmlns:a16="http://schemas.microsoft.com/office/drawing/2014/main" id="{20DDD465-C3D2-E08D-285F-BCEB953AD462}"/>
                </a:ext>
              </a:extLst>
            </p:cNvPr>
            <p:cNvSpPr txBox="1">
              <a:spLocks/>
            </p:cNvSpPr>
            <p:nvPr/>
          </p:nvSpPr>
          <p:spPr>
            <a:xfrm>
              <a:off x="6684799" y="1151553"/>
              <a:ext cx="1703625" cy="416576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/>
                <a:t>R</a:t>
              </a:r>
              <a:r>
                <a:rPr lang="da-DK" sz="2000" i="1" baseline="-25000" dirty="0"/>
                <a:t>1</a:t>
              </a:r>
              <a:r>
                <a:rPr lang="da-DK" sz="2000" i="1" dirty="0"/>
                <a:t> = 1 kΩ 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6" name="Undertitel 2">
              <a:extLst>
                <a:ext uri="{FF2B5EF4-FFF2-40B4-BE49-F238E27FC236}">
                  <a16:creationId xmlns:a16="http://schemas.microsoft.com/office/drawing/2014/main" id="{02A83360-A199-F6DD-A993-D1C4B603AFD2}"/>
                </a:ext>
              </a:extLst>
            </p:cNvPr>
            <p:cNvSpPr txBox="1">
              <a:spLocks/>
            </p:cNvSpPr>
            <p:nvPr/>
          </p:nvSpPr>
          <p:spPr>
            <a:xfrm>
              <a:off x="6684799" y="1597077"/>
              <a:ext cx="1703625" cy="388966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/>
                <a:t>R</a:t>
              </a:r>
              <a:r>
                <a:rPr lang="da-DK" sz="2000" i="1" baseline="-25000" dirty="0"/>
                <a:t>2</a:t>
              </a:r>
              <a:r>
                <a:rPr lang="da-DK" sz="2000" i="1" dirty="0"/>
                <a:t> = 10 kΩ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7" name="Undertitel 2">
              <a:extLst>
                <a:ext uri="{FF2B5EF4-FFF2-40B4-BE49-F238E27FC236}">
                  <a16:creationId xmlns:a16="http://schemas.microsoft.com/office/drawing/2014/main" id="{3A1CADCD-9BCF-E39D-EB67-A16527284E49}"/>
                </a:ext>
              </a:extLst>
            </p:cNvPr>
            <p:cNvSpPr txBox="1">
              <a:spLocks/>
            </p:cNvSpPr>
            <p:nvPr/>
          </p:nvSpPr>
          <p:spPr>
            <a:xfrm>
              <a:off x="6684799" y="2014991"/>
              <a:ext cx="1703625" cy="388966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 err="1"/>
                <a:t>V</a:t>
              </a:r>
              <a:r>
                <a:rPr lang="da-DK" sz="2000" i="1" baseline="-25000" dirty="0" err="1"/>
                <a:t>ref</a:t>
              </a:r>
              <a:r>
                <a:rPr lang="da-DK" sz="2000" i="1" dirty="0"/>
                <a:t> = 10 V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Titel 1">
            <a:extLst>
              <a:ext uri="{FF2B5EF4-FFF2-40B4-BE49-F238E27FC236}">
                <a16:creationId xmlns:a16="http://schemas.microsoft.com/office/drawing/2014/main" id="{2A1A13B1-88EC-F79A-F38D-F202D20B062A}"/>
              </a:ext>
            </a:extLst>
          </p:cNvPr>
          <p:cNvSpPr txBox="1">
            <a:spLocks/>
          </p:cNvSpPr>
          <p:nvPr/>
        </p:nvSpPr>
        <p:spPr>
          <a:xfrm>
            <a:off x="755577" y="4351771"/>
            <a:ext cx="460851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Operationsforstærkeren kan regnes ideel.</a:t>
            </a:r>
            <a:endParaRPr lang="da-DK" sz="2000" b="1" i="1" baseline="-25000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6B4D6907-B362-F41E-A6F8-5C3E02C77F8C}"/>
              </a:ext>
            </a:extLst>
          </p:cNvPr>
          <p:cNvSpPr txBox="1">
            <a:spLocks/>
          </p:cNvSpPr>
          <p:nvPr/>
        </p:nvSpPr>
        <p:spPr>
          <a:xfrm>
            <a:off x="755576" y="4984130"/>
            <a:ext cx="7632848" cy="4250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Beregn tærskelstrømmen og skitsér overføringsfunktionen </a:t>
            </a:r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= f(</a:t>
            </a:r>
            <a:r>
              <a:rPr lang="da-DK" sz="2000" i="1" dirty="0" err="1"/>
              <a:t>I</a:t>
            </a:r>
            <a:r>
              <a:rPr lang="da-DK" sz="2000" i="1" baseline="-25000" dirty="0" err="1"/>
              <a:t>in</a:t>
            </a:r>
            <a:r>
              <a:rPr lang="da-DK" sz="20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101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39647-2EEF-243B-9E63-A0E9B7A3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07EAB1B-CCF0-407F-8FF3-7F7FEF5A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8229600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Hvad er </a:t>
            </a:r>
            <a:r>
              <a:rPr lang="da-DK" sz="2800" b="1" i="1" dirty="0"/>
              <a:t>fordelen</a:t>
            </a:r>
            <a:r>
              <a:rPr lang="da-DK" sz="2800" i="1" dirty="0"/>
              <a:t> ved at måle </a:t>
            </a:r>
            <a:r>
              <a:rPr lang="da-DK" sz="2800" b="1" i="1" dirty="0"/>
              <a:t>differentielt</a:t>
            </a:r>
            <a:r>
              <a:rPr lang="da-DK" sz="2800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3023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8229600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Hvad er </a:t>
            </a:r>
            <a:r>
              <a:rPr lang="da-DK" sz="2800" b="1" i="1" dirty="0"/>
              <a:t>fordelen</a:t>
            </a:r>
            <a:r>
              <a:rPr lang="da-DK" sz="2800" i="1" dirty="0"/>
              <a:t> ved at måle </a:t>
            </a:r>
            <a:r>
              <a:rPr lang="da-DK" sz="2800" b="1" i="1" dirty="0"/>
              <a:t>differentielt</a:t>
            </a:r>
            <a:r>
              <a:rPr lang="da-DK" sz="2800" i="1" dirty="0"/>
              <a:t>?</a:t>
            </a:r>
          </a:p>
        </p:txBody>
      </p:sp>
      <p:sp>
        <p:nvSpPr>
          <p:cNvPr id="3" name="Titel 1"/>
          <p:cNvSpPr txBox="1">
            <a:spLocks/>
          </p:cNvSpPr>
          <p:nvPr/>
        </p:nvSpPr>
        <p:spPr>
          <a:xfrm>
            <a:off x="2335758" y="1844824"/>
            <a:ext cx="4451798" cy="403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Undertrykke støj - hvis man kan!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446856" y="5373216"/>
            <a:ext cx="8229600" cy="5517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Nogen gange er man tvunget til det!</a:t>
            </a:r>
          </a:p>
        </p:txBody>
      </p:sp>
    </p:spTree>
    <p:extLst>
      <p:ext uri="{BB962C8B-B14F-4D97-AF65-F5344CB8AC3E}">
        <p14:creationId xmlns:p14="http://schemas.microsoft.com/office/powerpoint/2010/main" val="2829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8229600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Hvad er </a:t>
            </a:r>
            <a:r>
              <a:rPr lang="da-DK" sz="2800" b="1" i="1" dirty="0"/>
              <a:t>alternativet</a:t>
            </a:r>
            <a:r>
              <a:rPr lang="da-DK" sz="2800" i="1" dirty="0"/>
              <a:t> til differentiel måling?</a:t>
            </a:r>
          </a:p>
        </p:txBody>
      </p:sp>
    </p:spTree>
    <p:extLst>
      <p:ext uri="{BB962C8B-B14F-4D97-AF65-F5344CB8AC3E}">
        <p14:creationId xmlns:p14="http://schemas.microsoft.com/office/powerpoint/2010/main" val="241329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8229600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Hvad er </a:t>
            </a:r>
            <a:r>
              <a:rPr lang="da-DK" sz="2800" b="1" i="1" dirty="0"/>
              <a:t>alternativet</a:t>
            </a:r>
            <a:r>
              <a:rPr lang="da-DK" sz="2800" i="1" dirty="0"/>
              <a:t> til differentiel måling?</a:t>
            </a:r>
          </a:p>
        </p:txBody>
      </p:sp>
      <p:sp>
        <p:nvSpPr>
          <p:cNvPr id="3" name="Titel 1"/>
          <p:cNvSpPr txBox="1">
            <a:spLocks/>
          </p:cNvSpPr>
          <p:nvPr/>
        </p:nvSpPr>
        <p:spPr>
          <a:xfrm>
            <a:off x="35496" y="980728"/>
            <a:ext cx="3662064" cy="403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Måling i forhold til </a:t>
            </a:r>
            <a:r>
              <a:rPr lang="da-DK" sz="2400" b="1" i="1" dirty="0"/>
              <a:t>stel:</a:t>
            </a:r>
            <a:endParaRPr lang="da-DK" sz="2400" i="1" dirty="0"/>
          </a:p>
        </p:txBody>
      </p:sp>
      <p:grpSp>
        <p:nvGrpSpPr>
          <p:cNvPr id="4" name="Gruppe 3"/>
          <p:cNvGrpSpPr/>
          <p:nvPr/>
        </p:nvGrpSpPr>
        <p:grpSpPr>
          <a:xfrm>
            <a:off x="611560" y="2492896"/>
            <a:ext cx="4032448" cy="2664296"/>
            <a:chOff x="611560" y="1484784"/>
            <a:chExt cx="4032448" cy="2664296"/>
          </a:xfrm>
        </p:grpSpPr>
        <p:grpSp>
          <p:nvGrpSpPr>
            <p:cNvPr id="5" name="Gruppe 4"/>
            <p:cNvGrpSpPr/>
            <p:nvPr/>
          </p:nvGrpSpPr>
          <p:grpSpPr>
            <a:xfrm>
              <a:off x="611560" y="1484784"/>
              <a:ext cx="4032448" cy="1884837"/>
              <a:chOff x="1043608" y="1484784"/>
              <a:chExt cx="4032448" cy="1884837"/>
            </a:xfrm>
          </p:grpSpPr>
          <p:pic>
            <p:nvPicPr>
              <p:cNvPr id="7" name="Billede 6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189"/>
              <a:stretch/>
            </p:blipFill>
            <p:spPr>
              <a:xfrm>
                <a:off x="1403648" y="1484784"/>
                <a:ext cx="2664296" cy="1304065"/>
              </a:xfrm>
              <a:prstGeom prst="rect">
                <a:avLst/>
              </a:prstGeom>
            </p:spPr>
          </p:pic>
          <p:sp>
            <p:nvSpPr>
              <p:cNvPr id="8" name="Titel 1"/>
              <p:cNvSpPr txBox="1">
                <a:spLocks/>
              </p:cNvSpPr>
              <p:nvPr/>
            </p:nvSpPr>
            <p:spPr>
              <a:xfrm>
                <a:off x="1043608" y="1955045"/>
                <a:ext cx="432048" cy="3282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in</a:t>
                </a:r>
              </a:p>
            </p:txBody>
          </p:sp>
          <p:cxnSp>
            <p:nvCxnSpPr>
              <p:cNvPr id="9" name="Lige pilforbindelse 8"/>
              <p:cNvCxnSpPr/>
              <p:nvPr/>
            </p:nvCxnSpPr>
            <p:spPr>
              <a:xfrm flipV="1">
                <a:off x="1475656" y="1891489"/>
                <a:ext cx="0" cy="5157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uppe 9"/>
              <p:cNvGrpSpPr/>
              <p:nvPr/>
            </p:nvGrpSpPr>
            <p:grpSpPr>
              <a:xfrm>
                <a:off x="1345926" y="3021487"/>
                <a:ext cx="2504096" cy="348134"/>
                <a:chOff x="5164248" y="3208214"/>
                <a:chExt cx="2504096" cy="348134"/>
              </a:xfrm>
            </p:grpSpPr>
            <p:cxnSp>
              <p:nvCxnSpPr>
                <p:cNvPr id="14" name="Lige forbindelse 13"/>
                <p:cNvCxnSpPr/>
                <p:nvPr/>
              </p:nvCxnSpPr>
              <p:spPr>
                <a:xfrm>
                  <a:off x="5220072" y="3212976"/>
                  <a:ext cx="244827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Lige forbindelse 14"/>
                <p:cNvCxnSpPr/>
                <p:nvPr/>
              </p:nvCxnSpPr>
              <p:spPr>
                <a:xfrm flipV="1">
                  <a:off x="5229596" y="3208214"/>
                  <a:ext cx="0" cy="2880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Lige forbindelse 15"/>
                <p:cNvCxnSpPr/>
                <p:nvPr/>
              </p:nvCxnSpPr>
              <p:spPr>
                <a:xfrm flipV="1">
                  <a:off x="5164248" y="3425652"/>
                  <a:ext cx="130696" cy="1306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itel 1"/>
              <p:cNvSpPr txBox="1">
                <a:spLocks/>
              </p:cNvSpPr>
              <p:nvPr/>
            </p:nvSpPr>
            <p:spPr>
              <a:xfrm>
                <a:off x="3851920" y="2383745"/>
                <a:ext cx="1224136" cy="3282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 err="1"/>
                  <a:t>v</a:t>
                </a:r>
                <a:r>
                  <a:rPr lang="da-DK" sz="2000" i="1" baseline="-25000" dirty="0" err="1"/>
                  <a:t>o</a:t>
                </a:r>
                <a:r>
                  <a:rPr lang="da-DK" sz="2000" i="1" dirty="0"/>
                  <a:t> = </a:t>
                </a:r>
                <a:r>
                  <a:rPr lang="da-DK" sz="2000" i="1" dirty="0" err="1"/>
                  <a:t>A</a:t>
                </a:r>
                <a:r>
                  <a:rPr lang="da-DK" sz="2000" i="1" baseline="-25000" dirty="0" err="1"/>
                  <a:t>v</a:t>
                </a:r>
                <a:r>
                  <a:rPr lang="da-DK" sz="2000" i="1" dirty="0" err="1"/>
                  <a:t>∙v</a:t>
                </a:r>
                <a:r>
                  <a:rPr lang="da-DK" sz="2000" i="1" baseline="-25000" dirty="0" err="1"/>
                  <a:t>in</a:t>
                </a:r>
                <a:endParaRPr lang="da-DK" sz="2000" i="1" baseline="-25000" dirty="0"/>
              </a:p>
            </p:txBody>
          </p:sp>
          <p:cxnSp>
            <p:nvCxnSpPr>
              <p:cNvPr id="12" name="Lige pilforbindelse 11"/>
              <p:cNvCxnSpPr/>
              <p:nvPr/>
            </p:nvCxnSpPr>
            <p:spPr>
              <a:xfrm flipV="1">
                <a:off x="3812444" y="2283270"/>
                <a:ext cx="0" cy="5157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Lige forbindelse 12"/>
              <p:cNvCxnSpPr/>
              <p:nvPr/>
            </p:nvCxnSpPr>
            <p:spPr>
              <a:xfrm flipV="1">
                <a:off x="1410791" y="2480991"/>
                <a:ext cx="0" cy="5452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itel 1"/>
            <p:cNvSpPr txBox="1">
              <a:spLocks/>
            </p:cNvSpPr>
            <p:nvPr/>
          </p:nvSpPr>
          <p:spPr>
            <a:xfrm>
              <a:off x="1094928" y="3645024"/>
              <a:ext cx="2901008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Måling i forhold til </a:t>
              </a:r>
              <a:r>
                <a:rPr lang="da-DK" sz="2000" b="1" i="1" dirty="0"/>
                <a:t>stel</a:t>
              </a:r>
              <a:r>
                <a:rPr lang="da-DK" sz="2000" i="1" dirty="0"/>
                <a:t>…</a:t>
              </a:r>
            </a:p>
          </p:txBody>
        </p:sp>
      </p:grpSp>
      <p:grpSp>
        <p:nvGrpSpPr>
          <p:cNvPr id="17" name="Gruppe 16"/>
          <p:cNvGrpSpPr/>
          <p:nvPr/>
        </p:nvGrpSpPr>
        <p:grpSpPr>
          <a:xfrm>
            <a:off x="4860032" y="2489846"/>
            <a:ext cx="3960440" cy="3099394"/>
            <a:chOff x="4860032" y="1481734"/>
            <a:chExt cx="3960440" cy="3099394"/>
          </a:xfrm>
        </p:grpSpPr>
        <p:grpSp>
          <p:nvGrpSpPr>
            <p:cNvPr id="18" name="Gruppe 17"/>
            <p:cNvGrpSpPr/>
            <p:nvPr/>
          </p:nvGrpSpPr>
          <p:grpSpPr>
            <a:xfrm>
              <a:off x="4860032" y="1481734"/>
              <a:ext cx="3960440" cy="1884837"/>
              <a:chOff x="4860032" y="1481734"/>
              <a:chExt cx="3960440" cy="1884837"/>
            </a:xfrm>
          </p:grpSpPr>
          <p:pic>
            <p:nvPicPr>
              <p:cNvPr id="21" name="Billede 2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189"/>
              <a:stretch/>
            </p:blipFill>
            <p:spPr>
              <a:xfrm>
                <a:off x="5220072" y="1481734"/>
                <a:ext cx="2664296" cy="1304065"/>
              </a:xfrm>
              <a:prstGeom prst="rect">
                <a:avLst/>
              </a:prstGeom>
            </p:spPr>
          </p:pic>
          <p:sp>
            <p:nvSpPr>
              <p:cNvPr id="22" name="Titel 1"/>
              <p:cNvSpPr txBox="1">
                <a:spLocks/>
              </p:cNvSpPr>
              <p:nvPr/>
            </p:nvSpPr>
            <p:spPr>
              <a:xfrm>
                <a:off x="4860032" y="1951995"/>
                <a:ext cx="432048" cy="3282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 err="1"/>
                  <a:t>v</a:t>
                </a:r>
                <a:r>
                  <a:rPr lang="da-DK" sz="2000" i="1" baseline="-25000" dirty="0" err="1"/>
                  <a:t>d</a:t>
                </a:r>
                <a:endParaRPr lang="da-DK" sz="2000" i="1" baseline="-25000" dirty="0"/>
              </a:p>
            </p:txBody>
          </p:sp>
          <p:cxnSp>
            <p:nvCxnSpPr>
              <p:cNvPr id="23" name="Lige pilforbindelse 22"/>
              <p:cNvCxnSpPr/>
              <p:nvPr/>
            </p:nvCxnSpPr>
            <p:spPr>
              <a:xfrm flipV="1">
                <a:off x="5292080" y="1888439"/>
                <a:ext cx="0" cy="5157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Gruppe 23"/>
              <p:cNvGrpSpPr/>
              <p:nvPr/>
            </p:nvGrpSpPr>
            <p:grpSpPr>
              <a:xfrm>
                <a:off x="5186164" y="3018437"/>
                <a:ext cx="2504096" cy="348134"/>
                <a:chOff x="5164248" y="3208214"/>
                <a:chExt cx="2504096" cy="348134"/>
              </a:xfrm>
            </p:grpSpPr>
            <p:cxnSp>
              <p:nvCxnSpPr>
                <p:cNvPr id="27" name="Lige forbindelse 26"/>
                <p:cNvCxnSpPr/>
                <p:nvPr/>
              </p:nvCxnSpPr>
              <p:spPr>
                <a:xfrm>
                  <a:off x="5220072" y="3212976"/>
                  <a:ext cx="244827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Lige forbindelse 27"/>
                <p:cNvCxnSpPr/>
                <p:nvPr/>
              </p:nvCxnSpPr>
              <p:spPr>
                <a:xfrm flipV="1">
                  <a:off x="5229596" y="3208214"/>
                  <a:ext cx="0" cy="2880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Lige forbindelse 28"/>
                <p:cNvCxnSpPr/>
                <p:nvPr/>
              </p:nvCxnSpPr>
              <p:spPr>
                <a:xfrm flipV="1">
                  <a:off x="5164248" y="3425652"/>
                  <a:ext cx="130696" cy="1306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itel 1"/>
              <p:cNvSpPr txBox="1">
                <a:spLocks/>
              </p:cNvSpPr>
              <p:nvPr/>
            </p:nvSpPr>
            <p:spPr>
              <a:xfrm>
                <a:off x="7668344" y="2380695"/>
                <a:ext cx="1152128" cy="3282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 err="1"/>
                  <a:t>v</a:t>
                </a:r>
                <a:r>
                  <a:rPr lang="da-DK" sz="2000" i="1" baseline="-25000" dirty="0" err="1"/>
                  <a:t>o</a:t>
                </a:r>
                <a:r>
                  <a:rPr lang="da-DK" sz="2000" i="1" dirty="0"/>
                  <a:t> = </a:t>
                </a:r>
                <a:r>
                  <a:rPr lang="da-DK" sz="2000" i="1" dirty="0" err="1"/>
                  <a:t>A</a:t>
                </a:r>
                <a:r>
                  <a:rPr lang="da-DK" sz="2000" i="1" baseline="-25000" dirty="0" err="1"/>
                  <a:t>d</a:t>
                </a:r>
                <a:r>
                  <a:rPr lang="da-DK" sz="2000" i="1" dirty="0" err="1"/>
                  <a:t>∙v</a:t>
                </a:r>
                <a:r>
                  <a:rPr lang="da-DK" sz="2000" i="1" baseline="-25000" dirty="0" err="1"/>
                  <a:t>d</a:t>
                </a:r>
                <a:endParaRPr lang="da-DK" sz="2000" i="1" baseline="-25000" dirty="0"/>
              </a:p>
            </p:txBody>
          </p:sp>
          <p:cxnSp>
            <p:nvCxnSpPr>
              <p:cNvPr id="26" name="Lige pilforbindelse 25"/>
              <p:cNvCxnSpPr/>
              <p:nvPr/>
            </p:nvCxnSpPr>
            <p:spPr>
              <a:xfrm flipV="1">
                <a:off x="7628868" y="2280220"/>
                <a:ext cx="0" cy="5157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itel 1"/>
            <p:cNvSpPr txBox="1">
              <a:spLocks/>
            </p:cNvSpPr>
            <p:nvPr/>
          </p:nvSpPr>
          <p:spPr>
            <a:xfrm>
              <a:off x="5250704" y="3645024"/>
              <a:ext cx="2901008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b="1" i="1" dirty="0"/>
                <a:t>Differentiel</a:t>
              </a:r>
              <a:r>
                <a:rPr lang="da-DK" sz="2000" i="1" dirty="0"/>
                <a:t> måling</a:t>
              </a:r>
            </a:p>
          </p:txBody>
        </p:sp>
        <p:sp>
          <p:nvSpPr>
            <p:cNvPr id="20" name="Titel 1"/>
            <p:cNvSpPr txBox="1">
              <a:spLocks/>
            </p:cNvSpPr>
            <p:nvPr/>
          </p:nvSpPr>
          <p:spPr>
            <a:xfrm>
              <a:off x="5271392" y="4077072"/>
              <a:ext cx="2901008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(måske balanceret?)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9373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700999"/>
            <a:ext cx="6732240" cy="2258652"/>
          </a:xfrm>
          <a:prstGeom prst="rect">
            <a:avLst/>
          </a:prstGeom>
        </p:spPr>
      </p:pic>
      <p:grpSp>
        <p:nvGrpSpPr>
          <p:cNvPr id="40" name="Gruppe 39"/>
          <p:cNvGrpSpPr/>
          <p:nvPr/>
        </p:nvGrpSpPr>
        <p:grpSpPr>
          <a:xfrm>
            <a:off x="1835696" y="1616100"/>
            <a:ext cx="1888650" cy="2821012"/>
            <a:chOff x="1835696" y="1616100"/>
            <a:chExt cx="1888650" cy="2821012"/>
          </a:xfrm>
        </p:grpSpPr>
        <p:grpSp>
          <p:nvGrpSpPr>
            <p:cNvPr id="26" name="Gruppe 25"/>
            <p:cNvGrpSpPr/>
            <p:nvPr/>
          </p:nvGrpSpPr>
          <p:grpSpPr>
            <a:xfrm>
              <a:off x="2831065" y="1628800"/>
              <a:ext cx="893281" cy="2803232"/>
              <a:chOff x="2678665" y="1628800"/>
              <a:chExt cx="893281" cy="2803232"/>
            </a:xfrm>
          </p:grpSpPr>
          <p:grpSp>
            <p:nvGrpSpPr>
              <p:cNvPr id="27" name="Gruppe 26"/>
              <p:cNvGrpSpPr/>
              <p:nvPr/>
            </p:nvGrpSpPr>
            <p:grpSpPr>
              <a:xfrm>
                <a:off x="2678665" y="1628800"/>
                <a:ext cx="893281" cy="2803232"/>
                <a:chOff x="2742615" y="1777896"/>
                <a:chExt cx="893281" cy="2803232"/>
              </a:xfrm>
            </p:grpSpPr>
            <p:grpSp>
              <p:nvGrpSpPr>
                <p:cNvPr id="29" name="Gruppe 28"/>
                <p:cNvGrpSpPr/>
                <p:nvPr/>
              </p:nvGrpSpPr>
              <p:grpSpPr>
                <a:xfrm>
                  <a:off x="2742615" y="1777896"/>
                  <a:ext cx="893281" cy="2803232"/>
                  <a:chOff x="2742615" y="1777896"/>
                  <a:chExt cx="893281" cy="2803232"/>
                </a:xfrm>
              </p:grpSpPr>
              <p:sp>
                <p:nvSpPr>
                  <p:cNvPr id="31" name="Bue 30"/>
                  <p:cNvSpPr/>
                  <p:nvPr/>
                </p:nvSpPr>
                <p:spPr>
                  <a:xfrm rot="20560558" flipH="1">
                    <a:off x="2771800" y="1988840"/>
                    <a:ext cx="864096" cy="2592288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i="1"/>
                  </a:p>
                </p:txBody>
              </p:sp>
              <p:grpSp>
                <p:nvGrpSpPr>
                  <p:cNvPr id="32" name="Gruppe 31"/>
                  <p:cNvGrpSpPr/>
                  <p:nvPr/>
                </p:nvGrpSpPr>
                <p:grpSpPr>
                  <a:xfrm rot="21422037">
                    <a:off x="2742615" y="1777896"/>
                    <a:ext cx="185901" cy="518170"/>
                    <a:chOff x="2737535" y="1777896"/>
                    <a:chExt cx="185901" cy="518170"/>
                  </a:xfrm>
                </p:grpSpPr>
                <p:cxnSp>
                  <p:nvCxnSpPr>
                    <p:cNvPr id="34" name="Lige forbindelse 33"/>
                    <p:cNvCxnSpPr/>
                    <p:nvPr/>
                  </p:nvCxnSpPr>
                  <p:spPr>
                    <a:xfrm>
                      <a:off x="2737535" y="1792010"/>
                      <a:ext cx="144016" cy="50405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Lige forbindelse 34"/>
                    <p:cNvCxnSpPr/>
                    <p:nvPr/>
                  </p:nvCxnSpPr>
                  <p:spPr>
                    <a:xfrm>
                      <a:off x="2779420" y="1777896"/>
                      <a:ext cx="144016" cy="50405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3" name="Lige forbindelse 32"/>
                  <p:cNvCxnSpPr/>
                  <p:nvPr/>
                </p:nvCxnSpPr>
                <p:spPr>
                  <a:xfrm flipV="1">
                    <a:off x="2854881" y="1839109"/>
                    <a:ext cx="557371" cy="19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0" name="Lige pilforbindelse 29"/>
                <p:cNvCxnSpPr/>
                <p:nvPr/>
              </p:nvCxnSpPr>
              <p:spPr>
                <a:xfrm flipH="1">
                  <a:off x="3059832" y="1934834"/>
                  <a:ext cx="73734" cy="2100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itel 1"/>
              <p:cNvSpPr txBox="1">
                <a:spLocks/>
              </p:cNvSpPr>
              <p:nvPr/>
            </p:nvSpPr>
            <p:spPr>
              <a:xfrm>
                <a:off x="2906808" y="1687741"/>
                <a:ext cx="448426" cy="6231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i</a:t>
                </a:r>
                <a:r>
                  <a:rPr lang="da-DK" sz="2000" i="1" baseline="-25000" dirty="0"/>
                  <a:t>n</a:t>
                </a:r>
              </a:p>
            </p:txBody>
          </p:sp>
        </p:grpSp>
        <p:grpSp>
          <p:nvGrpSpPr>
            <p:cNvPr id="39" name="Gruppe 38"/>
            <p:cNvGrpSpPr/>
            <p:nvPr/>
          </p:nvGrpSpPr>
          <p:grpSpPr>
            <a:xfrm>
              <a:off x="1835696" y="1616100"/>
              <a:ext cx="893281" cy="2821012"/>
              <a:chOff x="1835696" y="1616100"/>
              <a:chExt cx="893281" cy="2821012"/>
            </a:xfrm>
          </p:grpSpPr>
          <p:grpSp>
            <p:nvGrpSpPr>
              <p:cNvPr id="25" name="Gruppe 24"/>
              <p:cNvGrpSpPr/>
              <p:nvPr/>
            </p:nvGrpSpPr>
            <p:grpSpPr>
              <a:xfrm>
                <a:off x="1835696" y="1616100"/>
                <a:ext cx="893281" cy="2803232"/>
                <a:chOff x="2678665" y="1628800"/>
                <a:chExt cx="893281" cy="2803232"/>
              </a:xfrm>
            </p:grpSpPr>
            <p:grpSp>
              <p:nvGrpSpPr>
                <p:cNvPr id="23" name="Gruppe 22"/>
                <p:cNvGrpSpPr/>
                <p:nvPr/>
              </p:nvGrpSpPr>
              <p:grpSpPr>
                <a:xfrm>
                  <a:off x="2678665" y="1628800"/>
                  <a:ext cx="893281" cy="2803232"/>
                  <a:chOff x="2742615" y="1777896"/>
                  <a:chExt cx="893281" cy="2803232"/>
                </a:xfrm>
              </p:grpSpPr>
              <p:grpSp>
                <p:nvGrpSpPr>
                  <p:cNvPr id="17" name="Gruppe 16"/>
                  <p:cNvGrpSpPr/>
                  <p:nvPr/>
                </p:nvGrpSpPr>
                <p:grpSpPr>
                  <a:xfrm>
                    <a:off x="2742615" y="1777896"/>
                    <a:ext cx="893281" cy="2803232"/>
                    <a:chOff x="2742615" y="1777896"/>
                    <a:chExt cx="893281" cy="2803232"/>
                  </a:xfrm>
                </p:grpSpPr>
                <p:sp>
                  <p:nvSpPr>
                    <p:cNvPr id="5" name="Bue 4"/>
                    <p:cNvSpPr/>
                    <p:nvPr/>
                  </p:nvSpPr>
                  <p:spPr>
                    <a:xfrm rot="20560558" flipH="1">
                      <a:off x="2771800" y="1988840"/>
                      <a:ext cx="864096" cy="2592288"/>
                    </a:xfrm>
                    <a:prstGeom prst="arc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a-DK" i="1"/>
                    </a:p>
                  </p:txBody>
                </p:sp>
                <p:grpSp>
                  <p:nvGrpSpPr>
                    <p:cNvPr id="16" name="Gruppe 15"/>
                    <p:cNvGrpSpPr/>
                    <p:nvPr/>
                  </p:nvGrpSpPr>
                  <p:grpSpPr>
                    <a:xfrm rot="21422037">
                      <a:off x="2742615" y="1777896"/>
                      <a:ext cx="185901" cy="518170"/>
                      <a:chOff x="2737535" y="1777896"/>
                      <a:chExt cx="185901" cy="518170"/>
                    </a:xfrm>
                  </p:grpSpPr>
                  <p:cxnSp>
                    <p:nvCxnSpPr>
                      <p:cNvPr id="7" name="Lige forbindelse 6"/>
                      <p:cNvCxnSpPr/>
                      <p:nvPr/>
                    </p:nvCxnSpPr>
                    <p:spPr>
                      <a:xfrm>
                        <a:off x="2737535" y="1792010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" name="Lige forbindelse 10"/>
                      <p:cNvCxnSpPr/>
                      <p:nvPr/>
                    </p:nvCxnSpPr>
                    <p:spPr>
                      <a:xfrm>
                        <a:off x="2779420" y="1777896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3" name="Lige forbindelse 12"/>
                    <p:cNvCxnSpPr/>
                    <p:nvPr/>
                  </p:nvCxnSpPr>
                  <p:spPr>
                    <a:xfrm flipV="1">
                      <a:off x="2854881" y="1839109"/>
                      <a:ext cx="557371" cy="19145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" name="Lige pilforbindelse 18"/>
                  <p:cNvCxnSpPr/>
                  <p:nvPr/>
                </p:nvCxnSpPr>
                <p:spPr>
                  <a:xfrm flipH="1">
                    <a:off x="3059832" y="1934834"/>
                    <a:ext cx="73734" cy="2100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Titel 1"/>
                <p:cNvSpPr txBox="1">
                  <a:spLocks/>
                </p:cNvSpPr>
                <p:nvPr/>
              </p:nvSpPr>
              <p:spPr>
                <a:xfrm>
                  <a:off x="2906808" y="1687741"/>
                  <a:ext cx="448426" cy="6231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2000" i="1" dirty="0"/>
                    <a:t>i</a:t>
                  </a:r>
                  <a:r>
                    <a:rPr lang="da-DK" sz="2000" i="1" baseline="-25000" dirty="0"/>
                    <a:t>n</a:t>
                  </a:r>
                </a:p>
              </p:txBody>
            </p:sp>
          </p:grpSp>
          <p:cxnSp>
            <p:nvCxnSpPr>
              <p:cNvPr id="37" name="Lige forbindelse 36"/>
              <p:cNvCxnSpPr/>
              <p:nvPr/>
            </p:nvCxnSpPr>
            <p:spPr>
              <a:xfrm>
                <a:off x="1895004" y="3284984"/>
                <a:ext cx="372740" cy="115212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Titel 1"/>
          <p:cNvSpPr txBox="1">
            <a:spLocks/>
          </p:cNvSpPr>
          <p:nvPr/>
        </p:nvSpPr>
        <p:spPr>
          <a:xfrm>
            <a:off x="1938220" y="1175936"/>
            <a:ext cx="1337636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Støjsignal</a:t>
            </a:r>
          </a:p>
        </p:txBody>
      </p:sp>
      <p:sp>
        <p:nvSpPr>
          <p:cNvPr id="48" name="Kombinationstegning 47"/>
          <p:cNvSpPr/>
          <p:nvPr/>
        </p:nvSpPr>
        <p:spPr>
          <a:xfrm>
            <a:off x="3995936" y="1887812"/>
            <a:ext cx="704056" cy="1315833"/>
          </a:xfrm>
          <a:custGeom>
            <a:avLst/>
            <a:gdLst>
              <a:gd name="connsiteX0" fmla="*/ 0 w 1194325"/>
              <a:gd name="connsiteY0" fmla="*/ 1315833 h 1315833"/>
              <a:gd name="connsiteX1" fmla="*/ 9331 w 1194325"/>
              <a:gd name="connsiteY1" fmla="*/ 1222527 h 1315833"/>
              <a:gd name="connsiteX2" fmla="*/ 37323 w 1194325"/>
              <a:gd name="connsiteY2" fmla="*/ 1147882 h 1315833"/>
              <a:gd name="connsiteX3" fmla="*/ 93306 w 1194325"/>
              <a:gd name="connsiteY3" fmla="*/ 979931 h 1315833"/>
              <a:gd name="connsiteX4" fmla="*/ 167951 w 1194325"/>
              <a:gd name="connsiteY4" fmla="*/ 821311 h 1315833"/>
              <a:gd name="connsiteX5" fmla="*/ 205274 w 1194325"/>
              <a:gd name="connsiteY5" fmla="*/ 709343 h 1315833"/>
              <a:gd name="connsiteX6" fmla="*/ 326572 w 1194325"/>
              <a:gd name="connsiteY6" fmla="*/ 541392 h 1315833"/>
              <a:gd name="connsiteX7" fmla="*/ 363894 w 1194325"/>
              <a:gd name="connsiteY7" fmla="*/ 494739 h 1315833"/>
              <a:gd name="connsiteX8" fmla="*/ 373225 w 1194325"/>
              <a:gd name="connsiteY8" fmla="*/ 466747 h 1315833"/>
              <a:gd name="connsiteX9" fmla="*/ 438539 w 1194325"/>
              <a:gd name="connsiteY9" fmla="*/ 504070 h 1315833"/>
              <a:gd name="connsiteX10" fmla="*/ 447870 w 1194325"/>
              <a:gd name="connsiteY10" fmla="*/ 560053 h 1315833"/>
              <a:gd name="connsiteX11" fmla="*/ 475862 w 1194325"/>
              <a:gd name="connsiteY11" fmla="*/ 644029 h 1315833"/>
              <a:gd name="connsiteX12" fmla="*/ 485192 w 1194325"/>
              <a:gd name="connsiteY12" fmla="*/ 746666 h 1315833"/>
              <a:gd name="connsiteX13" fmla="*/ 513184 w 1194325"/>
              <a:gd name="connsiteY13" fmla="*/ 718674 h 1315833"/>
              <a:gd name="connsiteX14" fmla="*/ 550506 w 1194325"/>
              <a:gd name="connsiteY14" fmla="*/ 653360 h 1315833"/>
              <a:gd name="connsiteX15" fmla="*/ 578498 w 1194325"/>
              <a:gd name="connsiteY15" fmla="*/ 634698 h 1315833"/>
              <a:gd name="connsiteX16" fmla="*/ 634482 w 1194325"/>
              <a:gd name="connsiteY16" fmla="*/ 616037 h 1315833"/>
              <a:gd name="connsiteX17" fmla="*/ 690466 w 1194325"/>
              <a:gd name="connsiteY17" fmla="*/ 569384 h 1315833"/>
              <a:gd name="connsiteX18" fmla="*/ 699796 w 1194325"/>
              <a:gd name="connsiteY18" fmla="*/ 541392 h 1315833"/>
              <a:gd name="connsiteX19" fmla="*/ 737119 w 1194325"/>
              <a:gd name="connsiteY19" fmla="*/ 457417 h 1315833"/>
              <a:gd name="connsiteX20" fmla="*/ 811764 w 1194325"/>
              <a:gd name="connsiteY20" fmla="*/ 345449 h 1315833"/>
              <a:gd name="connsiteX21" fmla="*/ 961053 w 1194325"/>
              <a:gd name="connsiteY21" fmla="*/ 205490 h 1315833"/>
              <a:gd name="connsiteX22" fmla="*/ 970384 w 1194325"/>
              <a:gd name="connsiteY22" fmla="*/ 177498 h 1315833"/>
              <a:gd name="connsiteX23" fmla="*/ 979715 w 1194325"/>
              <a:gd name="connsiteY23" fmla="*/ 140176 h 1315833"/>
              <a:gd name="connsiteX24" fmla="*/ 1035698 w 1194325"/>
              <a:gd name="connsiteY24" fmla="*/ 84192 h 1315833"/>
              <a:gd name="connsiteX25" fmla="*/ 1073021 w 1194325"/>
              <a:gd name="connsiteY25" fmla="*/ 56200 h 1315833"/>
              <a:gd name="connsiteX26" fmla="*/ 1119674 w 1194325"/>
              <a:gd name="connsiteY26" fmla="*/ 217 h 1315833"/>
              <a:gd name="connsiteX27" fmla="*/ 1147666 w 1194325"/>
              <a:gd name="connsiteY27" fmla="*/ 9547 h 1315833"/>
              <a:gd name="connsiteX28" fmla="*/ 1156996 w 1194325"/>
              <a:gd name="connsiteY28" fmla="*/ 37539 h 1315833"/>
              <a:gd name="connsiteX29" fmla="*/ 1194319 w 1194325"/>
              <a:gd name="connsiteY29" fmla="*/ 121515 h 13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94325" h="1315833">
                <a:moveTo>
                  <a:pt x="0" y="1315833"/>
                </a:moveTo>
                <a:cubicBezTo>
                  <a:pt x="3110" y="1284731"/>
                  <a:pt x="2550" y="1253040"/>
                  <a:pt x="9331" y="1222527"/>
                </a:cubicBezTo>
                <a:cubicBezTo>
                  <a:pt x="15096" y="1196586"/>
                  <a:pt x="28920" y="1173092"/>
                  <a:pt x="37323" y="1147882"/>
                </a:cubicBezTo>
                <a:cubicBezTo>
                  <a:pt x="72098" y="1043556"/>
                  <a:pt x="38417" y="1110292"/>
                  <a:pt x="93306" y="979931"/>
                </a:cubicBezTo>
                <a:cubicBezTo>
                  <a:pt x="154637" y="834269"/>
                  <a:pt x="107979" y="978737"/>
                  <a:pt x="167951" y="821311"/>
                </a:cubicBezTo>
                <a:cubicBezTo>
                  <a:pt x="181956" y="784547"/>
                  <a:pt x="185878" y="743571"/>
                  <a:pt x="205274" y="709343"/>
                </a:cubicBezTo>
                <a:cubicBezTo>
                  <a:pt x="239320" y="649261"/>
                  <a:pt x="285525" y="596927"/>
                  <a:pt x="326572" y="541392"/>
                </a:cubicBezTo>
                <a:cubicBezTo>
                  <a:pt x="338409" y="525377"/>
                  <a:pt x="363894" y="494739"/>
                  <a:pt x="363894" y="494739"/>
                </a:cubicBezTo>
                <a:cubicBezTo>
                  <a:pt x="367004" y="485408"/>
                  <a:pt x="366270" y="473702"/>
                  <a:pt x="373225" y="466747"/>
                </a:cubicBezTo>
                <a:cubicBezTo>
                  <a:pt x="406218" y="433755"/>
                  <a:pt x="423202" y="484898"/>
                  <a:pt x="438539" y="504070"/>
                </a:cubicBezTo>
                <a:cubicBezTo>
                  <a:pt x="441649" y="522731"/>
                  <a:pt x="442995" y="541773"/>
                  <a:pt x="447870" y="560053"/>
                </a:cubicBezTo>
                <a:cubicBezTo>
                  <a:pt x="455473" y="588563"/>
                  <a:pt x="470075" y="615096"/>
                  <a:pt x="475862" y="644029"/>
                </a:cubicBezTo>
                <a:cubicBezTo>
                  <a:pt x="482599" y="677715"/>
                  <a:pt x="482082" y="712454"/>
                  <a:pt x="485192" y="746666"/>
                </a:cubicBezTo>
                <a:cubicBezTo>
                  <a:pt x="494523" y="737335"/>
                  <a:pt x="505864" y="729653"/>
                  <a:pt x="513184" y="718674"/>
                </a:cubicBezTo>
                <a:cubicBezTo>
                  <a:pt x="555887" y="654620"/>
                  <a:pt x="471625" y="732243"/>
                  <a:pt x="550506" y="653360"/>
                </a:cubicBezTo>
                <a:cubicBezTo>
                  <a:pt x="558436" y="645430"/>
                  <a:pt x="568250" y="639253"/>
                  <a:pt x="578498" y="634698"/>
                </a:cubicBezTo>
                <a:cubicBezTo>
                  <a:pt x="596473" y="626709"/>
                  <a:pt x="634482" y="616037"/>
                  <a:pt x="634482" y="616037"/>
                </a:cubicBezTo>
                <a:cubicBezTo>
                  <a:pt x="699034" y="519207"/>
                  <a:pt x="595761" y="664089"/>
                  <a:pt x="690466" y="569384"/>
                </a:cubicBezTo>
                <a:cubicBezTo>
                  <a:pt x="697421" y="562429"/>
                  <a:pt x="696343" y="550601"/>
                  <a:pt x="699796" y="541392"/>
                </a:cubicBezTo>
                <a:cubicBezTo>
                  <a:pt x="708093" y="519265"/>
                  <a:pt x="723863" y="478627"/>
                  <a:pt x="737119" y="457417"/>
                </a:cubicBezTo>
                <a:cubicBezTo>
                  <a:pt x="760893" y="419379"/>
                  <a:pt x="780046" y="377167"/>
                  <a:pt x="811764" y="345449"/>
                </a:cubicBezTo>
                <a:cubicBezTo>
                  <a:pt x="922247" y="234966"/>
                  <a:pt x="871280" y="280302"/>
                  <a:pt x="961053" y="205490"/>
                </a:cubicBezTo>
                <a:cubicBezTo>
                  <a:pt x="964163" y="196159"/>
                  <a:pt x="967682" y="186955"/>
                  <a:pt x="970384" y="177498"/>
                </a:cubicBezTo>
                <a:cubicBezTo>
                  <a:pt x="973907" y="165168"/>
                  <a:pt x="973980" y="151646"/>
                  <a:pt x="979715" y="140176"/>
                </a:cubicBezTo>
                <a:cubicBezTo>
                  <a:pt x="998535" y="102535"/>
                  <a:pt x="1006232" y="105239"/>
                  <a:pt x="1035698" y="84192"/>
                </a:cubicBezTo>
                <a:cubicBezTo>
                  <a:pt x="1048353" y="75153"/>
                  <a:pt x="1060580" y="65531"/>
                  <a:pt x="1073021" y="56200"/>
                </a:cubicBezTo>
                <a:cubicBezTo>
                  <a:pt x="1083314" y="35615"/>
                  <a:pt x="1090899" y="5013"/>
                  <a:pt x="1119674" y="217"/>
                </a:cubicBezTo>
                <a:cubicBezTo>
                  <a:pt x="1129375" y="-1400"/>
                  <a:pt x="1138335" y="6437"/>
                  <a:pt x="1147666" y="9547"/>
                </a:cubicBezTo>
                <a:cubicBezTo>
                  <a:pt x="1150776" y="18878"/>
                  <a:pt x="1152926" y="28585"/>
                  <a:pt x="1156996" y="37539"/>
                </a:cubicBezTo>
                <a:cubicBezTo>
                  <a:pt x="1195710" y="122710"/>
                  <a:pt x="1194319" y="83500"/>
                  <a:pt x="1194319" y="12151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49" name="Kombinationstegning 48"/>
          <p:cNvSpPr/>
          <p:nvPr/>
        </p:nvSpPr>
        <p:spPr>
          <a:xfrm>
            <a:off x="3995936" y="3049271"/>
            <a:ext cx="704056" cy="1315833"/>
          </a:xfrm>
          <a:custGeom>
            <a:avLst/>
            <a:gdLst>
              <a:gd name="connsiteX0" fmla="*/ 0 w 1194325"/>
              <a:gd name="connsiteY0" fmla="*/ 1315833 h 1315833"/>
              <a:gd name="connsiteX1" fmla="*/ 9331 w 1194325"/>
              <a:gd name="connsiteY1" fmla="*/ 1222527 h 1315833"/>
              <a:gd name="connsiteX2" fmla="*/ 37323 w 1194325"/>
              <a:gd name="connsiteY2" fmla="*/ 1147882 h 1315833"/>
              <a:gd name="connsiteX3" fmla="*/ 93306 w 1194325"/>
              <a:gd name="connsiteY3" fmla="*/ 979931 h 1315833"/>
              <a:gd name="connsiteX4" fmla="*/ 167951 w 1194325"/>
              <a:gd name="connsiteY4" fmla="*/ 821311 h 1315833"/>
              <a:gd name="connsiteX5" fmla="*/ 205274 w 1194325"/>
              <a:gd name="connsiteY5" fmla="*/ 709343 h 1315833"/>
              <a:gd name="connsiteX6" fmla="*/ 326572 w 1194325"/>
              <a:gd name="connsiteY6" fmla="*/ 541392 h 1315833"/>
              <a:gd name="connsiteX7" fmla="*/ 363894 w 1194325"/>
              <a:gd name="connsiteY7" fmla="*/ 494739 h 1315833"/>
              <a:gd name="connsiteX8" fmla="*/ 373225 w 1194325"/>
              <a:gd name="connsiteY8" fmla="*/ 466747 h 1315833"/>
              <a:gd name="connsiteX9" fmla="*/ 438539 w 1194325"/>
              <a:gd name="connsiteY9" fmla="*/ 504070 h 1315833"/>
              <a:gd name="connsiteX10" fmla="*/ 447870 w 1194325"/>
              <a:gd name="connsiteY10" fmla="*/ 560053 h 1315833"/>
              <a:gd name="connsiteX11" fmla="*/ 475862 w 1194325"/>
              <a:gd name="connsiteY11" fmla="*/ 644029 h 1315833"/>
              <a:gd name="connsiteX12" fmla="*/ 485192 w 1194325"/>
              <a:gd name="connsiteY12" fmla="*/ 746666 h 1315833"/>
              <a:gd name="connsiteX13" fmla="*/ 513184 w 1194325"/>
              <a:gd name="connsiteY13" fmla="*/ 718674 h 1315833"/>
              <a:gd name="connsiteX14" fmla="*/ 550506 w 1194325"/>
              <a:gd name="connsiteY14" fmla="*/ 653360 h 1315833"/>
              <a:gd name="connsiteX15" fmla="*/ 578498 w 1194325"/>
              <a:gd name="connsiteY15" fmla="*/ 634698 h 1315833"/>
              <a:gd name="connsiteX16" fmla="*/ 634482 w 1194325"/>
              <a:gd name="connsiteY16" fmla="*/ 616037 h 1315833"/>
              <a:gd name="connsiteX17" fmla="*/ 690466 w 1194325"/>
              <a:gd name="connsiteY17" fmla="*/ 569384 h 1315833"/>
              <a:gd name="connsiteX18" fmla="*/ 699796 w 1194325"/>
              <a:gd name="connsiteY18" fmla="*/ 541392 h 1315833"/>
              <a:gd name="connsiteX19" fmla="*/ 737119 w 1194325"/>
              <a:gd name="connsiteY19" fmla="*/ 457417 h 1315833"/>
              <a:gd name="connsiteX20" fmla="*/ 811764 w 1194325"/>
              <a:gd name="connsiteY20" fmla="*/ 345449 h 1315833"/>
              <a:gd name="connsiteX21" fmla="*/ 961053 w 1194325"/>
              <a:gd name="connsiteY21" fmla="*/ 205490 h 1315833"/>
              <a:gd name="connsiteX22" fmla="*/ 970384 w 1194325"/>
              <a:gd name="connsiteY22" fmla="*/ 177498 h 1315833"/>
              <a:gd name="connsiteX23" fmla="*/ 979715 w 1194325"/>
              <a:gd name="connsiteY23" fmla="*/ 140176 h 1315833"/>
              <a:gd name="connsiteX24" fmla="*/ 1035698 w 1194325"/>
              <a:gd name="connsiteY24" fmla="*/ 84192 h 1315833"/>
              <a:gd name="connsiteX25" fmla="*/ 1073021 w 1194325"/>
              <a:gd name="connsiteY25" fmla="*/ 56200 h 1315833"/>
              <a:gd name="connsiteX26" fmla="*/ 1119674 w 1194325"/>
              <a:gd name="connsiteY26" fmla="*/ 217 h 1315833"/>
              <a:gd name="connsiteX27" fmla="*/ 1147666 w 1194325"/>
              <a:gd name="connsiteY27" fmla="*/ 9547 h 1315833"/>
              <a:gd name="connsiteX28" fmla="*/ 1156996 w 1194325"/>
              <a:gd name="connsiteY28" fmla="*/ 37539 h 1315833"/>
              <a:gd name="connsiteX29" fmla="*/ 1194319 w 1194325"/>
              <a:gd name="connsiteY29" fmla="*/ 121515 h 13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94325" h="1315833">
                <a:moveTo>
                  <a:pt x="0" y="1315833"/>
                </a:moveTo>
                <a:cubicBezTo>
                  <a:pt x="3110" y="1284731"/>
                  <a:pt x="2550" y="1253040"/>
                  <a:pt x="9331" y="1222527"/>
                </a:cubicBezTo>
                <a:cubicBezTo>
                  <a:pt x="15096" y="1196586"/>
                  <a:pt x="28920" y="1173092"/>
                  <a:pt x="37323" y="1147882"/>
                </a:cubicBezTo>
                <a:cubicBezTo>
                  <a:pt x="72098" y="1043556"/>
                  <a:pt x="38417" y="1110292"/>
                  <a:pt x="93306" y="979931"/>
                </a:cubicBezTo>
                <a:cubicBezTo>
                  <a:pt x="154637" y="834269"/>
                  <a:pt x="107979" y="978737"/>
                  <a:pt x="167951" y="821311"/>
                </a:cubicBezTo>
                <a:cubicBezTo>
                  <a:pt x="181956" y="784547"/>
                  <a:pt x="185878" y="743571"/>
                  <a:pt x="205274" y="709343"/>
                </a:cubicBezTo>
                <a:cubicBezTo>
                  <a:pt x="239320" y="649261"/>
                  <a:pt x="285525" y="596927"/>
                  <a:pt x="326572" y="541392"/>
                </a:cubicBezTo>
                <a:cubicBezTo>
                  <a:pt x="338409" y="525377"/>
                  <a:pt x="363894" y="494739"/>
                  <a:pt x="363894" y="494739"/>
                </a:cubicBezTo>
                <a:cubicBezTo>
                  <a:pt x="367004" y="485408"/>
                  <a:pt x="366270" y="473702"/>
                  <a:pt x="373225" y="466747"/>
                </a:cubicBezTo>
                <a:cubicBezTo>
                  <a:pt x="406218" y="433755"/>
                  <a:pt x="423202" y="484898"/>
                  <a:pt x="438539" y="504070"/>
                </a:cubicBezTo>
                <a:cubicBezTo>
                  <a:pt x="441649" y="522731"/>
                  <a:pt x="442995" y="541773"/>
                  <a:pt x="447870" y="560053"/>
                </a:cubicBezTo>
                <a:cubicBezTo>
                  <a:pt x="455473" y="588563"/>
                  <a:pt x="470075" y="615096"/>
                  <a:pt x="475862" y="644029"/>
                </a:cubicBezTo>
                <a:cubicBezTo>
                  <a:pt x="482599" y="677715"/>
                  <a:pt x="482082" y="712454"/>
                  <a:pt x="485192" y="746666"/>
                </a:cubicBezTo>
                <a:cubicBezTo>
                  <a:pt x="494523" y="737335"/>
                  <a:pt x="505864" y="729653"/>
                  <a:pt x="513184" y="718674"/>
                </a:cubicBezTo>
                <a:cubicBezTo>
                  <a:pt x="555887" y="654620"/>
                  <a:pt x="471625" y="732243"/>
                  <a:pt x="550506" y="653360"/>
                </a:cubicBezTo>
                <a:cubicBezTo>
                  <a:pt x="558436" y="645430"/>
                  <a:pt x="568250" y="639253"/>
                  <a:pt x="578498" y="634698"/>
                </a:cubicBezTo>
                <a:cubicBezTo>
                  <a:pt x="596473" y="626709"/>
                  <a:pt x="634482" y="616037"/>
                  <a:pt x="634482" y="616037"/>
                </a:cubicBezTo>
                <a:cubicBezTo>
                  <a:pt x="699034" y="519207"/>
                  <a:pt x="595761" y="664089"/>
                  <a:pt x="690466" y="569384"/>
                </a:cubicBezTo>
                <a:cubicBezTo>
                  <a:pt x="697421" y="562429"/>
                  <a:pt x="696343" y="550601"/>
                  <a:pt x="699796" y="541392"/>
                </a:cubicBezTo>
                <a:cubicBezTo>
                  <a:pt x="708093" y="519265"/>
                  <a:pt x="723863" y="478627"/>
                  <a:pt x="737119" y="457417"/>
                </a:cubicBezTo>
                <a:cubicBezTo>
                  <a:pt x="760893" y="419379"/>
                  <a:pt x="780046" y="377167"/>
                  <a:pt x="811764" y="345449"/>
                </a:cubicBezTo>
                <a:cubicBezTo>
                  <a:pt x="922247" y="234966"/>
                  <a:pt x="871280" y="280302"/>
                  <a:pt x="961053" y="205490"/>
                </a:cubicBezTo>
                <a:cubicBezTo>
                  <a:pt x="964163" y="196159"/>
                  <a:pt x="967682" y="186955"/>
                  <a:pt x="970384" y="177498"/>
                </a:cubicBezTo>
                <a:cubicBezTo>
                  <a:pt x="973907" y="165168"/>
                  <a:pt x="973980" y="151646"/>
                  <a:pt x="979715" y="140176"/>
                </a:cubicBezTo>
                <a:cubicBezTo>
                  <a:pt x="998535" y="102535"/>
                  <a:pt x="1006232" y="105239"/>
                  <a:pt x="1035698" y="84192"/>
                </a:cubicBezTo>
                <a:cubicBezTo>
                  <a:pt x="1048353" y="75153"/>
                  <a:pt x="1060580" y="65531"/>
                  <a:pt x="1073021" y="56200"/>
                </a:cubicBezTo>
                <a:cubicBezTo>
                  <a:pt x="1083314" y="35615"/>
                  <a:pt x="1090899" y="5013"/>
                  <a:pt x="1119674" y="217"/>
                </a:cubicBezTo>
                <a:cubicBezTo>
                  <a:pt x="1129375" y="-1400"/>
                  <a:pt x="1138335" y="6437"/>
                  <a:pt x="1147666" y="9547"/>
                </a:cubicBezTo>
                <a:cubicBezTo>
                  <a:pt x="1150776" y="18878"/>
                  <a:pt x="1152926" y="28585"/>
                  <a:pt x="1156996" y="37539"/>
                </a:cubicBezTo>
                <a:cubicBezTo>
                  <a:pt x="1195710" y="122710"/>
                  <a:pt x="1194319" y="83500"/>
                  <a:pt x="1194319" y="12151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grpSp>
        <p:nvGrpSpPr>
          <p:cNvPr id="36" name="Gruppe 35"/>
          <p:cNvGrpSpPr/>
          <p:nvPr/>
        </p:nvGrpSpPr>
        <p:grpSpPr>
          <a:xfrm>
            <a:off x="1043608" y="3429000"/>
            <a:ext cx="414915" cy="792088"/>
            <a:chOff x="1043608" y="3429000"/>
            <a:chExt cx="414915" cy="792088"/>
          </a:xfrm>
        </p:grpSpPr>
        <p:sp>
          <p:nvSpPr>
            <p:cNvPr id="38" name="Titel 1"/>
            <p:cNvSpPr txBox="1">
              <a:spLocks/>
            </p:cNvSpPr>
            <p:nvPr/>
          </p:nvSpPr>
          <p:spPr>
            <a:xfrm>
              <a:off x="1043608" y="3501008"/>
              <a:ext cx="414915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/>
                <a:t>v</a:t>
              </a:r>
              <a:r>
                <a:rPr lang="da-DK" sz="2000" i="1" baseline="-25000" dirty="0" err="1"/>
                <a:t>d</a:t>
              </a:r>
              <a:endParaRPr lang="da-DK" sz="2000" i="1" baseline="-25000" dirty="0"/>
            </a:p>
          </p:txBody>
        </p:sp>
        <p:cxnSp>
          <p:nvCxnSpPr>
            <p:cNvPr id="42" name="Lige pilforbindelse 41"/>
            <p:cNvCxnSpPr/>
            <p:nvPr/>
          </p:nvCxnSpPr>
          <p:spPr>
            <a:xfrm flipV="1">
              <a:off x="1403648" y="3429000"/>
              <a:ext cx="0" cy="7920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el 1"/>
          <p:cNvSpPr txBox="1">
            <a:spLocks/>
          </p:cNvSpPr>
          <p:nvPr/>
        </p:nvSpPr>
        <p:spPr>
          <a:xfrm>
            <a:off x="35496" y="44624"/>
            <a:ext cx="309634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/>
              <a:t>Differensforstærker</a:t>
            </a:r>
            <a:endParaRPr lang="da-DK" sz="2800" i="1" dirty="0"/>
          </a:p>
        </p:txBody>
      </p:sp>
    </p:spTree>
    <p:extLst>
      <p:ext uri="{BB962C8B-B14F-4D97-AF65-F5344CB8AC3E}">
        <p14:creationId xmlns:p14="http://schemas.microsoft.com/office/powerpoint/2010/main" val="289259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700999"/>
            <a:ext cx="6732240" cy="2258652"/>
          </a:xfrm>
          <a:prstGeom prst="rect">
            <a:avLst/>
          </a:prstGeom>
        </p:spPr>
      </p:pic>
      <p:grpSp>
        <p:nvGrpSpPr>
          <p:cNvPr id="40" name="Gruppe 39"/>
          <p:cNvGrpSpPr/>
          <p:nvPr/>
        </p:nvGrpSpPr>
        <p:grpSpPr>
          <a:xfrm>
            <a:off x="1835696" y="1616100"/>
            <a:ext cx="1888650" cy="2821012"/>
            <a:chOff x="1835696" y="1616100"/>
            <a:chExt cx="1888650" cy="2821012"/>
          </a:xfrm>
        </p:grpSpPr>
        <p:grpSp>
          <p:nvGrpSpPr>
            <p:cNvPr id="26" name="Gruppe 25"/>
            <p:cNvGrpSpPr/>
            <p:nvPr/>
          </p:nvGrpSpPr>
          <p:grpSpPr>
            <a:xfrm>
              <a:off x="2831065" y="1628800"/>
              <a:ext cx="893281" cy="2803232"/>
              <a:chOff x="2678665" y="1628800"/>
              <a:chExt cx="893281" cy="2803232"/>
            </a:xfrm>
          </p:grpSpPr>
          <p:grpSp>
            <p:nvGrpSpPr>
              <p:cNvPr id="27" name="Gruppe 26"/>
              <p:cNvGrpSpPr/>
              <p:nvPr/>
            </p:nvGrpSpPr>
            <p:grpSpPr>
              <a:xfrm>
                <a:off x="2678665" y="1628800"/>
                <a:ext cx="893281" cy="2803232"/>
                <a:chOff x="2742615" y="1777896"/>
                <a:chExt cx="893281" cy="2803232"/>
              </a:xfrm>
            </p:grpSpPr>
            <p:grpSp>
              <p:nvGrpSpPr>
                <p:cNvPr id="29" name="Gruppe 28"/>
                <p:cNvGrpSpPr/>
                <p:nvPr/>
              </p:nvGrpSpPr>
              <p:grpSpPr>
                <a:xfrm>
                  <a:off x="2742615" y="1777896"/>
                  <a:ext cx="893281" cy="2803232"/>
                  <a:chOff x="2742615" y="1777896"/>
                  <a:chExt cx="893281" cy="2803232"/>
                </a:xfrm>
              </p:grpSpPr>
              <p:sp>
                <p:nvSpPr>
                  <p:cNvPr id="31" name="Bue 30"/>
                  <p:cNvSpPr/>
                  <p:nvPr/>
                </p:nvSpPr>
                <p:spPr>
                  <a:xfrm rot="20560558" flipH="1">
                    <a:off x="2771800" y="1988840"/>
                    <a:ext cx="864096" cy="2592288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i="1"/>
                  </a:p>
                </p:txBody>
              </p:sp>
              <p:grpSp>
                <p:nvGrpSpPr>
                  <p:cNvPr id="32" name="Gruppe 31"/>
                  <p:cNvGrpSpPr/>
                  <p:nvPr/>
                </p:nvGrpSpPr>
                <p:grpSpPr>
                  <a:xfrm rot="21422037">
                    <a:off x="2742615" y="1777896"/>
                    <a:ext cx="185901" cy="518170"/>
                    <a:chOff x="2737535" y="1777896"/>
                    <a:chExt cx="185901" cy="518170"/>
                  </a:xfrm>
                </p:grpSpPr>
                <p:cxnSp>
                  <p:nvCxnSpPr>
                    <p:cNvPr id="34" name="Lige forbindelse 33"/>
                    <p:cNvCxnSpPr/>
                    <p:nvPr/>
                  </p:nvCxnSpPr>
                  <p:spPr>
                    <a:xfrm>
                      <a:off x="2737535" y="1792010"/>
                      <a:ext cx="144016" cy="50405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Lige forbindelse 34"/>
                    <p:cNvCxnSpPr/>
                    <p:nvPr/>
                  </p:nvCxnSpPr>
                  <p:spPr>
                    <a:xfrm>
                      <a:off x="2779420" y="1777896"/>
                      <a:ext cx="144016" cy="50405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3" name="Lige forbindelse 32"/>
                  <p:cNvCxnSpPr/>
                  <p:nvPr/>
                </p:nvCxnSpPr>
                <p:spPr>
                  <a:xfrm flipV="1">
                    <a:off x="2854881" y="1839109"/>
                    <a:ext cx="557371" cy="19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0" name="Lige pilforbindelse 29"/>
                <p:cNvCxnSpPr/>
                <p:nvPr/>
              </p:nvCxnSpPr>
              <p:spPr>
                <a:xfrm flipH="1">
                  <a:off x="3059832" y="1934834"/>
                  <a:ext cx="73734" cy="2100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itel 1"/>
              <p:cNvSpPr txBox="1">
                <a:spLocks/>
              </p:cNvSpPr>
              <p:nvPr/>
            </p:nvSpPr>
            <p:spPr>
              <a:xfrm>
                <a:off x="2906808" y="1687741"/>
                <a:ext cx="448426" cy="6231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i</a:t>
                </a:r>
                <a:r>
                  <a:rPr lang="da-DK" sz="2000" i="1" baseline="-25000" dirty="0"/>
                  <a:t>n</a:t>
                </a:r>
              </a:p>
            </p:txBody>
          </p:sp>
        </p:grpSp>
        <p:grpSp>
          <p:nvGrpSpPr>
            <p:cNvPr id="39" name="Gruppe 38"/>
            <p:cNvGrpSpPr/>
            <p:nvPr/>
          </p:nvGrpSpPr>
          <p:grpSpPr>
            <a:xfrm>
              <a:off x="1835696" y="1616100"/>
              <a:ext cx="893281" cy="2821012"/>
              <a:chOff x="1835696" y="1616100"/>
              <a:chExt cx="893281" cy="2821012"/>
            </a:xfrm>
          </p:grpSpPr>
          <p:grpSp>
            <p:nvGrpSpPr>
              <p:cNvPr id="25" name="Gruppe 24"/>
              <p:cNvGrpSpPr/>
              <p:nvPr/>
            </p:nvGrpSpPr>
            <p:grpSpPr>
              <a:xfrm>
                <a:off x="1835696" y="1616100"/>
                <a:ext cx="893281" cy="2803232"/>
                <a:chOff x="2678665" y="1628800"/>
                <a:chExt cx="893281" cy="2803232"/>
              </a:xfrm>
            </p:grpSpPr>
            <p:grpSp>
              <p:nvGrpSpPr>
                <p:cNvPr id="23" name="Gruppe 22"/>
                <p:cNvGrpSpPr/>
                <p:nvPr/>
              </p:nvGrpSpPr>
              <p:grpSpPr>
                <a:xfrm>
                  <a:off x="2678665" y="1628800"/>
                  <a:ext cx="893281" cy="2803232"/>
                  <a:chOff x="2742615" y="1777896"/>
                  <a:chExt cx="893281" cy="2803232"/>
                </a:xfrm>
              </p:grpSpPr>
              <p:grpSp>
                <p:nvGrpSpPr>
                  <p:cNvPr id="17" name="Gruppe 16"/>
                  <p:cNvGrpSpPr/>
                  <p:nvPr/>
                </p:nvGrpSpPr>
                <p:grpSpPr>
                  <a:xfrm>
                    <a:off x="2742615" y="1777896"/>
                    <a:ext cx="893281" cy="2803232"/>
                    <a:chOff x="2742615" y="1777896"/>
                    <a:chExt cx="893281" cy="2803232"/>
                  </a:xfrm>
                </p:grpSpPr>
                <p:sp>
                  <p:nvSpPr>
                    <p:cNvPr id="5" name="Bue 4"/>
                    <p:cNvSpPr/>
                    <p:nvPr/>
                  </p:nvSpPr>
                  <p:spPr>
                    <a:xfrm rot="20560558" flipH="1">
                      <a:off x="2771800" y="1988840"/>
                      <a:ext cx="864096" cy="2592288"/>
                    </a:xfrm>
                    <a:prstGeom prst="arc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a-DK" i="1"/>
                    </a:p>
                  </p:txBody>
                </p:sp>
                <p:grpSp>
                  <p:nvGrpSpPr>
                    <p:cNvPr id="16" name="Gruppe 15"/>
                    <p:cNvGrpSpPr/>
                    <p:nvPr/>
                  </p:nvGrpSpPr>
                  <p:grpSpPr>
                    <a:xfrm rot="21422037">
                      <a:off x="2742615" y="1777896"/>
                      <a:ext cx="185901" cy="518170"/>
                      <a:chOff x="2737535" y="1777896"/>
                      <a:chExt cx="185901" cy="518170"/>
                    </a:xfrm>
                  </p:grpSpPr>
                  <p:cxnSp>
                    <p:nvCxnSpPr>
                      <p:cNvPr id="7" name="Lige forbindelse 6"/>
                      <p:cNvCxnSpPr/>
                      <p:nvPr/>
                    </p:nvCxnSpPr>
                    <p:spPr>
                      <a:xfrm>
                        <a:off x="2737535" y="1792010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" name="Lige forbindelse 10"/>
                      <p:cNvCxnSpPr/>
                      <p:nvPr/>
                    </p:nvCxnSpPr>
                    <p:spPr>
                      <a:xfrm>
                        <a:off x="2779420" y="1777896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3" name="Lige forbindelse 12"/>
                    <p:cNvCxnSpPr/>
                    <p:nvPr/>
                  </p:nvCxnSpPr>
                  <p:spPr>
                    <a:xfrm flipV="1">
                      <a:off x="2854881" y="1839109"/>
                      <a:ext cx="557371" cy="19145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" name="Lige pilforbindelse 18"/>
                  <p:cNvCxnSpPr/>
                  <p:nvPr/>
                </p:nvCxnSpPr>
                <p:spPr>
                  <a:xfrm flipH="1">
                    <a:off x="3059832" y="1934834"/>
                    <a:ext cx="73734" cy="2100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Titel 1"/>
                <p:cNvSpPr txBox="1">
                  <a:spLocks/>
                </p:cNvSpPr>
                <p:nvPr/>
              </p:nvSpPr>
              <p:spPr>
                <a:xfrm>
                  <a:off x="2906808" y="1687741"/>
                  <a:ext cx="448426" cy="6231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2000" i="1" dirty="0"/>
                    <a:t>i</a:t>
                  </a:r>
                  <a:r>
                    <a:rPr lang="da-DK" sz="2000" i="1" baseline="-25000" dirty="0"/>
                    <a:t>n</a:t>
                  </a:r>
                </a:p>
              </p:txBody>
            </p:sp>
          </p:grpSp>
          <p:cxnSp>
            <p:nvCxnSpPr>
              <p:cNvPr id="37" name="Lige forbindelse 36"/>
              <p:cNvCxnSpPr/>
              <p:nvPr/>
            </p:nvCxnSpPr>
            <p:spPr>
              <a:xfrm>
                <a:off x="1895004" y="3284984"/>
                <a:ext cx="372740" cy="115212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Titel 1"/>
          <p:cNvSpPr txBox="1">
            <a:spLocks/>
          </p:cNvSpPr>
          <p:nvPr/>
        </p:nvSpPr>
        <p:spPr>
          <a:xfrm>
            <a:off x="1938220" y="1175936"/>
            <a:ext cx="1337636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Støjsignal</a:t>
            </a:r>
          </a:p>
        </p:txBody>
      </p:sp>
      <p:grpSp>
        <p:nvGrpSpPr>
          <p:cNvPr id="46" name="Gruppe 45"/>
          <p:cNvGrpSpPr/>
          <p:nvPr/>
        </p:nvGrpSpPr>
        <p:grpSpPr>
          <a:xfrm>
            <a:off x="1043608" y="3429000"/>
            <a:ext cx="414915" cy="792088"/>
            <a:chOff x="1043608" y="3429000"/>
            <a:chExt cx="414915" cy="792088"/>
          </a:xfrm>
        </p:grpSpPr>
        <p:sp>
          <p:nvSpPr>
            <p:cNvPr id="42" name="Titel 1"/>
            <p:cNvSpPr txBox="1">
              <a:spLocks/>
            </p:cNvSpPr>
            <p:nvPr/>
          </p:nvSpPr>
          <p:spPr>
            <a:xfrm>
              <a:off x="1043608" y="3501008"/>
              <a:ext cx="414915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/>
                <a:t>v</a:t>
              </a:r>
              <a:r>
                <a:rPr lang="da-DK" sz="2000" i="1" baseline="-25000" dirty="0" err="1"/>
                <a:t>d</a:t>
              </a:r>
              <a:endParaRPr lang="da-DK" sz="2000" i="1" baseline="-25000" dirty="0"/>
            </a:p>
          </p:txBody>
        </p:sp>
        <p:cxnSp>
          <p:nvCxnSpPr>
            <p:cNvPr id="44" name="Lige pilforbindelse 43"/>
            <p:cNvCxnSpPr/>
            <p:nvPr/>
          </p:nvCxnSpPr>
          <p:spPr>
            <a:xfrm flipV="1">
              <a:off x="1403648" y="3429000"/>
              <a:ext cx="0" cy="7920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Kombinationstegning 47"/>
          <p:cNvSpPr/>
          <p:nvPr/>
        </p:nvSpPr>
        <p:spPr>
          <a:xfrm>
            <a:off x="3995936" y="1887812"/>
            <a:ext cx="704056" cy="1315833"/>
          </a:xfrm>
          <a:custGeom>
            <a:avLst/>
            <a:gdLst>
              <a:gd name="connsiteX0" fmla="*/ 0 w 1194325"/>
              <a:gd name="connsiteY0" fmla="*/ 1315833 h 1315833"/>
              <a:gd name="connsiteX1" fmla="*/ 9331 w 1194325"/>
              <a:gd name="connsiteY1" fmla="*/ 1222527 h 1315833"/>
              <a:gd name="connsiteX2" fmla="*/ 37323 w 1194325"/>
              <a:gd name="connsiteY2" fmla="*/ 1147882 h 1315833"/>
              <a:gd name="connsiteX3" fmla="*/ 93306 w 1194325"/>
              <a:gd name="connsiteY3" fmla="*/ 979931 h 1315833"/>
              <a:gd name="connsiteX4" fmla="*/ 167951 w 1194325"/>
              <a:gd name="connsiteY4" fmla="*/ 821311 h 1315833"/>
              <a:gd name="connsiteX5" fmla="*/ 205274 w 1194325"/>
              <a:gd name="connsiteY5" fmla="*/ 709343 h 1315833"/>
              <a:gd name="connsiteX6" fmla="*/ 326572 w 1194325"/>
              <a:gd name="connsiteY6" fmla="*/ 541392 h 1315833"/>
              <a:gd name="connsiteX7" fmla="*/ 363894 w 1194325"/>
              <a:gd name="connsiteY7" fmla="*/ 494739 h 1315833"/>
              <a:gd name="connsiteX8" fmla="*/ 373225 w 1194325"/>
              <a:gd name="connsiteY8" fmla="*/ 466747 h 1315833"/>
              <a:gd name="connsiteX9" fmla="*/ 438539 w 1194325"/>
              <a:gd name="connsiteY9" fmla="*/ 504070 h 1315833"/>
              <a:gd name="connsiteX10" fmla="*/ 447870 w 1194325"/>
              <a:gd name="connsiteY10" fmla="*/ 560053 h 1315833"/>
              <a:gd name="connsiteX11" fmla="*/ 475862 w 1194325"/>
              <a:gd name="connsiteY11" fmla="*/ 644029 h 1315833"/>
              <a:gd name="connsiteX12" fmla="*/ 485192 w 1194325"/>
              <a:gd name="connsiteY12" fmla="*/ 746666 h 1315833"/>
              <a:gd name="connsiteX13" fmla="*/ 513184 w 1194325"/>
              <a:gd name="connsiteY13" fmla="*/ 718674 h 1315833"/>
              <a:gd name="connsiteX14" fmla="*/ 550506 w 1194325"/>
              <a:gd name="connsiteY14" fmla="*/ 653360 h 1315833"/>
              <a:gd name="connsiteX15" fmla="*/ 578498 w 1194325"/>
              <a:gd name="connsiteY15" fmla="*/ 634698 h 1315833"/>
              <a:gd name="connsiteX16" fmla="*/ 634482 w 1194325"/>
              <a:gd name="connsiteY16" fmla="*/ 616037 h 1315833"/>
              <a:gd name="connsiteX17" fmla="*/ 690466 w 1194325"/>
              <a:gd name="connsiteY17" fmla="*/ 569384 h 1315833"/>
              <a:gd name="connsiteX18" fmla="*/ 699796 w 1194325"/>
              <a:gd name="connsiteY18" fmla="*/ 541392 h 1315833"/>
              <a:gd name="connsiteX19" fmla="*/ 737119 w 1194325"/>
              <a:gd name="connsiteY19" fmla="*/ 457417 h 1315833"/>
              <a:gd name="connsiteX20" fmla="*/ 811764 w 1194325"/>
              <a:gd name="connsiteY20" fmla="*/ 345449 h 1315833"/>
              <a:gd name="connsiteX21" fmla="*/ 961053 w 1194325"/>
              <a:gd name="connsiteY21" fmla="*/ 205490 h 1315833"/>
              <a:gd name="connsiteX22" fmla="*/ 970384 w 1194325"/>
              <a:gd name="connsiteY22" fmla="*/ 177498 h 1315833"/>
              <a:gd name="connsiteX23" fmla="*/ 979715 w 1194325"/>
              <a:gd name="connsiteY23" fmla="*/ 140176 h 1315833"/>
              <a:gd name="connsiteX24" fmla="*/ 1035698 w 1194325"/>
              <a:gd name="connsiteY24" fmla="*/ 84192 h 1315833"/>
              <a:gd name="connsiteX25" fmla="*/ 1073021 w 1194325"/>
              <a:gd name="connsiteY25" fmla="*/ 56200 h 1315833"/>
              <a:gd name="connsiteX26" fmla="*/ 1119674 w 1194325"/>
              <a:gd name="connsiteY26" fmla="*/ 217 h 1315833"/>
              <a:gd name="connsiteX27" fmla="*/ 1147666 w 1194325"/>
              <a:gd name="connsiteY27" fmla="*/ 9547 h 1315833"/>
              <a:gd name="connsiteX28" fmla="*/ 1156996 w 1194325"/>
              <a:gd name="connsiteY28" fmla="*/ 37539 h 1315833"/>
              <a:gd name="connsiteX29" fmla="*/ 1194319 w 1194325"/>
              <a:gd name="connsiteY29" fmla="*/ 121515 h 13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94325" h="1315833">
                <a:moveTo>
                  <a:pt x="0" y="1315833"/>
                </a:moveTo>
                <a:cubicBezTo>
                  <a:pt x="3110" y="1284731"/>
                  <a:pt x="2550" y="1253040"/>
                  <a:pt x="9331" y="1222527"/>
                </a:cubicBezTo>
                <a:cubicBezTo>
                  <a:pt x="15096" y="1196586"/>
                  <a:pt x="28920" y="1173092"/>
                  <a:pt x="37323" y="1147882"/>
                </a:cubicBezTo>
                <a:cubicBezTo>
                  <a:pt x="72098" y="1043556"/>
                  <a:pt x="38417" y="1110292"/>
                  <a:pt x="93306" y="979931"/>
                </a:cubicBezTo>
                <a:cubicBezTo>
                  <a:pt x="154637" y="834269"/>
                  <a:pt x="107979" y="978737"/>
                  <a:pt x="167951" y="821311"/>
                </a:cubicBezTo>
                <a:cubicBezTo>
                  <a:pt x="181956" y="784547"/>
                  <a:pt x="185878" y="743571"/>
                  <a:pt x="205274" y="709343"/>
                </a:cubicBezTo>
                <a:cubicBezTo>
                  <a:pt x="239320" y="649261"/>
                  <a:pt x="285525" y="596927"/>
                  <a:pt x="326572" y="541392"/>
                </a:cubicBezTo>
                <a:cubicBezTo>
                  <a:pt x="338409" y="525377"/>
                  <a:pt x="363894" y="494739"/>
                  <a:pt x="363894" y="494739"/>
                </a:cubicBezTo>
                <a:cubicBezTo>
                  <a:pt x="367004" y="485408"/>
                  <a:pt x="366270" y="473702"/>
                  <a:pt x="373225" y="466747"/>
                </a:cubicBezTo>
                <a:cubicBezTo>
                  <a:pt x="406218" y="433755"/>
                  <a:pt x="423202" y="484898"/>
                  <a:pt x="438539" y="504070"/>
                </a:cubicBezTo>
                <a:cubicBezTo>
                  <a:pt x="441649" y="522731"/>
                  <a:pt x="442995" y="541773"/>
                  <a:pt x="447870" y="560053"/>
                </a:cubicBezTo>
                <a:cubicBezTo>
                  <a:pt x="455473" y="588563"/>
                  <a:pt x="470075" y="615096"/>
                  <a:pt x="475862" y="644029"/>
                </a:cubicBezTo>
                <a:cubicBezTo>
                  <a:pt x="482599" y="677715"/>
                  <a:pt x="482082" y="712454"/>
                  <a:pt x="485192" y="746666"/>
                </a:cubicBezTo>
                <a:cubicBezTo>
                  <a:pt x="494523" y="737335"/>
                  <a:pt x="505864" y="729653"/>
                  <a:pt x="513184" y="718674"/>
                </a:cubicBezTo>
                <a:cubicBezTo>
                  <a:pt x="555887" y="654620"/>
                  <a:pt x="471625" y="732243"/>
                  <a:pt x="550506" y="653360"/>
                </a:cubicBezTo>
                <a:cubicBezTo>
                  <a:pt x="558436" y="645430"/>
                  <a:pt x="568250" y="639253"/>
                  <a:pt x="578498" y="634698"/>
                </a:cubicBezTo>
                <a:cubicBezTo>
                  <a:pt x="596473" y="626709"/>
                  <a:pt x="634482" y="616037"/>
                  <a:pt x="634482" y="616037"/>
                </a:cubicBezTo>
                <a:cubicBezTo>
                  <a:pt x="699034" y="519207"/>
                  <a:pt x="595761" y="664089"/>
                  <a:pt x="690466" y="569384"/>
                </a:cubicBezTo>
                <a:cubicBezTo>
                  <a:pt x="697421" y="562429"/>
                  <a:pt x="696343" y="550601"/>
                  <a:pt x="699796" y="541392"/>
                </a:cubicBezTo>
                <a:cubicBezTo>
                  <a:pt x="708093" y="519265"/>
                  <a:pt x="723863" y="478627"/>
                  <a:pt x="737119" y="457417"/>
                </a:cubicBezTo>
                <a:cubicBezTo>
                  <a:pt x="760893" y="419379"/>
                  <a:pt x="780046" y="377167"/>
                  <a:pt x="811764" y="345449"/>
                </a:cubicBezTo>
                <a:cubicBezTo>
                  <a:pt x="922247" y="234966"/>
                  <a:pt x="871280" y="280302"/>
                  <a:pt x="961053" y="205490"/>
                </a:cubicBezTo>
                <a:cubicBezTo>
                  <a:pt x="964163" y="196159"/>
                  <a:pt x="967682" y="186955"/>
                  <a:pt x="970384" y="177498"/>
                </a:cubicBezTo>
                <a:cubicBezTo>
                  <a:pt x="973907" y="165168"/>
                  <a:pt x="973980" y="151646"/>
                  <a:pt x="979715" y="140176"/>
                </a:cubicBezTo>
                <a:cubicBezTo>
                  <a:pt x="998535" y="102535"/>
                  <a:pt x="1006232" y="105239"/>
                  <a:pt x="1035698" y="84192"/>
                </a:cubicBezTo>
                <a:cubicBezTo>
                  <a:pt x="1048353" y="75153"/>
                  <a:pt x="1060580" y="65531"/>
                  <a:pt x="1073021" y="56200"/>
                </a:cubicBezTo>
                <a:cubicBezTo>
                  <a:pt x="1083314" y="35615"/>
                  <a:pt x="1090899" y="5013"/>
                  <a:pt x="1119674" y="217"/>
                </a:cubicBezTo>
                <a:cubicBezTo>
                  <a:pt x="1129375" y="-1400"/>
                  <a:pt x="1138335" y="6437"/>
                  <a:pt x="1147666" y="9547"/>
                </a:cubicBezTo>
                <a:cubicBezTo>
                  <a:pt x="1150776" y="18878"/>
                  <a:pt x="1152926" y="28585"/>
                  <a:pt x="1156996" y="37539"/>
                </a:cubicBezTo>
                <a:cubicBezTo>
                  <a:pt x="1195710" y="122710"/>
                  <a:pt x="1194319" y="83500"/>
                  <a:pt x="1194319" y="12151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49" name="Kombinationstegning 48"/>
          <p:cNvSpPr/>
          <p:nvPr/>
        </p:nvSpPr>
        <p:spPr>
          <a:xfrm>
            <a:off x="3995936" y="3049271"/>
            <a:ext cx="704056" cy="1315833"/>
          </a:xfrm>
          <a:custGeom>
            <a:avLst/>
            <a:gdLst>
              <a:gd name="connsiteX0" fmla="*/ 0 w 1194325"/>
              <a:gd name="connsiteY0" fmla="*/ 1315833 h 1315833"/>
              <a:gd name="connsiteX1" fmla="*/ 9331 w 1194325"/>
              <a:gd name="connsiteY1" fmla="*/ 1222527 h 1315833"/>
              <a:gd name="connsiteX2" fmla="*/ 37323 w 1194325"/>
              <a:gd name="connsiteY2" fmla="*/ 1147882 h 1315833"/>
              <a:gd name="connsiteX3" fmla="*/ 93306 w 1194325"/>
              <a:gd name="connsiteY3" fmla="*/ 979931 h 1315833"/>
              <a:gd name="connsiteX4" fmla="*/ 167951 w 1194325"/>
              <a:gd name="connsiteY4" fmla="*/ 821311 h 1315833"/>
              <a:gd name="connsiteX5" fmla="*/ 205274 w 1194325"/>
              <a:gd name="connsiteY5" fmla="*/ 709343 h 1315833"/>
              <a:gd name="connsiteX6" fmla="*/ 326572 w 1194325"/>
              <a:gd name="connsiteY6" fmla="*/ 541392 h 1315833"/>
              <a:gd name="connsiteX7" fmla="*/ 363894 w 1194325"/>
              <a:gd name="connsiteY7" fmla="*/ 494739 h 1315833"/>
              <a:gd name="connsiteX8" fmla="*/ 373225 w 1194325"/>
              <a:gd name="connsiteY8" fmla="*/ 466747 h 1315833"/>
              <a:gd name="connsiteX9" fmla="*/ 438539 w 1194325"/>
              <a:gd name="connsiteY9" fmla="*/ 504070 h 1315833"/>
              <a:gd name="connsiteX10" fmla="*/ 447870 w 1194325"/>
              <a:gd name="connsiteY10" fmla="*/ 560053 h 1315833"/>
              <a:gd name="connsiteX11" fmla="*/ 475862 w 1194325"/>
              <a:gd name="connsiteY11" fmla="*/ 644029 h 1315833"/>
              <a:gd name="connsiteX12" fmla="*/ 485192 w 1194325"/>
              <a:gd name="connsiteY12" fmla="*/ 746666 h 1315833"/>
              <a:gd name="connsiteX13" fmla="*/ 513184 w 1194325"/>
              <a:gd name="connsiteY13" fmla="*/ 718674 h 1315833"/>
              <a:gd name="connsiteX14" fmla="*/ 550506 w 1194325"/>
              <a:gd name="connsiteY14" fmla="*/ 653360 h 1315833"/>
              <a:gd name="connsiteX15" fmla="*/ 578498 w 1194325"/>
              <a:gd name="connsiteY15" fmla="*/ 634698 h 1315833"/>
              <a:gd name="connsiteX16" fmla="*/ 634482 w 1194325"/>
              <a:gd name="connsiteY16" fmla="*/ 616037 h 1315833"/>
              <a:gd name="connsiteX17" fmla="*/ 690466 w 1194325"/>
              <a:gd name="connsiteY17" fmla="*/ 569384 h 1315833"/>
              <a:gd name="connsiteX18" fmla="*/ 699796 w 1194325"/>
              <a:gd name="connsiteY18" fmla="*/ 541392 h 1315833"/>
              <a:gd name="connsiteX19" fmla="*/ 737119 w 1194325"/>
              <a:gd name="connsiteY19" fmla="*/ 457417 h 1315833"/>
              <a:gd name="connsiteX20" fmla="*/ 811764 w 1194325"/>
              <a:gd name="connsiteY20" fmla="*/ 345449 h 1315833"/>
              <a:gd name="connsiteX21" fmla="*/ 961053 w 1194325"/>
              <a:gd name="connsiteY21" fmla="*/ 205490 h 1315833"/>
              <a:gd name="connsiteX22" fmla="*/ 970384 w 1194325"/>
              <a:gd name="connsiteY22" fmla="*/ 177498 h 1315833"/>
              <a:gd name="connsiteX23" fmla="*/ 979715 w 1194325"/>
              <a:gd name="connsiteY23" fmla="*/ 140176 h 1315833"/>
              <a:gd name="connsiteX24" fmla="*/ 1035698 w 1194325"/>
              <a:gd name="connsiteY24" fmla="*/ 84192 h 1315833"/>
              <a:gd name="connsiteX25" fmla="*/ 1073021 w 1194325"/>
              <a:gd name="connsiteY25" fmla="*/ 56200 h 1315833"/>
              <a:gd name="connsiteX26" fmla="*/ 1119674 w 1194325"/>
              <a:gd name="connsiteY26" fmla="*/ 217 h 1315833"/>
              <a:gd name="connsiteX27" fmla="*/ 1147666 w 1194325"/>
              <a:gd name="connsiteY27" fmla="*/ 9547 h 1315833"/>
              <a:gd name="connsiteX28" fmla="*/ 1156996 w 1194325"/>
              <a:gd name="connsiteY28" fmla="*/ 37539 h 1315833"/>
              <a:gd name="connsiteX29" fmla="*/ 1194319 w 1194325"/>
              <a:gd name="connsiteY29" fmla="*/ 121515 h 13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94325" h="1315833">
                <a:moveTo>
                  <a:pt x="0" y="1315833"/>
                </a:moveTo>
                <a:cubicBezTo>
                  <a:pt x="3110" y="1284731"/>
                  <a:pt x="2550" y="1253040"/>
                  <a:pt x="9331" y="1222527"/>
                </a:cubicBezTo>
                <a:cubicBezTo>
                  <a:pt x="15096" y="1196586"/>
                  <a:pt x="28920" y="1173092"/>
                  <a:pt x="37323" y="1147882"/>
                </a:cubicBezTo>
                <a:cubicBezTo>
                  <a:pt x="72098" y="1043556"/>
                  <a:pt x="38417" y="1110292"/>
                  <a:pt x="93306" y="979931"/>
                </a:cubicBezTo>
                <a:cubicBezTo>
                  <a:pt x="154637" y="834269"/>
                  <a:pt x="107979" y="978737"/>
                  <a:pt x="167951" y="821311"/>
                </a:cubicBezTo>
                <a:cubicBezTo>
                  <a:pt x="181956" y="784547"/>
                  <a:pt x="185878" y="743571"/>
                  <a:pt x="205274" y="709343"/>
                </a:cubicBezTo>
                <a:cubicBezTo>
                  <a:pt x="239320" y="649261"/>
                  <a:pt x="285525" y="596927"/>
                  <a:pt x="326572" y="541392"/>
                </a:cubicBezTo>
                <a:cubicBezTo>
                  <a:pt x="338409" y="525377"/>
                  <a:pt x="363894" y="494739"/>
                  <a:pt x="363894" y="494739"/>
                </a:cubicBezTo>
                <a:cubicBezTo>
                  <a:pt x="367004" y="485408"/>
                  <a:pt x="366270" y="473702"/>
                  <a:pt x="373225" y="466747"/>
                </a:cubicBezTo>
                <a:cubicBezTo>
                  <a:pt x="406218" y="433755"/>
                  <a:pt x="423202" y="484898"/>
                  <a:pt x="438539" y="504070"/>
                </a:cubicBezTo>
                <a:cubicBezTo>
                  <a:pt x="441649" y="522731"/>
                  <a:pt x="442995" y="541773"/>
                  <a:pt x="447870" y="560053"/>
                </a:cubicBezTo>
                <a:cubicBezTo>
                  <a:pt x="455473" y="588563"/>
                  <a:pt x="470075" y="615096"/>
                  <a:pt x="475862" y="644029"/>
                </a:cubicBezTo>
                <a:cubicBezTo>
                  <a:pt x="482599" y="677715"/>
                  <a:pt x="482082" y="712454"/>
                  <a:pt x="485192" y="746666"/>
                </a:cubicBezTo>
                <a:cubicBezTo>
                  <a:pt x="494523" y="737335"/>
                  <a:pt x="505864" y="729653"/>
                  <a:pt x="513184" y="718674"/>
                </a:cubicBezTo>
                <a:cubicBezTo>
                  <a:pt x="555887" y="654620"/>
                  <a:pt x="471625" y="732243"/>
                  <a:pt x="550506" y="653360"/>
                </a:cubicBezTo>
                <a:cubicBezTo>
                  <a:pt x="558436" y="645430"/>
                  <a:pt x="568250" y="639253"/>
                  <a:pt x="578498" y="634698"/>
                </a:cubicBezTo>
                <a:cubicBezTo>
                  <a:pt x="596473" y="626709"/>
                  <a:pt x="634482" y="616037"/>
                  <a:pt x="634482" y="616037"/>
                </a:cubicBezTo>
                <a:cubicBezTo>
                  <a:pt x="699034" y="519207"/>
                  <a:pt x="595761" y="664089"/>
                  <a:pt x="690466" y="569384"/>
                </a:cubicBezTo>
                <a:cubicBezTo>
                  <a:pt x="697421" y="562429"/>
                  <a:pt x="696343" y="550601"/>
                  <a:pt x="699796" y="541392"/>
                </a:cubicBezTo>
                <a:cubicBezTo>
                  <a:pt x="708093" y="519265"/>
                  <a:pt x="723863" y="478627"/>
                  <a:pt x="737119" y="457417"/>
                </a:cubicBezTo>
                <a:cubicBezTo>
                  <a:pt x="760893" y="419379"/>
                  <a:pt x="780046" y="377167"/>
                  <a:pt x="811764" y="345449"/>
                </a:cubicBezTo>
                <a:cubicBezTo>
                  <a:pt x="922247" y="234966"/>
                  <a:pt x="871280" y="280302"/>
                  <a:pt x="961053" y="205490"/>
                </a:cubicBezTo>
                <a:cubicBezTo>
                  <a:pt x="964163" y="196159"/>
                  <a:pt x="967682" y="186955"/>
                  <a:pt x="970384" y="177498"/>
                </a:cubicBezTo>
                <a:cubicBezTo>
                  <a:pt x="973907" y="165168"/>
                  <a:pt x="973980" y="151646"/>
                  <a:pt x="979715" y="140176"/>
                </a:cubicBezTo>
                <a:cubicBezTo>
                  <a:pt x="998535" y="102535"/>
                  <a:pt x="1006232" y="105239"/>
                  <a:pt x="1035698" y="84192"/>
                </a:cubicBezTo>
                <a:cubicBezTo>
                  <a:pt x="1048353" y="75153"/>
                  <a:pt x="1060580" y="65531"/>
                  <a:pt x="1073021" y="56200"/>
                </a:cubicBezTo>
                <a:cubicBezTo>
                  <a:pt x="1083314" y="35615"/>
                  <a:pt x="1090899" y="5013"/>
                  <a:pt x="1119674" y="217"/>
                </a:cubicBezTo>
                <a:cubicBezTo>
                  <a:pt x="1129375" y="-1400"/>
                  <a:pt x="1138335" y="6437"/>
                  <a:pt x="1147666" y="9547"/>
                </a:cubicBezTo>
                <a:cubicBezTo>
                  <a:pt x="1150776" y="18878"/>
                  <a:pt x="1152926" y="28585"/>
                  <a:pt x="1156996" y="37539"/>
                </a:cubicBezTo>
                <a:cubicBezTo>
                  <a:pt x="1195710" y="122710"/>
                  <a:pt x="1194319" y="83500"/>
                  <a:pt x="1194319" y="12151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51" name="Titel 1"/>
          <p:cNvSpPr txBox="1">
            <a:spLocks/>
          </p:cNvSpPr>
          <p:nvPr/>
        </p:nvSpPr>
        <p:spPr>
          <a:xfrm>
            <a:off x="4351210" y="954031"/>
            <a:ext cx="4528605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Det </a:t>
            </a:r>
            <a:r>
              <a:rPr lang="da-DK" sz="2000" b="1" i="1" dirty="0"/>
              <a:t>fælles</a:t>
            </a:r>
            <a:r>
              <a:rPr lang="da-DK" sz="2000" i="1" dirty="0"/>
              <a:t> signal undertrykkes…</a:t>
            </a:r>
          </a:p>
        </p:txBody>
      </p:sp>
      <p:cxnSp>
        <p:nvCxnSpPr>
          <p:cNvPr id="53" name="Lige pilforbindelse 52"/>
          <p:cNvCxnSpPr/>
          <p:nvPr/>
        </p:nvCxnSpPr>
        <p:spPr>
          <a:xfrm flipV="1">
            <a:off x="1066883" y="4077073"/>
            <a:ext cx="108012" cy="882578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Lige pilforbindelse 53"/>
          <p:cNvCxnSpPr>
            <a:cxnSpLocks/>
          </p:cNvCxnSpPr>
          <p:nvPr/>
        </p:nvCxnSpPr>
        <p:spPr>
          <a:xfrm flipH="1">
            <a:off x="4788024" y="1307030"/>
            <a:ext cx="401683" cy="561733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Titel 1"/>
          <p:cNvSpPr txBox="1">
            <a:spLocks/>
          </p:cNvSpPr>
          <p:nvPr/>
        </p:nvSpPr>
        <p:spPr>
          <a:xfrm>
            <a:off x="219550" y="5135715"/>
            <a:ext cx="4640481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Kun </a:t>
            </a:r>
            <a:r>
              <a:rPr lang="da-DK" sz="2000" b="1" i="1" dirty="0"/>
              <a:t>differenssignalet</a:t>
            </a:r>
            <a:r>
              <a:rPr lang="da-DK" sz="2000" i="1" dirty="0"/>
              <a:t> </a:t>
            </a:r>
            <a:r>
              <a:rPr lang="da-DK" sz="2000" i="1" dirty="0" err="1"/>
              <a:t>v</a:t>
            </a:r>
            <a:r>
              <a:rPr lang="da-DK" sz="2000" i="1" baseline="-25000" dirty="0" err="1"/>
              <a:t>d</a:t>
            </a:r>
            <a:r>
              <a:rPr lang="da-DK" sz="2000" i="1" dirty="0"/>
              <a:t> forstærkes…</a:t>
            </a:r>
          </a:p>
        </p:txBody>
      </p:sp>
      <p:sp>
        <p:nvSpPr>
          <p:cNvPr id="43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096344" cy="432048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Differensforstærker</a:t>
            </a:r>
          </a:p>
        </p:txBody>
      </p:sp>
    </p:spTree>
    <p:extLst>
      <p:ext uri="{BB962C8B-B14F-4D97-AF65-F5344CB8AC3E}">
        <p14:creationId xmlns:p14="http://schemas.microsoft.com/office/powerpoint/2010/main" val="395799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7200800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Hvor kan differentiel måling være et </a:t>
            </a:r>
            <a:r>
              <a:rPr lang="da-DK" sz="2800" b="1" i="1" dirty="0"/>
              <a:t>krav</a:t>
            </a:r>
            <a:r>
              <a:rPr lang="da-DK" sz="2800" i="1" dirty="0"/>
              <a:t>?</a:t>
            </a:r>
          </a:p>
        </p:txBody>
      </p:sp>
      <p:sp>
        <p:nvSpPr>
          <p:cNvPr id="3" name="Titel 1"/>
          <p:cNvSpPr txBox="1">
            <a:spLocks/>
          </p:cNvSpPr>
          <p:nvPr/>
        </p:nvSpPr>
        <p:spPr>
          <a:xfrm>
            <a:off x="395536" y="1340768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Eks. når en spænding ikke måles i forhold til stel</a:t>
            </a:r>
          </a:p>
        </p:txBody>
      </p:sp>
      <p:sp>
        <p:nvSpPr>
          <p:cNvPr id="14" name="Titel 1"/>
          <p:cNvSpPr txBox="1">
            <a:spLocks/>
          </p:cNvSpPr>
          <p:nvPr/>
        </p:nvSpPr>
        <p:spPr>
          <a:xfrm>
            <a:off x="5076056" y="4999076"/>
            <a:ext cx="3468641" cy="7390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Denne spænding V</a:t>
            </a:r>
            <a:r>
              <a:rPr lang="da-DK" sz="2000" i="1" baseline="-25000" dirty="0"/>
              <a:t>2</a:t>
            </a:r>
            <a:r>
              <a:rPr lang="da-DK" sz="2000" i="1" dirty="0"/>
              <a:t> er ikke refereret til stel</a:t>
            </a:r>
          </a:p>
        </p:txBody>
      </p:sp>
      <p:cxnSp>
        <p:nvCxnSpPr>
          <p:cNvPr id="15" name="Lige pilforbindelse 14"/>
          <p:cNvCxnSpPr>
            <a:cxnSpLocks/>
          </p:cNvCxnSpPr>
          <p:nvPr/>
        </p:nvCxnSpPr>
        <p:spPr>
          <a:xfrm flipH="1" flipV="1">
            <a:off x="4586666" y="3922650"/>
            <a:ext cx="1637052" cy="1064332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3" name="Gruppe 32">
            <a:extLst>
              <a:ext uri="{FF2B5EF4-FFF2-40B4-BE49-F238E27FC236}">
                <a16:creationId xmlns:a16="http://schemas.microsoft.com/office/drawing/2014/main" id="{EBA58A9A-E412-FC13-AC13-4BA4213143F6}"/>
              </a:ext>
            </a:extLst>
          </p:cNvPr>
          <p:cNvGrpSpPr/>
          <p:nvPr/>
        </p:nvGrpSpPr>
        <p:grpSpPr>
          <a:xfrm>
            <a:off x="3131840" y="2737549"/>
            <a:ext cx="1534071" cy="2252076"/>
            <a:chOff x="2355628" y="3573016"/>
            <a:chExt cx="1534071" cy="2252076"/>
          </a:xfrm>
        </p:grpSpPr>
        <p:sp>
          <p:nvSpPr>
            <p:cNvPr id="6" name="Undertitel 2">
              <a:extLst>
                <a:ext uri="{FF2B5EF4-FFF2-40B4-BE49-F238E27FC236}">
                  <a16:creationId xmlns:a16="http://schemas.microsoft.com/office/drawing/2014/main" id="{8F5FD2AA-9A63-EF4A-98F6-66D84B9EF7DF}"/>
                </a:ext>
              </a:extLst>
            </p:cNvPr>
            <p:cNvSpPr txBox="1">
              <a:spLocks/>
            </p:cNvSpPr>
            <p:nvPr/>
          </p:nvSpPr>
          <p:spPr>
            <a:xfrm>
              <a:off x="2355628" y="4387592"/>
              <a:ext cx="422339" cy="38010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600" i="1" dirty="0"/>
                <a:t>R</a:t>
              </a:r>
              <a:r>
                <a:rPr lang="da-DK" sz="1600" i="1" baseline="-25000" dirty="0"/>
                <a:t>2</a:t>
              </a:r>
              <a:endParaRPr lang="da-DK" sz="16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7" name="Lige pilforbindelse 6">
              <a:extLst>
                <a:ext uri="{FF2B5EF4-FFF2-40B4-BE49-F238E27FC236}">
                  <a16:creationId xmlns:a16="http://schemas.microsoft.com/office/drawing/2014/main" id="{8A09F958-C0F5-65A9-26FC-268ABDC80ADB}"/>
                </a:ext>
              </a:extLst>
            </p:cNvPr>
            <p:cNvCxnSpPr/>
            <p:nvPr/>
          </p:nvCxnSpPr>
          <p:spPr>
            <a:xfrm flipV="1">
              <a:off x="3347864" y="4399632"/>
              <a:ext cx="0" cy="40045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0EDA9B58-83C7-8214-AD01-8DD9D2A85010}"/>
                </a:ext>
              </a:extLst>
            </p:cNvPr>
            <p:cNvCxnSpPr/>
            <p:nvPr/>
          </p:nvCxnSpPr>
          <p:spPr>
            <a:xfrm>
              <a:off x="2795617" y="4285156"/>
              <a:ext cx="5298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forbindelse 16">
              <a:extLst>
                <a:ext uri="{FF2B5EF4-FFF2-40B4-BE49-F238E27FC236}">
                  <a16:creationId xmlns:a16="http://schemas.microsoft.com/office/drawing/2014/main" id="{CE6EB68C-F68E-D307-1078-A9E0C3C09D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4980" y="3573016"/>
              <a:ext cx="0" cy="21801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ktangel 17">
              <a:extLst>
                <a:ext uri="{FF2B5EF4-FFF2-40B4-BE49-F238E27FC236}">
                  <a16:creationId xmlns:a16="http://schemas.microsoft.com/office/drawing/2014/main" id="{018C80C9-2345-7583-48FB-99087482EE0A}"/>
                </a:ext>
              </a:extLst>
            </p:cNvPr>
            <p:cNvSpPr/>
            <p:nvPr/>
          </p:nvSpPr>
          <p:spPr>
            <a:xfrm>
              <a:off x="2689396" y="4437112"/>
              <a:ext cx="211169" cy="3378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600"/>
            </a:p>
          </p:txBody>
        </p:sp>
        <p:sp>
          <p:nvSpPr>
            <p:cNvPr id="20" name="Rektangel 19">
              <a:extLst>
                <a:ext uri="{FF2B5EF4-FFF2-40B4-BE49-F238E27FC236}">
                  <a16:creationId xmlns:a16="http://schemas.microsoft.com/office/drawing/2014/main" id="{D5782180-B7AC-15AC-F70F-45127429B65A}"/>
                </a:ext>
              </a:extLst>
            </p:cNvPr>
            <p:cNvSpPr/>
            <p:nvPr/>
          </p:nvSpPr>
          <p:spPr>
            <a:xfrm>
              <a:off x="2689396" y="5129618"/>
              <a:ext cx="211169" cy="3378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600"/>
            </a:p>
          </p:txBody>
        </p:sp>
        <p:cxnSp>
          <p:nvCxnSpPr>
            <p:cNvPr id="21" name="Lige pilforbindelse 20">
              <a:extLst>
                <a:ext uri="{FF2B5EF4-FFF2-40B4-BE49-F238E27FC236}">
                  <a16:creationId xmlns:a16="http://schemas.microsoft.com/office/drawing/2014/main" id="{A1B5A79A-6B60-D7A5-C1FE-5E4A763952F4}"/>
                </a:ext>
              </a:extLst>
            </p:cNvPr>
            <p:cNvCxnSpPr/>
            <p:nvPr/>
          </p:nvCxnSpPr>
          <p:spPr>
            <a:xfrm rot="16200000" flipV="1">
              <a:off x="2795150" y="5668725"/>
              <a:ext cx="0" cy="16893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ige pilforbindelse 21">
              <a:extLst>
                <a:ext uri="{FF2B5EF4-FFF2-40B4-BE49-F238E27FC236}">
                  <a16:creationId xmlns:a16="http://schemas.microsoft.com/office/drawing/2014/main" id="{D3F00C51-2CF3-D37E-AE83-2686BDBCA2B2}"/>
                </a:ext>
              </a:extLst>
            </p:cNvPr>
            <p:cNvCxnSpPr/>
            <p:nvPr/>
          </p:nvCxnSpPr>
          <p:spPr>
            <a:xfrm flipH="1">
              <a:off x="2731799" y="5789841"/>
              <a:ext cx="12670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ge pilforbindelse 22">
              <a:extLst>
                <a:ext uri="{FF2B5EF4-FFF2-40B4-BE49-F238E27FC236}">
                  <a16:creationId xmlns:a16="http://schemas.microsoft.com/office/drawing/2014/main" id="{4895E160-1D50-7E0A-A087-42F0928DE55A}"/>
                </a:ext>
              </a:extLst>
            </p:cNvPr>
            <p:cNvCxnSpPr/>
            <p:nvPr/>
          </p:nvCxnSpPr>
          <p:spPr>
            <a:xfrm flipH="1">
              <a:off x="2774033" y="5825092"/>
              <a:ext cx="4223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Undertitel 2">
              <a:extLst>
                <a:ext uri="{FF2B5EF4-FFF2-40B4-BE49-F238E27FC236}">
                  <a16:creationId xmlns:a16="http://schemas.microsoft.com/office/drawing/2014/main" id="{66557538-3C7A-2BD1-7B2E-37DC44A4031D}"/>
                </a:ext>
              </a:extLst>
            </p:cNvPr>
            <p:cNvSpPr txBox="1">
              <a:spLocks/>
            </p:cNvSpPr>
            <p:nvPr/>
          </p:nvSpPr>
          <p:spPr>
            <a:xfrm>
              <a:off x="3390098" y="4430681"/>
              <a:ext cx="499601" cy="38010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600" i="1" dirty="0"/>
                <a:t>V</a:t>
              </a:r>
              <a:r>
                <a:rPr lang="da-DK" sz="1600" i="1" baseline="-25000" dirty="0"/>
                <a:t>2</a:t>
              </a:r>
              <a:endParaRPr lang="da-DK" sz="16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7" name="Undertitel 2">
              <a:extLst>
                <a:ext uri="{FF2B5EF4-FFF2-40B4-BE49-F238E27FC236}">
                  <a16:creationId xmlns:a16="http://schemas.microsoft.com/office/drawing/2014/main" id="{0A66971E-2BFF-1E30-98FB-6715DD6C013C}"/>
                </a:ext>
              </a:extLst>
            </p:cNvPr>
            <p:cNvSpPr txBox="1">
              <a:spLocks/>
            </p:cNvSpPr>
            <p:nvPr/>
          </p:nvSpPr>
          <p:spPr>
            <a:xfrm>
              <a:off x="2355628" y="5079099"/>
              <a:ext cx="422339" cy="38010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600" i="1" dirty="0"/>
                <a:t>R</a:t>
              </a:r>
              <a:r>
                <a:rPr lang="da-DK" sz="1600" i="1" baseline="-25000" dirty="0"/>
                <a:t>3</a:t>
              </a:r>
              <a:endParaRPr lang="da-DK" sz="16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0" name="Rektangel 29">
              <a:extLst>
                <a:ext uri="{FF2B5EF4-FFF2-40B4-BE49-F238E27FC236}">
                  <a16:creationId xmlns:a16="http://schemas.microsoft.com/office/drawing/2014/main" id="{79EA5494-04AD-7D6F-07F1-2B8C1762288D}"/>
                </a:ext>
              </a:extLst>
            </p:cNvPr>
            <p:cNvSpPr/>
            <p:nvPr/>
          </p:nvSpPr>
          <p:spPr>
            <a:xfrm>
              <a:off x="2690264" y="3789040"/>
              <a:ext cx="211169" cy="3378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600"/>
            </a:p>
          </p:txBody>
        </p:sp>
        <p:sp>
          <p:nvSpPr>
            <p:cNvPr id="31" name="Undertitel 2">
              <a:extLst>
                <a:ext uri="{FF2B5EF4-FFF2-40B4-BE49-F238E27FC236}">
                  <a16:creationId xmlns:a16="http://schemas.microsoft.com/office/drawing/2014/main" id="{D4112931-AE22-F51F-21C4-4B602863286C}"/>
                </a:ext>
              </a:extLst>
            </p:cNvPr>
            <p:cNvSpPr txBox="1">
              <a:spLocks/>
            </p:cNvSpPr>
            <p:nvPr/>
          </p:nvSpPr>
          <p:spPr>
            <a:xfrm>
              <a:off x="2355628" y="3717032"/>
              <a:ext cx="422339" cy="38010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600" i="1" dirty="0"/>
                <a:t>R</a:t>
              </a:r>
              <a:r>
                <a:rPr lang="da-DK" sz="1600" i="1" baseline="-25000" dirty="0"/>
                <a:t>1</a:t>
              </a:r>
              <a:endParaRPr lang="da-DK" sz="16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32" name="Lige forbindelse 31">
              <a:extLst>
                <a:ext uri="{FF2B5EF4-FFF2-40B4-BE49-F238E27FC236}">
                  <a16:creationId xmlns:a16="http://schemas.microsoft.com/office/drawing/2014/main" id="{5F2838B5-6B42-95E7-48D7-DF1C80DC1ADC}"/>
                </a:ext>
              </a:extLst>
            </p:cNvPr>
            <p:cNvCxnSpPr/>
            <p:nvPr/>
          </p:nvCxnSpPr>
          <p:spPr>
            <a:xfrm>
              <a:off x="2795617" y="4941168"/>
              <a:ext cx="5298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798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029" y="2123811"/>
            <a:ext cx="6626951" cy="3158690"/>
          </a:xfrm>
          <a:prstGeom prst="rect">
            <a:avLst/>
          </a:prstGeom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251520" y="824213"/>
            <a:ext cx="1296144" cy="444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Krav?</a:t>
            </a:r>
            <a:endParaRPr lang="da-DK" sz="2400" i="1" baseline="-25000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5760640" cy="407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Balanceret</a:t>
            </a:r>
            <a:r>
              <a:rPr lang="da-DK" sz="2800" i="1" dirty="0"/>
              <a:t> måling/transmission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93467A3-F127-4CE9-9969-8E3B0FA9E7E3}"/>
              </a:ext>
            </a:extLst>
          </p:cNvPr>
          <p:cNvSpPr txBox="1">
            <a:spLocks/>
          </p:cNvSpPr>
          <p:nvPr/>
        </p:nvSpPr>
        <p:spPr>
          <a:xfrm>
            <a:off x="7164288" y="102075"/>
            <a:ext cx="1728192" cy="2921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/>
              <a:t>(</a:t>
            </a:r>
            <a:r>
              <a:rPr lang="da-DK" sz="1200" i="1" dirty="0" err="1"/>
              <a:t>Sp</a:t>
            </a:r>
            <a:r>
              <a:rPr lang="da-DK" sz="1200" i="1" dirty="0"/>
              <a:t>. 3 fra forberedelsen)</a:t>
            </a:r>
            <a:endParaRPr lang="da-DK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11473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700999"/>
            <a:ext cx="6732240" cy="2258652"/>
          </a:xfrm>
          <a:prstGeom prst="rect">
            <a:avLst/>
          </a:prstGeom>
        </p:spPr>
      </p:pic>
      <p:grpSp>
        <p:nvGrpSpPr>
          <p:cNvPr id="40" name="Gruppe 39"/>
          <p:cNvGrpSpPr/>
          <p:nvPr/>
        </p:nvGrpSpPr>
        <p:grpSpPr>
          <a:xfrm>
            <a:off x="1835696" y="1616100"/>
            <a:ext cx="1888650" cy="2821012"/>
            <a:chOff x="1835696" y="1616100"/>
            <a:chExt cx="1888650" cy="2821012"/>
          </a:xfrm>
        </p:grpSpPr>
        <p:grpSp>
          <p:nvGrpSpPr>
            <p:cNvPr id="26" name="Gruppe 25"/>
            <p:cNvGrpSpPr/>
            <p:nvPr/>
          </p:nvGrpSpPr>
          <p:grpSpPr>
            <a:xfrm>
              <a:off x="2831065" y="1628800"/>
              <a:ext cx="893281" cy="2803232"/>
              <a:chOff x="2678665" y="1628800"/>
              <a:chExt cx="893281" cy="2803232"/>
            </a:xfrm>
          </p:grpSpPr>
          <p:grpSp>
            <p:nvGrpSpPr>
              <p:cNvPr id="27" name="Gruppe 26"/>
              <p:cNvGrpSpPr/>
              <p:nvPr/>
            </p:nvGrpSpPr>
            <p:grpSpPr>
              <a:xfrm>
                <a:off x="2678665" y="1628800"/>
                <a:ext cx="893281" cy="2803232"/>
                <a:chOff x="2742615" y="1777896"/>
                <a:chExt cx="893281" cy="2803232"/>
              </a:xfrm>
            </p:grpSpPr>
            <p:grpSp>
              <p:nvGrpSpPr>
                <p:cNvPr id="29" name="Gruppe 28"/>
                <p:cNvGrpSpPr/>
                <p:nvPr/>
              </p:nvGrpSpPr>
              <p:grpSpPr>
                <a:xfrm>
                  <a:off x="2742615" y="1777896"/>
                  <a:ext cx="893281" cy="2803232"/>
                  <a:chOff x="2742615" y="1777896"/>
                  <a:chExt cx="893281" cy="2803232"/>
                </a:xfrm>
              </p:grpSpPr>
              <p:sp>
                <p:nvSpPr>
                  <p:cNvPr id="31" name="Bue 30"/>
                  <p:cNvSpPr/>
                  <p:nvPr/>
                </p:nvSpPr>
                <p:spPr>
                  <a:xfrm rot="20560558" flipH="1">
                    <a:off x="2771800" y="1988840"/>
                    <a:ext cx="864096" cy="2592288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i="1"/>
                  </a:p>
                </p:txBody>
              </p:sp>
              <p:grpSp>
                <p:nvGrpSpPr>
                  <p:cNvPr id="32" name="Gruppe 31"/>
                  <p:cNvGrpSpPr/>
                  <p:nvPr/>
                </p:nvGrpSpPr>
                <p:grpSpPr>
                  <a:xfrm rot="21422037">
                    <a:off x="2742615" y="1777896"/>
                    <a:ext cx="185901" cy="518170"/>
                    <a:chOff x="2737535" y="1777896"/>
                    <a:chExt cx="185901" cy="518170"/>
                  </a:xfrm>
                </p:grpSpPr>
                <p:cxnSp>
                  <p:nvCxnSpPr>
                    <p:cNvPr id="34" name="Lige forbindelse 33"/>
                    <p:cNvCxnSpPr/>
                    <p:nvPr/>
                  </p:nvCxnSpPr>
                  <p:spPr>
                    <a:xfrm>
                      <a:off x="2737535" y="1792010"/>
                      <a:ext cx="144016" cy="50405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Lige forbindelse 34"/>
                    <p:cNvCxnSpPr/>
                    <p:nvPr/>
                  </p:nvCxnSpPr>
                  <p:spPr>
                    <a:xfrm>
                      <a:off x="2779420" y="1777896"/>
                      <a:ext cx="144016" cy="50405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3" name="Lige forbindelse 32"/>
                  <p:cNvCxnSpPr/>
                  <p:nvPr/>
                </p:nvCxnSpPr>
                <p:spPr>
                  <a:xfrm flipV="1">
                    <a:off x="2854881" y="1839109"/>
                    <a:ext cx="557371" cy="19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0" name="Lige pilforbindelse 29"/>
                <p:cNvCxnSpPr/>
                <p:nvPr/>
              </p:nvCxnSpPr>
              <p:spPr>
                <a:xfrm flipH="1">
                  <a:off x="3059832" y="1934834"/>
                  <a:ext cx="73734" cy="2100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itel 1"/>
              <p:cNvSpPr txBox="1">
                <a:spLocks/>
              </p:cNvSpPr>
              <p:nvPr/>
            </p:nvSpPr>
            <p:spPr>
              <a:xfrm>
                <a:off x="2906808" y="1687741"/>
                <a:ext cx="448426" cy="6231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i</a:t>
                </a:r>
                <a:r>
                  <a:rPr lang="da-DK" sz="2000" i="1" baseline="-25000" dirty="0"/>
                  <a:t>n</a:t>
                </a:r>
              </a:p>
            </p:txBody>
          </p:sp>
        </p:grpSp>
        <p:grpSp>
          <p:nvGrpSpPr>
            <p:cNvPr id="39" name="Gruppe 38"/>
            <p:cNvGrpSpPr/>
            <p:nvPr/>
          </p:nvGrpSpPr>
          <p:grpSpPr>
            <a:xfrm>
              <a:off x="1835696" y="1616100"/>
              <a:ext cx="893281" cy="2821012"/>
              <a:chOff x="1835696" y="1616100"/>
              <a:chExt cx="893281" cy="2821012"/>
            </a:xfrm>
          </p:grpSpPr>
          <p:grpSp>
            <p:nvGrpSpPr>
              <p:cNvPr id="25" name="Gruppe 24"/>
              <p:cNvGrpSpPr/>
              <p:nvPr/>
            </p:nvGrpSpPr>
            <p:grpSpPr>
              <a:xfrm>
                <a:off x="1835696" y="1616100"/>
                <a:ext cx="893281" cy="2803232"/>
                <a:chOff x="2678665" y="1628800"/>
                <a:chExt cx="893281" cy="2803232"/>
              </a:xfrm>
            </p:grpSpPr>
            <p:grpSp>
              <p:nvGrpSpPr>
                <p:cNvPr id="23" name="Gruppe 22"/>
                <p:cNvGrpSpPr/>
                <p:nvPr/>
              </p:nvGrpSpPr>
              <p:grpSpPr>
                <a:xfrm>
                  <a:off x="2678665" y="1628800"/>
                  <a:ext cx="893281" cy="2803232"/>
                  <a:chOff x="2742615" y="1777896"/>
                  <a:chExt cx="893281" cy="2803232"/>
                </a:xfrm>
              </p:grpSpPr>
              <p:grpSp>
                <p:nvGrpSpPr>
                  <p:cNvPr id="17" name="Gruppe 16"/>
                  <p:cNvGrpSpPr/>
                  <p:nvPr/>
                </p:nvGrpSpPr>
                <p:grpSpPr>
                  <a:xfrm>
                    <a:off x="2742615" y="1777896"/>
                    <a:ext cx="893281" cy="2803232"/>
                    <a:chOff x="2742615" y="1777896"/>
                    <a:chExt cx="893281" cy="2803232"/>
                  </a:xfrm>
                </p:grpSpPr>
                <p:sp>
                  <p:nvSpPr>
                    <p:cNvPr id="5" name="Bue 4"/>
                    <p:cNvSpPr/>
                    <p:nvPr/>
                  </p:nvSpPr>
                  <p:spPr>
                    <a:xfrm rot="20560558" flipH="1">
                      <a:off x="2771800" y="1988840"/>
                      <a:ext cx="864096" cy="2592288"/>
                    </a:xfrm>
                    <a:prstGeom prst="arc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a-DK" i="1"/>
                    </a:p>
                  </p:txBody>
                </p:sp>
                <p:grpSp>
                  <p:nvGrpSpPr>
                    <p:cNvPr id="16" name="Gruppe 15"/>
                    <p:cNvGrpSpPr/>
                    <p:nvPr/>
                  </p:nvGrpSpPr>
                  <p:grpSpPr>
                    <a:xfrm rot="21422037">
                      <a:off x="2742615" y="1777896"/>
                      <a:ext cx="185901" cy="518170"/>
                      <a:chOff x="2737535" y="1777896"/>
                      <a:chExt cx="185901" cy="518170"/>
                    </a:xfrm>
                  </p:grpSpPr>
                  <p:cxnSp>
                    <p:nvCxnSpPr>
                      <p:cNvPr id="7" name="Lige forbindelse 6"/>
                      <p:cNvCxnSpPr/>
                      <p:nvPr/>
                    </p:nvCxnSpPr>
                    <p:spPr>
                      <a:xfrm>
                        <a:off x="2737535" y="1792010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" name="Lige forbindelse 10"/>
                      <p:cNvCxnSpPr/>
                      <p:nvPr/>
                    </p:nvCxnSpPr>
                    <p:spPr>
                      <a:xfrm>
                        <a:off x="2779420" y="1777896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3" name="Lige forbindelse 12"/>
                    <p:cNvCxnSpPr/>
                    <p:nvPr/>
                  </p:nvCxnSpPr>
                  <p:spPr>
                    <a:xfrm flipV="1">
                      <a:off x="2854881" y="1839109"/>
                      <a:ext cx="557371" cy="19145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" name="Lige pilforbindelse 18"/>
                  <p:cNvCxnSpPr/>
                  <p:nvPr/>
                </p:nvCxnSpPr>
                <p:spPr>
                  <a:xfrm flipH="1">
                    <a:off x="3059832" y="1934834"/>
                    <a:ext cx="73734" cy="2100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Titel 1"/>
                <p:cNvSpPr txBox="1">
                  <a:spLocks/>
                </p:cNvSpPr>
                <p:nvPr/>
              </p:nvSpPr>
              <p:spPr>
                <a:xfrm>
                  <a:off x="2906808" y="1687741"/>
                  <a:ext cx="448426" cy="6231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2000" i="1" dirty="0"/>
                    <a:t>i</a:t>
                  </a:r>
                  <a:r>
                    <a:rPr lang="da-DK" sz="2000" i="1" baseline="-25000" dirty="0"/>
                    <a:t>n</a:t>
                  </a:r>
                </a:p>
              </p:txBody>
            </p:sp>
          </p:grpSp>
          <p:cxnSp>
            <p:nvCxnSpPr>
              <p:cNvPr id="37" name="Lige forbindelse 36"/>
              <p:cNvCxnSpPr/>
              <p:nvPr/>
            </p:nvCxnSpPr>
            <p:spPr>
              <a:xfrm>
                <a:off x="1895004" y="3284984"/>
                <a:ext cx="372740" cy="115212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Titel 1"/>
          <p:cNvSpPr txBox="1">
            <a:spLocks/>
          </p:cNvSpPr>
          <p:nvPr/>
        </p:nvSpPr>
        <p:spPr>
          <a:xfrm>
            <a:off x="1938220" y="1175936"/>
            <a:ext cx="1337636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Støjsignal</a:t>
            </a:r>
          </a:p>
        </p:txBody>
      </p:sp>
      <p:grpSp>
        <p:nvGrpSpPr>
          <p:cNvPr id="46" name="Gruppe 45"/>
          <p:cNvGrpSpPr/>
          <p:nvPr/>
        </p:nvGrpSpPr>
        <p:grpSpPr>
          <a:xfrm>
            <a:off x="1043608" y="3429000"/>
            <a:ext cx="414915" cy="792088"/>
            <a:chOff x="1043608" y="3429000"/>
            <a:chExt cx="414915" cy="792088"/>
          </a:xfrm>
        </p:grpSpPr>
        <p:sp>
          <p:nvSpPr>
            <p:cNvPr id="42" name="Titel 1"/>
            <p:cNvSpPr txBox="1">
              <a:spLocks/>
            </p:cNvSpPr>
            <p:nvPr/>
          </p:nvSpPr>
          <p:spPr>
            <a:xfrm>
              <a:off x="1043608" y="3501008"/>
              <a:ext cx="414915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/>
                <a:t>v</a:t>
              </a:r>
              <a:r>
                <a:rPr lang="da-DK" sz="2000" i="1" baseline="-25000" dirty="0" err="1"/>
                <a:t>d</a:t>
              </a:r>
              <a:endParaRPr lang="da-DK" sz="2000" i="1" baseline="-25000" dirty="0"/>
            </a:p>
          </p:txBody>
        </p:sp>
        <p:cxnSp>
          <p:nvCxnSpPr>
            <p:cNvPr id="44" name="Lige pilforbindelse 43"/>
            <p:cNvCxnSpPr/>
            <p:nvPr/>
          </p:nvCxnSpPr>
          <p:spPr>
            <a:xfrm flipV="1">
              <a:off x="1403648" y="3429000"/>
              <a:ext cx="0" cy="7920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Kombinationstegning 47"/>
          <p:cNvSpPr/>
          <p:nvPr/>
        </p:nvSpPr>
        <p:spPr>
          <a:xfrm>
            <a:off x="3995936" y="1887812"/>
            <a:ext cx="704056" cy="1315833"/>
          </a:xfrm>
          <a:custGeom>
            <a:avLst/>
            <a:gdLst>
              <a:gd name="connsiteX0" fmla="*/ 0 w 1194325"/>
              <a:gd name="connsiteY0" fmla="*/ 1315833 h 1315833"/>
              <a:gd name="connsiteX1" fmla="*/ 9331 w 1194325"/>
              <a:gd name="connsiteY1" fmla="*/ 1222527 h 1315833"/>
              <a:gd name="connsiteX2" fmla="*/ 37323 w 1194325"/>
              <a:gd name="connsiteY2" fmla="*/ 1147882 h 1315833"/>
              <a:gd name="connsiteX3" fmla="*/ 93306 w 1194325"/>
              <a:gd name="connsiteY3" fmla="*/ 979931 h 1315833"/>
              <a:gd name="connsiteX4" fmla="*/ 167951 w 1194325"/>
              <a:gd name="connsiteY4" fmla="*/ 821311 h 1315833"/>
              <a:gd name="connsiteX5" fmla="*/ 205274 w 1194325"/>
              <a:gd name="connsiteY5" fmla="*/ 709343 h 1315833"/>
              <a:gd name="connsiteX6" fmla="*/ 326572 w 1194325"/>
              <a:gd name="connsiteY6" fmla="*/ 541392 h 1315833"/>
              <a:gd name="connsiteX7" fmla="*/ 363894 w 1194325"/>
              <a:gd name="connsiteY7" fmla="*/ 494739 h 1315833"/>
              <a:gd name="connsiteX8" fmla="*/ 373225 w 1194325"/>
              <a:gd name="connsiteY8" fmla="*/ 466747 h 1315833"/>
              <a:gd name="connsiteX9" fmla="*/ 438539 w 1194325"/>
              <a:gd name="connsiteY9" fmla="*/ 504070 h 1315833"/>
              <a:gd name="connsiteX10" fmla="*/ 447870 w 1194325"/>
              <a:gd name="connsiteY10" fmla="*/ 560053 h 1315833"/>
              <a:gd name="connsiteX11" fmla="*/ 475862 w 1194325"/>
              <a:gd name="connsiteY11" fmla="*/ 644029 h 1315833"/>
              <a:gd name="connsiteX12" fmla="*/ 485192 w 1194325"/>
              <a:gd name="connsiteY12" fmla="*/ 746666 h 1315833"/>
              <a:gd name="connsiteX13" fmla="*/ 513184 w 1194325"/>
              <a:gd name="connsiteY13" fmla="*/ 718674 h 1315833"/>
              <a:gd name="connsiteX14" fmla="*/ 550506 w 1194325"/>
              <a:gd name="connsiteY14" fmla="*/ 653360 h 1315833"/>
              <a:gd name="connsiteX15" fmla="*/ 578498 w 1194325"/>
              <a:gd name="connsiteY15" fmla="*/ 634698 h 1315833"/>
              <a:gd name="connsiteX16" fmla="*/ 634482 w 1194325"/>
              <a:gd name="connsiteY16" fmla="*/ 616037 h 1315833"/>
              <a:gd name="connsiteX17" fmla="*/ 690466 w 1194325"/>
              <a:gd name="connsiteY17" fmla="*/ 569384 h 1315833"/>
              <a:gd name="connsiteX18" fmla="*/ 699796 w 1194325"/>
              <a:gd name="connsiteY18" fmla="*/ 541392 h 1315833"/>
              <a:gd name="connsiteX19" fmla="*/ 737119 w 1194325"/>
              <a:gd name="connsiteY19" fmla="*/ 457417 h 1315833"/>
              <a:gd name="connsiteX20" fmla="*/ 811764 w 1194325"/>
              <a:gd name="connsiteY20" fmla="*/ 345449 h 1315833"/>
              <a:gd name="connsiteX21" fmla="*/ 961053 w 1194325"/>
              <a:gd name="connsiteY21" fmla="*/ 205490 h 1315833"/>
              <a:gd name="connsiteX22" fmla="*/ 970384 w 1194325"/>
              <a:gd name="connsiteY22" fmla="*/ 177498 h 1315833"/>
              <a:gd name="connsiteX23" fmla="*/ 979715 w 1194325"/>
              <a:gd name="connsiteY23" fmla="*/ 140176 h 1315833"/>
              <a:gd name="connsiteX24" fmla="*/ 1035698 w 1194325"/>
              <a:gd name="connsiteY24" fmla="*/ 84192 h 1315833"/>
              <a:gd name="connsiteX25" fmla="*/ 1073021 w 1194325"/>
              <a:gd name="connsiteY25" fmla="*/ 56200 h 1315833"/>
              <a:gd name="connsiteX26" fmla="*/ 1119674 w 1194325"/>
              <a:gd name="connsiteY26" fmla="*/ 217 h 1315833"/>
              <a:gd name="connsiteX27" fmla="*/ 1147666 w 1194325"/>
              <a:gd name="connsiteY27" fmla="*/ 9547 h 1315833"/>
              <a:gd name="connsiteX28" fmla="*/ 1156996 w 1194325"/>
              <a:gd name="connsiteY28" fmla="*/ 37539 h 1315833"/>
              <a:gd name="connsiteX29" fmla="*/ 1194319 w 1194325"/>
              <a:gd name="connsiteY29" fmla="*/ 121515 h 13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94325" h="1315833">
                <a:moveTo>
                  <a:pt x="0" y="1315833"/>
                </a:moveTo>
                <a:cubicBezTo>
                  <a:pt x="3110" y="1284731"/>
                  <a:pt x="2550" y="1253040"/>
                  <a:pt x="9331" y="1222527"/>
                </a:cubicBezTo>
                <a:cubicBezTo>
                  <a:pt x="15096" y="1196586"/>
                  <a:pt x="28920" y="1173092"/>
                  <a:pt x="37323" y="1147882"/>
                </a:cubicBezTo>
                <a:cubicBezTo>
                  <a:pt x="72098" y="1043556"/>
                  <a:pt x="38417" y="1110292"/>
                  <a:pt x="93306" y="979931"/>
                </a:cubicBezTo>
                <a:cubicBezTo>
                  <a:pt x="154637" y="834269"/>
                  <a:pt x="107979" y="978737"/>
                  <a:pt x="167951" y="821311"/>
                </a:cubicBezTo>
                <a:cubicBezTo>
                  <a:pt x="181956" y="784547"/>
                  <a:pt x="185878" y="743571"/>
                  <a:pt x="205274" y="709343"/>
                </a:cubicBezTo>
                <a:cubicBezTo>
                  <a:pt x="239320" y="649261"/>
                  <a:pt x="285525" y="596927"/>
                  <a:pt x="326572" y="541392"/>
                </a:cubicBezTo>
                <a:cubicBezTo>
                  <a:pt x="338409" y="525377"/>
                  <a:pt x="363894" y="494739"/>
                  <a:pt x="363894" y="494739"/>
                </a:cubicBezTo>
                <a:cubicBezTo>
                  <a:pt x="367004" y="485408"/>
                  <a:pt x="366270" y="473702"/>
                  <a:pt x="373225" y="466747"/>
                </a:cubicBezTo>
                <a:cubicBezTo>
                  <a:pt x="406218" y="433755"/>
                  <a:pt x="423202" y="484898"/>
                  <a:pt x="438539" y="504070"/>
                </a:cubicBezTo>
                <a:cubicBezTo>
                  <a:pt x="441649" y="522731"/>
                  <a:pt x="442995" y="541773"/>
                  <a:pt x="447870" y="560053"/>
                </a:cubicBezTo>
                <a:cubicBezTo>
                  <a:pt x="455473" y="588563"/>
                  <a:pt x="470075" y="615096"/>
                  <a:pt x="475862" y="644029"/>
                </a:cubicBezTo>
                <a:cubicBezTo>
                  <a:pt x="482599" y="677715"/>
                  <a:pt x="482082" y="712454"/>
                  <a:pt x="485192" y="746666"/>
                </a:cubicBezTo>
                <a:cubicBezTo>
                  <a:pt x="494523" y="737335"/>
                  <a:pt x="505864" y="729653"/>
                  <a:pt x="513184" y="718674"/>
                </a:cubicBezTo>
                <a:cubicBezTo>
                  <a:pt x="555887" y="654620"/>
                  <a:pt x="471625" y="732243"/>
                  <a:pt x="550506" y="653360"/>
                </a:cubicBezTo>
                <a:cubicBezTo>
                  <a:pt x="558436" y="645430"/>
                  <a:pt x="568250" y="639253"/>
                  <a:pt x="578498" y="634698"/>
                </a:cubicBezTo>
                <a:cubicBezTo>
                  <a:pt x="596473" y="626709"/>
                  <a:pt x="634482" y="616037"/>
                  <a:pt x="634482" y="616037"/>
                </a:cubicBezTo>
                <a:cubicBezTo>
                  <a:pt x="699034" y="519207"/>
                  <a:pt x="595761" y="664089"/>
                  <a:pt x="690466" y="569384"/>
                </a:cubicBezTo>
                <a:cubicBezTo>
                  <a:pt x="697421" y="562429"/>
                  <a:pt x="696343" y="550601"/>
                  <a:pt x="699796" y="541392"/>
                </a:cubicBezTo>
                <a:cubicBezTo>
                  <a:pt x="708093" y="519265"/>
                  <a:pt x="723863" y="478627"/>
                  <a:pt x="737119" y="457417"/>
                </a:cubicBezTo>
                <a:cubicBezTo>
                  <a:pt x="760893" y="419379"/>
                  <a:pt x="780046" y="377167"/>
                  <a:pt x="811764" y="345449"/>
                </a:cubicBezTo>
                <a:cubicBezTo>
                  <a:pt x="922247" y="234966"/>
                  <a:pt x="871280" y="280302"/>
                  <a:pt x="961053" y="205490"/>
                </a:cubicBezTo>
                <a:cubicBezTo>
                  <a:pt x="964163" y="196159"/>
                  <a:pt x="967682" y="186955"/>
                  <a:pt x="970384" y="177498"/>
                </a:cubicBezTo>
                <a:cubicBezTo>
                  <a:pt x="973907" y="165168"/>
                  <a:pt x="973980" y="151646"/>
                  <a:pt x="979715" y="140176"/>
                </a:cubicBezTo>
                <a:cubicBezTo>
                  <a:pt x="998535" y="102535"/>
                  <a:pt x="1006232" y="105239"/>
                  <a:pt x="1035698" y="84192"/>
                </a:cubicBezTo>
                <a:cubicBezTo>
                  <a:pt x="1048353" y="75153"/>
                  <a:pt x="1060580" y="65531"/>
                  <a:pt x="1073021" y="56200"/>
                </a:cubicBezTo>
                <a:cubicBezTo>
                  <a:pt x="1083314" y="35615"/>
                  <a:pt x="1090899" y="5013"/>
                  <a:pt x="1119674" y="217"/>
                </a:cubicBezTo>
                <a:cubicBezTo>
                  <a:pt x="1129375" y="-1400"/>
                  <a:pt x="1138335" y="6437"/>
                  <a:pt x="1147666" y="9547"/>
                </a:cubicBezTo>
                <a:cubicBezTo>
                  <a:pt x="1150776" y="18878"/>
                  <a:pt x="1152926" y="28585"/>
                  <a:pt x="1156996" y="37539"/>
                </a:cubicBezTo>
                <a:cubicBezTo>
                  <a:pt x="1195710" y="122710"/>
                  <a:pt x="1194319" y="83500"/>
                  <a:pt x="1194319" y="12151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49" name="Kombinationstegning 48"/>
          <p:cNvSpPr/>
          <p:nvPr/>
        </p:nvSpPr>
        <p:spPr>
          <a:xfrm>
            <a:off x="3995936" y="3049271"/>
            <a:ext cx="704056" cy="1315833"/>
          </a:xfrm>
          <a:custGeom>
            <a:avLst/>
            <a:gdLst>
              <a:gd name="connsiteX0" fmla="*/ 0 w 1194325"/>
              <a:gd name="connsiteY0" fmla="*/ 1315833 h 1315833"/>
              <a:gd name="connsiteX1" fmla="*/ 9331 w 1194325"/>
              <a:gd name="connsiteY1" fmla="*/ 1222527 h 1315833"/>
              <a:gd name="connsiteX2" fmla="*/ 37323 w 1194325"/>
              <a:gd name="connsiteY2" fmla="*/ 1147882 h 1315833"/>
              <a:gd name="connsiteX3" fmla="*/ 93306 w 1194325"/>
              <a:gd name="connsiteY3" fmla="*/ 979931 h 1315833"/>
              <a:gd name="connsiteX4" fmla="*/ 167951 w 1194325"/>
              <a:gd name="connsiteY4" fmla="*/ 821311 h 1315833"/>
              <a:gd name="connsiteX5" fmla="*/ 205274 w 1194325"/>
              <a:gd name="connsiteY5" fmla="*/ 709343 h 1315833"/>
              <a:gd name="connsiteX6" fmla="*/ 326572 w 1194325"/>
              <a:gd name="connsiteY6" fmla="*/ 541392 h 1315833"/>
              <a:gd name="connsiteX7" fmla="*/ 363894 w 1194325"/>
              <a:gd name="connsiteY7" fmla="*/ 494739 h 1315833"/>
              <a:gd name="connsiteX8" fmla="*/ 373225 w 1194325"/>
              <a:gd name="connsiteY8" fmla="*/ 466747 h 1315833"/>
              <a:gd name="connsiteX9" fmla="*/ 438539 w 1194325"/>
              <a:gd name="connsiteY9" fmla="*/ 504070 h 1315833"/>
              <a:gd name="connsiteX10" fmla="*/ 447870 w 1194325"/>
              <a:gd name="connsiteY10" fmla="*/ 560053 h 1315833"/>
              <a:gd name="connsiteX11" fmla="*/ 475862 w 1194325"/>
              <a:gd name="connsiteY11" fmla="*/ 644029 h 1315833"/>
              <a:gd name="connsiteX12" fmla="*/ 485192 w 1194325"/>
              <a:gd name="connsiteY12" fmla="*/ 746666 h 1315833"/>
              <a:gd name="connsiteX13" fmla="*/ 513184 w 1194325"/>
              <a:gd name="connsiteY13" fmla="*/ 718674 h 1315833"/>
              <a:gd name="connsiteX14" fmla="*/ 550506 w 1194325"/>
              <a:gd name="connsiteY14" fmla="*/ 653360 h 1315833"/>
              <a:gd name="connsiteX15" fmla="*/ 578498 w 1194325"/>
              <a:gd name="connsiteY15" fmla="*/ 634698 h 1315833"/>
              <a:gd name="connsiteX16" fmla="*/ 634482 w 1194325"/>
              <a:gd name="connsiteY16" fmla="*/ 616037 h 1315833"/>
              <a:gd name="connsiteX17" fmla="*/ 690466 w 1194325"/>
              <a:gd name="connsiteY17" fmla="*/ 569384 h 1315833"/>
              <a:gd name="connsiteX18" fmla="*/ 699796 w 1194325"/>
              <a:gd name="connsiteY18" fmla="*/ 541392 h 1315833"/>
              <a:gd name="connsiteX19" fmla="*/ 737119 w 1194325"/>
              <a:gd name="connsiteY19" fmla="*/ 457417 h 1315833"/>
              <a:gd name="connsiteX20" fmla="*/ 811764 w 1194325"/>
              <a:gd name="connsiteY20" fmla="*/ 345449 h 1315833"/>
              <a:gd name="connsiteX21" fmla="*/ 961053 w 1194325"/>
              <a:gd name="connsiteY21" fmla="*/ 205490 h 1315833"/>
              <a:gd name="connsiteX22" fmla="*/ 970384 w 1194325"/>
              <a:gd name="connsiteY22" fmla="*/ 177498 h 1315833"/>
              <a:gd name="connsiteX23" fmla="*/ 979715 w 1194325"/>
              <a:gd name="connsiteY23" fmla="*/ 140176 h 1315833"/>
              <a:gd name="connsiteX24" fmla="*/ 1035698 w 1194325"/>
              <a:gd name="connsiteY24" fmla="*/ 84192 h 1315833"/>
              <a:gd name="connsiteX25" fmla="*/ 1073021 w 1194325"/>
              <a:gd name="connsiteY25" fmla="*/ 56200 h 1315833"/>
              <a:gd name="connsiteX26" fmla="*/ 1119674 w 1194325"/>
              <a:gd name="connsiteY26" fmla="*/ 217 h 1315833"/>
              <a:gd name="connsiteX27" fmla="*/ 1147666 w 1194325"/>
              <a:gd name="connsiteY27" fmla="*/ 9547 h 1315833"/>
              <a:gd name="connsiteX28" fmla="*/ 1156996 w 1194325"/>
              <a:gd name="connsiteY28" fmla="*/ 37539 h 1315833"/>
              <a:gd name="connsiteX29" fmla="*/ 1194319 w 1194325"/>
              <a:gd name="connsiteY29" fmla="*/ 121515 h 13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94325" h="1315833">
                <a:moveTo>
                  <a:pt x="0" y="1315833"/>
                </a:moveTo>
                <a:cubicBezTo>
                  <a:pt x="3110" y="1284731"/>
                  <a:pt x="2550" y="1253040"/>
                  <a:pt x="9331" y="1222527"/>
                </a:cubicBezTo>
                <a:cubicBezTo>
                  <a:pt x="15096" y="1196586"/>
                  <a:pt x="28920" y="1173092"/>
                  <a:pt x="37323" y="1147882"/>
                </a:cubicBezTo>
                <a:cubicBezTo>
                  <a:pt x="72098" y="1043556"/>
                  <a:pt x="38417" y="1110292"/>
                  <a:pt x="93306" y="979931"/>
                </a:cubicBezTo>
                <a:cubicBezTo>
                  <a:pt x="154637" y="834269"/>
                  <a:pt x="107979" y="978737"/>
                  <a:pt x="167951" y="821311"/>
                </a:cubicBezTo>
                <a:cubicBezTo>
                  <a:pt x="181956" y="784547"/>
                  <a:pt x="185878" y="743571"/>
                  <a:pt x="205274" y="709343"/>
                </a:cubicBezTo>
                <a:cubicBezTo>
                  <a:pt x="239320" y="649261"/>
                  <a:pt x="285525" y="596927"/>
                  <a:pt x="326572" y="541392"/>
                </a:cubicBezTo>
                <a:cubicBezTo>
                  <a:pt x="338409" y="525377"/>
                  <a:pt x="363894" y="494739"/>
                  <a:pt x="363894" y="494739"/>
                </a:cubicBezTo>
                <a:cubicBezTo>
                  <a:pt x="367004" y="485408"/>
                  <a:pt x="366270" y="473702"/>
                  <a:pt x="373225" y="466747"/>
                </a:cubicBezTo>
                <a:cubicBezTo>
                  <a:pt x="406218" y="433755"/>
                  <a:pt x="423202" y="484898"/>
                  <a:pt x="438539" y="504070"/>
                </a:cubicBezTo>
                <a:cubicBezTo>
                  <a:pt x="441649" y="522731"/>
                  <a:pt x="442995" y="541773"/>
                  <a:pt x="447870" y="560053"/>
                </a:cubicBezTo>
                <a:cubicBezTo>
                  <a:pt x="455473" y="588563"/>
                  <a:pt x="470075" y="615096"/>
                  <a:pt x="475862" y="644029"/>
                </a:cubicBezTo>
                <a:cubicBezTo>
                  <a:pt x="482599" y="677715"/>
                  <a:pt x="482082" y="712454"/>
                  <a:pt x="485192" y="746666"/>
                </a:cubicBezTo>
                <a:cubicBezTo>
                  <a:pt x="494523" y="737335"/>
                  <a:pt x="505864" y="729653"/>
                  <a:pt x="513184" y="718674"/>
                </a:cubicBezTo>
                <a:cubicBezTo>
                  <a:pt x="555887" y="654620"/>
                  <a:pt x="471625" y="732243"/>
                  <a:pt x="550506" y="653360"/>
                </a:cubicBezTo>
                <a:cubicBezTo>
                  <a:pt x="558436" y="645430"/>
                  <a:pt x="568250" y="639253"/>
                  <a:pt x="578498" y="634698"/>
                </a:cubicBezTo>
                <a:cubicBezTo>
                  <a:pt x="596473" y="626709"/>
                  <a:pt x="634482" y="616037"/>
                  <a:pt x="634482" y="616037"/>
                </a:cubicBezTo>
                <a:cubicBezTo>
                  <a:pt x="699034" y="519207"/>
                  <a:pt x="595761" y="664089"/>
                  <a:pt x="690466" y="569384"/>
                </a:cubicBezTo>
                <a:cubicBezTo>
                  <a:pt x="697421" y="562429"/>
                  <a:pt x="696343" y="550601"/>
                  <a:pt x="699796" y="541392"/>
                </a:cubicBezTo>
                <a:cubicBezTo>
                  <a:pt x="708093" y="519265"/>
                  <a:pt x="723863" y="478627"/>
                  <a:pt x="737119" y="457417"/>
                </a:cubicBezTo>
                <a:cubicBezTo>
                  <a:pt x="760893" y="419379"/>
                  <a:pt x="780046" y="377167"/>
                  <a:pt x="811764" y="345449"/>
                </a:cubicBezTo>
                <a:cubicBezTo>
                  <a:pt x="922247" y="234966"/>
                  <a:pt x="871280" y="280302"/>
                  <a:pt x="961053" y="205490"/>
                </a:cubicBezTo>
                <a:cubicBezTo>
                  <a:pt x="964163" y="196159"/>
                  <a:pt x="967682" y="186955"/>
                  <a:pt x="970384" y="177498"/>
                </a:cubicBezTo>
                <a:cubicBezTo>
                  <a:pt x="973907" y="165168"/>
                  <a:pt x="973980" y="151646"/>
                  <a:pt x="979715" y="140176"/>
                </a:cubicBezTo>
                <a:cubicBezTo>
                  <a:pt x="998535" y="102535"/>
                  <a:pt x="1006232" y="105239"/>
                  <a:pt x="1035698" y="84192"/>
                </a:cubicBezTo>
                <a:cubicBezTo>
                  <a:pt x="1048353" y="75153"/>
                  <a:pt x="1060580" y="65531"/>
                  <a:pt x="1073021" y="56200"/>
                </a:cubicBezTo>
                <a:cubicBezTo>
                  <a:pt x="1083314" y="35615"/>
                  <a:pt x="1090899" y="5013"/>
                  <a:pt x="1119674" y="217"/>
                </a:cubicBezTo>
                <a:cubicBezTo>
                  <a:pt x="1129375" y="-1400"/>
                  <a:pt x="1138335" y="6437"/>
                  <a:pt x="1147666" y="9547"/>
                </a:cubicBezTo>
                <a:cubicBezTo>
                  <a:pt x="1150776" y="18878"/>
                  <a:pt x="1152926" y="28585"/>
                  <a:pt x="1156996" y="37539"/>
                </a:cubicBezTo>
                <a:cubicBezTo>
                  <a:pt x="1195710" y="122710"/>
                  <a:pt x="1194319" y="83500"/>
                  <a:pt x="1194319" y="12151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51" name="Titel 1"/>
          <p:cNvSpPr txBox="1">
            <a:spLocks/>
          </p:cNvSpPr>
          <p:nvPr/>
        </p:nvSpPr>
        <p:spPr>
          <a:xfrm>
            <a:off x="4351210" y="954031"/>
            <a:ext cx="4528605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Det </a:t>
            </a:r>
            <a:r>
              <a:rPr lang="da-DK" sz="2000" b="1" i="1" dirty="0"/>
              <a:t>fælles</a:t>
            </a:r>
            <a:r>
              <a:rPr lang="da-DK" sz="2000" i="1" dirty="0"/>
              <a:t> signal undertrykkes…</a:t>
            </a:r>
          </a:p>
        </p:txBody>
      </p:sp>
      <p:cxnSp>
        <p:nvCxnSpPr>
          <p:cNvPr id="53" name="Lige pilforbindelse 52"/>
          <p:cNvCxnSpPr/>
          <p:nvPr/>
        </p:nvCxnSpPr>
        <p:spPr>
          <a:xfrm flipV="1">
            <a:off x="1066883" y="4077073"/>
            <a:ext cx="108012" cy="882578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Lige pilforbindelse 53"/>
          <p:cNvCxnSpPr>
            <a:cxnSpLocks/>
          </p:cNvCxnSpPr>
          <p:nvPr/>
        </p:nvCxnSpPr>
        <p:spPr>
          <a:xfrm flipH="1">
            <a:off x="4788024" y="1307030"/>
            <a:ext cx="401683" cy="561733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Titel 1"/>
          <p:cNvSpPr txBox="1">
            <a:spLocks/>
          </p:cNvSpPr>
          <p:nvPr/>
        </p:nvSpPr>
        <p:spPr>
          <a:xfrm>
            <a:off x="219550" y="5135715"/>
            <a:ext cx="4640481" cy="435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Kun </a:t>
            </a:r>
            <a:r>
              <a:rPr lang="da-DK" sz="2000" b="1" i="1" dirty="0"/>
              <a:t>differenssignalet</a:t>
            </a:r>
            <a:r>
              <a:rPr lang="da-DK" sz="2000" i="1" dirty="0"/>
              <a:t> </a:t>
            </a:r>
            <a:r>
              <a:rPr lang="da-DK" sz="2000" i="1" dirty="0" err="1"/>
              <a:t>v</a:t>
            </a:r>
            <a:r>
              <a:rPr lang="da-DK" sz="2000" i="1" baseline="-25000" dirty="0" err="1"/>
              <a:t>d</a:t>
            </a:r>
            <a:r>
              <a:rPr lang="da-DK" sz="2000" i="1" dirty="0"/>
              <a:t> forstærkes…</a:t>
            </a:r>
          </a:p>
        </p:txBody>
      </p:sp>
      <p:sp>
        <p:nvSpPr>
          <p:cNvPr id="43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096344" cy="432048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Differensforstærker</a:t>
            </a:r>
          </a:p>
        </p:txBody>
      </p:sp>
    </p:spTree>
    <p:extLst>
      <p:ext uri="{BB962C8B-B14F-4D97-AF65-F5344CB8AC3E}">
        <p14:creationId xmlns:p14="http://schemas.microsoft.com/office/powerpoint/2010/main" val="210697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e 27"/>
          <p:cNvGrpSpPr/>
          <p:nvPr/>
        </p:nvGrpSpPr>
        <p:grpSpPr>
          <a:xfrm>
            <a:off x="127082" y="1556792"/>
            <a:ext cx="8837406" cy="4320480"/>
            <a:chOff x="127082" y="1700808"/>
            <a:chExt cx="8837406" cy="4320480"/>
          </a:xfrm>
        </p:grpSpPr>
        <p:grpSp>
          <p:nvGrpSpPr>
            <p:cNvPr id="2" name="Gruppe 1"/>
            <p:cNvGrpSpPr/>
            <p:nvPr/>
          </p:nvGrpSpPr>
          <p:grpSpPr>
            <a:xfrm>
              <a:off x="539552" y="1700808"/>
              <a:ext cx="6696744" cy="4320480"/>
              <a:chOff x="1098682" y="764704"/>
              <a:chExt cx="6696744" cy="4320480"/>
            </a:xfrm>
          </p:grpSpPr>
          <p:pic>
            <p:nvPicPr>
              <p:cNvPr id="5" name="Billede 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3" t="4615" r="2359" b="3077"/>
              <a:stretch/>
            </p:blipFill>
            <p:spPr>
              <a:xfrm>
                <a:off x="1170690" y="764704"/>
                <a:ext cx="6624736" cy="4320480"/>
              </a:xfrm>
              <a:prstGeom prst="rect">
                <a:avLst/>
              </a:prstGeom>
            </p:spPr>
          </p:pic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1259632" y="2564904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g2</a:t>
                </a:r>
              </a:p>
            </p:txBody>
          </p:sp>
          <p:sp>
            <p:nvSpPr>
              <p:cNvPr id="7" name="Titel 1"/>
              <p:cNvSpPr txBox="1">
                <a:spLocks/>
              </p:cNvSpPr>
              <p:nvPr/>
            </p:nvSpPr>
            <p:spPr>
              <a:xfrm>
                <a:off x="2538842" y="3429000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g1</a:t>
                </a:r>
              </a:p>
            </p:txBody>
          </p:sp>
          <p:sp>
            <p:nvSpPr>
              <p:cNvPr id="8" name="Titel 1"/>
              <p:cNvSpPr txBox="1">
                <a:spLocks/>
              </p:cNvSpPr>
              <p:nvPr/>
            </p:nvSpPr>
            <p:spPr>
              <a:xfrm>
                <a:off x="1098682" y="3212976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g2</a:t>
                </a:r>
              </a:p>
            </p:txBody>
          </p:sp>
          <p:sp>
            <p:nvSpPr>
              <p:cNvPr id="9" name="Titel 1"/>
              <p:cNvSpPr txBox="1">
                <a:spLocks/>
              </p:cNvSpPr>
              <p:nvPr/>
            </p:nvSpPr>
            <p:spPr>
              <a:xfrm>
                <a:off x="2339752" y="4077072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g1</a:t>
                </a:r>
              </a:p>
            </p:txBody>
          </p:sp>
          <p:sp>
            <p:nvSpPr>
              <p:cNvPr id="10" name="Titel 1"/>
              <p:cNvSpPr txBox="1">
                <a:spLocks/>
              </p:cNvSpPr>
              <p:nvPr/>
            </p:nvSpPr>
            <p:spPr>
              <a:xfrm>
                <a:off x="5122663" y="3429000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b1</a:t>
                </a:r>
              </a:p>
            </p:txBody>
          </p:sp>
          <p:sp>
            <p:nvSpPr>
              <p:cNvPr id="11" name="Titel 1"/>
              <p:cNvSpPr txBox="1">
                <a:spLocks/>
              </p:cNvSpPr>
              <p:nvPr/>
            </p:nvSpPr>
            <p:spPr>
              <a:xfrm>
                <a:off x="6012160" y="1052736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b2</a:t>
                </a:r>
              </a:p>
            </p:txBody>
          </p:sp>
        </p:grpSp>
        <p:sp>
          <p:nvSpPr>
            <p:cNvPr id="15" name="Titel 1"/>
            <p:cNvSpPr txBox="1">
              <a:spLocks/>
            </p:cNvSpPr>
            <p:nvPr/>
          </p:nvSpPr>
          <p:spPr>
            <a:xfrm>
              <a:off x="127082" y="1910583"/>
              <a:ext cx="2500702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Generatorimpedanser</a:t>
              </a:r>
              <a:endParaRPr lang="da-DK" sz="2000" i="1" baseline="-25000" dirty="0"/>
            </a:p>
          </p:txBody>
        </p:sp>
        <p:sp>
          <p:nvSpPr>
            <p:cNvPr id="19" name="Titel 1"/>
            <p:cNvSpPr txBox="1">
              <a:spLocks/>
            </p:cNvSpPr>
            <p:nvPr/>
          </p:nvSpPr>
          <p:spPr>
            <a:xfrm>
              <a:off x="6623720" y="4177613"/>
              <a:ext cx="2340768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Indgangsimpedanser</a:t>
              </a:r>
              <a:endParaRPr lang="da-DK" sz="2000" i="1" baseline="-25000" dirty="0"/>
            </a:p>
          </p:txBody>
        </p:sp>
      </p:grpSp>
      <p:sp>
        <p:nvSpPr>
          <p:cNvPr id="22" name="Titel 1"/>
          <p:cNvSpPr txBox="1">
            <a:spLocks/>
          </p:cNvSpPr>
          <p:nvPr/>
        </p:nvSpPr>
        <p:spPr>
          <a:xfrm>
            <a:off x="35496" y="44624"/>
            <a:ext cx="5760640" cy="407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Balanceret</a:t>
            </a:r>
            <a:r>
              <a:rPr lang="da-DK" sz="2800" i="1" dirty="0"/>
              <a:t> måling/transmission</a:t>
            </a:r>
          </a:p>
        </p:txBody>
      </p: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3D901B31-D2FE-4424-9448-BB6B7CC85E7A}"/>
              </a:ext>
            </a:extLst>
          </p:cNvPr>
          <p:cNvCxnSpPr/>
          <p:nvPr/>
        </p:nvCxnSpPr>
        <p:spPr>
          <a:xfrm>
            <a:off x="899592" y="2289061"/>
            <a:ext cx="198612" cy="1073871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649B7481-EE4B-4FBC-B42C-D115E73A8546}"/>
              </a:ext>
            </a:extLst>
          </p:cNvPr>
          <p:cNvCxnSpPr/>
          <p:nvPr/>
        </p:nvCxnSpPr>
        <p:spPr>
          <a:xfrm>
            <a:off x="1098204" y="2344846"/>
            <a:ext cx="1241548" cy="1912246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A6D92E35-1CB0-497D-BC29-B509B2595E38}"/>
              </a:ext>
            </a:extLst>
          </p:cNvPr>
          <p:cNvCxnSpPr/>
          <p:nvPr/>
        </p:nvCxnSpPr>
        <p:spPr>
          <a:xfrm flipH="1" flipV="1">
            <a:off x="5740544" y="2564904"/>
            <a:ext cx="883176" cy="1510162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CCFC9A0E-E1BE-47F4-9DAA-D7FA253D2DB6}"/>
              </a:ext>
            </a:extLst>
          </p:cNvPr>
          <p:cNvCxnSpPr/>
          <p:nvPr/>
        </p:nvCxnSpPr>
        <p:spPr>
          <a:xfrm flipH="1">
            <a:off x="5283614" y="4285625"/>
            <a:ext cx="1301709" cy="228960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265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234E-9567-C16B-1980-34356BF3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e 27">
            <a:extLst>
              <a:ext uri="{FF2B5EF4-FFF2-40B4-BE49-F238E27FC236}">
                <a16:creationId xmlns:a16="http://schemas.microsoft.com/office/drawing/2014/main" id="{0C3D1F9D-8442-4110-2944-4E9E4FE374FB}"/>
              </a:ext>
            </a:extLst>
          </p:cNvPr>
          <p:cNvGrpSpPr/>
          <p:nvPr/>
        </p:nvGrpSpPr>
        <p:grpSpPr>
          <a:xfrm>
            <a:off x="127082" y="1556792"/>
            <a:ext cx="8837406" cy="4320480"/>
            <a:chOff x="127082" y="1700808"/>
            <a:chExt cx="8837406" cy="4320480"/>
          </a:xfrm>
        </p:grpSpPr>
        <p:grpSp>
          <p:nvGrpSpPr>
            <p:cNvPr id="2" name="Gruppe 1">
              <a:extLst>
                <a:ext uri="{FF2B5EF4-FFF2-40B4-BE49-F238E27FC236}">
                  <a16:creationId xmlns:a16="http://schemas.microsoft.com/office/drawing/2014/main" id="{D456781F-3F32-D75F-FBB8-FCD6D2F536D7}"/>
                </a:ext>
              </a:extLst>
            </p:cNvPr>
            <p:cNvGrpSpPr/>
            <p:nvPr/>
          </p:nvGrpSpPr>
          <p:grpSpPr>
            <a:xfrm>
              <a:off x="539552" y="1700808"/>
              <a:ext cx="6696744" cy="4320480"/>
              <a:chOff x="1098682" y="764704"/>
              <a:chExt cx="6696744" cy="4320480"/>
            </a:xfrm>
          </p:grpSpPr>
          <p:pic>
            <p:nvPicPr>
              <p:cNvPr id="5" name="Billede 4">
                <a:extLst>
                  <a:ext uri="{FF2B5EF4-FFF2-40B4-BE49-F238E27FC236}">
                    <a16:creationId xmlns:a16="http://schemas.microsoft.com/office/drawing/2014/main" id="{28AA7240-CDD0-C7F8-4144-ECE6C464BF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3" t="4615" r="2359" b="3077"/>
              <a:stretch/>
            </p:blipFill>
            <p:spPr>
              <a:xfrm>
                <a:off x="1170690" y="764704"/>
                <a:ext cx="6624736" cy="4320480"/>
              </a:xfrm>
              <a:prstGeom prst="rect">
                <a:avLst/>
              </a:prstGeom>
            </p:spPr>
          </p:pic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9E38072-6C09-84D2-73DF-75A96208AC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9632" y="2564904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g2</a:t>
                </a:r>
              </a:p>
            </p:txBody>
          </p:sp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04BA8795-AE92-9A78-88ED-473B1C7483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38842" y="3429000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g1</a:t>
                </a:r>
              </a:p>
            </p:txBody>
          </p:sp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0EEBA2AD-7132-4880-DE24-EA1C5959FA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8682" y="3212976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g2</a:t>
                </a:r>
              </a:p>
            </p:txBody>
          </p:sp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C0E10660-A73E-44B1-E502-BFD7DC5207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9752" y="4077072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g1</a:t>
                </a:r>
              </a:p>
            </p:txBody>
          </p:sp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56F80E78-111C-7773-1164-36A4B6ED85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22663" y="3429000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b1</a:t>
                </a:r>
              </a:p>
            </p:txBody>
          </p:sp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3C67EB6F-5207-C98F-BEE8-55DA10D9FE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160" y="1052736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b2</a:t>
                </a:r>
              </a:p>
            </p:txBody>
          </p:sp>
        </p:grp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AB9C1578-9575-D6F6-1394-6B2E099AA816}"/>
                </a:ext>
              </a:extLst>
            </p:cNvPr>
            <p:cNvSpPr txBox="1">
              <a:spLocks/>
            </p:cNvSpPr>
            <p:nvPr/>
          </p:nvSpPr>
          <p:spPr>
            <a:xfrm>
              <a:off x="127082" y="1910583"/>
              <a:ext cx="2500702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Generatorimpedanser</a:t>
              </a:r>
              <a:endParaRPr lang="da-DK" sz="2000" i="1" baseline="-25000" dirty="0"/>
            </a:p>
          </p:txBody>
        </p: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FE863414-DB5A-7F3A-2315-F454DC077300}"/>
                </a:ext>
              </a:extLst>
            </p:cNvPr>
            <p:cNvCxnSpPr/>
            <p:nvPr/>
          </p:nvCxnSpPr>
          <p:spPr>
            <a:xfrm>
              <a:off x="899592" y="2433077"/>
              <a:ext cx="198612" cy="1073871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44A4253F-EE05-57A2-162A-9329E5C58914}"/>
                </a:ext>
              </a:extLst>
            </p:cNvPr>
            <p:cNvCxnSpPr/>
            <p:nvPr/>
          </p:nvCxnSpPr>
          <p:spPr>
            <a:xfrm>
              <a:off x="1098204" y="2488862"/>
              <a:ext cx="1241548" cy="1912246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tel 1">
              <a:extLst>
                <a:ext uri="{FF2B5EF4-FFF2-40B4-BE49-F238E27FC236}">
                  <a16:creationId xmlns:a16="http://schemas.microsoft.com/office/drawing/2014/main" id="{3B9BCDD8-920A-D5B9-C5CB-5D819615D2C8}"/>
                </a:ext>
              </a:extLst>
            </p:cNvPr>
            <p:cNvSpPr txBox="1">
              <a:spLocks/>
            </p:cNvSpPr>
            <p:nvPr/>
          </p:nvSpPr>
          <p:spPr>
            <a:xfrm>
              <a:off x="6623720" y="4177613"/>
              <a:ext cx="2340768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Indgangsimpedanser</a:t>
              </a:r>
              <a:endParaRPr lang="da-DK" sz="2000" i="1" baseline="-25000" dirty="0"/>
            </a:p>
          </p:txBody>
        </p:sp>
        <p:cxnSp>
          <p:nvCxnSpPr>
            <p:cNvPr id="20" name="Lige pilforbindelse 19">
              <a:extLst>
                <a:ext uri="{FF2B5EF4-FFF2-40B4-BE49-F238E27FC236}">
                  <a16:creationId xmlns:a16="http://schemas.microsoft.com/office/drawing/2014/main" id="{CD614CEC-C382-42C6-D93A-F3F9169E679A}"/>
                </a:ext>
              </a:extLst>
            </p:cNvPr>
            <p:cNvCxnSpPr/>
            <p:nvPr/>
          </p:nvCxnSpPr>
          <p:spPr>
            <a:xfrm flipH="1" flipV="1">
              <a:off x="5740544" y="2708920"/>
              <a:ext cx="883176" cy="1510162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ge pilforbindelse 20">
              <a:extLst>
                <a:ext uri="{FF2B5EF4-FFF2-40B4-BE49-F238E27FC236}">
                  <a16:creationId xmlns:a16="http://schemas.microsoft.com/office/drawing/2014/main" id="{723D285A-3040-0801-2955-FA5629F81249}"/>
                </a:ext>
              </a:extLst>
            </p:cNvPr>
            <p:cNvCxnSpPr/>
            <p:nvPr/>
          </p:nvCxnSpPr>
          <p:spPr>
            <a:xfrm flipH="1">
              <a:off x="5283614" y="4429641"/>
              <a:ext cx="1301709" cy="22896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itel 1">
            <a:extLst>
              <a:ext uri="{FF2B5EF4-FFF2-40B4-BE49-F238E27FC236}">
                <a16:creationId xmlns:a16="http://schemas.microsoft.com/office/drawing/2014/main" id="{19D647EC-EFAD-5FA7-152A-237D9A3C9A9E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5760640" cy="407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Balanceret</a:t>
            </a:r>
            <a:r>
              <a:rPr lang="da-DK" sz="2800" i="1" dirty="0"/>
              <a:t> måling/transmission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387CFA4B-0E77-D6B7-C1A2-94EF03D5EAB5}"/>
              </a:ext>
            </a:extLst>
          </p:cNvPr>
          <p:cNvGrpSpPr/>
          <p:nvPr/>
        </p:nvGrpSpPr>
        <p:grpSpPr>
          <a:xfrm>
            <a:off x="5004048" y="5517232"/>
            <a:ext cx="3744416" cy="504056"/>
            <a:chOff x="5004048" y="5805264"/>
            <a:chExt cx="3744416" cy="504056"/>
          </a:xfrm>
        </p:grpSpPr>
        <p:sp>
          <p:nvSpPr>
            <p:cNvPr id="29" name="Titel 1">
              <a:extLst>
                <a:ext uri="{FF2B5EF4-FFF2-40B4-BE49-F238E27FC236}">
                  <a16:creationId xmlns:a16="http://schemas.microsoft.com/office/drawing/2014/main" id="{989BD1FF-41A3-178F-341C-F526A547157E}"/>
                </a:ext>
              </a:extLst>
            </p:cNvPr>
            <p:cNvSpPr txBox="1">
              <a:spLocks/>
            </p:cNvSpPr>
            <p:nvPr/>
          </p:nvSpPr>
          <p:spPr>
            <a:xfrm>
              <a:off x="5924669" y="5805264"/>
              <a:ext cx="2823795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Z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g1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∣∣ Z</a:t>
              </a:r>
              <a:r>
                <a:rPr lang="da-DK" sz="2400" i="1" baseline="-25000" dirty="0">
                  <a:solidFill>
                    <a:srgbClr val="FF0000"/>
                  </a:solidFill>
                  <a:ea typeface="Cambria Math"/>
                </a:rPr>
                <a:t>b1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 = </a:t>
              </a:r>
              <a:r>
                <a:rPr lang="da-DK" sz="2400" i="1" dirty="0">
                  <a:solidFill>
                    <a:srgbClr val="FF0000"/>
                  </a:solidFill>
                </a:rPr>
                <a:t>Z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g2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∣∣ Z</a:t>
              </a:r>
              <a:r>
                <a:rPr lang="da-DK" sz="2400" i="1" baseline="-25000" dirty="0">
                  <a:solidFill>
                    <a:srgbClr val="FF0000"/>
                  </a:solidFill>
                  <a:ea typeface="Cambria Math"/>
                </a:rPr>
                <a:t>b2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 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sp>
          <p:nvSpPr>
            <p:cNvPr id="24" name="Titel 1">
              <a:extLst>
                <a:ext uri="{FF2B5EF4-FFF2-40B4-BE49-F238E27FC236}">
                  <a16:creationId xmlns:a16="http://schemas.microsoft.com/office/drawing/2014/main" id="{3120303F-C1A2-FCB8-212F-D89A2165B1B0}"/>
                </a:ext>
              </a:extLst>
            </p:cNvPr>
            <p:cNvSpPr txBox="1">
              <a:spLocks/>
            </p:cNvSpPr>
            <p:nvPr/>
          </p:nvSpPr>
          <p:spPr>
            <a:xfrm>
              <a:off x="5004048" y="5835019"/>
              <a:ext cx="936104" cy="4445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2400" i="1" dirty="0"/>
                <a:t>Krav:</a:t>
              </a:r>
              <a:endParaRPr lang="da-DK" sz="2400" i="1" baseline="-25000" dirty="0"/>
            </a:p>
          </p:txBody>
        </p:sp>
      </p:grpSp>
      <p:grpSp>
        <p:nvGrpSpPr>
          <p:cNvPr id="39" name="Gruppe 38">
            <a:extLst>
              <a:ext uri="{FF2B5EF4-FFF2-40B4-BE49-F238E27FC236}">
                <a16:creationId xmlns:a16="http://schemas.microsoft.com/office/drawing/2014/main" id="{845651B1-AE40-1B87-2919-5A280E068BE7}"/>
              </a:ext>
            </a:extLst>
          </p:cNvPr>
          <p:cNvGrpSpPr/>
          <p:nvPr/>
        </p:nvGrpSpPr>
        <p:grpSpPr>
          <a:xfrm>
            <a:off x="1475656" y="2673919"/>
            <a:ext cx="3447917" cy="1799197"/>
            <a:chOff x="1475656" y="2673919"/>
            <a:chExt cx="3447917" cy="1799197"/>
          </a:xfrm>
        </p:grpSpPr>
        <p:cxnSp>
          <p:nvCxnSpPr>
            <p:cNvPr id="23" name="Buet forbindelse 18">
              <a:extLst>
                <a:ext uri="{FF2B5EF4-FFF2-40B4-BE49-F238E27FC236}">
                  <a16:creationId xmlns:a16="http://schemas.microsoft.com/office/drawing/2014/main" id="{5EE0A647-D535-8CED-45DE-59730DAED86D}"/>
                </a:ext>
              </a:extLst>
            </p:cNvPr>
            <p:cNvCxnSpPr/>
            <p:nvPr/>
          </p:nvCxnSpPr>
          <p:spPr>
            <a:xfrm rot="5400000">
              <a:off x="2749934" y="4005064"/>
              <a:ext cx="504056" cy="432048"/>
            </a:xfrm>
            <a:prstGeom prst="curvedConnector3">
              <a:avLst>
                <a:gd name="adj1" fmla="val 869"/>
              </a:avLst>
            </a:prstGeom>
            <a:ln w="19050">
              <a:solidFill>
                <a:srgbClr val="FF0000"/>
              </a:solidFill>
              <a:prstDash val="dash"/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6" name="Gruppe 35">
              <a:extLst>
                <a:ext uri="{FF2B5EF4-FFF2-40B4-BE49-F238E27FC236}">
                  <a16:creationId xmlns:a16="http://schemas.microsoft.com/office/drawing/2014/main" id="{F451CC18-17B8-F5FD-5189-975AD2C4E61F}"/>
                </a:ext>
              </a:extLst>
            </p:cNvPr>
            <p:cNvGrpSpPr/>
            <p:nvPr/>
          </p:nvGrpSpPr>
          <p:grpSpPr>
            <a:xfrm>
              <a:off x="1475656" y="3104964"/>
              <a:ext cx="2160240" cy="504056"/>
              <a:chOff x="1475656" y="3104964"/>
              <a:chExt cx="2160240" cy="504056"/>
            </a:xfrm>
          </p:grpSpPr>
          <p:cxnSp>
            <p:nvCxnSpPr>
              <p:cNvPr id="25" name="Buet forbindelse 18">
                <a:extLst>
                  <a:ext uri="{FF2B5EF4-FFF2-40B4-BE49-F238E27FC236}">
                    <a16:creationId xmlns:a16="http://schemas.microsoft.com/office/drawing/2014/main" id="{F4BF32A1-327C-D685-8F8B-035F3AEEEE6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439652" y="3140968"/>
                <a:ext cx="504056" cy="432048"/>
              </a:xfrm>
              <a:prstGeom prst="curvedConnector3">
                <a:avLst>
                  <a:gd name="adj1" fmla="val 869"/>
                </a:avLst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Lige forbindelse 29">
                <a:extLst>
                  <a:ext uri="{FF2B5EF4-FFF2-40B4-BE49-F238E27FC236}">
                    <a16:creationId xmlns:a16="http://schemas.microsoft.com/office/drawing/2014/main" id="{D0680F89-B4F8-17BF-FEDD-3AC7E7A2A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712" y="3107139"/>
                <a:ext cx="165618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pe 36">
              <a:extLst>
                <a:ext uri="{FF2B5EF4-FFF2-40B4-BE49-F238E27FC236}">
                  <a16:creationId xmlns:a16="http://schemas.microsoft.com/office/drawing/2014/main" id="{6F84FEA0-608D-D352-D196-E49DE5FB8C32}"/>
                </a:ext>
              </a:extLst>
            </p:cNvPr>
            <p:cNvGrpSpPr/>
            <p:nvPr/>
          </p:nvGrpSpPr>
          <p:grpSpPr>
            <a:xfrm>
              <a:off x="3875296" y="2673919"/>
              <a:ext cx="1048277" cy="432048"/>
              <a:chOff x="3875296" y="2673919"/>
              <a:chExt cx="1048277" cy="432048"/>
            </a:xfrm>
          </p:grpSpPr>
          <p:cxnSp>
            <p:nvCxnSpPr>
              <p:cNvPr id="27" name="Buet forbindelse 19">
                <a:extLst>
                  <a:ext uri="{FF2B5EF4-FFF2-40B4-BE49-F238E27FC236}">
                    <a16:creationId xmlns:a16="http://schemas.microsoft.com/office/drawing/2014/main" id="{1725896F-6372-9A34-ED23-CFC0E317ABB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4419517" y="2673919"/>
                <a:ext cx="504056" cy="432048"/>
              </a:xfrm>
              <a:prstGeom prst="curvedConnector3">
                <a:avLst>
                  <a:gd name="adj1" fmla="val 869"/>
                </a:avLst>
              </a:prstGeom>
              <a:ln w="19050">
                <a:solidFill>
                  <a:srgbClr val="FF0000"/>
                </a:solidFill>
                <a:prstDash val="dash"/>
                <a:headEnd type="triangle" w="med" len="med"/>
                <a:tailEnd type="none" w="med" len="med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Lige forbindelse 30">
                <a:extLst>
                  <a:ext uri="{FF2B5EF4-FFF2-40B4-BE49-F238E27FC236}">
                    <a16:creationId xmlns:a16="http://schemas.microsoft.com/office/drawing/2014/main" id="{2F7454C1-F12F-F28D-91DE-62B10809D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5296" y="3104964"/>
                <a:ext cx="51244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uppe 37">
              <a:extLst>
                <a:ext uri="{FF2B5EF4-FFF2-40B4-BE49-F238E27FC236}">
                  <a16:creationId xmlns:a16="http://schemas.microsoft.com/office/drawing/2014/main" id="{C7FF3FFF-190F-F5E2-7814-9CE5A7B7E848}"/>
                </a:ext>
              </a:extLst>
            </p:cNvPr>
            <p:cNvGrpSpPr/>
            <p:nvPr/>
          </p:nvGrpSpPr>
          <p:grpSpPr>
            <a:xfrm>
              <a:off x="3419872" y="3968057"/>
              <a:ext cx="1311421" cy="432048"/>
              <a:chOff x="3419872" y="3968057"/>
              <a:chExt cx="1311421" cy="432048"/>
            </a:xfrm>
          </p:grpSpPr>
          <p:cxnSp>
            <p:nvCxnSpPr>
              <p:cNvPr id="26" name="Buet forbindelse 19">
                <a:extLst>
                  <a:ext uri="{FF2B5EF4-FFF2-40B4-BE49-F238E27FC236}">
                    <a16:creationId xmlns:a16="http://schemas.microsoft.com/office/drawing/2014/main" id="{460E0A42-9B40-4D5D-133A-EEEC1FEBAFBC}"/>
                  </a:ext>
                </a:extLst>
              </p:cNvPr>
              <p:cNvCxnSpPr/>
              <p:nvPr/>
            </p:nvCxnSpPr>
            <p:spPr>
              <a:xfrm rot="10800000">
                <a:off x="4227237" y="3968057"/>
                <a:ext cx="504056" cy="432048"/>
              </a:xfrm>
              <a:prstGeom prst="curvedConnector3">
                <a:avLst>
                  <a:gd name="adj1" fmla="val 869"/>
                </a:avLst>
              </a:prstGeom>
              <a:ln w="19050">
                <a:solidFill>
                  <a:srgbClr val="FF0000"/>
                </a:solidFill>
                <a:prstDash val="dash"/>
                <a:headEnd type="triangle" w="med" len="med"/>
                <a:tailEnd type="none" w="med" len="med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Lige forbindelse 31">
                <a:extLst>
                  <a:ext uri="{FF2B5EF4-FFF2-40B4-BE49-F238E27FC236}">
                    <a16:creationId xmlns:a16="http://schemas.microsoft.com/office/drawing/2014/main" id="{070E12DF-8866-7834-31C2-E1E684ECE7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872" y="3968057"/>
                <a:ext cx="754758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39541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EB236ACF-155C-405C-A4DC-9B654EF52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642"/>
            <a:ext cx="9144000" cy="638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75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367240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Parasitiske impedanser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179512" y="1052736"/>
            <a:ext cx="813690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Parasitiske impedanser kan være vanskelige at kontrollere: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FA739DA-548B-451C-B53D-7EBEABD2A7F9}"/>
              </a:ext>
            </a:extLst>
          </p:cNvPr>
          <p:cNvSpPr txBox="1">
            <a:spLocks/>
          </p:cNvSpPr>
          <p:nvPr/>
        </p:nvSpPr>
        <p:spPr>
          <a:xfrm>
            <a:off x="1763688" y="2571108"/>
            <a:ext cx="568863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- </a:t>
            </a:r>
            <a:r>
              <a:rPr lang="da-DK" sz="2400" i="1" dirty="0" err="1"/>
              <a:t>Ohmsk</a:t>
            </a:r>
            <a:r>
              <a:rPr lang="da-DK" sz="2400" i="1" dirty="0"/>
              <a:t> modstand i ledninger og printbaner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15B8D278-A9E9-482F-91E7-EA4F3073DD83}"/>
              </a:ext>
            </a:extLst>
          </p:cNvPr>
          <p:cNvSpPr txBox="1">
            <a:spLocks/>
          </p:cNvSpPr>
          <p:nvPr/>
        </p:nvSpPr>
        <p:spPr>
          <a:xfrm>
            <a:off x="1763688" y="4869160"/>
            <a:ext cx="330398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- Sprednings-induktanser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5E5523C-A358-42A2-B66E-B794767C51A8}"/>
              </a:ext>
            </a:extLst>
          </p:cNvPr>
          <p:cNvSpPr txBox="1">
            <a:spLocks/>
          </p:cNvSpPr>
          <p:nvPr/>
        </p:nvSpPr>
        <p:spPr>
          <a:xfrm>
            <a:off x="1763688" y="3720134"/>
            <a:ext cx="330398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- Sprednings-kapaciteter</a:t>
            </a:r>
          </a:p>
        </p:txBody>
      </p:sp>
    </p:spTree>
    <p:extLst>
      <p:ext uri="{BB962C8B-B14F-4D97-AF65-F5344CB8AC3E}">
        <p14:creationId xmlns:p14="http://schemas.microsoft.com/office/powerpoint/2010/main" val="2926144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0C715-8FEB-446D-9A41-5652EB63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98"/>
            <a:ext cx="9144000" cy="6750604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1A52319B-91D5-4003-A8F1-30E5BFF7E0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434" t="26761" r="1587" b="53756"/>
          <a:stretch>
            <a:fillRect/>
          </a:stretch>
        </p:blipFill>
        <p:spPr>
          <a:xfrm>
            <a:off x="6630434" y="2191319"/>
            <a:ext cx="2111194" cy="8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89A22C-0BF9-82DF-8F29-B0B193F97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98"/>
            <a:ext cx="9144000" cy="6750604"/>
          </a:xfrm>
          <a:prstGeom prst="rect">
            <a:avLst/>
          </a:prstGeom>
        </p:spPr>
      </p:pic>
      <p:pic>
        <p:nvPicPr>
          <p:cNvPr id="9" name="Billede 1" descr="A close up of a paper&#10;&#10;AI-generated content may be incorrect.">
            <a:extLst>
              <a:ext uri="{FF2B5EF4-FFF2-40B4-BE49-F238E27FC236}">
                <a16:creationId xmlns:a16="http://schemas.microsoft.com/office/drawing/2014/main" id="{2C01454C-A4A7-95FC-317A-904592ACFE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434" t="26761" r="1587" b="53756"/>
          <a:stretch>
            <a:fillRect/>
          </a:stretch>
        </p:blipFill>
        <p:spPr>
          <a:xfrm>
            <a:off x="6733873" y="2129256"/>
            <a:ext cx="2111194" cy="858467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114D8674-B220-4EF4-605B-E4930B699869}"/>
              </a:ext>
            </a:extLst>
          </p:cNvPr>
          <p:cNvSpPr/>
          <p:nvPr/>
        </p:nvSpPr>
        <p:spPr>
          <a:xfrm>
            <a:off x="6208694" y="868941"/>
            <a:ext cx="847550" cy="85045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09E3E68-4F13-0CEF-B99C-21977B0C120F}"/>
              </a:ext>
            </a:extLst>
          </p:cNvPr>
          <p:cNvSpPr/>
          <p:nvPr/>
        </p:nvSpPr>
        <p:spPr>
          <a:xfrm>
            <a:off x="7249435" y="2143200"/>
            <a:ext cx="847550" cy="85045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40D6556-8901-7A67-5B2D-5FAEA3B593A3}"/>
              </a:ext>
            </a:extLst>
          </p:cNvPr>
          <p:cNvSpPr/>
          <p:nvPr/>
        </p:nvSpPr>
        <p:spPr>
          <a:xfrm>
            <a:off x="4788024" y="6118082"/>
            <a:ext cx="847550" cy="85045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3802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37AFA812-7F27-4CE0-836B-383BCCDE1A95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439248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Eks. på spredningskapacitet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C77E8BD-49AC-4D63-9C44-50BB54D592B4}"/>
              </a:ext>
            </a:extLst>
          </p:cNvPr>
          <p:cNvSpPr txBox="1">
            <a:spLocks/>
          </p:cNvSpPr>
          <p:nvPr/>
        </p:nvSpPr>
        <p:spPr>
          <a:xfrm>
            <a:off x="647564" y="908720"/>
            <a:ext cx="7848872" cy="34563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En printbane løber parallelt over et metalchassis i en længde på 5 cm.</a:t>
            </a:r>
          </a:p>
          <a:p>
            <a:pPr algn="l"/>
            <a:r>
              <a:rPr lang="da-DK" sz="2400" i="1" dirty="0"/>
              <a:t>Bredden af printbanen er 2 mm. Printet er af epoxy typen.</a:t>
            </a:r>
            <a:br>
              <a:rPr lang="da-DK" sz="2400" i="1" dirty="0"/>
            </a:br>
            <a:r>
              <a:rPr lang="da-DK" sz="2400" i="1" dirty="0"/>
              <a:t>(</a:t>
            </a:r>
            <a:r>
              <a:rPr lang="el-GR" sz="2400" i="1" dirty="0"/>
              <a:t>ϵ</a:t>
            </a:r>
            <a:r>
              <a:rPr lang="en-US" sz="2400" i="1" baseline="-25000" dirty="0"/>
              <a:t>r</a:t>
            </a:r>
            <a:r>
              <a:rPr lang="en-US" sz="2400" i="1" dirty="0"/>
              <a:t> = 3,6)</a:t>
            </a:r>
          </a:p>
          <a:p>
            <a:pPr algn="l"/>
            <a:endParaRPr lang="da-DK" sz="2400" i="1" dirty="0"/>
          </a:p>
          <a:p>
            <a:pPr algn="l"/>
            <a:r>
              <a:rPr lang="da-DK" sz="2400" i="1" dirty="0"/>
              <a:t>Afstand mellem printbane og metalchassis er 2 mm.</a:t>
            </a:r>
          </a:p>
          <a:p>
            <a:pPr algn="l"/>
            <a:endParaRPr lang="da-DK" sz="2400" i="1" dirty="0"/>
          </a:p>
          <a:p>
            <a:pPr algn="l"/>
            <a:r>
              <a:rPr lang="da-DK" sz="2400" i="1" dirty="0"/>
              <a:t>Situationen kan modelmæssigt betragtes som en pladekondensator.</a:t>
            </a:r>
          </a:p>
          <a:p>
            <a:pPr algn="l"/>
            <a:endParaRPr lang="da-DK" sz="2400" i="1" dirty="0"/>
          </a:p>
          <a:p>
            <a:pPr algn="l"/>
            <a:r>
              <a:rPr lang="da-DK" sz="2400" i="1" dirty="0"/>
              <a:t>Beregn spredningskapaciteten.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EDAF02B-0AA4-4886-A436-273CB74A26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797152"/>
            <a:ext cx="1296144" cy="1296144"/>
          </a:xfrm>
          <a:prstGeom prst="rect">
            <a:avLst/>
          </a:prstGeom>
        </p:spPr>
      </p:pic>
      <p:grpSp>
        <p:nvGrpSpPr>
          <p:cNvPr id="4" name="Gruppe 3">
            <a:extLst>
              <a:ext uri="{FF2B5EF4-FFF2-40B4-BE49-F238E27FC236}">
                <a16:creationId xmlns:a16="http://schemas.microsoft.com/office/drawing/2014/main" id="{DF65F382-94B7-4634-DD5F-A3251412D06E}"/>
              </a:ext>
            </a:extLst>
          </p:cNvPr>
          <p:cNvGrpSpPr/>
          <p:nvPr/>
        </p:nvGrpSpPr>
        <p:grpSpPr>
          <a:xfrm>
            <a:off x="5940152" y="4598808"/>
            <a:ext cx="1825207" cy="720080"/>
            <a:chOff x="6610216" y="1484784"/>
            <a:chExt cx="1922224" cy="720080"/>
          </a:xfrm>
        </p:grpSpPr>
        <p:sp>
          <p:nvSpPr>
            <p:cNvPr id="7" name="Sky 6">
              <a:extLst>
                <a:ext uri="{FF2B5EF4-FFF2-40B4-BE49-F238E27FC236}">
                  <a16:creationId xmlns:a16="http://schemas.microsoft.com/office/drawing/2014/main" id="{9F6353B6-244B-AB6A-32F4-E0BF43DAEC4D}"/>
                </a:ext>
              </a:extLst>
            </p:cNvPr>
            <p:cNvSpPr/>
            <p:nvPr/>
          </p:nvSpPr>
          <p:spPr>
            <a:xfrm>
              <a:off x="6610216" y="1484784"/>
              <a:ext cx="1922224" cy="720080"/>
            </a:xfrm>
            <a:prstGeom prst="cloud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sp>
          <p:nvSpPr>
            <p:cNvPr id="9" name="Titel 1">
              <a:extLst>
                <a:ext uri="{FF2B5EF4-FFF2-40B4-BE49-F238E27FC236}">
                  <a16:creationId xmlns:a16="http://schemas.microsoft.com/office/drawing/2014/main" id="{8BF671AC-D3C8-479F-24E4-B8359083CDDA}"/>
                </a:ext>
              </a:extLst>
            </p:cNvPr>
            <p:cNvSpPr txBox="1">
              <a:spLocks/>
            </p:cNvSpPr>
            <p:nvPr/>
          </p:nvSpPr>
          <p:spPr>
            <a:xfrm>
              <a:off x="6788223" y="1666081"/>
              <a:ext cx="1465167" cy="2911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200" i="1" dirty="0"/>
                <a:t>Ca. 1,6 pF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21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55DCF-A703-7C6C-2F75-590D0649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e 27">
            <a:extLst>
              <a:ext uri="{FF2B5EF4-FFF2-40B4-BE49-F238E27FC236}">
                <a16:creationId xmlns:a16="http://schemas.microsoft.com/office/drawing/2014/main" id="{BF62E554-B0D4-9139-842A-40E9E911A93C}"/>
              </a:ext>
            </a:extLst>
          </p:cNvPr>
          <p:cNvGrpSpPr/>
          <p:nvPr/>
        </p:nvGrpSpPr>
        <p:grpSpPr>
          <a:xfrm>
            <a:off x="127082" y="1556792"/>
            <a:ext cx="8837406" cy="4320480"/>
            <a:chOff x="127082" y="1700808"/>
            <a:chExt cx="8837406" cy="4320480"/>
          </a:xfrm>
        </p:grpSpPr>
        <p:grpSp>
          <p:nvGrpSpPr>
            <p:cNvPr id="2" name="Gruppe 1">
              <a:extLst>
                <a:ext uri="{FF2B5EF4-FFF2-40B4-BE49-F238E27FC236}">
                  <a16:creationId xmlns:a16="http://schemas.microsoft.com/office/drawing/2014/main" id="{109ED9B1-CDCD-94BB-F559-7B224898728D}"/>
                </a:ext>
              </a:extLst>
            </p:cNvPr>
            <p:cNvGrpSpPr/>
            <p:nvPr/>
          </p:nvGrpSpPr>
          <p:grpSpPr>
            <a:xfrm>
              <a:off x="539552" y="1700808"/>
              <a:ext cx="6696744" cy="4320480"/>
              <a:chOff x="1098682" y="764704"/>
              <a:chExt cx="6696744" cy="4320480"/>
            </a:xfrm>
          </p:grpSpPr>
          <p:pic>
            <p:nvPicPr>
              <p:cNvPr id="5" name="Billede 4">
                <a:extLst>
                  <a:ext uri="{FF2B5EF4-FFF2-40B4-BE49-F238E27FC236}">
                    <a16:creationId xmlns:a16="http://schemas.microsoft.com/office/drawing/2014/main" id="{B257E755-D744-41AB-D25E-17D5BB3E62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3" t="4615" r="2359" b="3077"/>
              <a:stretch/>
            </p:blipFill>
            <p:spPr>
              <a:xfrm>
                <a:off x="1170690" y="764704"/>
                <a:ext cx="6624736" cy="4320480"/>
              </a:xfrm>
              <a:prstGeom prst="rect">
                <a:avLst/>
              </a:prstGeom>
            </p:spPr>
          </p:pic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E61B6E3-8F78-6E45-5046-1FF0258D9A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9632" y="2564904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g2</a:t>
                </a:r>
              </a:p>
            </p:txBody>
          </p:sp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550FCCAC-CF67-8C09-FBB8-77EA799A32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38842" y="3429000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g1</a:t>
                </a:r>
              </a:p>
            </p:txBody>
          </p:sp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ADDE25D-F438-CC89-CEDA-25650F188C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8682" y="3212976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g2</a:t>
                </a:r>
              </a:p>
            </p:txBody>
          </p:sp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74AD8B53-35AE-B195-DC2E-44517C2B43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9752" y="4077072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v</a:t>
                </a:r>
                <a:r>
                  <a:rPr lang="da-DK" sz="2000" i="1" baseline="-25000" dirty="0"/>
                  <a:t>g1</a:t>
                </a:r>
              </a:p>
            </p:txBody>
          </p:sp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23D0B878-DD12-3740-E89C-D19C4486DE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22663" y="3429000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b1</a:t>
                </a:r>
              </a:p>
            </p:txBody>
          </p:sp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9325327F-9CDD-2E20-BFFE-40AFED04E0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160" y="1052736"/>
                <a:ext cx="720080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/>
                  <a:t>Z</a:t>
                </a:r>
                <a:r>
                  <a:rPr lang="da-DK" sz="2000" i="1" baseline="-25000" dirty="0"/>
                  <a:t>b2</a:t>
                </a:r>
              </a:p>
            </p:txBody>
          </p:sp>
        </p:grp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46CEFAED-C417-0D88-AE8C-1E67E0A5B483}"/>
                </a:ext>
              </a:extLst>
            </p:cNvPr>
            <p:cNvSpPr txBox="1">
              <a:spLocks/>
            </p:cNvSpPr>
            <p:nvPr/>
          </p:nvSpPr>
          <p:spPr>
            <a:xfrm>
              <a:off x="127082" y="1910583"/>
              <a:ext cx="2500702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Generatorimpedanser</a:t>
              </a:r>
              <a:endParaRPr lang="da-DK" sz="2000" i="1" baseline="-25000" dirty="0"/>
            </a:p>
          </p:txBody>
        </p: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672130D2-D492-5778-2BF5-998ECA3ABA15}"/>
                </a:ext>
              </a:extLst>
            </p:cNvPr>
            <p:cNvCxnSpPr/>
            <p:nvPr/>
          </p:nvCxnSpPr>
          <p:spPr>
            <a:xfrm>
              <a:off x="899592" y="2433077"/>
              <a:ext cx="198612" cy="1073871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9D0450F7-EF22-B802-8B8D-00AA53A0816D}"/>
                </a:ext>
              </a:extLst>
            </p:cNvPr>
            <p:cNvCxnSpPr/>
            <p:nvPr/>
          </p:nvCxnSpPr>
          <p:spPr>
            <a:xfrm>
              <a:off x="1098204" y="2488862"/>
              <a:ext cx="1241548" cy="1912246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tel 1">
              <a:extLst>
                <a:ext uri="{FF2B5EF4-FFF2-40B4-BE49-F238E27FC236}">
                  <a16:creationId xmlns:a16="http://schemas.microsoft.com/office/drawing/2014/main" id="{4CC3DDE8-0452-9E91-517D-4FDCF29AB7DF}"/>
                </a:ext>
              </a:extLst>
            </p:cNvPr>
            <p:cNvSpPr txBox="1">
              <a:spLocks/>
            </p:cNvSpPr>
            <p:nvPr/>
          </p:nvSpPr>
          <p:spPr>
            <a:xfrm>
              <a:off x="6623720" y="4177613"/>
              <a:ext cx="2340768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Indgangsimpedanser</a:t>
              </a:r>
              <a:endParaRPr lang="da-DK" sz="2000" i="1" baseline="-25000" dirty="0"/>
            </a:p>
          </p:txBody>
        </p:sp>
        <p:cxnSp>
          <p:nvCxnSpPr>
            <p:cNvPr id="20" name="Lige pilforbindelse 19">
              <a:extLst>
                <a:ext uri="{FF2B5EF4-FFF2-40B4-BE49-F238E27FC236}">
                  <a16:creationId xmlns:a16="http://schemas.microsoft.com/office/drawing/2014/main" id="{103372D9-E5C5-0F85-8445-C5AAFF1D9F2E}"/>
                </a:ext>
              </a:extLst>
            </p:cNvPr>
            <p:cNvCxnSpPr/>
            <p:nvPr/>
          </p:nvCxnSpPr>
          <p:spPr>
            <a:xfrm flipH="1" flipV="1">
              <a:off x="5740544" y="2708920"/>
              <a:ext cx="883176" cy="1510162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ge pilforbindelse 20">
              <a:extLst>
                <a:ext uri="{FF2B5EF4-FFF2-40B4-BE49-F238E27FC236}">
                  <a16:creationId xmlns:a16="http://schemas.microsoft.com/office/drawing/2014/main" id="{6FCDC3D0-F566-101E-7BE7-7C7C3F20609B}"/>
                </a:ext>
              </a:extLst>
            </p:cNvPr>
            <p:cNvCxnSpPr/>
            <p:nvPr/>
          </p:nvCxnSpPr>
          <p:spPr>
            <a:xfrm flipH="1">
              <a:off x="5283614" y="4429641"/>
              <a:ext cx="1301709" cy="22896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itel 1">
            <a:extLst>
              <a:ext uri="{FF2B5EF4-FFF2-40B4-BE49-F238E27FC236}">
                <a16:creationId xmlns:a16="http://schemas.microsoft.com/office/drawing/2014/main" id="{DDEF3B58-E871-3ED8-218F-DF5A2701007F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5760640" cy="407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Balanceret</a:t>
            </a:r>
            <a:r>
              <a:rPr lang="da-DK" sz="2800" i="1" dirty="0"/>
              <a:t> måling/transmission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8D4ABDCD-4B25-BE22-187A-90BEDB5A5EFD}"/>
              </a:ext>
            </a:extLst>
          </p:cNvPr>
          <p:cNvGrpSpPr/>
          <p:nvPr/>
        </p:nvGrpSpPr>
        <p:grpSpPr>
          <a:xfrm>
            <a:off x="5004048" y="5517232"/>
            <a:ext cx="3744416" cy="504056"/>
            <a:chOff x="5004048" y="5805264"/>
            <a:chExt cx="3744416" cy="504056"/>
          </a:xfrm>
        </p:grpSpPr>
        <p:sp>
          <p:nvSpPr>
            <p:cNvPr id="29" name="Titel 1">
              <a:extLst>
                <a:ext uri="{FF2B5EF4-FFF2-40B4-BE49-F238E27FC236}">
                  <a16:creationId xmlns:a16="http://schemas.microsoft.com/office/drawing/2014/main" id="{9CF31696-6CF3-3580-DA68-05D44E139E79}"/>
                </a:ext>
              </a:extLst>
            </p:cNvPr>
            <p:cNvSpPr txBox="1">
              <a:spLocks/>
            </p:cNvSpPr>
            <p:nvPr/>
          </p:nvSpPr>
          <p:spPr>
            <a:xfrm>
              <a:off x="5924669" y="5805264"/>
              <a:ext cx="2823795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Z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g1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∣∣ Z</a:t>
              </a:r>
              <a:r>
                <a:rPr lang="da-DK" sz="2400" i="1" baseline="-25000" dirty="0">
                  <a:solidFill>
                    <a:srgbClr val="FF0000"/>
                  </a:solidFill>
                  <a:ea typeface="Cambria Math"/>
                </a:rPr>
                <a:t>b1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 = </a:t>
              </a:r>
              <a:r>
                <a:rPr lang="da-DK" sz="2400" i="1" dirty="0">
                  <a:solidFill>
                    <a:srgbClr val="FF0000"/>
                  </a:solidFill>
                </a:rPr>
                <a:t>Z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g2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∣∣ Z</a:t>
              </a:r>
              <a:r>
                <a:rPr lang="da-DK" sz="2400" i="1" baseline="-25000" dirty="0">
                  <a:solidFill>
                    <a:srgbClr val="FF0000"/>
                  </a:solidFill>
                  <a:ea typeface="Cambria Math"/>
                </a:rPr>
                <a:t>b2</a:t>
              </a:r>
              <a:r>
                <a:rPr lang="da-DK" sz="2400" i="1" dirty="0">
                  <a:solidFill>
                    <a:srgbClr val="FF0000"/>
                  </a:solidFill>
                  <a:ea typeface="Cambria Math"/>
                </a:rPr>
                <a:t> 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sp>
          <p:nvSpPr>
            <p:cNvPr id="24" name="Titel 1">
              <a:extLst>
                <a:ext uri="{FF2B5EF4-FFF2-40B4-BE49-F238E27FC236}">
                  <a16:creationId xmlns:a16="http://schemas.microsoft.com/office/drawing/2014/main" id="{725E511B-8435-C038-E05C-87E301009F10}"/>
                </a:ext>
              </a:extLst>
            </p:cNvPr>
            <p:cNvSpPr txBox="1">
              <a:spLocks/>
            </p:cNvSpPr>
            <p:nvPr/>
          </p:nvSpPr>
          <p:spPr>
            <a:xfrm>
              <a:off x="5004048" y="5835019"/>
              <a:ext cx="936104" cy="4445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2400" i="1" dirty="0"/>
                <a:t>Krav:</a:t>
              </a:r>
              <a:endParaRPr lang="da-DK" sz="2400" i="1" baseline="-25000" dirty="0"/>
            </a:p>
          </p:txBody>
        </p:sp>
      </p:grpSp>
      <p:grpSp>
        <p:nvGrpSpPr>
          <p:cNvPr id="39" name="Gruppe 38">
            <a:extLst>
              <a:ext uri="{FF2B5EF4-FFF2-40B4-BE49-F238E27FC236}">
                <a16:creationId xmlns:a16="http://schemas.microsoft.com/office/drawing/2014/main" id="{3EFC63F7-72B1-316E-5009-26769F0593A9}"/>
              </a:ext>
            </a:extLst>
          </p:cNvPr>
          <p:cNvGrpSpPr/>
          <p:nvPr/>
        </p:nvGrpSpPr>
        <p:grpSpPr>
          <a:xfrm>
            <a:off x="1475656" y="2673919"/>
            <a:ext cx="3447917" cy="1799197"/>
            <a:chOff x="1475656" y="2673919"/>
            <a:chExt cx="3447917" cy="1799197"/>
          </a:xfrm>
        </p:grpSpPr>
        <p:cxnSp>
          <p:nvCxnSpPr>
            <p:cNvPr id="23" name="Buet forbindelse 18">
              <a:extLst>
                <a:ext uri="{FF2B5EF4-FFF2-40B4-BE49-F238E27FC236}">
                  <a16:creationId xmlns:a16="http://schemas.microsoft.com/office/drawing/2014/main" id="{BEB73F33-956C-D43D-3B5F-4B6A7AD9A193}"/>
                </a:ext>
              </a:extLst>
            </p:cNvPr>
            <p:cNvCxnSpPr/>
            <p:nvPr/>
          </p:nvCxnSpPr>
          <p:spPr>
            <a:xfrm rot="5400000">
              <a:off x="2749934" y="4005064"/>
              <a:ext cx="504056" cy="432048"/>
            </a:xfrm>
            <a:prstGeom prst="curvedConnector3">
              <a:avLst>
                <a:gd name="adj1" fmla="val 869"/>
              </a:avLst>
            </a:prstGeom>
            <a:ln w="19050">
              <a:solidFill>
                <a:srgbClr val="FF0000"/>
              </a:solidFill>
              <a:prstDash val="dash"/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6" name="Gruppe 35">
              <a:extLst>
                <a:ext uri="{FF2B5EF4-FFF2-40B4-BE49-F238E27FC236}">
                  <a16:creationId xmlns:a16="http://schemas.microsoft.com/office/drawing/2014/main" id="{952A980D-C9EA-23FA-E8C9-D5A1676A30EC}"/>
                </a:ext>
              </a:extLst>
            </p:cNvPr>
            <p:cNvGrpSpPr/>
            <p:nvPr/>
          </p:nvGrpSpPr>
          <p:grpSpPr>
            <a:xfrm>
              <a:off x="1475656" y="3104964"/>
              <a:ext cx="2160240" cy="504056"/>
              <a:chOff x="1475656" y="3104964"/>
              <a:chExt cx="2160240" cy="504056"/>
            </a:xfrm>
          </p:grpSpPr>
          <p:cxnSp>
            <p:nvCxnSpPr>
              <p:cNvPr id="25" name="Buet forbindelse 18">
                <a:extLst>
                  <a:ext uri="{FF2B5EF4-FFF2-40B4-BE49-F238E27FC236}">
                    <a16:creationId xmlns:a16="http://schemas.microsoft.com/office/drawing/2014/main" id="{738C223D-B158-F78C-E597-A1B8DF9E573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439652" y="3140968"/>
                <a:ext cx="504056" cy="432048"/>
              </a:xfrm>
              <a:prstGeom prst="curvedConnector3">
                <a:avLst>
                  <a:gd name="adj1" fmla="val 869"/>
                </a:avLst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Lige forbindelse 29">
                <a:extLst>
                  <a:ext uri="{FF2B5EF4-FFF2-40B4-BE49-F238E27FC236}">
                    <a16:creationId xmlns:a16="http://schemas.microsoft.com/office/drawing/2014/main" id="{C08E44AA-506C-2503-0510-DAA22776C5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712" y="3107139"/>
                <a:ext cx="165618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pe 36">
              <a:extLst>
                <a:ext uri="{FF2B5EF4-FFF2-40B4-BE49-F238E27FC236}">
                  <a16:creationId xmlns:a16="http://schemas.microsoft.com/office/drawing/2014/main" id="{AA8C07B8-7EB2-188A-9552-FB12385825C0}"/>
                </a:ext>
              </a:extLst>
            </p:cNvPr>
            <p:cNvGrpSpPr/>
            <p:nvPr/>
          </p:nvGrpSpPr>
          <p:grpSpPr>
            <a:xfrm>
              <a:off x="3875296" y="2673919"/>
              <a:ext cx="1048277" cy="432048"/>
              <a:chOff x="3875296" y="2673919"/>
              <a:chExt cx="1048277" cy="432048"/>
            </a:xfrm>
          </p:grpSpPr>
          <p:cxnSp>
            <p:nvCxnSpPr>
              <p:cNvPr id="27" name="Buet forbindelse 19">
                <a:extLst>
                  <a:ext uri="{FF2B5EF4-FFF2-40B4-BE49-F238E27FC236}">
                    <a16:creationId xmlns:a16="http://schemas.microsoft.com/office/drawing/2014/main" id="{38FC0111-11BB-BD2D-A5DA-B26EA62111A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4419517" y="2673919"/>
                <a:ext cx="504056" cy="432048"/>
              </a:xfrm>
              <a:prstGeom prst="curvedConnector3">
                <a:avLst>
                  <a:gd name="adj1" fmla="val 869"/>
                </a:avLst>
              </a:prstGeom>
              <a:ln w="19050">
                <a:solidFill>
                  <a:srgbClr val="FF0000"/>
                </a:solidFill>
                <a:prstDash val="dash"/>
                <a:headEnd type="triangle" w="med" len="med"/>
                <a:tailEnd type="none" w="med" len="med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Lige forbindelse 30">
                <a:extLst>
                  <a:ext uri="{FF2B5EF4-FFF2-40B4-BE49-F238E27FC236}">
                    <a16:creationId xmlns:a16="http://schemas.microsoft.com/office/drawing/2014/main" id="{9843C383-1656-3334-AD78-8B32C7C5D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5296" y="3104964"/>
                <a:ext cx="51244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uppe 37">
              <a:extLst>
                <a:ext uri="{FF2B5EF4-FFF2-40B4-BE49-F238E27FC236}">
                  <a16:creationId xmlns:a16="http://schemas.microsoft.com/office/drawing/2014/main" id="{DCD6A264-934D-6315-839D-5034548C79E8}"/>
                </a:ext>
              </a:extLst>
            </p:cNvPr>
            <p:cNvGrpSpPr/>
            <p:nvPr/>
          </p:nvGrpSpPr>
          <p:grpSpPr>
            <a:xfrm>
              <a:off x="3419872" y="3968057"/>
              <a:ext cx="1311421" cy="432048"/>
              <a:chOff x="3419872" y="3968057"/>
              <a:chExt cx="1311421" cy="432048"/>
            </a:xfrm>
          </p:grpSpPr>
          <p:cxnSp>
            <p:nvCxnSpPr>
              <p:cNvPr id="26" name="Buet forbindelse 19">
                <a:extLst>
                  <a:ext uri="{FF2B5EF4-FFF2-40B4-BE49-F238E27FC236}">
                    <a16:creationId xmlns:a16="http://schemas.microsoft.com/office/drawing/2014/main" id="{EDBE6EA2-4562-905E-BCE1-06E5536D7E87}"/>
                  </a:ext>
                </a:extLst>
              </p:cNvPr>
              <p:cNvCxnSpPr/>
              <p:nvPr/>
            </p:nvCxnSpPr>
            <p:spPr>
              <a:xfrm rot="10800000">
                <a:off x="4227237" y="3968057"/>
                <a:ext cx="504056" cy="432048"/>
              </a:xfrm>
              <a:prstGeom prst="curvedConnector3">
                <a:avLst>
                  <a:gd name="adj1" fmla="val 869"/>
                </a:avLst>
              </a:prstGeom>
              <a:ln w="19050">
                <a:solidFill>
                  <a:srgbClr val="FF0000"/>
                </a:solidFill>
                <a:prstDash val="dash"/>
                <a:headEnd type="triangle" w="med" len="med"/>
                <a:tailEnd type="none" w="med" len="med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Lige forbindelse 31">
                <a:extLst>
                  <a:ext uri="{FF2B5EF4-FFF2-40B4-BE49-F238E27FC236}">
                    <a16:creationId xmlns:a16="http://schemas.microsoft.com/office/drawing/2014/main" id="{251CEA12-1EDA-E25D-77EB-B9E2EBE3E0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872" y="3968057"/>
                <a:ext cx="754758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AA57AD0D-7565-6127-BB14-C0865D17B703}"/>
              </a:ext>
            </a:extLst>
          </p:cNvPr>
          <p:cNvSpPr txBox="1">
            <a:spLocks/>
          </p:cNvSpPr>
          <p:nvPr/>
        </p:nvSpPr>
        <p:spPr>
          <a:xfrm>
            <a:off x="179512" y="6309320"/>
            <a:ext cx="7128792" cy="3872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Hvordan opnås dette bedst, når der indgår parasitiske impedanser?</a:t>
            </a:r>
            <a:endParaRPr lang="da-DK" sz="20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023909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342ABAC7-235C-43A7-A102-C17CCBDE4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28" y="1070738"/>
            <a:ext cx="6696744" cy="502255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37AFA812-7F27-4CE0-836B-383BCCDE1A95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367240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 err="1"/>
              <a:t>Rotel</a:t>
            </a:r>
            <a:r>
              <a:rPr lang="da-DK" sz="2800" i="1" dirty="0"/>
              <a:t> RB-991 top view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850659C-A2EB-4368-9CD5-A491017CDDD5}"/>
              </a:ext>
            </a:extLst>
          </p:cNvPr>
          <p:cNvSpPr txBox="1">
            <a:spLocks/>
          </p:cNvSpPr>
          <p:nvPr/>
        </p:nvSpPr>
        <p:spPr>
          <a:xfrm>
            <a:off x="2735796" y="6309320"/>
            <a:ext cx="367240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800" i="1" dirty="0"/>
              <a:t>Symmetrisk layout</a:t>
            </a:r>
          </a:p>
        </p:txBody>
      </p:sp>
    </p:spTree>
    <p:extLst>
      <p:ext uri="{BB962C8B-B14F-4D97-AF65-F5344CB8AC3E}">
        <p14:creationId xmlns:p14="http://schemas.microsoft.com/office/powerpoint/2010/main" val="3145761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179512" y="1052736"/>
            <a:ext cx="525658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C</a:t>
            </a:r>
            <a:r>
              <a:rPr lang="da-DK" sz="2400" i="1" dirty="0"/>
              <a:t>ommon </a:t>
            </a:r>
            <a:r>
              <a:rPr lang="da-DK" sz="2400" b="1" i="1" dirty="0"/>
              <a:t>M</a:t>
            </a:r>
            <a:r>
              <a:rPr lang="da-DK" sz="2400" i="1" dirty="0"/>
              <a:t>ode </a:t>
            </a:r>
            <a:r>
              <a:rPr lang="da-DK" sz="2400" b="1" i="1" dirty="0" err="1"/>
              <a:t>R</a:t>
            </a:r>
            <a:r>
              <a:rPr lang="da-DK" sz="2400" i="1" dirty="0" err="1"/>
              <a:t>ejection</a:t>
            </a:r>
            <a:r>
              <a:rPr lang="da-DK" sz="2400" i="1" dirty="0"/>
              <a:t> </a:t>
            </a:r>
            <a:r>
              <a:rPr lang="da-DK" sz="2400" b="1" i="1" dirty="0"/>
              <a:t>R</a:t>
            </a:r>
            <a:r>
              <a:rPr lang="da-DK" sz="2400" i="1" dirty="0"/>
              <a:t>atio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136815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CMRR</a:t>
            </a:r>
            <a:endParaRPr lang="da-DK" sz="2800" i="1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444647" y="1988840"/>
            <a:ext cx="8254706" cy="4171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Fortæller noget om hvor god en  forstærker er til at undertrykke </a:t>
            </a:r>
            <a:r>
              <a:rPr lang="da-DK" sz="2000" i="1" dirty="0">
                <a:solidFill>
                  <a:srgbClr val="FF0000"/>
                </a:solidFill>
              </a:rPr>
              <a:t>fælles signaler</a:t>
            </a:r>
          </a:p>
        </p:txBody>
      </p: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400ED071-5D79-BAF8-A8F6-02CF107147A8}"/>
              </a:ext>
            </a:extLst>
          </p:cNvPr>
          <p:cNvGrpSpPr/>
          <p:nvPr/>
        </p:nvGrpSpPr>
        <p:grpSpPr>
          <a:xfrm>
            <a:off x="5436096" y="348599"/>
            <a:ext cx="2952323" cy="1408273"/>
            <a:chOff x="766384" y="2749745"/>
            <a:chExt cx="7009464" cy="3343551"/>
          </a:xfrm>
        </p:grpSpPr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62E1479C-32DC-A45B-43FB-537652FB6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608" y="3834644"/>
              <a:ext cx="6732240" cy="2258652"/>
            </a:xfrm>
            <a:prstGeom prst="rect">
              <a:avLst/>
            </a:prstGeom>
          </p:spPr>
        </p:pic>
        <p:grpSp>
          <p:nvGrpSpPr>
            <p:cNvPr id="4" name="Gruppe 3">
              <a:extLst>
                <a:ext uri="{FF2B5EF4-FFF2-40B4-BE49-F238E27FC236}">
                  <a16:creationId xmlns:a16="http://schemas.microsoft.com/office/drawing/2014/main" id="{1E697CC2-D49B-746D-06CA-6D4E7C41D0AA}"/>
                </a:ext>
              </a:extLst>
            </p:cNvPr>
            <p:cNvGrpSpPr/>
            <p:nvPr/>
          </p:nvGrpSpPr>
          <p:grpSpPr>
            <a:xfrm>
              <a:off x="1835696" y="2749745"/>
              <a:ext cx="1891148" cy="2821012"/>
              <a:chOff x="1835696" y="1616100"/>
              <a:chExt cx="1891148" cy="2821012"/>
            </a:xfrm>
          </p:grpSpPr>
          <p:grpSp>
            <p:nvGrpSpPr>
              <p:cNvPr id="6" name="Gruppe 5">
                <a:extLst>
                  <a:ext uri="{FF2B5EF4-FFF2-40B4-BE49-F238E27FC236}">
                    <a16:creationId xmlns:a16="http://schemas.microsoft.com/office/drawing/2014/main" id="{177EA463-457F-BA62-3E1A-13AD713D5060}"/>
                  </a:ext>
                </a:extLst>
              </p:cNvPr>
              <p:cNvGrpSpPr/>
              <p:nvPr/>
            </p:nvGrpSpPr>
            <p:grpSpPr>
              <a:xfrm>
                <a:off x="2831065" y="1628800"/>
                <a:ext cx="895779" cy="2803232"/>
                <a:chOff x="2678665" y="1628800"/>
                <a:chExt cx="895779" cy="2803232"/>
              </a:xfrm>
            </p:grpSpPr>
            <p:grpSp>
              <p:nvGrpSpPr>
                <p:cNvPr id="21" name="Gruppe 20">
                  <a:extLst>
                    <a:ext uri="{FF2B5EF4-FFF2-40B4-BE49-F238E27FC236}">
                      <a16:creationId xmlns:a16="http://schemas.microsoft.com/office/drawing/2014/main" id="{24CC98AE-1E84-DA45-A826-70FA1550BFA3}"/>
                    </a:ext>
                  </a:extLst>
                </p:cNvPr>
                <p:cNvGrpSpPr/>
                <p:nvPr/>
              </p:nvGrpSpPr>
              <p:grpSpPr>
                <a:xfrm>
                  <a:off x="2678665" y="1628800"/>
                  <a:ext cx="893281" cy="2803232"/>
                  <a:chOff x="2742615" y="1777896"/>
                  <a:chExt cx="893281" cy="2803232"/>
                </a:xfrm>
              </p:grpSpPr>
              <p:grpSp>
                <p:nvGrpSpPr>
                  <p:cNvPr id="23" name="Gruppe 22">
                    <a:extLst>
                      <a:ext uri="{FF2B5EF4-FFF2-40B4-BE49-F238E27FC236}">
                        <a16:creationId xmlns:a16="http://schemas.microsoft.com/office/drawing/2014/main" id="{B6C8665C-9338-2663-E24A-AEC42870BC09}"/>
                      </a:ext>
                    </a:extLst>
                  </p:cNvPr>
                  <p:cNvGrpSpPr/>
                  <p:nvPr/>
                </p:nvGrpSpPr>
                <p:grpSpPr>
                  <a:xfrm>
                    <a:off x="2742615" y="1777896"/>
                    <a:ext cx="893281" cy="2803232"/>
                    <a:chOff x="2742615" y="1777896"/>
                    <a:chExt cx="893281" cy="2803232"/>
                  </a:xfrm>
                </p:grpSpPr>
                <p:sp>
                  <p:nvSpPr>
                    <p:cNvPr id="25" name="Bue 24">
                      <a:extLst>
                        <a:ext uri="{FF2B5EF4-FFF2-40B4-BE49-F238E27FC236}">
                          <a16:creationId xmlns:a16="http://schemas.microsoft.com/office/drawing/2014/main" id="{DE0B4D42-861C-ED8E-A31F-8D34CEF221C6}"/>
                        </a:ext>
                      </a:extLst>
                    </p:cNvPr>
                    <p:cNvSpPr/>
                    <p:nvPr/>
                  </p:nvSpPr>
                  <p:spPr>
                    <a:xfrm rot="20560558" flipH="1">
                      <a:off x="2771800" y="1988840"/>
                      <a:ext cx="864096" cy="2592288"/>
                    </a:xfrm>
                    <a:prstGeom prst="arc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a-DK" i="1"/>
                    </a:p>
                  </p:txBody>
                </p:sp>
                <p:grpSp>
                  <p:nvGrpSpPr>
                    <p:cNvPr id="26" name="Gruppe 25">
                      <a:extLst>
                        <a:ext uri="{FF2B5EF4-FFF2-40B4-BE49-F238E27FC236}">
                          <a16:creationId xmlns:a16="http://schemas.microsoft.com/office/drawing/2014/main" id="{1BC70D29-809F-4197-1519-7C82FBE53664}"/>
                        </a:ext>
                      </a:extLst>
                    </p:cNvPr>
                    <p:cNvGrpSpPr/>
                    <p:nvPr/>
                  </p:nvGrpSpPr>
                  <p:grpSpPr>
                    <a:xfrm rot="21422037">
                      <a:off x="2742615" y="1777896"/>
                      <a:ext cx="185901" cy="518170"/>
                      <a:chOff x="2737535" y="1777896"/>
                      <a:chExt cx="185901" cy="518170"/>
                    </a:xfrm>
                  </p:grpSpPr>
                  <p:cxnSp>
                    <p:nvCxnSpPr>
                      <p:cNvPr id="28" name="Lige forbindelse 27">
                        <a:extLst>
                          <a:ext uri="{FF2B5EF4-FFF2-40B4-BE49-F238E27FC236}">
                            <a16:creationId xmlns:a16="http://schemas.microsoft.com/office/drawing/2014/main" id="{6FCD14A7-8031-6FEE-D1A8-403D810347C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737535" y="1792010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Lige forbindelse 28">
                        <a:extLst>
                          <a:ext uri="{FF2B5EF4-FFF2-40B4-BE49-F238E27FC236}">
                            <a16:creationId xmlns:a16="http://schemas.microsoft.com/office/drawing/2014/main" id="{E5C019A5-7B1B-3D6F-90C7-CCB45F414FF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779420" y="1777896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7" name="Lige forbindelse 26">
                      <a:extLst>
                        <a:ext uri="{FF2B5EF4-FFF2-40B4-BE49-F238E27FC236}">
                          <a16:creationId xmlns:a16="http://schemas.microsoft.com/office/drawing/2014/main" id="{B50A6CCC-BC1F-C052-0A84-C9919ED00D6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854881" y="1839109"/>
                      <a:ext cx="557371" cy="19145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4" name="Lige pilforbindelse 23">
                    <a:extLst>
                      <a:ext uri="{FF2B5EF4-FFF2-40B4-BE49-F238E27FC236}">
                        <a16:creationId xmlns:a16="http://schemas.microsoft.com/office/drawing/2014/main" id="{C499FEAB-8FDD-A567-8F1B-52773172A328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059832" y="1934834"/>
                    <a:ext cx="73734" cy="2100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" name="Titel 1">
                  <a:extLst>
                    <a:ext uri="{FF2B5EF4-FFF2-40B4-BE49-F238E27FC236}">
                      <a16:creationId xmlns:a16="http://schemas.microsoft.com/office/drawing/2014/main" id="{D2CFFE35-4B14-AD6C-7901-FEE1D242DF3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06806" y="1687740"/>
                  <a:ext cx="667638" cy="6231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800" i="1" dirty="0"/>
                    <a:t>i</a:t>
                  </a:r>
                  <a:r>
                    <a:rPr lang="da-DK" sz="800" i="1" baseline="-25000" dirty="0"/>
                    <a:t>n</a:t>
                  </a:r>
                </a:p>
              </p:txBody>
            </p:sp>
          </p:grpSp>
          <p:grpSp>
            <p:nvGrpSpPr>
              <p:cNvPr id="7" name="Gruppe 6">
                <a:extLst>
                  <a:ext uri="{FF2B5EF4-FFF2-40B4-BE49-F238E27FC236}">
                    <a16:creationId xmlns:a16="http://schemas.microsoft.com/office/drawing/2014/main" id="{57436FDE-D8D8-6C3C-AD71-97DDC05B6766}"/>
                  </a:ext>
                </a:extLst>
              </p:cNvPr>
              <p:cNvGrpSpPr/>
              <p:nvPr/>
            </p:nvGrpSpPr>
            <p:grpSpPr>
              <a:xfrm>
                <a:off x="1835696" y="1616100"/>
                <a:ext cx="895779" cy="2821012"/>
                <a:chOff x="1835696" y="1616100"/>
                <a:chExt cx="895779" cy="2821012"/>
              </a:xfrm>
            </p:grpSpPr>
            <p:grpSp>
              <p:nvGrpSpPr>
                <p:cNvPr id="10" name="Gruppe 9">
                  <a:extLst>
                    <a:ext uri="{FF2B5EF4-FFF2-40B4-BE49-F238E27FC236}">
                      <a16:creationId xmlns:a16="http://schemas.microsoft.com/office/drawing/2014/main" id="{A293CFF6-48A0-BC95-3B48-6B6DBB201F14}"/>
                    </a:ext>
                  </a:extLst>
                </p:cNvPr>
                <p:cNvGrpSpPr/>
                <p:nvPr/>
              </p:nvGrpSpPr>
              <p:grpSpPr>
                <a:xfrm>
                  <a:off x="1835696" y="1616100"/>
                  <a:ext cx="895779" cy="2803232"/>
                  <a:chOff x="2678665" y="1628800"/>
                  <a:chExt cx="895779" cy="2803232"/>
                </a:xfrm>
              </p:grpSpPr>
              <p:grpSp>
                <p:nvGrpSpPr>
                  <p:cNvPr id="12" name="Gruppe 11">
                    <a:extLst>
                      <a:ext uri="{FF2B5EF4-FFF2-40B4-BE49-F238E27FC236}">
                        <a16:creationId xmlns:a16="http://schemas.microsoft.com/office/drawing/2014/main" id="{B33E4C9D-7E54-1C59-C9E4-6282F691583A}"/>
                      </a:ext>
                    </a:extLst>
                  </p:cNvPr>
                  <p:cNvGrpSpPr/>
                  <p:nvPr/>
                </p:nvGrpSpPr>
                <p:grpSpPr>
                  <a:xfrm>
                    <a:off x="2678665" y="1628800"/>
                    <a:ext cx="893281" cy="2803232"/>
                    <a:chOff x="2742615" y="1777896"/>
                    <a:chExt cx="893281" cy="2803232"/>
                  </a:xfrm>
                </p:grpSpPr>
                <p:grpSp>
                  <p:nvGrpSpPr>
                    <p:cNvPr id="14" name="Gruppe 13">
                      <a:extLst>
                        <a:ext uri="{FF2B5EF4-FFF2-40B4-BE49-F238E27FC236}">
                          <a16:creationId xmlns:a16="http://schemas.microsoft.com/office/drawing/2014/main" id="{CAC67A77-1078-B8B4-541B-C6CE6BBCF7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42615" y="1777896"/>
                      <a:ext cx="893281" cy="2803232"/>
                      <a:chOff x="2742615" y="1777896"/>
                      <a:chExt cx="893281" cy="2803232"/>
                    </a:xfrm>
                  </p:grpSpPr>
                  <p:sp>
                    <p:nvSpPr>
                      <p:cNvPr id="16" name="Bue 15">
                        <a:extLst>
                          <a:ext uri="{FF2B5EF4-FFF2-40B4-BE49-F238E27FC236}">
                            <a16:creationId xmlns:a16="http://schemas.microsoft.com/office/drawing/2014/main" id="{F436B278-CE3D-2C87-22AC-2EC9B673B482}"/>
                          </a:ext>
                        </a:extLst>
                      </p:cNvPr>
                      <p:cNvSpPr/>
                      <p:nvPr/>
                    </p:nvSpPr>
                    <p:spPr>
                      <a:xfrm rot="20560558" flipH="1">
                        <a:off x="2771800" y="1988840"/>
                        <a:ext cx="864096" cy="2592288"/>
                      </a:xfrm>
                      <a:prstGeom prst="arc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a-DK" i="1"/>
                      </a:p>
                    </p:txBody>
                  </p:sp>
                  <p:grpSp>
                    <p:nvGrpSpPr>
                      <p:cNvPr id="17" name="Gruppe 16">
                        <a:extLst>
                          <a:ext uri="{FF2B5EF4-FFF2-40B4-BE49-F238E27FC236}">
                            <a16:creationId xmlns:a16="http://schemas.microsoft.com/office/drawing/2014/main" id="{27D45BEB-9E97-0C6E-0389-63F85A19EE1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21422037">
                        <a:off x="2742615" y="1777896"/>
                        <a:ext cx="185901" cy="518170"/>
                        <a:chOff x="2737535" y="1777896"/>
                        <a:chExt cx="185901" cy="518170"/>
                      </a:xfrm>
                    </p:grpSpPr>
                    <p:cxnSp>
                      <p:nvCxnSpPr>
                        <p:cNvPr id="19" name="Lige forbindelse 18">
                          <a:extLst>
                            <a:ext uri="{FF2B5EF4-FFF2-40B4-BE49-F238E27FC236}">
                              <a16:creationId xmlns:a16="http://schemas.microsoft.com/office/drawing/2014/main" id="{7AF3F8C0-EAAD-A8EF-55E6-98CDDF74C9A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737535" y="1792010"/>
                          <a:ext cx="144016" cy="50405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" name="Lige forbindelse 19">
                          <a:extLst>
                            <a:ext uri="{FF2B5EF4-FFF2-40B4-BE49-F238E27FC236}">
                              <a16:creationId xmlns:a16="http://schemas.microsoft.com/office/drawing/2014/main" id="{1BAF9134-99A4-C2AD-F204-CF25A7EF32C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779420" y="1777896"/>
                          <a:ext cx="144016" cy="50405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8" name="Lige forbindelse 17">
                        <a:extLst>
                          <a:ext uri="{FF2B5EF4-FFF2-40B4-BE49-F238E27FC236}">
                            <a16:creationId xmlns:a16="http://schemas.microsoft.com/office/drawing/2014/main" id="{29B60189-49F9-35AF-E904-5AD422ECCB1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2854881" y="1839109"/>
                        <a:ext cx="557371" cy="19145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5" name="Lige pilforbindelse 14">
                      <a:extLst>
                        <a:ext uri="{FF2B5EF4-FFF2-40B4-BE49-F238E27FC236}">
                          <a16:creationId xmlns:a16="http://schemas.microsoft.com/office/drawing/2014/main" id="{FB7D64FB-235C-4919-6E1B-FDFFA14D73A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59832" y="1934834"/>
                      <a:ext cx="73734" cy="2100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Titel 1">
                    <a:extLst>
                      <a:ext uri="{FF2B5EF4-FFF2-40B4-BE49-F238E27FC236}">
                        <a16:creationId xmlns:a16="http://schemas.microsoft.com/office/drawing/2014/main" id="{79DDFB75-C57B-E349-8563-25A6FD36FDF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906806" y="1687740"/>
                    <a:ext cx="667638" cy="623100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Autofit/>
                  </a:bodyPr>
                  <a:lstStyle>
                    <a:lvl1pPr algn="ctr" defTabSz="914400" rtl="0" eaLnBrk="1" latinLnBrk="0" hangingPunct="1">
                      <a:spcBef>
                        <a:spcPct val="0"/>
                      </a:spcBef>
                      <a:buNone/>
                      <a:defRPr sz="44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l"/>
                    <a:r>
                      <a:rPr lang="da-DK" sz="800" i="1" dirty="0"/>
                      <a:t>i</a:t>
                    </a:r>
                    <a:r>
                      <a:rPr lang="da-DK" sz="800" i="1" baseline="-25000" dirty="0"/>
                      <a:t>n</a:t>
                    </a:r>
                  </a:p>
                </p:txBody>
              </p:sp>
            </p:grpSp>
            <p:cxnSp>
              <p:nvCxnSpPr>
                <p:cNvPr id="11" name="Lige forbindelse 10">
                  <a:extLst>
                    <a:ext uri="{FF2B5EF4-FFF2-40B4-BE49-F238E27FC236}">
                      <a16:creationId xmlns:a16="http://schemas.microsoft.com/office/drawing/2014/main" id="{AB059230-ECBE-026D-9822-E8CBE44B3D82}"/>
                    </a:ext>
                  </a:extLst>
                </p:cNvPr>
                <p:cNvCxnSpPr/>
                <p:nvPr/>
              </p:nvCxnSpPr>
              <p:spPr>
                <a:xfrm>
                  <a:off x="1895004" y="3284984"/>
                  <a:ext cx="372740" cy="11521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" name="Gruppe 29">
              <a:extLst>
                <a:ext uri="{FF2B5EF4-FFF2-40B4-BE49-F238E27FC236}">
                  <a16:creationId xmlns:a16="http://schemas.microsoft.com/office/drawing/2014/main" id="{9FDF3069-843C-F5E2-2D23-8BBC3DAC4F44}"/>
                </a:ext>
              </a:extLst>
            </p:cNvPr>
            <p:cNvGrpSpPr/>
            <p:nvPr/>
          </p:nvGrpSpPr>
          <p:grpSpPr>
            <a:xfrm>
              <a:off x="766384" y="4562645"/>
              <a:ext cx="692142" cy="792088"/>
              <a:chOff x="766384" y="3429000"/>
              <a:chExt cx="692142" cy="792088"/>
            </a:xfrm>
          </p:grpSpPr>
          <p:sp>
            <p:nvSpPr>
              <p:cNvPr id="31" name="Titel 1">
                <a:extLst>
                  <a:ext uri="{FF2B5EF4-FFF2-40B4-BE49-F238E27FC236}">
                    <a16:creationId xmlns:a16="http://schemas.microsoft.com/office/drawing/2014/main" id="{6217A931-06F3-33DE-736A-F2552EECE0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384" y="3501008"/>
                <a:ext cx="692142" cy="50405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800" i="1" dirty="0" err="1"/>
                  <a:t>v</a:t>
                </a:r>
                <a:r>
                  <a:rPr lang="da-DK" sz="800" i="1" baseline="-25000" dirty="0" err="1"/>
                  <a:t>d</a:t>
                </a:r>
                <a:endParaRPr lang="da-DK" sz="800" i="1" baseline="-25000" dirty="0"/>
              </a:p>
            </p:txBody>
          </p:sp>
          <p:cxnSp>
            <p:nvCxnSpPr>
              <p:cNvPr id="32" name="Lige pilforbindelse 31">
                <a:extLst>
                  <a:ext uri="{FF2B5EF4-FFF2-40B4-BE49-F238E27FC236}">
                    <a16:creationId xmlns:a16="http://schemas.microsoft.com/office/drawing/2014/main" id="{5C8DAEA5-8F87-FA2A-6974-C6AB1930F2A9}"/>
                  </a:ext>
                </a:extLst>
              </p:cNvPr>
              <p:cNvCxnSpPr/>
              <p:nvPr/>
            </p:nvCxnSpPr>
            <p:spPr>
              <a:xfrm flipV="1">
                <a:off x="1403648" y="3429000"/>
                <a:ext cx="0" cy="7920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Kombinationstegning 47">
              <a:extLst>
                <a:ext uri="{FF2B5EF4-FFF2-40B4-BE49-F238E27FC236}">
                  <a16:creationId xmlns:a16="http://schemas.microsoft.com/office/drawing/2014/main" id="{FBFA7DA3-8248-B5C7-4CE8-9D609466B1E0}"/>
                </a:ext>
              </a:extLst>
            </p:cNvPr>
            <p:cNvSpPr/>
            <p:nvPr/>
          </p:nvSpPr>
          <p:spPr>
            <a:xfrm>
              <a:off x="3995936" y="3021457"/>
              <a:ext cx="704056" cy="1315833"/>
            </a:xfrm>
            <a:custGeom>
              <a:avLst/>
              <a:gdLst>
                <a:gd name="connsiteX0" fmla="*/ 0 w 1194325"/>
                <a:gd name="connsiteY0" fmla="*/ 1315833 h 1315833"/>
                <a:gd name="connsiteX1" fmla="*/ 9331 w 1194325"/>
                <a:gd name="connsiteY1" fmla="*/ 1222527 h 1315833"/>
                <a:gd name="connsiteX2" fmla="*/ 37323 w 1194325"/>
                <a:gd name="connsiteY2" fmla="*/ 1147882 h 1315833"/>
                <a:gd name="connsiteX3" fmla="*/ 93306 w 1194325"/>
                <a:gd name="connsiteY3" fmla="*/ 979931 h 1315833"/>
                <a:gd name="connsiteX4" fmla="*/ 167951 w 1194325"/>
                <a:gd name="connsiteY4" fmla="*/ 821311 h 1315833"/>
                <a:gd name="connsiteX5" fmla="*/ 205274 w 1194325"/>
                <a:gd name="connsiteY5" fmla="*/ 709343 h 1315833"/>
                <a:gd name="connsiteX6" fmla="*/ 326572 w 1194325"/>
                <a:gd name="connsiteY6" fmla="*/ 541392 h 1315833"/>
                <a:gd name="connsiteX7" fmla="*/ 363894 w 1194325"/>
                <a:gd name="connsiteY7" fmla="*/ 494739 h 1315833"/>
                <a:gd name="connsiteX8" fmla="*/ 373225 w 1194325"/>
                <a:gd name="connsiteY8" fmla="*/ 466747 h 1315833"/>
                <a:gd name="connsiteX9" fmla="*/ 438539 w 1194325"/>
                <a:gd name="connsiteY9" fmla="*/ 504070 h 1315833"/>
                <a:gd name="connsiteX10" fmla="*/ 447870 w 1194325"/>
                <a:gd name="connsiteY10" fmla="*/ 560053 h 1315833"/>
                <a:gd name="connsiteX11" fmla="*/ 475862 w 1194325"/>
                <a:gd name="connsiteY11" fmla="*/ 644029 h 1315833"/>
                <a:gd name="connsiteX12" fmla="*/ 485192 w 1194325"/>
                <a:gd name="connsiteY12" fmla="*/ 746666 h 1315833"/>
                <a:gd name="connsiteX13" fmla="*/ 513184 w 1194325"/>
                <a:gd name="connsiteY13" fmla="*/ 718674 h 1315833"/>
                <a:gd name="connsiteX14" fmla="*/ 550506 w 1194325"/>
                <a:gd name="connsiteY14" fmla="*/ 653360 h 1315833"/>
                <a:gd name="connsiteX15" fmla="*/ 578498 w 1194325"/>
                <a:gd name="connsiteY15" fmla="*/ 634698 h 1315833"/>
                <a:gd name="connsiteX16" fmla="*/ 634482 w 1194325"/>
                <a:gd name="connsiteY16" fmla="*/ 616037 h 1315833"/>
                <a:gd name="connsiteX17" fmla="*/ 690466 w 1194325"/>
                <a:gd name="connsiteY17" fmla="*/ 569384 h 1315833"/>
                <a:gd name="connsiteX18" fmla="*/ 699796 w 1194325"/>
                <a:gd name="connsiteY18" fmla="*/ 541392 h 1315833"/>
                <a:gd name="connsiteX19" fmla="*/ 737119 w 1194325"/>
                <a:gd name="connsiteY19" fmla="*/ 457417 h 1315833"/>
                <a:gd name="connsiteX20" fmla="*/ 811764 w 1194325"/>
                <a:gd name="connsiteY20" fmla="*/ 345449 h 1315833"/>
                <a:gd name="connsiteX21" fmla="*/ 961053 w 1194325"/>
                <a:gd name="connsiteY21" fmla="*/ 205490 h 1315833"/>
                <a:gd name="connsiteX22" fmla="*/ 970384 w 1194325"/>
                <a:gd name="connsiteY22" fmla="*/ 177498 h 1315833"/>
                <a:gd name="connsiteX23" fmla="*/ 979715 w 1194325"/>
                <a:gd name="connsiteY23" fmla="*/ 140176 h 1315833"/>
                <a:gd name="connsiteX24" fmla="*/ 1035698 w 1194325"/>
                <a:gd name="connsiteY24" fmla="*/ 84192 h 1315833"/>
                <a:gd name="connsiteX25" fmla="*/ 1073021 w 1194325"/>
                <a:gd name="connsiteY25" fmla="*/ 56200 h 1315833"/>
                <a:gd name="connsiteX26" fmla="*/ 1119674 w 1194325"/>
                <a:gd name="connsiteY26" fmla="*/ 217 h 1315833"/>
                <a:gd name="connsiteX27" fmla="*/ 1147666 w 1194325"/>
                <a:gd name="connsiteY27" fmla="*/ 9547 h 1315833"/>
                <a:gd name="connsiteX28" fmla="*/ 1156996 w 1194325"/>
                <a:gd name="connsiteY28" fmla="*/ 37539 h 1315833"/>
                <a:gd name="connsiteX29" fmla="*/ 1194319 w 1194325"/>
                <a:gd name="connsiteY29" fmla="*/ 121515 h 131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94325" h="1315833">
                  <a:moveTo>
                    <a:pt x="0" y="1315833"/>
                  </a:moveTo>
                  <a:cubicBezTo>
                    <a:pt x="3110" y="1284731"/>
                    <a:pt x="2550" y="1253040"/>
                    <a:pt x="9331" y="1222527"/>
                  </a:cubicBezTo>
                  <a:cubicBezTo>
                    <a:pt x="15096" y="1196586"/>
                    <a:pt x="28920" y="1173092"/>
                    <a:pt x="37323" y="1147882"/>
                  </a:cubicBezTo>
                  <a:cubicBezTo>
                    <a:pt x="72098" y="1043556"/>
                    <a:pt x="38417" y="1110292"/>
                    <a:pt x="93306" y="979931"/>
                  </a:cubicBezTo>
                  <a:cubicBezTo>
                    <a:pt x="154637" y="834269"/>
                    <a:pt x="107979" y="978737"/>
                    <a:pt x="167951" y="821311"/>
                  </a:cubicBezTo>
                  <a:cubicBezTo>
                    <a:pt x="181956" y="784547"/>
                    <a:pt x="185878" y="743571"/>
                    <a:pt x="205274" y="709343"/>
                  </a:cubicBezTo>
                  <a:cubicBezTo>
                    <a:pt x="239320" y="649261"/>
                    <a:pt x="285525" y="596927"/>
                    <a:pt x="326572" y="541392"/>
                  </a:cubicBezTo>
                  <a:cubicBezTo>
                    <a:pt x="338409" y="525377"/>
                    <a:pt x="363894" y="494739"/>
                    <a:pt x="363894" y="494739"/>
                  </a:cubicBezTo>
                  <a:cubicBezTo>
                    <a:pt x="367004" y="485408"/>
                    <a:pt x="366270" y="473702"/>
                    <a:pt x="373225" y="466747"/>
                  </a:cubicBezTo>
                  <a:cubicBezTo>
                    <a:pt x="406218" y="433755"/>
                    <a:pt x="423202" y="484898"/>
                    <a:pt x="438539" y="504070"/>
                  </a:cubicBezTo>
                  <a:cubicBezTo>
                    <a:pt x="441649" y="522731"/>
                    <a:pt x="442995" y="541773"/>
                    <a:pt x="447870" y="560053"/>
                  </a:cubicBezTo>
                  <a:cubicBezTo>
                    <a:pt x="455473" y="588563"/>
                    <a:pt x="470075" y="615096"/>
                    <a:pt x="475862" y="644029"/>
                  </a:cubicBezTo>
                  <a:cubicBezTo>
                    <a:pt x="482599" y="677715"/>
                    <a:pt x="482082" y="712454"/>
                    <a:pt x="485192" y="746666"/>
                  </a:cubicBezTo>
                  <a:cubicBezTo>
                    <a:pt x="494523" y="737335"/>
                    <a:pt x="505864" y="729653"/>
                    <a:pt x="513184" y="718674"/>
                  </a:cubicBezTo>
                  <a:cubicBezTo>
                    <a:pt x="555887" y="654620"/>
                    <a:pt x="471625" y="732243"/>
                    <a:pt x="550506" y="653360"/>
                  </a:cubicBezTo>
                  <a:cubicBezTo>
                    <a:pt x="558436" y="645430"/>
                    <a:pt x="568250" y="639253"/>
                    <a:pt x="578498" y="634698"/>
                  </a:cubicBezTo>
                  <a:cubicBezTo>
                    <a:pt x="596473" y="626709"/>
                    <a:pt x="634482" y="616037"/>
                    <a:pt x="634482" y="616037"/>
                  </a:cubicBezTo>
                  <a:cubicBezTo>
                    <a:pt x="699034" y="519207"/>
                    <a:pt x="595761" y="664089"/>
                    <a:pt x="690466" y="569384"/>
                  </a:cubicBezTo>
                  <a:cubicBezTo>
                    <a:pt x="697421" y="562429"/>
                    <a:pt x="696343" y="550601"/>
                    <a:pt x="699796" y="541392"/>
                  </a:cubicBezTo>
                  <a:cubicBezTo>
                    <a:pt x="708093" y="519265"/>
                    <a:pt x="723863" y="478627"/>
                    <a:pt x="737119" y="457417"/>
                  </a:cubicBezTo>
                  <a:cubicBezTo>
                    <a:pt x="760893" y="419379"/>
                    <a:pt x="780046" y="377167"/>
                    <a:pt x="811764" y="345449"/>
                  </a:cubicBezTo>
                  <a:cubicBezTo>
                    <a:pt x="922247" y="234966"/>
                    <a:pt x="871280" y="280302"/>
                    <a:pt x="961053" y="205490"/>
                  </a:cubicBezTo>
                  <a:cubicBezTo>
                    <a:pt x="964163" y="196159"/>
                    <a:pt x="967682" y="186955"/>
                    <a:pt x="970384" y="177498"/>
                  </a:cubicBezTo>
                  <a:cubicBezTo>
                    <a:pt x="973907" y="165168"/>
                    <a:pt x="973980" y="151646"/>
                    <a:pt x="979715" y="140176"/>
                  </a:cubicBezTo>
                  <a:cubicBezTo>
                    <a:pt x="998535" y="102535"/>
                    <a:pt x="1006232" y="105239"/>
                    <a:pt x="1035698" y="84192"/>
                  </a:cubicBezTo>
                  <a:cubicBezTo>
                    <a:pt x="1048353" y="75153"/>
                    <a:pt x="1060580" y="65531"/>
                    <a:pt x="1073021" y="56200"/>
                  </a:cubicBezTo>
                  <a:cubicBezTo>
                    <a:pt x="1083314" y="35615"/>
                    <a:pt x="1090899" y="5013"/>
                    <a:pt x="1119674" y="217"/>
                  </a:cubicBezTo>
                  <a:cubicBezTo>
                    <a:pt x="1129375" y="-1400"/>
                    <a:pt x="1138335" y="6437"/>
                    <a:pt x="1147666" y="9547"/>
                  </a:cubicBezTo>
                  <a:cubicBezTo>
                    <a:pt x="1150776" y="18878"/>
                    <a:pt x="1152926" y="28585"/>
                    <a:pt x="1156996" y="37539"/>
                  </a:cubicBezTo>
                  <a:cubicBezTo>
                    <a:pt x="1195710" y="122710"/>
                    <a:pt x="1194319" y="83500"/>
                    <a:pt x="1194319" y="12151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i="1"/>
            </a:p>
          </p:txBody>
        </p:sp>
        <p:sp>
          <p:nvSpPr>
            <p:cNvPr id="34" name="Kombinationstegning 48">
              <a:extLst>
                <a:ext uri="{FF2B5EF4-FFF2-40B4-BE49-F238E27FC236}">
                  <a16:creationId xmlns:a16="http://schemas.microsoft.com/office/drawing/2014/main" id="{7AD715EF-CF96-0EEE-2C12-2AE984D2943F}"/>
                </a:ext>
              </a:extLst>
            </p:cNvPr>
            <p:cNvSpPr/>
            <p:nvPr/>
          </p:nvSpPr>
          <p:spPr>
            <a:xfrm>
              <a:off x="3995936" y="4182916"/>
              <a:ext cx="704056" cy="1315833"/>
            </a:xfrm>
            <a:custGeom>
              <a:avLst/>
              <a:gdLst>
                <a:gd name="connsiteX0" fmla="*/ 0 w 1194325"/>
                <a:gd name="connsiteY0" fmla="*/ 1315833 h 1315833"/>
                <a:gd name="connsiteX1" fmla="*/ 9331 w 1194325"/>
                <a:gd name="connsiteY1" fmla="*/ 1222527 h 1315833"/>
                <a:gd name="connsiteX2" fmla="*/ 37323 w 1194325"/>
                <a:gd name="connsiteY2" fmla="*/ 1147882 h 1315833"/>
                <a:gd name="connsiteX3" fmla="*/ 93306 w 1194325"/>
                <a:gd name="connsiteY3" fmla="*/ 979931 h 1315833"/>
                <a:gd name="connsiteX4" fmla="*/ 167951 w 1194325"/>
                <a:gd name="connsiteY4" fmla="*/ 821311 h 1315833"/>
                <a:gd name="connsiteX5" fmla="*/ 205274 w 1194325"/>
                <a:gd name="connsiteY5" fmla="*/ 709343 h 1315833"/>
                <a:gd name="connsiteX6" fmla="*/ 326572 w 1194325"/>
                <a:gd name="connsiteY6" fmla="*/ 541392 h 1315833"/>
                <a:gd name="connsiteX7" fmla="*/ 363894 w 1194325"/>
                <a:gd name="connsiteY7" fmla="*/ 494739 h 1315833"/>
                <a:gd name="connsiteX8" fmla="*/ 373225 w 1194325"/>
                <a:gd name="connsiteY8" fmla="*/ 466747 h 1315833"/>
                <a:gd name="connsiteX9" fmla="*/ 438539 w 1194325"/>
                <a:gd name="connsiteY9" fmla="*/ 504070 h 1315833"/>
                <a:gd name="connsiteX10" fmla="*/ 447870 w 1194325"/>
                <a:gd name="connsiteY10" fmla="*/ 560053 h 1315833"/>
                <a:gd name="connsiteX11" fmla="*/ 475862 w 1194325"/>
                <a:gd name="connsiteY11" fmla="*/ 644029 h 1315833"/>
                <a:gd name="connsiteX12" fmla="*/ 485192 w 1194325"/>
                <a:gd name="connsiteY12" fmla="*/ 746666 h 1315833"/>
                <a:gd name="connsiteX13" fmla="*/ 513184 w 1194325"/>
                <a:gd name="connsiteY13" fmla="*/ 718674 h 1315833"/>
                <a:gd name="connsiteX14" fmla="*/ 550506 w 1194325"/>
                <a:gd name="connsiteY14" fmla="*/ 653360 h 1315833"/>
                <a:gd name="connsiteX15" fmla="*/ 578498 w 1194325"/>
                <a:gd name="connsiteY15" fmla="*/ 634698 h 1315833"/>
                <a:gd name="connsiteX16" fmla="*/ 634482 w 1194325"/>
                <a:gd name="connsiteY16" fmla="*/ 616037 h 1315833"/>
                <a:gd name="connsiteX17" fmla="*/ 690466 w 1194325"/>
                <a:gd name="connsiteY17" fmla="*/ 569384 h 1315833"/>
                <a:gd name="connsiteX18" fmla="*/ 699796 w 1194325"/>
                <a:gd name="connsiteY18" fmla="*/ 541392 h 1315833"/>
                <a:gd name="connsiteX19" fmla="*/ 737119 w 1194325"/>
                <a:gd name="connsiteY19" fmla="*/ 457417 h 1315833"/>
                <a:gd name="connsiteX20" fmla="*/ 811764 w 1194325"/>
                <a:gd name="connsiteY20" fmla="*/ 345449 h 1315833"/>
                <a:gd name="connsiteX21" fmla="*/ 961053 w 1194325"/>
                <a:gd name="connsiteY21" fmla="*/ 205490 h 1315833"/>
                <a:gd name="connsiteX22" fmla="*/ 970384 w 1194325"/>
                <a:gd name="connsiteY22" fmla="*/ 177498 h 1315833"/>
                <a:gd name="connsiteX23" fmla="*/ 979715 w 1194325"/>
                <a:gd name="connsiteY23" fmla="*/ 140176 h 1315833"/>
                <a:gd name="connsiteX24" fmla="*/ 1035698 w 1194325"/>
                <a:gd name="connsiteY24" fmla="*/ 84192 h 1315833"/>
                <a:gd name="connsiteX25" fmla="*/ 1073021 w 1194325"/>
                <a:gd name="connsiteY25" fmla="*/ 56200 h 1315833"/>
                <a:gd name="connsiteX26" fmla="*/ 1119674 w 1194325"/>
                <a:gd name="connsiteY26" fmla="*/ 217 h 1315833"/>
                <a:gd name="connsiteX27" fmla="*/ 1147666 w 1194325"/>
                <a:gd name="connsiteY27" fmla="*/ 9547 h 1315833"/>
                <a:gd name="connsiteX28" fmla="*/ 1156996 w 1194325"/>
                <a:gd name="connsiteY28" fmla="*/ 37539 h 1315833"/>
                <a:gd name="connsiteX29" fmla="*/ 1194319 w 1194325"/>
                <a:gd name="connsiteY29" fmla="*/ 121515 h 131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94325" h="1315833">
                  <a:moveTo>
                    <a:pt x="0" y="1315833"/>
                  </a:moveTo>
                  <a:cubicBezTo>
                    <a:pt x="3110" y="1284731"/>
                    <a:pt x="2550" y="1253040"/>
                    <a:pt x="9331" y="1222527"/>
                  </a:cubicBezTo>
                  <a:cubicBezTo>
                    <a:pt x="15096" y="1196586"/>
                    <a:pt x="28920" y="1173092"/>
                    <a:pt x="37323" y="1147882"/>
                  </a:cubicBezTo>
                  <a:cubicBezTo>
                    <a:pt x="72098" y="1043556"/>
                    <a:pt x="38417" y="1110292"/>
                    <a:pt x="93306" y="979931"/>
                  </a:cubicBezTo>
                  <a:cubicBezTo>
                    <a:pt x="154637" y="834269"/>
                    <a:pt x="107979" y="978737"/>
                    <a:pt x="167951" y="821311"/>
                  </a:cubicBezTo>
                  <a:cubicBezTo>
                    <a:pt x="181956" y="784547"/>
                    <a:pt x="185878" y="743571"/>
                    <a:pt x="205274" y="709343"/>
                  </a:cubicBezTo>
                  <a:cubicBezTo>
                    <a:pt x="239320" y="649261"/>
                    <a:pt x="285525" y="596927"/>
                    <a:pt x="326572" y="541392"/>
                  </a:cubicBezTo>
                  <a:cubicBezTo>
                    <a:pt x="338409" y="525377"/>
                    <a:pt x="363894" y="494739"/>
                    <a:pt x="363894" y="494739"/>
                  </a:cubicBezTo>
                  <a:cubicBezTo>
                    <a:pt x="367004" y="485408"/>
                    <a:pt x="366270" y="473702"/>
                    <a:pt x="373225" y="466747"/>
                  </a:cubicBezTo>
                  <a:cubicBezTo>
                    <a:pt x="406218" y="433755"/>
                    <a:pt x="423202" y="484898"/>
                    <a:pt x="438539" y="504070"/>
                  </a:cubicBezTo>
                  <a:cubicBezTo>
                    <a:pt x="441649" y="522731"/>
                    <a:pt x="442995" y="541773"/>
                    <a:pt x="447870" y="560053"/>
                  </a:cubicBezTo>
                  <a:cubicBezTo>
                    <a:pt x="455473" y="588563"/>
                    <a:pt x="470075" y="615096"/>
                    <a:pt x="475862" y="644029"/>
                  </a:cubicBezTo>
                  <a:cubicBezTo>
                    <a:pt x="482599" y="677715"/>
                    <a:pt x="482082" y="712454"/>
                    <a:pt x="485192" y="746666"/>
                  </a:cubicBezTo>
                  <a:cubicBezTo>
                    <a:pt x="494523" y="737335"/>
                    <a:pt x="505864" y="729653"/>
                    <a:pt x="513184" y="718674"/>
                  </a:cubicBezTo>
                  <a:cubicBezTo>
                    <a:pt x="555887" y="654620"/>
                    <a:pt x="471625" y="732243"/>
                    <a:pt x="550506" y="653360"/>
                  </a:cubicBezTo>
                  <a:cubicBezTo>
                    <a:pt x="558436" y="645430"/>
                    <a:pt x="568250" y="639253"/>
                    <a:pt x="578498" y="634698"/>
                  </a:cubicBezTo>
                  <a:cubicBezTo>
                    <a:pt x="596473" y="626709"/>
                    <a:pt x="634482" y="616037"/>
                    <a:pt x="634482" y="616037"/>
                  </a:cubicBezTo>
                  <a:cubicBezTo>
                    <a:pt x="699034" y="519207"/>
                    <a:pt x="595761" y="664089"/>
                    <a:pt x="690466" y="569384"/>
                  </a:cubicBezTo>
                  <a:cubicBezTo>
                    <a:pt x="697421" y="562429"/>
                    <a:pt x="696343" y="550601"/>
                    <a:pt x="699796" y="541392"/>
                  </a:cubicBezTo>
                  <a:cubicBezTo>
                    <a:pt x="708093" y="519265"/>
                    <a:pt x="723863" y="478627"/>
                    <a:pt x="737119" y="457417"/>
                  </a:cubicBezTo>
                  <a:cubicBezTo>
                    <a:pt x="760893" y="419379"/>
                    <a:pt x="780046" y="377167"/>
                    <a:pt x="811764" y="345449"/>
                  </a:cubicBezTo>
                  <a:cubicBezTo>
                    <a:pt x="922247" y="234966"/>
                    <a:pt x="871280" y="280302"/>
                    <a:pt x="961053" y="205490"/>
                  </a:cubicBezTo>
                  <a:cubicBezTo>
                    <a:pt x="964163" y="196159"/>
                    <a:pt x="967682" y="186955"/>
                    <a:pt x="970384" y="177498"/>
                  </a:cubicBezTo>
                  <a:cubicBezTo>
                    <a:pt x="973907" y="165168"/>
                    <a:pt x="973980" y="151646"/>
                    <a:pt x="979715" y="140176"/>
                  </a:cubicBezTo>
                  <a:cubicBezTo>
                    <a:pt x="998535" y="102535"/>
                    <a:pt x="1006232" y="105239"/>
                    <a:pt x="1035698" y="84192"/>
                  </a:cubicBezTo>
                  <a:cubicBezTo>
                    <a:pt x="1048353" y="75153"/>
                    <a:pt x="1060580" y="65531"/>
                    <a:pt x="1073021" y="56200"/>
                  </a:cubicBezTo>
                  <a:cubicBezTo>
                    <a:pt x="1083314" y="35615"/>
                    <a:pt x="1090899" y="5013"/>
                    <a:pt x="1119674" y="217"/>
                  </a:cubicBezTo>
                  <a:cubicBezTo>
                    <a:pt x="1129375" y="-1400"/>
                    <a:pt x="1138335" y="6437"/>
                    <a:pt x="1147666" y="9547"/>
                  </a:cubicBezTo>
                  <a:cubicBezTo>
                    <a:pt x="1150776" y="18878"/>
                    <a:pt x="1152926" y="28585"/>
                    <a:pt x="1156996" y="37539"/>
                  </a:cubicBezTo>
                  <a:cubicBezTo>
                    <a:pt x="1195710" y="122710"/>
                    <a:pt x="1194319" y="83500"/>
                    <a:pt x="1194319" y="12151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i="1"/>
            </a:p>
          </p:txBody>
        </p:sp>
      </p:grpSp>
    </p:spTree>
    <p:extLst>
      <p:ext uri="{BB962C8B-B14F-4D97-AF65-F5344CB8AC3E}">
        <p14:creationId xmlns:p14="http://schemas.microsoft.com/office/powerpoint/2010/main" val="3445385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179512" y="1052736"/>
            <a:ext cx="525658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C</a:t>
            </a:r>
            <a:r>
              <a:rPr lang="da-DK" sz="2400" i="1" dirty="0"/>
              <a:t>ommon </a:t>
            </a:r>
            <a:r>
              <a:rPr lang="da-DK" sz="2400" b="1" i="1" dirty="0"/>
              <a:t>M</a:t>
            </a:r>
            <a:r>
              <a:rPr lang="da-DK" sz="2400" i="1" dirty="0"/>
              <a:t>ode </a:t>
            </a:r>
            <a:r>
              <a:rPr lang="da-DK" sz="2400" b="1" i="1" dirty="0" err="1"/>
              <a:t>R</a:t>
            </a:r>
            <a:r>
              <a:rPr lang="da-DK" sz="2400" i="1" dirty="0" err="1"/>
              <a:t>ejection</a:t>
            </a:r>
            <a:r>
              <a:rPr lang="da-DK" sz="2400" i="1" dirty="0"/>
              <a:t> </a:t>
            </a:r>
            <a:r>
              <a:rPr lang="da-DK" sz="2400" b="1" i="1" dirty="0"/>
              <a:t>R</a:t>
            </a:r>
            <a:r>
              <a:rPr lang="da-DK" sz="2400" i="1" dirty="0"/>
              <a:t>atio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136815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CMRR</a:t>
            </a:r>
            <a:endParaRPr lang="da-DK" sz="2800" i="1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444647" y="1988840"/>
            <a:ext cx="8254706" cy="4171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Fortæller noget om hvor god en  forstærker er til at undertrykke </a:t>
            </a:r>
            <a:r>
              <a:rPr lang="da-DK" sz="2000" i="1" dirty="0">
                <a:solidFill>
                  <a:srgbClr val="FF0000"/>
                </a:solidFill>
              </a:rPr>
              <a:t>fælles signaler</a:t>
            </a:r>
          </a:p>
        </p:txBody>
      </p: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400ED071-5D79-BAF8-A8F6-02CF107147A8}"/>
              </a:ext>
            </a:extLst>
          </p:cNvPr>
          <p:cNvGrpSpPr/>
          <p:nvPr/>
        </p:nvGrpSpPr>
        <p:grpSpPr>
          <a:xfrm>
            <a:off x="5436096" y="348599"/>
            <a:ext cx="2952323" cy="1408273"/>
            <a:chOff x="766384" y="2749745"/>
            <a:chExt cx="7009464" cy="3343551"/>
          </a:xfrm>
        </p:grpSpPr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62E1479C-32DC-A45B-43FB-537652FB6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608" y="3834644"/>
              <a:ext cx="6732240" cy="2258652"/>
            </a:xfrm>
            <a:prstGeom prst="rect">
              <a:avLst/>
            </a:prstGeom>
          </p:spPr>
        </p:pic>
        <p:grpSp>
          <p:nvGrpSpPr>
            <p:cNvPr id="4" name="Gruppe 3">
              <a:extLst>
                <a:ext uri="{FF2B5EF4-FFF2-40B4-BE49-F238E27FC236}">
                  <a16:creationId xmlns:a16="http://schemas.microsoft.com/office/drawing/2014/main" id="{1E697CC2-D49B-746D-06CA-6D4E7C41D0AA}"/>
                </a:ext>
              </a:extLst>
            </p:cNvPr>
            <p:cNvGrpSpPr/>
            <p:nvPr/>
          </p:nvGrpSpPr>
          <p:grpSpPr>
            <a:xfrm>
              <a:off x="1835696" y="2749745"/>
              <a:ext cx="1891148" cy="2821012"/>
              <a:chOff x="1835696" y="1616100"/>
              <a:chExt cx="1891148" cy="2821012"/>
            </a:xfrm>
          </p:grpSpPr>
          <p:grpSp>
            <p:nvGrpSpPr>
              <p:cNvPr id="6" name="Gruppe 5">
                <a:extLst>
                  <a:ext uri="{FF2B5EF4-FFF2-40B4-BE49-F238E27FC236}">
                    <a16:creationId xmlns:a16="http://schemas.microsoft.com/office/drawing/2014/main" id="{177EA463-457F-BA62-3E1A-13AD713D5060}"/>
                  </a:ext>
                </a:extLst>
              </p:cNvPr>
              <p:cNvGrpSpPr/>
              <p:nvPr/>
            </p:nvGrpSpPr>
            <p:grpSpPr>
              <a:xfrm>
                <a:off x="2831065" y="1628800"/>
                <a:ext cx="895779" cy="2803232"/>
                <a:chOff x="2678665" y="1628800"/>
                <a:chExt cx="895779" cy="2803232"/>
              </a:xfrm>
            </p:grpSpPr>
            <p:grpSp>
              <p:nvGrpSpPr>
                <p:cNvPr id="21" name="Gruppe 20">
                  <a:extLst>
                    <a:ext uri="{FF2B5EF4-FFF2-40B4-BE49-F238E27FC236}">
                      <a16:creationId xmlns:a16="http://schemas.microsoft.com/office/drawing/2014/main" id="{24CC98AE-1E84-DA45-A826-70FA1550BFA3}"/>
                    </a:ext>
                  </a:extLst>
                </p:cNvPr>
                <p:cNvGrpSpPr/>
                <p:nvPr/>
              </p:nvGrpSpPr>
              <p:grpSpPr>
                <a:xfrm>
                  <a:off x="2678665" y="1628800"/>
                  <a:ext cx="893281" cy="2803232"/>
                  <a:chOff x="2742615" y="1777896"/>
                  <a:chExt cx="893281" cy="2803232"/>
                </a:xfrm>
              </p:grpSpPr>
              <p:grpSp>
                <p:nvGrpSpPr>
                  <p:cNvPr id="23" name="Gruppe 22">
                    <a:extLst>
                      <a:ext uri="{FF2B5EF4-FFF2-40B4-BE49-F238E27FC236}">
                        <a16:creationId xmlns:a16="http://schemas.microsoft.com/office/drawing/2014/main" id="{B6C8665C-9338-2663-E24A-AEC42870BC09}"/>
                      </a:ext>
                    </a:extLst>
                  </p:cNvPr>
                  <p:cNvGrpSpPr/>
                  <p:nvPr/>
                </p:nvGrpSpPr>
                <p:grpSpPr>
                  <a:xfrm>
                    <a:off x="2742615" y="1777896"/>
                    <a:ext cx="893281" cy="2803232"/>
                    <a:chOff x="2742615" y="1777896"/>
                    <a:chExt cx="893281" cy="2803232"/>
                  </a:xfrm>
                </p:grpSpPr>
                <p:sp>
                  <p:nvSpPr>
                    <p:cNvPr id="25" name="Bue 24">
                      <a:extLst>
                        <a:ext uri="{FF2B5EF4-FFF2-40B4-BE49-F238E27FC236}">
                          <a16:creationId xmlns:a16="http://schemas.microsoft.com/office/drawing/2014/main" id="{DE0B4D42-861C-ED8E-A31F-8D34CEF221C6}"/>
                        </a:ext>
                      </a:extLst>
                    </p:cNvPr>
                    <p:cNvSpPr/>
                    <p:nvPr/>
                  </p:nvSpPr>
                  <p:spPr>
                    <a:xfrm rot="20560558" flipH="1">
                      <a:off x="2771800" y="1988840"/>
                      <a:ext cx="864096" cy="2592288"/>
                    </a:xfrm>
                    <a:prstGeom prst="arc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a-DK" i="1"/>
                    </a:p>
                  </p:txBody>
                </p:sp>
                <p:grpSp>
                  <p:nvGrpSpPr>
                    <p:cNvPr id="26" name="Gruppe 25">
                      <a:extLst>
                        <a:ext uri="{FF2B5EF4-FFF2-40B4-BE49-F238E27FC236}">
                          <a16:creationId xmlns:a16="http://schemas.microsoft.com/office/drawing/2014/main" id="{1BC70D29-809F-4197-1519-7C82FBE53664}"/>
                        </a:ext>
                      </a:extLst>
                    </p:cNvPr>
                    <p:cNvGrpSpPr/>
                    <p:nvPr/>
                  </p:nvGrpSpPr>
                  <p:grpSpPr>
                    <a:xfrm rot="21422037">
                      <a:off x="2742615" y="1777896"/>
                      <a:ext cx="185901" cy="518170"/>
                      <a:chOff x="2737535" y="1777896"/>
                      <a:chExt cx="185901" cy="518170"/>
                    </a:xfrm>
                  </p:grpSpPr>
                  <p:cxnSp>
                    <p:nvCxnSpPr>
                      <p:cNvPr id="28" name="Lige forbindelse 27">
                        <a:extLst>
                          <a:ext uri="{FF2B5EF4-FFF2-40B4-BE49-F238E27FC236}">
                            <a16:creationId xmlns:a16="http://schemas.microsoft.com/office/drawing/2014/main" id="{6FCD14A7-8031-6FEE-D1A8-403D810347C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737535" y="1792010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Lige forbindelse 28">
                        <a:extLst>
                          <a:ext uri="{FF2B5EF4-FFF2-40B4-BE49-F238E27FC236}">
                            <a16:creationId xmlns:a16="http://schemas.microsoft.com/office/drawing/2014/main" id="{E5C019A5-7B1B-3D6F-90C7-CCB45F414FF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779420" y="1777896"/>
                        <a:ext cx="144016" cy="50405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7" name="Lige forbindelse 26">
                      <a:extLst>
                        <a:ext uri="{FF2B5EF4-FFF2-40B4-BE49-F238E27FC236}">
                          <a16:creationId xmlns:a16="http://schemas.microsoft.com/office/drawing/2014/main" id="{B50A6CCC-BC1F-C052-0A84-C9919ED00D6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854881" y="1839109"/>
                      <a:ext cx="557371" cy="19145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4" name="Lige pilforbindelse 23">
                    <a:extLst>
                      <a:ext uri="{FF2B5EF4-FFF2-40B4-BE49-F238E27FC236}">
                        <a16:creationId xmlns:a16="http://schemas.microsoft.com/office/drawing/2014/main" id="{C499FEAB-8FDD-A567-8F1B-52773172A328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059832" y="1934834"/>
                    <a:ext cx="73734" cy="2100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" name="Titel 1">
                  <a:extLst>
                    <a:ext uri="{FF2B5EF4-FFF2-40B4-BE49-F238E27FC236}">
                      <a16:creationId xmlns:a16="http://schemas.microsoft.com/office/drawing/2014/main" id="{D2CFFE35-4B14-AD6C-7901-FEE1D242DF3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06806" y="1687740"/>
                  <a:ext cx="667638" cy="6231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800" i="1" dirty="0"/>
                    <a:t>i</a:t>
                  </a:r>
                  <a:r>
                    <a:rPr lang="da-DK" sz="800" i="1" baseline="-25000" dirty="0"/>
                    <a:t>n</a:t>
                  </a:r>
                </a:p>
              </p:txBody>
            </p:sp>
          </p:grpSp>
          <p:grpSp>
            <p:nvGrpSpPr>
              <p:cNvPr id="7" name="Gruppe 6">
                <a:extLst>
                  <a:ext uri="{FF2B5EF4-FFF2-40B4-BE49-F238E27FC236}">
                    <a16:creationId xmlns:a16="http://schemas.microsoft.com/office/drawing/2014/main" id="{57436FDE-D8D8-6C3C-AD71-97DDC05B6766}"/>
                  </a:ext>
                </a:extLst>
              </p:cNvPr>
              <p:cNvGrpSpPr/>
              <p:nvPr/>
            </p:nvGrpSpPr>
            <p:grpSpPr>
              <a:xfrm>
                <a:off x="1835696" y="1616100"/>
                <a:ext cx="895779" cy="2821012"/>
                <a:chOff x="1835696" y="1616100"/>
                <a:chExt cx="895779" cy="2821012"/>
              </a:xfrm>
            </p:grpSpPr>
            <p:grpSp>
              <p:nvGrpSpPr>
                <p:cNvPr id="10" name="Gruppe 9">
                  <a:extLst>
                    <a:ext uri="{FF2B5EF4-FFF2-40B4-BE49-F238E27FC236}">
                      <a16:creationId xmlns:a16="http://schemas.microsoft.com/office/drawing/2014/main" id="{A293CFF6-48A0-BC95-3B48-6B6DBB201F14}"/>
                    </a:ext>
                  </a:extLst>
                </p:cNvPr>
                <p:cNvGrpSpPr/>
                <p:nvPr/>
              </p:nvGrpSpPr>
              <p:grpSpPr>
                <a:xfrm>
                  <a:off x="1835696" y="1616100"/>
                  <a:ext cx="895779" cy="2803232"/>
                  <a:chOff x="2678665" y="1628800"/>
                  <a:chExt cx="895779" cy="2803232"/>
                </a:xfrm>
              </p:grpSpPr>
              <p:grpSp>
                <p:nvGrpSpPr>
                  <p:cNvPr id="12" name="Gruppe 11">
                    <a:extLst>
                      <a:ext uri="{FF2B5EF4-FFF2-40B4-BE49-F238E27FC236}">
                        <a16:creationId xmlns:a16="http://schemas.microsoft.com/office/drawing/2014/main" id="{B33E4C9D-7E54-1C59-C9E4-6282F691583A}"/>
                      </a:ext>
                    </a:extLst>
                  </p:cNvPr>
                  <p:cNvGrpSpPr/>
                  <p:nvPr/>
                </p:nvGrpSpPr>
                <p:grpSpPr>
                  <a:xfrm>
                    <a:off x="2678665" y="1628800"/>
                    <a:ext cx="893281" cy="2803232"/>
                    <a:chOff x="2742615" y="1777896"/>
                    <a:chExt cx="893281" cy="2803232"/>
                  </a:xfrm>
                </p:grpSpPr>
                <p:grpSp>
                  <p:nvGrpSpPr>
                    <p:cNvPr id="14" name="Gruppe 13">
                      <a:extLst>
                        <a:ext uri="{FF2B5EF4-FFF2-40B4-BE49-F238E27FC236}">
                          <a16:creationId xmlns:a16="http://schemas.microsoft.com/office/drawing/2014/main" id="{CAC67A77-1078-B8B4-541B-C6CE6BBCF7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42615" y="1777896"/>
                      <a:ext cx="893281" cy="2803232"/>
                      <a:chOff x="2742615" y="1777896"/>
                      <a:chExt cx="893281" cy="2803232"/>
                    </a:xfrm>
                  </p:grpSpPr>
                  <p:sp>
                    <p:nvSpPr>
                      <p:cNvPr id="16" name="Bue 15">
                        <a:extLst>
                          <a:ext uri="{FF2B5EF4-FFF2-40B4-BE49-F238E27FC236}">
                            <a16:creationId xmlns:a16="http://schemas.microsoft.com/office/drawing/2014/main" id="{F436B278-CE3D-2C87-22AC-2EC9B673B482}"/>
                          </a:ext>
                        </a:extLst>
                      </p:cNvPr>
                      <p:cNvSpPr/>
                      <p:nvPr/>
                    </p:nvSpPr>
                    <p:spPr>
                      <a:xfrm rot="20560558" flipH="1">
                        <a:off x="2771800" y="1988840"/>
                        <a:ext cx="864096" cy="2592288"/>
                      </a:xfrm>
                      <a:prstGeom prst="arc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a-DK" i="1"/>
                      </a:p>
                    </p:txBody>
                  </p:sp>
                  <p:grpSp>
                    <p:nvGrpSpPr>
                      <p:cNvPr id="17" name="Gruppe 16">
                        <a:extLst>
                          <a:ext uri="{FF2B5EF4-FFF2-40B4-BE49-F238E27FC236}">
                            <a16:creationId xmlns:a16="http://schemas.microsoft.com/office/drawing/2014/main" id="{27D45BEB-9E97-0C6E-0389-63F85A19EE1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21422037">
                        <a:off x="2742615" y="1777896"/>
                        <a:ext cx="185901" cy="518170"/>
                        <a:chOff x="2737535" y="1777896"/>
                        <a:chExt cx="185901" cy="518170"/>
                      </a:xfrm>
                    </p:grpSpPr>
                    <p:cxnSp>
                      <p:nvCxnSpPr>
                        <p:cNvPr id="19" name="Lige forbindelse 18">
                          <a:extLst>
                            <a:ext uri="{FF2B5EF4-FFF2-40B4-BE49-F238E27FC236}">
                              <a16:creationId xmlns:a16="http://schemas.microsoft.com/office/drawing/2014/main" id="{7AF3F8C0-EAAD-A8EF-55E6-98CDDF74C9A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737535" y="1792010"/>
                          <a:ext cx="144016" cy="50405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" name="Lige forbindelse 19">
                          <a:extLst>
                            <a:ext uri="{FF2B5EF4-FFF2-40B4-BE49-F238E27FC236}">
                              <a16:creationId xmlns:a16="http://schemas.microsoft.com/office/drawing/2014/main" id="{1BAF9134-99A4-C2AD-F204-CF25A7EF32C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779420" y="1777896"/>
                          <a:ext cx="144016" cy="50405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8" name="Lige forbindelse 17">
                        <a:extLst>
                          <a:ext uri="{FF2B5EF4-FFF2-40B4-BE49-F238E27FC236}">
                            <a16:creationId xmlns:a16="http://schemas.microsoft.com/office/drawing/2014/main" id="{29B60189-49F9-35AF-E904-5AD422ECCB1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2854881" y="1839109"/>
                        <a:ext cx="557371" cy="19145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5" name="Lige pilforbindelse 14">
                      <a:extLst>
                        <a:ext uri="{FF2B5EF4-FFF2-40B4-BE49-F238E27FC236}">
                          <a16:creationId xmlns:a16="http://schemas.microsoft.com/office/drawing/2014/main" id="{FB7D64FB-235C-4919-6E1B-FDFFA14D73A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59832" y="1934834"/>
                      <a:ext cx="73734" cy="2100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Titel 1">
                    <a:extLst>
                      <a:ext uri="{FF2B5EF4-FFF2-40B4-BE49-F238E27FC236}">
                        <a16:creationId xmlns:a16="http://schemas.microsoft.com/office/drawing/2014/main" id="{79DDFB75-C57B-E349-8563-25A6FD36FDF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906806" y="1687740"/>
                    <a:ext cx="667638" cy="623100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Autofit/>
                  </a:bodyPr>
                  <a:lstStyle>
                    <a:lvl1pPr algn="ctr" defTabSz="914400" rtl="0" eaLnBrk="1" latinLnBrk="0" hangingPunct="1">
                      <a:spcBef>
                        <a:spcPct val="0"/>
                      </a:spcBef>
                      <a:buNone/>
                      <a:defRPr sz="44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l"/>
                    <a:r>
                      <a:rPr lang="da-DK" sz="800" i="1" dirty="0"/>
                      <a:t>i</a:t>
                    </a:r>
                    <a:r>
                      <a:rPr lang="da-DK" sz="800" i="1" baseline="-25000" dirty="0"/>
                      <a:t>n</a:t>
                    </a:r>
                  </a:p>
                </p:txBody>
              </p:sp>
            </p:grpSp>
            <p:cxnSp>
              <p:nvCxnSpPr>
                <p:cNvPr id="11" name="Lige forbindelse 10">
                  <a:extLst>
                    <a:ext uri="{FF2B5EF4-FFF2-40B4-BE49-F238E27FC236}">
                      <a16:creationId xmlns:a16="http://schemas.microsoft.com/office/drawing/2014/main" id="{AB059230-ECBE-026D-9822-E8CBE44B3D82}"/>
                    </a:ext>
                  </a:extLst>
                </p:cNvPr>
                <p:cNvCxnSpPr/>
                <p:nvPr/>
              </p:nvCxnSpPr>
              <p:spPr>
                <a:xfrm>
                  <a:off x="1895004" y="3284984"/>
                  <a:ext cx="372740" cy="11521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" name="Gruppe 29">
              <a:extLst>
                <a:ext uri="{FF2B5EF4-FFF2-40B4-BE49-F238E27FC236}">
                  <a16:creationId xmlns:a16="http://schemas.microsoft.com/office/drawing/2014/main" id="{9FDF3069-843C-F5E2-2D23-8BBC3DAC4F44}"/>
                </a:ext>
              </a:extLst>
            </p:cNvPr>
            <p:cNvGrpSpPr/>
            <p:nvPr/>
          </p:nvGrpSpPr>
          <p:grpSpPr>
            <a:xfrm>
              <a:off x="766384" y="4562645"/>
              <a:ext cx="692142" cy="792088"/>
              <a:chOff x="766384" y="3429000"/>
              <a:chExt cx="692142" cy="792088"/>
            </a:xfrm>
          </p:grpSpPr>
          <p:sp>
            <p:nvSpPr>
              <p:cNvPr id="31" name="Titel 1">
                <a:extLst>
                  <a:ext uri="{FF2B5EF4-FFF2-40B4-BE49-F238E27FC236}">
                    <a16:creationId xmlns:a16="http://schemas.microsoft.com/office/drawing/2014/main" id="{6217A931-06F3-33DE-736A-F2552EECE0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384" y="3501008"/>
                <a:ext cx="692142" cy="50405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800" i="1" dirty="0" err="1"/>
                  <a:t>v</a:t>
                </a:r>
                <a:r>
                  <a:rPr lang="da-DK" sz="800" i="1" baseline="-25000" dirty="0" err="1"/>
                  <a:t>d</a:t>
                </a:r>
                <a:endParaRPr lang="da-DK" sz="800" i="1" baseline="-25000" dirty="0"/>
              </a:p>
            </p:txBody>
          </p:sp>
          <p:cxnSp>
            <p:nvCxnSpPr>
              <p:cNvPr id="32" name="Lige pilforbindelse 31">
                <a:extLst>
                  <a:ext uri="{FF2B5EF4-FFF2-40B4-BE49-F238E27FC236}">
                    <a16:creationId xmlns:a16="http://schemas.microsoft.com/office/drawing/2014/main" id="{5C8DAEA5-8F87-FA2A-6974-C6AB1930F2A9}"/>
                  </a:ext>
                </a:extLst>
              </p:cNvPr>
              <p:cNvCxnSpPr/>
              <p:nvPr/>
            </p:nvCxnSpPr>
            <p:spPr>
              <a:xfrm flipV="1">
                <a:off x="1403648" y="3429000"/>
                <a:ext cx="0" cy="7920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Kombinationstegning 47">
              <a:extLst>
                <a:ext uri="{FF2B5EF4-FFF2-40B4-BE49-F238E27FC236}">
                  <a16:creationId xmlns:a16="http://schemas.microsoft.com/office/drawing/2014/main" id="{FBFA7DA3-8248-B5C7-4CE8-9D609466B1E0}"/>
                </a:ext>
              </a:extLst>
            </p:cNvPr>
            <p:cNvSpPr/>
            <p:nvPr/>
          </p:nvSpPr>
          <p:spPr>
            <a:xfrm>
              <a:off x="3995936" y="3021457"/>
              <a:ext cx="704056" cy="1315833"/>
            </a:xfrm>
            <a:custGeom>
              <a:avLst/>
              <a:gdLst>
                <a:gd name="connsiteX0" fmla="*/ 0 w 1194325"/>
                <a:gd name="connsiteY0" fmla="*/ 1315833 h 1315833"/>
                <a:gd name="connsiteX1" fmla="*/ 9331 w 1194325"/>
                <a:gd name="connsiteY1" fmla="*/ 1222527 h 1315833"/>
                <a:gd name="connsiteX2" fmla="*/ 37323 w 1194325"/>
                <a:gd name="connsiteY2" fmla="*/ 1147882 h 1315833"/>
                <a:gd name="connsiteX3" fmla="*/ 93306 w 1194325"/>
                <a:gd name="connsiteY3" fmla="*/ 979931 h 1315833"/>
                <a:gd name="connsiteX4" fmla="*/ 167951 w 1194325"/>
                <a:gd name="connsiteY4" fmla="*/ 821311 h 1315833"/>
                <a:gd name="connsiteX5" fmla="*/ 205274 w 1194325"/>
                <a:gd name="connsiteY5" fmla="*/ 709343 h 1315833"/>
                <a:gd name="connsiteX6" fmla="*/ 326572 w 1194325"/>
                <a:gd name="connsiteY6" fmla="*/ 541392 h 1315833"/>
                <a:gd name="connsiteX7" fmla="*/ 363894 w 1194325"/>
                <a:gd name="connsiteY7" fmla="*/ 494739 h 1315833"/>
                <a:gd name="connsiteX8" fmla="*/ 373225 w 1194325"/>
                <a:gd name="connsiteY8" fmla="*/ 466747 h 1315833"/>
                <a:gd name="connsiteX9" fmla="*/ 438539 w 1194325"/>
                <a:gd name="connsiteY9" fmla="*/ 504070 h 1315833"/>
                <a:gd name="connsiteX10" fmla="*/ 447870 w 1194325"/>
                <a:gd name="connsiteY10" fmla="*/ 560053 h 1315833"/>
                <a:gd name="connsiteX11" fmla="*/ 475862 w 1194325"/>
                <a:gd name="connsiteY11" fmla="*/ 644029 h 1315833"/>
                <a:gd name="connsiteX12" fmla="*/ 485192 w 1194325"/>
                <a:gd name="connsiteY12" fmla="*/ 746666 h 1315833"/>
                <a:gd name="connsiteX13" fmla="*/ 513184 w 1194325"/>
                <a:gd name="connsiteY13" fmla="*/ 718674 h 1315833"/>
                <a:gd name="connsiteX14" fmla="*/ 550506 w 1194325"/>
                <a:gd name="connsiteY14" fmla="*/ 653360 h 1315833"/>
                <a:gd name="connsiteX15" fmla="*/ 578498 w 1194325"/>
                <a:gd name="connsiteY15" fmla="*/ 634698 h 1315833"/>
                <a:gd name="connsiteX16" fmla="*/ 634482 w 1194325"/>
                <a:gd name="connsiteY16" fmla="*/ 616037 h 1315833"/>
                <a:gd name="connsiteX17" fmla="*/ 690466 w 1194325"/>
                <a:gd name="connsiteY17" fmla="*/ 569384 h 1315833"/>
                <a:gd name="connsiteX18" fmla="*/ 699796 w 1194325"/>
                <a:gd name="connsiteY18" fmla="*/ 541392 h 1315833"/>
                <a:gd name="connsiteX19" fmla="*/ 737119 w 1194325"/>
                <a:gd name="connsiteY19" fmla="*/ 457417 h 1315833"/>
                <a:gd name="connsiteX20" fmla="*/ 811764 w 1194325"/>
                <a:gd name="connsiteY20" fmla="*/ 345449 h 1315833"/>
                <a:gd name="connsiteX21" fmla="*/ 961053 w 1194325"/>
                <a:gd name="connsiteY21" fmla="*/ 205490 h 1315833"/>
                <a:gd name="connsiteX22" fmla="*/ 970384 w 1194325"/>
                <a:gd name="connsiteY22" fmla="*/ 177498 h 1315833"/>
                <a:gd name="connsiteX23" fmla="*/ 979715 w 1194325"/>
                <a:gd name="connsiteY23" fmla="*/ 140176 h 1315833"/>
                <a:gd name="connsiteX24" fmla="*/ 1035698 w 1194325"/>
                <a:gd name="connsiteY24" fmla="*/ 84192 h 1315833"/>
                <a:gd name="connsiteX25" fmla="*/ 1073021 w 1194325"/>
                <a:gd name="connsiteY25" fmla="*/ 56200 h 1315833"/>
                <a:gd name="connsiteX26" fmla="*/ 1119674 w 1194325"/>
                <a:gd name="connsiteY26" fmla="*/ 217 h 1315833"/>
                <a:gd name="connsiteX27" fmla="*/ 1147666 w 1194325"/>
                <a:gd name="connsiteY27" fmla="*/ 9547 h 1315833"/>
                <a:gd name="connsiteX28" fmla="*/ 1156996 w 1194325"/>
                <a:gd name="connsiteY28" fmla="*/ 37539 h 1315833"/>
                <a:gd name="connsiteX29" fmla="*/ 1194319 w 1194325"/>
                <a:gd name="connsiteY29" fmla="*/ 121515 h 131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94325" h="1315833">
                  <a:moveTo>
                    <a:pt x="0" y="1315833"/>
                  </a:moveTo>
                  <a:cubicBezTo>
                    <a:pt x="3110" y="1284731"/>
                    <a:pt x="2550" y="1253040"/>
                    <a:pt x="9331" y="1222527"/>
                  </a:cubicBezTo>
                  <a:cubicBezTo>
                    <a:pt x="15096" y="1196586"/>
                    <a:pt x="28920" y="1173092"/>
                    <a:pt x="37323" y="1147882"/>
                  </a:cubicBezTo>
                  <a:cubicBezTo>
                    <a:pt x="72098" y="1043556"/>
                    <a:pt x="38417" y="1110292"/>
                    <a:pt x="93306" y="979931"/>
                  </a:cubicBezTo>
                  <a:cubicBezTo>
                    <a:pt x="154637" y="834269"/>
                    <a:pt x="107979" y="978737"/>
                    <a:pt x="167951" y="821311"/>
                  </a:cubicBezTo>
                  <a:cubicBezTo>
                    <a:pt x="181956" y="784547"/>
                    <a:pt x="185878" y="743571"/>
                    <a:pt x="205274" y="709343"/>
                  </a:cubicBezTo>
                  <a:cubicBezTo>
                    <a:pt x="239320" y="649261"/>
                    <a:pt x="285525" y="596927"/>
                    <a:pt x="326572" y="541392"/>
                  </a:cubicBezTo>
                  <a:cubicBezTo>
                    <a:pt x="338409" y="525377"/>
                    <a:pt x="363894" y="494739"/>
                    <a:pt x="363894" y="494739"/>
                  </a:cubicBezTo>
                  <a:cubicBezTo>
                    <a:pt x="367004" y="485408"/>
                    <a:pt x="366270" y="473702"/>
                    <a:pt x="373225" y="466747"/>
                  </a:cubicBezTo>
                  <a:cubicBezTo>
                    <a:pt x="406218" y="433755"/>
                    <a:pt x="423202" y="484898"/>
                    <a:pt x="438539" y="504070"/>
                  </a:cubicBezTo>
                  <a:cubicBezTo>
                    <a:pt x="441649" y="522731"/>
                    <a:pt x="442995" y="541773"/>
                    <a:pt x="447870" y="560053"/>
                  </a:cubicBezTo>
                  <a:cubicBezTo>
                    <a:pt x="455473" y="588563"/>
                    <a:pt x="470075" y="615096"/>
                    <a:pt x="475862" y="644029"/>
                  </a:cubicBezTo>
                  <a:cubicBezTo>
                    <a:pt x="482599" y="677715"/>
                    <a:pt x="482082" y="712454"/>
                    <a:pt x="485192" y="746666"/>
                  </a:cubicBezTo>
                  <a:cubicBezTo>
                    <a:pt x="494523" y="737335"/>
                    <a:pt x="505864" y="729653"/>
                    <a:pt x="513184" y="718674"/>
                  </a:cubicBezTo>
                  <a:cubicBezTo>
                    <a:pt x="555887" y="654620"/>
                    <a:pt x="471625" y="732243"/>
                    <a:pt x="550506" y="653360"/>
                  </a:cubicBezTo>
                  <a:cubicBezTo>
                    <a:pt x="558436" y="645430"/>
                    <a:pt x="568250" y="639253"/>
                    <a:pt x="578498" y="634698"/>
                  </a:cubicBezTo>
                  <a:cubicBezTo>
                    <a:pt x="596473" y="626709"/>
                    <a:pt x="634482" y="616037"/>
                    <a:pt x="634482" y="616037"/>
                  </a:cubicBezTo>
                  <a:cubicBezTo>
                    <a:pt x="699034" y="519207"/>
                    <a:pt x="595761" y="664089"/>
                    <a:pt x="690466" y="569384"/>
                  </a:cubicBezTo>
                  <a:cubicBezTo>
                    <a:pt x="697421" y="562429"/>
                    <a:pt x="696343" y="550601"/>
                    <a:pt x="699796" y="541392"/>
                  </a:cubicBezTo>
                  <a:cubicBezTo>
                    <a:pt x="708093" y="519265"/>
                    <a:pt x="723863" y="478627"/>
                    <a:pt x="737119" y="457417"/>
                  </a:cubicBezTo>
                  <a:cubicBezTo>
                    <a:pt x="760893" y="419379"/>
                    <a:pt x="780046" y="377167"/>
                    <a:pt x="811764" y="345449"/>
                  </a:cubicBezTo>
                  <a:cubicBezTo>
                    <a:pt x="922247" y="234966"/>
                    <a:pt x="871280" y="280302"/>
                    <a:pt x="961053" y="205490"/>
                  </a:cubicBezTo>
                  <a:cubicBezTo>
                    <a:pt x="964163" y="196159"/>
                    <a:pt x="967682" y="186955"/>
                    <a:pt x="970384" y="177498"/>
                  </a:cubicBezTo>
                  <a:cubicBezTo>
                    <a:pt x="973907" y="165168"/>
                    <a:pt x="973980" y="151646"/>
                    <a:pt x="979715" y="140176"/>
                  </a:cubicBezTo>
                  <a:cubicBezTo>
                    <a:pt x="998535" y="102535"/>
                    <a:pt x="1006232" y="105239"/>
                    <a:pt x="1035698" y="84192"/>
                  </a:cubicBezTo>
                  <a:cubicBezTo>
                    <a:pt x="1048353" y="75153"/>
                    <a:pt x="1060580" y="65531"/>
                    <a:pt x="1073021" y="56200"/>
                  </a:cubicBezTo>
                  <a:cubicBezTo>
                    <a:pt x="1083314" y="35615"/>
                    <a:pt x="1090899" y="5013"/>
                    <a:pt x="1119674" y="217"/>
                  </a:cubicBezTo>
                  <a:cubicBezTo>
                    <a:pt x="1129375" y="-1400"/>
                    <a:pt x="1138335" y="6437"/>
                    <a:pt x="1147666" y="9547"/>
                  </a:cubicBezTo>
                  <a:cubicBezTo>
                    <a:pt x="1150776" y="18878"/>
                    <a:pt x="1152926" y="28585"/>
                    <a:pt x="1156996" y="37539"/>
                  </a:cubicBezTo>
                  <a:cubicBezTo>
                    <a:pt x="1195710" y="122710"/>
                    <a:pt x="1194319" y="83500"/>
                    <a:pt x="1194319" y="12151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i="1"/>
            </a:p>
          </p:txBody>
        </p:sp>
        <p:sp>
          <p:nvSpPr>
            <p:cNvPr id="34" name="Kombinationstegning 48">
              <a:extLst>
                <a:ext uri="{FF2B5EF4-FFF2-40B4-BE49-F238E27FC236}">
                  <a16:creationId xmlns:a16="http://schemas.microsoft.com/office/drawing/2014/main" id="{7AD715EF-CF96-0EEE-2C12-2AE984D2943F}"/>
                </a:ext>
              </a:extLst>
            </p:cNvPr>
            <p:cNvSpPr/>
            <p:nvPr/>
          </p:nvSpPr>
          <p:spPr>
            <a:xfrm>
              <a:off x="3995936" y="4182916"/>
              <a:ext cx="704056" cy="1315833"/>
            </a:xfrm>
            <a:custGeom>
              <a:avLst/>
              <a:gdLst>
                <a:gd name="connsiteX0" fmla="*/ 0 w 1194325"/>
                <a:gd name="connsiteY0" fmla="*/ 1315833 h 1315833"/>
                <a:gd name="connsiteX1" fmla="*/ 9331 w 1194325"/>
                <a:gd name="connsiteY1" fmla="*/ 1222527 h 1315833"/>
                <a:gd name="connsiteX2" fmla="*/ 37323 w 1194325"/>
                <a:gd name="connsiteY2" fmla="*/ 1147882 h 1315833"/>
                <a:gd name="connsiteX3" fmla="*/ 93306 w 1194325"/>
                <a:gd name="connsiteY3" fmla="*/ 979931 h 1315833"/>
                <a:gd name="connsiteX4" fmla="*/ 167951 w 1194325"/>
                <a:gd name="connsiteY4" fmla="*/ 821311 h 1315833"/>
                <a:gd name="connsiteX5" fmla="*/ 205274 w 1194325"/>
                <a:gd name="connsiteY5" fmla="*/ 709343 h 1315833"/>
                <a:gd name="connsiteX6" fmla="*/ 326572 w 1194325"/>
                <a:gd name="connsiteY6" fmla="*/ 541392 h 1315833"/>
                <a:gd name="connsiteX7" fmla="*/ 363894 w 1194325"/>
                <a:gd name="connsiteY7" fmla="*/ 494739 h 1315833"/>
                <a:gd name="connsiteX8" fmla="*/ 373225 w 1194325"/>
                <a:gd name="connsiteY8" fmla="*/ 466747 h 1315833"/>
                <a:gd name="connsiteX9" fmla="*/ 438539 w 1194325"/>
                <a:gd name="connsiteY9" fmla="*/ 504070 h 1315833"/>
                <a:gd name="connsiteX10" fmla="*/ 447870 w 1194325"/>
                <a:gd name="connsiteY10" fmla="*/ 560053 h 1315833"/>
                <a:gd name="connsiteX11" fmla="*/ 475862 w 1194325"/>
                <a:gd name="connsiteY11" fmla="*/ 644029 h 1315833"/>
                <a:gd name="connsiteX12" fmla="*/ 485192 w 1194325"/>
                <a:gd name="connsiteY12" fmla="*/ 746666 h 1315833"/>
                <a:gd name="connsiteX13" fmla="*/ 513184 w 1194325"/>
                <a:gd name="connsiteY13" fmla="*/ 718674 h 1315833"/>
                <a:gd name="connsiteX14" fmla="*/ 550506 w 1194325"/>
                <a:gd name="connsiteY14" fmla="*/ 653360 h 1315833"/>
                <a:gd name="connsiteX15" fmla="*/ 578498 w 1194325"/>
                <a:gd name="connsiteY15" fmla="*/ 634698 h 1315833"/>
                <a:gd name="connsiteX16" fmla="*/ 634482 w 1194325"/>
                <a:gd name="connsiteY16" fmla="*/ 616037 h 1315833"/>
                <a:gd name="connsiteX17" fmla="*/ 690466 w 1194325"/>
                <a:gd name="connsiteY17" fmla="*/ 569384 h 1315833"/>
                <a:gd name="connsiteX18" fmla="*/ 699796 w 1194325"/>
                <a:gd name="connsiteY18" fmla="*/ 541392 h 1315833"/>
                <a:gd name="connsiteX19" fmla="*/ 737119 w 1194325"/>
                <a:gd name="connsiteY19" fmla="*/ 457417 h 1315833"/>
                <a:gd name="connsiteX20" fmla="*/ 811764 w 1194325"/>
                <a:gd name="connsiteY20" fmla="*/ 345449 h 1315833"/>
                <a:gd name="connsiteX21" fmla="*/ 961053 w 1194325"/>
                <a:gd name="connsiteY21" fmla="*/ 205490 h 1315833"/>
                <a:gd name="connsiteX22" fmla="*/ 970384 w 1194325"/>
                <a:gd name="connsiteY22" fmla="*/ 177498 h 1315833"/>
                <a:gd name="connsiteX23" fmla="*/ 979715 w 1194325"/>
                <a:gd name="connsiteY23" fmla="*/ 140176 h 1315833"/>
                <a:gd name="connsiteX24" fmla="*/ 1035698 w 1194325"/>
                <a:gd name="connsiteY24" fmla="*/ 84192 h 1315833"/>
                <a:gd name="connsiteX25" fmla="*/ 1073021 w 1194325"/>
                <a:gd name="connsiteY25" fmla="*/ 56200 h 1315833"/>
                <a:gd name="connsiteX26" fmla="*/ 1119674 w 1194325"/>
                <a:gd name="connsiteY26" fmla="*/ 217 h 1315833"/>
                <a:gd name="connsiteX27" fmla="*/ 1147666 w 1194325"/>
                <a:gd name="connsiteY27" fmla="*/ 9547 h 1315833"/>
                <a:gd name="connsiteX28" fmla="*/ 1156996 w 1194325"/>
                <a:gd name="connsiteY28" fmla="*/ 37539 h 1315833"/>
                <a:gd name="connsiteX29" fmla="*/ 1194319 w 1194325"/>
                <a:gd name="connsiteY29" fmla="*/ 121515 h 131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94325" h="1315833">
                  <a:moveTo>
                    <a:pt x="0" y="1315833"/>
                  </a:moveTo>
                  <a:cubicBezTo>
                    <a:pt x="3110" y="1284731"/>
                    <a:pt x="2550" y="1253040"/>
                    <a:pt x="9331" y="1222527"/>
                  </a:cubicBezTo>
                  <a:cubicBezTo>
                    <a:pt x="15096" y="1196586"/>
                    <a:pt x="28920" y="1173092"/>
                    <a:pt x="37323" y="1147882"/>
                  </a:cubicBezTo>
                  <a:cubicBezTo>
                    <a:pt x="72098" y="1043556"/>
                    <a:pt x="38417" y="1110292"/>
                    <a:pt x="93306" y="979931"/>
                  </a:cubicBezTo>
                  <a:cubicBezTo>
                    <a:pt x="154637" y="834269"/>
                    <a:pt x="107979" y="978737"/>
                    <a:pt x="167951" y="821311"/>
                  </a:cubicBezTo>
                  <a:cubicBezTo>
                    <a:pt x="181956" y="784547"/>
                    <a:pt x="185878" y="743571"/>
                    <a:pt x="205274" y="709343"/>
                  </a:cubicBezTo>
                  <a:cubicBezTo>
                    <a:pt x="239320" y="649261"/>
                    <a:pt x="285525" y="596927"/>
                    <a:pt x="326572" y="541392"/>
                  </a:cubicBezTo>
                  <a:cubicBezTo>
                    <a:pt x="338409" y="525377"/>
                    <a:pt x="363894" y="494739"/>
                    <a:pt x="363894" y="494739"/>
                  </a:cubicBezTo>
                  <a:cubicBezTo>
                    <a:pt x="367004" y="485408"/>
                    <a:pt x="366270" y="473702"/>
                    <a:pt x="373225" y="466747"/>
                  </a:cubicBezTo>
                  <a:cubicBezTo>
                    <a:pt x="406218" y="433755"/>
                    <a:pt x="423202" y="484898"/>
                    <a:pt x="438539" y="504070"/>
                  </a:cubicBezTo>
                  <a:cubicBezTo>
                    <a:pt x="441649" y="522731"/>
                    <a:pt x="442995" y="541773"/>
                    <a:pt x="447870" y="560053"/>
                  </a:cubicBezTo>
                  <a:cubicBezTo>
                    <a:pt x="455473" y="588563"/>
                    <a:pt x="470075" y="615096"/>
                    <a:pt x="475862" y="644029"/>
                  </a:cubicBezTo>
                  <a:cubicBezTo>
                    <a:pt x="482599" y="677715"/>
                    <a:pt x="482082" y="712454"/>
                    <a:pt x="485192" y="746666"/>
                  </a:cubicBezTo>
                  <a:cubicBezTo>
                    <a:pt x="494523" y="737335"/>
                    <a:pt x="505864" y="729653"/>
                    <a:pt x="513184" y="718674"/>
                  </a:cubicBezTo>
                  <a:cubicBezTo>
                    <a:pt x="555887" y="654620"/>
                    <a:pt x="471625" y="732243"/>
                    <a:pt x="550506" y="653360"/>
                  </a:cubicBezTo>
                  <a:cubicBezTo>
                    <a:pt x="558436" y="645430"/>
                    <a:pt x="568250" y="639253"/>
                    <a:pt x="578498" y="634698"/>
                  </a:cubicBezTo>
                  <a:cubicBezTo>
                    <a:pt x="596473" y="626709"/>
                    <a:pt x="634482" y="616037"/>
                    <a:pt x="634482" y="616037"/>
                  </a:cubicBezTo>
                  <a:cubicBezTo>
                    <a:pt x="699034" y="519207"/>
                    <a:pt x="595761" y="664089"/>
                    <a:pt x="690466" y="569384"/>
                  </a:cubicBezTo>
                  <a:cubicBezTo>
                    <a:pt x="697421" y="562429"/>
                    <a:pt x="696343" y="550601"/>
                    <a:pt x="699796" y="541392"/>
                  </a:cubicBezTo>
                  <a:cubicBezTo>
                    <a:pt x="708093" y="519265"/>
                    <a:pt x="723863" y="478627"/>
                    <a:pt x="737119" y="457417"/>
                  </a:cubicBezTo>
                  <a:cubicBezTo>
                    <a:pt x="760893" y="419379"/>
                    <a:pt x="780046" y="377167"/>
                    <a:pt x="811764" y="345449"/>
                  </a:cubicBezTo>
                  <a:cubicBezTo>
                    <a:pt x="922247" y="234966"/>
                    <a:pt x="871280" y="280302"/>
                    <a:pt x="961053" y="205490"/>
                  </a:cubicBezTo>
                  <a:cubicBezTo>
                    <a:pt x="964163" y="196159"/>
                    <a:pt x="967682" y="186955"/>
                    <a:pt x="970384" y="177498"/>
                  </a:cubicBezTo>
                  <a:cubicBezTo>
                    <a:pt x="973907" y="165168"/>
                    <a:pt x="973980" y="151646"/>
                    <a:pt x="979715" y="140176"/>
                  </a:cubicBezTo>
                  <a:cubicBezTo>
                    <a:pt x="998535" y="102535"/>
                    <a:pt x="1006232" y="105239"/>
                    <a:pt x="1035698" y="84192"/>
                  </a:cubicBezTo>
                  <a:cubicBezTo>
                    <a:pt x="1048353" y="75153"/>
                    <a:pt x="1060580" y="65531"/>
                    <a:pt x="1073021" y="56200"/>
                  </a:cubicBezTo>
                  <a:cubicBezTo>
                    <a:pt x="1083314" y="35615"/>
                    <a:pt x="1090899" y="5013"/>
                    <a:pt x="1119674" y="217"/>
                  </a:cubicBezTo>
                  <a:cubicBezTo>
                    <a:pt x="1129375" y="-1400"/>
                    <a:pt x="1138335" y="6437"/>
                    <a:pt x="1147666" y="9547"/>
                  </a:cubicBezTo>
                  <a:cubicBezTo>
                    <a:pt x="1150776" y="18878"/>
                    <a:pt x="1152926" y="28585"/>
                    <a:pt x="1156996" y="37539"/>
                  </a:cubicBezTo>
                  <a:cubicBezTo>
                    <a:pt x="1195710" y="122710"/>
                    <a:pt x="1194319" y="83500"/>
                    <a:pt x="1194319" y="12151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i="1"/>
            </a:p>
          </p:txBody>
        </p:sp>
      </p:grpSp>
      <p:sp>
        <p:nvSpPr>
          <p:cNvPr id="37" name="Titel 1">
            <a:extLst>
              <a:ext uri="{FF2B5EF4-FFF2-40B4-BE49-F238E27FC236}">
                <a16:creationId xmlns:a16="http://schemas.microsoft.com/office/drawing/2014/main" id="{6CCA7FBF-C305-6BE4-05AD-D7116BBDE450}"/>
              </a:ext>
            </a:extLst>
          </p:cNvPr>
          <p:cNvSpPr txBox="1">
            <a:spLocks/>
          </p:cNvSpPr>
          <p:nvPr/>
        </p:nvSpPr>
        <p:spPr>
          <a:xfrm>
            <a:off x="5868144" y="5229200"/>
            <a:ext cx="1837905" cy="270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/>
              <a:t>(1.25) på side 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66076437-DF09-C19D-769A-922D07B523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9703" y="3916401"/>
                <a:ext cx="3077757" cy="1071194"/>
              </a:xfrm>
              <a:prstGeom prst="rect">
                <a:avLst/>
              </a:prstGeom>
              <a:ln w="63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CMRR</m:t>
                      </m:r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 = 20</m:t>
                      </m:r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log</m:t>
                      </m:r>
                      <m:f>
                        <m:f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cm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66076437-DF09-C19D-769A-922D07B52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703" y="3916401"/>
                <a:ext cx="3077757" cy="1071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386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444647" y="1988840"/>
            <a:ext cx="8254706" cy="4171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b="1" i="1" dirty="0"/>
              <a:t>Op Amp </a:t>
            </a:r>
            <a:r>
              <a:rPr lang="da-DK" sz="2000" i="1" dirty="0"/>
              <a:t>– i sig selv en differensforstærker – anvendes med modkobling.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3C8DD9-BB11-B348-8F61-CCEAC9EA5891}"/>
              </a:ext>
            </a:extLst>
          </p:cNvPr>
          <p:cNvSpPr txBox="1">
            <a:spLocks/>
          </p:cNvSpPr>
          <p:nvPr/>
        </p:nvSpPr>
        <p:spPr>
          <a:xfrm>
            <a:off x="444647" y="3284984"/>
            <a:ext cx="6719641" cy="4171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b="1" i="1" dirty="0"/>
              <a:t>Instrumenteringsforstærker</a:t>
            </a:r>
            <a:r>
              <a:rPr lang="da-DK" sz="2000" i="1" dirty="0"/>
              <a:t> – dette ER en differensforstærker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5446FFE-838C-8459-3915-EB7024AED5E7}"/>
              </a:ext>
            </a:extLst>
          </p:cNvPr>
          <p:cNvSpPr txBox="1">
            <a:spLocks/>
          </p:cNvSpPr>
          <p:nvPr/>
        </p:nvSpPr>
        <p:spPr>
          <a:xfrm>
            <a:off x="539552" y="836086"/>
            <a:ext cx="1008112" cy="344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i="1" dirty="0"/>
              <a:t>Ex. µA741</a:t>
            </a:r>
            <a:endParaRPr lang="da-DK" sz="1400" i="1" baseline="-25000" dirty="0"/>
          </a:p>
        </p:txBody>
      </p:sp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9A19488B-CB5E-ECD0-E45B-976E296CFF17}"/>
              </a:ext>
            </a:extLst>
          </p:cNvPr>
          <p:cNvCxnSpPr>
            <a:cxnSpLocks/>
          </p:cNvCxnSpPr>
          <p:nvPr/>
        </p:nvCxnSpPr>
        <p:spPr>
          <a:xfrm>
            <a:off x="1043608" y="1268760"/>
            <a:ext cx="0" cy="759128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FCBDA512-2482-8E46-49F2-02880CA340CC}"/>
              </a:ext>
            </a:extLst>
          </p:cNvPr>
          <p:cNvSpPr txBox="1">
            <a:spLocks/>
          </p:cNvSpPr>
          <p:nvPr/>
        </p:nvSpPr>
        <p:spPr>
          <a:xfrm>
            <a:off x="1331640" y="4653136"/>
            <a:ext cx="1008112" cy="344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i="1" dirty="0"/>
              <a:t>Ex. AD620</a:t>
            </a:r>
            <a:endParaRPr lang="da-DK" sz="1400" i="1" baseline="-25000" dirty="0"/>
          </a:p>
        </p:txBody>
      </p: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B5E7E019-6AC3-3051-14A0-6A9DAC0D5476}"/>
              </a:ext>
            </a:extLst>
          </p:cNvPr>
          <p:cNvCxnSpPr>
            <a:cxnSpLocks/>
          </p:cNvCxnSpPr>
          <p:nvPr/>
        </p:nvCxnSpPr>
        <p:spPr>
          <a:xfrm flipV="1">
            <a:off x="1835696" y="3789040"/>
            <a:ext cx="0" cy="822570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161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e 29"/>
          <p:cNvGrpSpPr/>
          <p:nvPr/>
        </p:nvGrpSpPr>
        <p:grpSpPr>
          <a:xfrm>
            <a:off x="1796796" y="1607474"/>
            <a:ext cx="4359380" cy="2653014"/>
            <a:chOff x="2494319" y="1607474"/>
            <a:chExt cx="4359380" cy="2653014"/>
          </a:xfrm>
        </p:grpSpPr>
        <p:pic>
          <p:nvPicPr>
            <p:cNvPr id="11" name="Billed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2348" y="1607474"/>
              <a:ext cx="4131351" cy="2653014"/>
            </a:xfrm>
            <a:prstGeom prst="rect">
              <a:avLst/>
            </a:prstGeom>
          </p:spPr>
        </p:pic>
        <p:sp>
          <p:nvSpPr>
            <p:cNvPr id="27" name="Titel 1"/>
            <p:cNvSpPr txBox="1">
              <a:spLocks/>
            </p:cNvSpPr>
            <p:nvPr/>
          </p:nvSpPr>
          <p:spPr>
            <a:xfrm>
              <a:off x="2494319" y="2591937"/>
              <a:ext cx="565513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800" i="1" dirty="0"/>
                <a:t>v</a:t>
              </a:r>
              <a:r>
                <a:rPr lang="da-DK" sz="2800" i="1" baseline="-25000" dirty="0"/>
                <a:t>id</a:t>
              </a:r>
            </a:p>
          </p:txBody>
        </p:sp>
        <p:cxnSp>
          <p:nvCxnSpPr>
            <p:cNvPr id="28" name="Lige pilforbindelse 27"/>
            <p:cNvCxnSpPr/>
            <p:nvPr/>
          </p:nvCxnSpPr>
          <p:spPr>
            <a:xfrm>
              <a:off x="3203848" y="2391215"/>
              <a:ext cx="0" cy="9075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el 1"/>
          <p:cNvSpPr txBox="1">
            <a:spLocks/>
          </p:cNvSpPr>
          <p:nvPr/>
        </p:nvSpPr>
        <p:spPr>
          <a:xfrm>
            <a:off x="5414890" y="1871857"/>
            <a:ext cx="2592288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=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OL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id</a:t>
            </a:r>
            <a:endParaRPr lang="da-DK" sz="2000" i="1" baseline="-25000" dirty="0"/>
          </a:p>
        </p:txBody>
      </p:sp>
      <p:cxnSp>
        <p:nvCxnSpPr>
          <p:cNvPr id="36" name="Lige pilforbindelse 35"/>
          <p:cNvCxnSpPr/>
          <p:nvPr/>
        </p:nvCxnSpPr>
        <p:spPr>
          <a:xfrm>
            <a:off x="683568" y="523413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/>
          <p:cNvCxnSpPr/>
          <p:nvPr/>
        </p:nvCxnSpPr>
        <p:spPr>
          <a:xfrm>
            <a:off x="827584" y="509012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el 1"/>
          <p:cNvSpPr txBox="1">
            <a:spLocks/>
          </p:cNvSpPr>
          <p:nvPr/>
        </p:nvSpPr>
        <p:spPr>
          <a:xfrm>
            <a:off x="8028384" y="501811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[V]</a:t>
            </a:r>
            <a:endParaRPr lang="da-DK" sz="1800" i="1" baseline="30000" dirty="0"/>
          </a:p>
        </p:txBody>
      </p:sp>
      <p:sp>
        <p:nvSpPr>
          <p:cNvPr id="39" name="Titel 1"/>
          <p:cNvSpPr txBox="1">
            <a:spLocks/>
          </p:cNvSpPr>
          <p:nvPr/>
        </p:nvSpPr>
        <p:spPr>
          <a:xfrm>
            <a:off x="683568" y="523413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sp>
        <p:nvSpPr>
          <p:cNvPr id="40" name="Titel 1"/>
          <p:cNvSpPr txBox="1">
            <a:spLocks/>
          </p:cNvSpPr>
          <p:nvPr/>
        </p:nvSpPr>
        <p:spPr>
          <a:xfrm>
            <a:off x="5220072" y="4427637"/>
            <a:ext cx="1548172" cy="369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v</a:t>
            </a:r>
            <a:r>
              <a:rPr lang="da-DK" sz="2000" i="1" baseline="-25000" dirty="0"/>
              <a:t>id</a:t>
            </a:r>
            <a:r>
              <a:rPr lang="da-DK" sz="2000" i="1" dirty="0"/>
              <a:t> = e</a:t>
            </a:r>
            <a:r>
              <a:rPr lang="da-DK" sz="2000" i="1" baseline="30000" dirty="0"/>
              <a:t>+</a:t>
            </a:r>
            <a:r>
              <a:rPr lang="da-DK" sz="2000" i="1" dirty="0"/>
              <a:t> - e</a:t>
            </a:r>
            <a:r>
              <a:rPr lang="da-DK" sz="2000" i="1" baseline="30000" dirty="0"/>
              <a:t>-</a:t>
            </a:r>
          </a:p>
        </p:txBody>
      </p:sp>
      <p:cxnSp>
        <p:nvCxnSpPr>
          <p:cNvPr id="42" name="Lige forbindelse 41"/>
          <p:cNvCxnSpPr/>
          <p:nvPr/>
        </p:nvCxnSpPr>
        <p:spPr>
          <a:xfrm>
            <a:off x="4932040" y="509012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ge forbindelse 42"/>
          <p:cNvCxnSpPr/>
          <p:nvPr/>
        </p:nvCxnSpPr>
        <p:spPr>
          <a:xfrm>
            <a:off x="5868144" y="509012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el 1"/>
          <p:cNvSpPr txBox="1">
            <a:spLocks/>
          </p:cNvSpPr>
          <p:nvPr/>
        </p:nvSpPr>
        <p:spPr>
          <a:xfrm>
            <a:off x="4788024" y="519273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e</a:t>
            </a:r>
            <a:r>
              <a:rPr lang="da-DK" sz="1800" i="1" baseline="30000" dirty="0"/>
              <a:t>-</a:t>
            </a:r>
          </a:p>
        </p:txBody>
      </p:sp>
      <p:sp>
        <p:nvSpPr>
          <p:cNvPr id="45" name="Titel 1"/>
          <p:cNvSpPr txBox="1">
            <a:spLocks/>
          </p:cNvSpPr>
          <p:nvPr/>
        </p:nvSpPr>
        <p:spPr>
          <a:xfrm>
            <a:off x="5724128" y="519273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e</a:t>
            </a:r>
            <a:r>
              <a:rPr lang="da-DK" sz="1800" i="1" baseline="30000" dirty="0"/>
              <a:t>+</a:t>
            </a: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35496" y="44624"/>
            <a:ext cx="439248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Ideelt</a:t>
            </a:r>
            <a:r>
              <a:rPr lang="da-DK" sz="2800" i="1" dirty="0"/>
              <a:t> forstærkes kun v</a:t>
            </a:r>
            <a:r>
              <a:rPr lang="da-DK" sz="2800" i="1" baseline="-25000" dirty="0"/>
              <a:t>id</a:t>
            </a:r>
          </a:p>
        </p:txBody>
      </p:sp>
      <p:sp>
        <p:nvSpPr>
          <p:cNvPr id="19" name="Højre klammeparentes 18"/>
          <p:cNvSpPr/>
          <p:nvPr/>
        </p:nvSpPr>
        <p:spPr>
          <a:xfrm rot="16200000">
            <a:off x="5361707" y="4437113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</p:spTree>
    <p:extLst>
      <p:ext uri="{BB962C8B-B14F-4D97-AF65-F5344CB8AC3E}">
        <p14:creationId xmlns:p14="http://schemas.microsoft.com/office/powerpoint/2010/main" val="396377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e 29"/>
          <p:cNvGrpSpPr/>
          <p:nvPr/>
        </p:nvGrpSpPr>
        <p:grpSpPr>
          <a:xfrm>
            <a:off x="1796796" y="1607474"/>
            <a:ext cx="4359380" cy="2653014"/>
            <a:chOff x="2494319" y="1607474"/>
            <a:chExt cx="4359380" cy="2653014"/>
          </a:xfrm>
        </p:grpSpPr>
        <p:pic>
          <p:nvPicPr>
            <p:cNvPr id="11" name="Billed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2348" y="1607474"/>
              <a:ext cx="4131351" cy="2653014"/>
            </a:xfrm>
            <a:prstGeom prst="rect">
              <a:avLst/>
            </a:prstGeom>
          </p:spPr>
        </p:pic>
        <p:sp>
          <p:nvSpPr>
            <p:cNvPr id="27" name="Titel 1"/>
            <p:cNvSpPr txBox="1">
              <a:spLocks/>
            </p:cNvSpPr>
            <p:nvPr/>
          </p:nvSpPr>
          <p:spPr>
            <a:xfrm>
              <a:off x="2494319" y="2591937"/>
              <a:ext cx="565513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800" i="1" dirty="0"/>
                <a:t>v</a:t>
              </a:r>
              <a:r>
                <a:rPr lang="da-DK" sz="2800" i="1" baseline="-25000" dirty="0"/>
                <a:t>id</a:t>
              </a:r>
            </a:p>
          </p:txBody>
        </p:sp>
        <p:cxnSp>
          <p:nvCxnSpPr>
            <p:cNvPr id="28" name="Lige pilforbindelse 27"/>
            <p:cNvCxnSpPr/>
            <p:nvPr/>
          </p:nvCxnSpPr>
          <p:spPr>
            <a:xfrm>
              <a:off x="3203848" y="2391215"/>
              <a:ext cx="0" cy="9075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el 1"/>
          <p:cNvSpPr txBox="1">
            <a:spLocks/>
          </p:cNvSpPr>
          <p:nvPr/>
        </p:nvSpPr>
        <p:spPr>
          <a:xfrm>
            <a:off x="5414890" y="1871857"/>
            <a:ext cx="2592288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=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OL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id</a:t>
            </a:r>
            <a:endParaRPr lang="da-DK" sz="2000" i="1" baseline="-25000" dirty="0"/>
          </a:p>
        </p:txBody>
      </p:sp>
      <p:cxnSp>
        <p:nvCxnSpPr>
          <p:cNvPr id="36" name="Lige pilforbindelse 35"/>
          <p:cNvCxnSpPr/>
          <p:nvPr/>
        </p:nvCxnSpPr>
        <p:spPr>
          <a:xfrm>
            <a:off x="683568" y="523413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/>
          <p:cNvCxnSpPr/>
          <p:nvPr/>
        </p:nvCxnSpPr>
        <p:spPr>
          <a:xfrm>
            <a:off x="827584" y="509012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el 1"/>
          <p:cNvSpPr txBox="1">
            <a:spLocks/>
          </p:cNvSpPr>
          <p:nvPr/>
        </p:nvSpPr>
        <p:spPr>
          <a:xfrm>
            <a:off x="8028384" y="501811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[V]</a:t>
            </a:r>
            <a:endParaRPr lang="da-DK" sz="1800" i="1" baseline="30000" dirty="0"/>
          </a:p>
        </p:txBody>
      </p:sp>
      <p:sp>
        <p:nvSpPr>
          <p:cNvPr id="39" name="Titel 1"/>
          <p:cNvSpPr txBox="1">
            <a:spLocks/>
          </p:cNvSpPr>
          <p:nvPr/>
        </p:nvSpPr>
        <p:spPr>
          <a:xfrm>
            <a:off x="683568" y="523413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cxnSp>
        <p:nvCxnSpPr>
          <p:cNvPr id="42" name="Lige forbindelse 41"/>
          <p:cNvCxnSpPr/>
          <p:nvPr/>
        </p:nvCxnSpPr>
        <p:spPr>
          <a:xfrm>
            <a:off x="4932040" y="509012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ge forbindelse 42"/>
          <p:cNvCxnSpPr/>
          <p:nvPr/>
        </p:nvCxnSpPr>
        <p:spPr>
          <a:xfrm>
            <a:off x="5868144" y="509012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el 1"/>
          <p:cNvSpPr txBox="1">
            <a:spLocks/>
          </p:cNvSpPr>
          <p:nvPr/>
        </p:nvSpPr>
        <p:spPr>
          <a:xfrm>
            <a:off x="4788024" y="519273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e</a:t>
            </a:r>
            <a:r>
              <a:rPr lang="da-DK" sz="1800" i="1" baseline="30000" dirty="0"/>
              <a:t>-</a:t>
            </a:r>
          </a:p>
        </p:txBody>
      </p:sp>
      <p:sp>
        <p:nvSpPr>
          <p:cNvPr id="45" name="Titel 1"/>
          <p:cNvSpPr txBox="1">
            <a:spLocks/>
          </p:cNvSpPr>
          <p:nvPr/>
        </p:nvSpPr>
        <p:spPr>
          <a:xfrm>
            <a:off x="5724128" y="519273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e</a:t>
            </a:r>
            <a:r>
              <a:rPr lang="da-DK" sz="1800" i="1" baseline="30000" dirty="0"/>
              <a:t>+</a:t>
            </a: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35496" y="44624"/>
            <a:ext cx="439248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Ideelt</a:t>
            </a:r>
            <a:r>
              <a:rPr lang="da-DK" sz="2800" i="1" dirty="0"/>
              <a:t> forstærkes kun v</a:t>
            </a:r>
            <a:r>
              <a:rPr lang="da-DK" sz="2800" i="1" baseline="-25000" dirty="0"/>
              <a:t>id</a:t>
            </a:r>
          </a:p>
        </p:txBody>
      </p:sp>
      <p:sp>
        <p:nvSpPr>
          <p:cNvPr id="20" name="Titel 1"/>
          <p:cNvSpPr txBox="1">
            <a:spLocks/>
          </p:cNvSpPr>
          <p:nvPr/>
        </p:nvSpPr>
        <p:spPr>
          <a:xfrm>
            <a:off x="5868144" y="977484"/>
            <a:ext cx="1020934" cy="482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A</a:t>
            </a:r>
            <a:r>
              <a:rPr lang="da-DK" sz="2000" i="1" baseline="-25000" dirty="0"/>
              <a:t>OL</a:t>
            </a:r>
            <a:r>
              <a:rPr lang="da-DK" sz="2000" i="1" dirty="0"/>
              <a:t> = A</a:t>
            </a:r>
            <a:r>
              <a:rPr lang="da-DK" sz="2000" i="1" baseline="-25000" dirty="0"/>
              <a:t>d</a:t>
            </a:r>
          </a:p>
        </p:txBody>
      </p:sp>
      <p:cxnSp>
        <p:nvCxnSpPr>
          <p:cNvPr id="21" name="Lige pilforbindelse 20"/>
          <p:cNvCxnSpPr/>
          <p:nvPr/>
        </p:nvCxnSpPr>
        <p:spPr>
          <a:xfrm>
            <a:off x="6041438" y="1518968"/>
            <a:ext cx="0" cy="504056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/>
          <p:cNvSpPr txBox="1">
            <a:spLocks/>
          </p:cNvSpPr>
          <p:nvPr/>
        </p:nvSpPr>
        <p:spPr>
          <a:xfrm>
            <a:off x="5220072" y="4427637"/>
            <a:ext cx="1548172" cy="369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v</a:t>
            </a:r>
            <a:r>
              <a:rPr lang="da-DK" sz="2000" i="1" baseline="-25000" dirty="0"/>
              <a:t>id</a:t>
            </a:r>
            <a:r>
              <a:rPr lang="da-DK" sz="2000" i="1" dirty="0"/>
              <a:t> = e</a:t>
            </a:r>
            <a:r>
              <a:rPr lang="da-DK" sz="2000" i="1" baseline="30000" dirty="0"/>
              <a:t>+</a:t>
            </a:r>
            <a:r>
              <a:rPr lang="da-DK" sz="2000" i="1" dirty="0"/>
              <a:t> - e</a:t>
            </a:r>
            <a:r>
              <a:rPr lang="da-DK" sz="2000" i="1" baseline="30000" dirty="0"/>
              <a:t>-</a:t>
            </a:r>
          </a:p>
        </p:txBody>
      </p:sp>
      <p:sp>
        <p:nvSpPr>
          <p:cNvPr id="23" name="Højre klammeparentes 22"/>
          <p:cNvSpPr/>
          <p:nvPr/>
        </p:nvSpPr>
        <p:spPr>
          <a:xfrm rot="16200000">
            <a:off x="5361707" y="4437113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</p:spTree>
    <p:extLst>
      <p:ext uri="{BB962C8B-B14F-4D97-AF65-F5344CB8AC3E}">
        <p14:creationId xmlns:p14="http://schemas.microsoft.com/office/powerpoint/2010/main" val="2941975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25" y="1607474"/>
            <a:ext cx="4131351" cy="2653014"/>
          </a:xfrm>
          <a:prstGeom prst="rect">
            <a:avLst/>
          </a:prstGeom>
        </p:spPr>
      </p:pic>
      <p:sp>
        <p:nvSpPr>
          <p:cNvPr id="27" name="Titel 1"/>
          <p:cNvSpPr txBox="1">
            <a:spLocks/>
          </p:cNvSpPr>
          <p:nvPr/>
        </p:nvSpPr>
        <p:spPr>
          <a:xfrm>
            <a:off x="1796796" y="2591937"/>
            <a:ext cx="565513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</a:t>
            </a:r>
            <a:r>
              <a:rPr lang="da-DK" sz="2800" i="1" baseline="-25000" dirty="0"/>
              <a:t>id</a:t>
            </a:r>
          </a:p>
        </p:txBody>
      </p:sp>
      <p:cxnSp>
        <p:nvCxnSpPr>
          <p:cNvPr id="28" name="Lige pilforbindelse 27"/>
          <p:cNvCxnSpPr/>
          <p:nvPr/>
        </p:nvCxnSpPr>
        <p:spPr>
          <a:xfrm>
            <a:off x="2506325" y="2391215"/>
            <a:ext cx="0" cy="9075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e 6"/>
          <p:cNvGrpSpPr/>
          <p:nvPr/>
        </p:nvGrpSpPr>
        <p:grpSpPr>
          <a:xfrm>
            <a:off x="683568" y="5018112"/>
            <a:ext cx="7920880" cy="1272605"/>
            <a:chOff x="683568" y="5384016"/>
            <a:chExt cx="7920880" cy="1272605"/>
          </a:xfrm>
        </p:grpSpPr>
        <p:cxnSp>
          <p:nvCxnSpPr>
            <p:cNvPr id="4" name="Lige pilforbindelse 3"/>
            <p:cNvCxnSpPr/>
            <p:nvPr/>
          </p:nvCxnSpPr>
          <p:spPr>
            <a:xfrm>
              <a:off x="683568" y="5600040"/>
              <a:ext cx="7344816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ge forbindelse 7"/>
            <p:cNvCxnSpPr/>
            <p:nvPr/>
          </p:nvCxnSpPr>
          <p:spPr>
            <a:xfrm>
              <a:off x="827584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el 1"/>
            <p:cNvSpPr txBox="1">
              <a:spLocks/>
            </p:cNvSpPr>
            <p:nvPr/>
          </p:nvSpPr>
          <p:spPr>
            <a:xfrm>
              <a:off x="8028384" y="5384016"/>
              <a:ext cx="576064" cy="7920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[V]</a:t>
              </a:r>
              <a:endParaRPr lang="da-DK" sz="1800" i="1" baseline="300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683568" y="5600040"/>
              <a:ext cx="360040" cy="7092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0</a:t>
              </a:r>
              <a:endParaRPr lang="da-DK" sz="1800" i="1" baseline="30000" dirty="0"/>
            </a:p>
          </p:txBody>
        </p:sp>
        <p:cxnSp>
          <p:nvCxnSpPr>
            <p:cNvPr id="15" name="Lige forbindelse 14"/>
            <p:cNvCxnSpPr/>
            <p:nvPr/>
          </p:nvCxnSpPr>
          <p:spPr>
            <a:xfrm>
              <a:off x="4932040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ge forbindelse 20"/>
            <p:cNvCxnSpPr/>
            <p:nvPr/>
          </p:nvCxnSpPr>
          <p:spPr>
            <a:xfrm>
              <a:off x="5868144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itel 1"/>
            <p:cNvSpPr txBox="1">
              <a:spLocks/>
            </p:cNvSpPr>
            <p:nvPr/>
          </p:nvSpPr>
          <p:spPr>
            <a:xfrm>
              <a:off x="4788024" y="555863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e</a:t>
              </a:r>
              <a:r>
                <a:rPr lang="da-DK" sz="1800" i="1" baseline="30000" dirty="0"/>
                <a:t>-</a:t>
              </a:r>
            </a:p>
          </p:txBody>
        </p:sp>
        <p:sp>
          <p:nvSpPr>
            <p:cNvPr id="25" name="Titel 1"/>
            <p:cNvSpPr txBox="1">
              <a:spLocks/>
            </p:cNvSpPr>
            <p:nvPr/>
          </p:nvSpPr>
          <p:spPr>
            <a:xfrm>
              <a:off x="5724128" y="555863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e</a:t>
              </a:r>
              <a:r>
                <a:rPr lang="da-DK" sz="1800" i="1" baseline="300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itel 1"/>
                <p:cNvSpPr txBox="1">
                  <a:spLocks/>
                </p:cNvSpPr>
                <p:nvPr/>
              </p:nvSpPr>
              <p:spPr>
                <a:xfrm>
                  <a:off x="5076056" y="5936541"/>
                  <a:ext cx="2097691" cy="72008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icm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/>
                          </a:rPr>
                          <m:t>= </m:t>
                        </m:r>
                        <m:f>
                          <m:f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da-DK" sz="1800" b="0" i="1" smtClean="0">
                                <a:latin typeface="Cambria Math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−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da-DK" sz="18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itel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6056" y="5936541"/>
                  <a:ext cx="2097691" cy="72008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itel 1"/>
          <p:cNvSpPr txBox="1">
            <a:spLocks/>
          </p:cNvSpPr>
          <p:nvPr/>
        </p:nvSpPr>
        <p:spPr>
          <a:xfrm>
            <a:off x="5414890" y="1871857"/>
            <a:ext cx="2592288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=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OL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id</a:t>
            </a:r>
            <a:r>
              <a:rPr lang="da-DK" sz="2000" i="1" baseline="-25000" dirty="0"/>
              <a:t> </a:t>
            </a:r>
            <a:r>
              <a:rPr lang="da-DK" sz="2000" i="1" dirty="0"/>
              <a:t>+</a:t>
            </a:r>
            <a:r>
              <a:rPr lang="da-DK" sz="2000" i="1" baseline="-25000" dirty="0"/>
              <a:t>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CM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icm</a:t>
            </a:r>
            <a:endParaRPr lang="da-DK" sz="2000" i="1" baseline="-25000" dirty="0"/>
          </a:p>
        </p:txBody>
      </p:sp>
      <p:sp>
        <p:nvSpPr>
          <p:cNvPr id="23" name="Titel 1"/>
          <p:cNvSpPr txBox="1">
            <a:spLocks/>
          </p:cNvSpPr>
          <p:nvPr/>
        </p:nvSpPr>
        <p:spPr>
          <a:xfrm>
            <a:off x="35496" y="44624"/>
            <a:ext cx="518457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 </a:t>
            </a:r>
            <a:r>
              <a:rPr lang="da-DK" sz="2800" b="1" i="1" dirty="0"/>
              <a:t>praksis</a:t>
            </a:r>
            <a:r>
              <a:rPr lang="da-DK" sz="2800" i="1" dirty="0"/>
              <a:t> forstærkes også </a:t>
            </a:r>
            <a:r>
              <a:rPr lang="da-DK" sz="2800" i="1" dirty="0" err="1"/>
              <a:t>v</a:t>
            </a:r>
            <a:r>
              <a:rPr lang="da-DK" sz="2800" i="1" baseline="-25000" dirty="0" err="1"/>
              <a:t>icm</a:t>
            </a:r>
            <a:endParaRPr lang="da-DK" sz="2800" i="1" baseline="-25000" dirty="0"/>
          </a:p>
        </p:txBody>
      </p:sp>
      <p:cxnSp>
        <p:nvCxnSpPr>
          <p:cNvPr id="29" name="Lige pilforbindelse 28"/>
          <p:cNvCxnSpPr/>
          <p:nvPr/>
        </p:nvCxnSpPr>
        <p:spPr>
          <a:xfrm flipV="1">
            <a:off x="5414890" y="5306887"/>
            <a:ext cx="0" cy="49837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itel 1"/>
          <p:cNvSpPr txBox="1">
            <a:spLocks/>
          </p:cNvSpPr>
          <p:nvPr/>
        </p:nvSpPr>
        <p:spPr>
          <a:xfrm>
            <a:off x="5220072" y="4427637"/>
            <a:ext cx="1548172" cy="369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v</a:t>
            </a:r>
            <a:r>
              <a:rPr lang="da-DK" sz="2000" i="1" baseline="-25000" dirty="0"/>
              <a:t>id</a:t>
            </a:r>
            <a:r>
              <a:rPr lang="da-DK" sz="2000" i="1" dirty="0"/>
              <a:t> = e</a:t>
            </a:r>
            <a:r>
              <a:rPr lang="da-DK" sz="2000" i="1" baseline="30000" dirty="0"/>
              <a:t>+</a:t>
            </a:r>
            <a:r>
              <a:rPr lang="da-DK" sz="2000" i="1" dirty="0"/>
              <a:t> - e</a:t>
            </a:r>
            <a:r>
              <a:rPr lang="da-DK" sz="2000" i="1" baseline="30000" dirty="0"/>
              <a:t>-</a:t>
            </a:r>
          </a:p>
        </p:txBody>
      </p:sp>
      <p:sp>
        <p:nvSpPr>
          <p:cNvPr id="30" name="Højre klammeparentes 29"/>
          <p:cNvSpPr/>
          <p:nvPr/>
        </p:nvSpPr>
        <p:spPr>
          <a:xfrm rot="16200000">
            <a:off x="5361707" y="4437113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</p:spTree>
    <p:extLst>
      <p:ext uri="{BB962C8B-B14F-4D97-AF65-F5344CB8AC3E}">
        <p14:creationId xmlns:p14="http://schemas.microsoft.com/office/powerpoint/2010/main" val="2256557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25" y="1607474"/>
            <a:ext cx="4131351" cy="2653014"/>
          </a:xfrm>
          <a:prstGeom prst="rect">
            <a:avLst/>
          </a:prstGeom>
        </p:spPr>
      </p:pic>
      <p:sp>
        <p:nvSpPr>
          <p:cNvPr id="27" name="Titel 1"/>
          <p:cNvSpPr txBox="1">
            <a:spLocks/>
          </p:cNvSpPr>
          <p:nvPr/>
        </p:nvSpPr>
        <p:spPr>
          <a:xfrm>
            <a:off x="1796796" y="2591937"/>
            <a:ext cx="565513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</a:t>
            </a:r>
            <a:r>
              <a:rPr lang="da-DK" sz="2800" i="1" baseline="-25000" dirty="0"/>
              <a:t>id</a:t>
            </a:r>
          </a:p>
        </p:txBody>
      </p:sp>
      <p:cxnSp>
        <p:nvCxnSpPr>
          <p:cNvPr id="28" name="Lige pilforbindelse 27"/>
          <p:cNvCxnSpPr/>
          <p:nvPr/>
        </p:nvCxnSpPr>
        <p:spPr>
          <a:xfrm>
            <a:off x="2506325" y="2391215"/>
            <a:ext cx="0" cy="9075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e 6"/>
          <p:cNvGrpSpPr/>
          <p:nvPr/>
        </p:nvGrpSpPr>
        <p:grpSpPr>
          <a:xfrm>
            <a:off x="683568" y="5018112"/>
            <a:ext cx="7920880" cy="1272605"/>
            <a:chOff x="683568" y="5384016"/>
            <a:chExt cx="7920880" cy="1272605"/>
          </a:xfrm>
        </p:grpSpPr>
        <p:cxnSp>
          <p:nvCxnSpPr>
            <p:cNvPr id="4" name="Lige pilforbindelse 3"/>
            <p:cNvCxnSpPr/>
            <p:nvPr/>
          </p:nvCxnSpPr>
          <p:spPr>
            <a:xfrm>
              <a:off x="683568" y="5600040"/>
              <a:ext cx="7344816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ge forbindelse 7"/>
            <p:cNvCxnSpPr/>
            <p:nvPr/>
          </p:nvCxnSpPr>
          <p:spPr>
            <a:xfrm>
              <a:off x="827584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el 1"/>
            <p:cNvSpPr txBox="1">
              <a:spLocks/>
            </p:cNvSpPr>
            <p:nvPr/>
          </p:nvSpPr>
          <p:spPr>
            <a:xfrm>
              <a:off x="8028384" y="5384016"/>
              <a:ext cx="576064" cy="7920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[V]</a:t>
              </a:r>
              <a:endParaRPr lang="da-DK" sz="1800" i="1" baseline="300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683568" y="5600040"/>
              <a:ext cx="360040" cy="7092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0</a:t>
              </a:r>
              <a:endParaRPr lang="da-DK" sz="1800" i="1" baseline="30000" dirty="0"/>
            </a:p>
          </p:txBody>
        </p:sp>
        <p:cxnSp>
          <p:nvCxnSpPr>
            <p:cNvPr id="15" name="Lige forbindelse 14"/>
            <p:cNvCxnSpPr/>
            <p:nvPr/>
          </p:nvCxnSpPr>
          <p:spPr>
            <a:xfrm>
              <a:off x="4932040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ge forbindelse 20"/>
            <p:cNvCxnSpPr/>
            <p:nvPr/>
          </p:nvCxnSpPr>
          <p:spPr>
            <a:xfrm>
              <a:off x="5868144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itel 1"/>
            <p:cNvSpPr txBox="1">
              <a:spLocks/>
            </p:cNvSpPr>
            <p:nvPr/>
          </p:nvSpPr>
          <p:spPr>
            <a:xfrm>
              <a:off x="4788024" y="555863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e</a:t>
              </a:r>
              <a:r>
                <a:rPr lang="da-DK" sz="1800" i="1" baseline="30000" dirty="0"/>
                <a:t>-</a:t>
              </a:r>
            </a:p>
          </p:txBody>
        </p:sp>
        <p:sp>
          <p:nvSpPr>
            <p:cNvPr id="25" name="Titel 1"/>
            <p:cNvSpPr txBox="1">
              <a:spLocks/>
            </p:cNvSpPr>
            <p:nvPr/>
          </p:nvSpPr>
          <p:spPr>
            <a:xfrm>
              <a:off x="5724128" y="555863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e</a:t>
              </a:r>
              <a:r>
                <a:rPr lang="da-DK" sz="1800" i="1" baseline="300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itel 1"/>
                <p:cNvSpPr txBox="1">
                  <a:spLocks/>
                </p:cNvSpPr>
                <p:nvPr/>
              </p:nvSpPr>
              <p:spPr>
                <a:xfrm>
                  <a:off x="5076056" y="5936541"/>
                  <a:ext cx="2097691" cy="72008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icm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/>
                          </a:rPr>
                          <m:t>= </m:t>
                        </m:r>
                        <m:f>
                          <m:f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da-DK" sz="1800" b="0" i="1" smtClean="0">
                                <a:latin typeface="Cambria Math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−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da-DK" sz="18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itel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6056" y="5936541"/>
                  <a:ext cx="2097691" cy="72008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itel 1"/>
          <p:cNvSpPr txBox="1">
            <a:spLocks/>
          </p:cNvSpPr>
          <p:nvPr/>
        </p:nvSpPr>
        <p:spPr>
          <a:xfrm>
            <a:off x="5414890" y="1871857"/>
            <a:ext cx="2592288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=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OL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id</a:t>
            </a:r>
            <a:r>
              <a:rPr lang="da-DK" sz="2000" i="1" baseline="-25000" dirty="0"/>
              <a:t> </a:t>
            </a:r>
            <a:r>
              <a:rPr lang="da-DK" sz="2000" i="1" dirty="0"/>
              <a:t>+</a:t>
            </a:r>
            <a:r>
              <a:rPr lang="da-DK" sz="2000" i="1" baseline="-25000" dirty="0"/>
              <a:t>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CM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icm</a:t>
            </a:r>
            <a:endParaRPr lang="da-DK" sz="2000" i="1" baseline="-25000" dirty="0"/>
          </a:p>
        </p:txBody>
      </p:sp>
      <p:cxnSp>
        <p:nvCxnSpPr>
          <p:cNvPr id="26" name="Lige pilforbindelse 25"/>
          <p:cNvCxnSpPr/>
          <p:nvPr/>
        </p:nvCxnSpPr>
        <p:spPr>
          <a:xfrm flipV="1">
            <a:off x="6826754" y="2391215"/>
            <a:ext cx="0" cy="5427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ktangel 28"/>
          <p:cNvSpPr/>
          <p:nvPr/>
        </p:nvSpPr>
        <p:spPr>
          <a:xfrm>
            <a:off x="6156176" y="2924944"/>
            <a:ext cx="2808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>
                <a:solidFill>
                  <a:srgbClr val="FF0000"/>
                </a:solidFill>
              </a:rPr>
              <a:t>Skyldes forskel i forstærkningen for de to indgange</a:t>
            </a:r>
            <a:endParaRPr lang="da-DK" sz="1700" i="1" dirty="0">
              <a:solidFill>
                <a:srgbClr val="FF0000"/>
              </a:solidFill>
            </a:endParaRPr>
          </a:p>
        </p:txBody>
      </p:sp>
      <p:sp>
        <p:nvSpPr>
          <p:cNvPr id="22" name="Titel 1"/>
          <p:cNvSpPr txBox="1">
            <a:spLocks/>
          </p:cNvSpPr>
          <p:nvPr/>
        </p:nvSpPr>
        <p:spPr>
          <a:xfrm>
            <a:off x="35496" y="44624"/>
            <a:ext cx="518457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 </a:t>
            </a:r>
            <a:r>
              <a:rPr lang="da-DK" sz="2800" b="1" i="1" dirty="0"/>
              <a:t>praksis</a:t>
            </a:r>
            <a:r>
              <a:rPr lang="da-DK" sz="2800" i="1" dirty="0"/>
              <a:t> forstærkes også </a:t>
            </a:r>
            <a:r>
              <a:rPr lang="da-DK" sz="2800" i="1" dirty="0" err="1"/>
              <a:t>v</a:t>
            </a:r>
            <a:r>
              <a:rPr lang="da-DK" sz="2800" i="1" baseline="-25000" dirty="0" err="1"/>
              <a:t>icm</a:t>
            </a:r>
            <a:endParaRPr lang="da-DK" sz="2800" i="1" baseline="-25000" dirty="0"/>
          </a:p>
        </p:txBody>
      </p:sp>
      <p:cxnSp>
        <p:nvCxnSpPr>
          <p:cNvPr id="33" name="Lige pilforbindelse 32"/>
          <p:cNvCxnSpPr/>
          <p:nvPr/>
        </p:nvCxnSpPr>
        <p:spPr>
          <a:xfrm flipV="1">
            <a:off x="5414890" y="5306887"/>
            <a:ext cx="0" cy="49837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el 1"/>
          <p:cNvSpPr txBox="1">
            <a:spLocks/>
          </p:cNvSpPr>
          <p:nvPr/>
        </p:nvSpPr>
        <p:spPr>
          <a:xfrm>
            <a:off x="5220072" y="4427637"/>
            <a:ext cx="1548172" cy="369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v</a:t>
            </a:r>
            <a:r>
              <a:rPr lang="da-DK" sz="2000" i="1" baseline="-25000" dirty="0"/>
              <a:t>id</a:t>
            </a:r>
            <a:r>
              <a:rPr lang="da-DK" sz="2000" i="1" dirty="0"/>
              <a:t> = e</a:t>
            </a:r>
            <a:r>
              <a:rPr lang="da-DK" sz="2000" i="1" baseline="30000" dirty="0"/>
              <a:t>+</a:t>
            </a:r>
            <a:r>
              <a:rPr lang="da-DK" sz="2000" i="1" dirty="0"/>
              <a:t> - e</a:t>
            </a:r>
            <a:r>
              <a:rPr lang="da-DK" sz="2000" i="1" baseline="30000" dirty="0"/>
              <a:t>-</a:t>
            </a:r>
          </a:p>
        </p:txBody>
      </p:sp>
      <p:sp>
        <p:nvSpPr>
          <p:cNvPr id="30" name="Højre klammeparentes 29"/>
          <p:cNvSpPr/>
          <p:nvPr/>
        </p:nvSpPr>
        <p:spPr>
          <a:xfrm rot="16200000">
            <a:off x="5361707" y="4437113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</p:spTree>
    <p:extLst>
      <p:ext uri="{BB962C8B-B14F-4D97-AF65-F5344CB8AC3E}">
        <p14:creationId xmlns:p14="http://schemas.microsoft.com/office/powerpoint/2010/main" val="3286396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led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194" y="271094"/>
            <a:ext cx="7173611" cy="5606178"/>
          </a:xfrm>
          <a:prstGeom prst="rect">
            <a:avLst/>
          </a:prstGeom>
        </p:spPr>
      </p:pic>
      <p:sp>
        <p:nvSpPr>
          <p:cNvPr id="3" name="Rektangel 2"/>
          <p:cNvSpPr/>
          <p:nvPr/>
        </p:nvSpPr>
        <p:spPr>
          <a:xfrm>
            <a:off x="2807804" y="5991671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i="1" dirty="0">
                <a:solidFill>
                  <a:srgbClr val="FF0000"/>
                </a:solidFill>
              </a:rPr>
              <a:t>Dual fejl</a:t>
            </a:r>
          </a:p>
        </p:txBody>
      </p:sp>
    </p:spTree>
    <p:extLst>
      <p:ext uri="{BB962C8B-B14F-4D97-AF65-F5344CB8AC3E}">
        <p14:creationId xmlns:p14="http://schemas.microsoft.com/office/powerpoint/2010/main" val="364170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25" y="1607474"/>
            <a:ext cx="4131351" cy="2653014"/>
          </a:xfrm>
          <a:prstGeom prst="rect">
            <a:avLst/>
          </a:prstGeom>
        </p:spPr>
      </p:pic>
      <p:sp>
        <p:nvSpPr>
          <p:cNvPr id="27" name="Titel 1"/>
          <p:cNvSpPr txBox="1">
            <a:spLocks/>
          </p:cNvSpPr>
          <p:nvPr/>
        </p:nvSpPr>
        <p:spPr>
          <a:xfrm>
            <a:off x="1796796" y="2591937"/>
            <a:ext cx="565513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</a:t>
            </a:r>
            <a:r>
              <a:rPr lang="da-DK" sz="2800" i="1" baseline="-25000" dirty="0"/>
              <a:t>id</a:t>
            </a:r>
          </a:p>
        </p:txBody>
      </p:sp>
      <p:cxnSp>
        <p:nvCxnSpPr>
          <p:cNvPr id="28" name="Lige pilforbindelse 27"/>
          <p:cNvCxnSpPr/>
          <p:nvPr/>
        </p:nvCxnSpPr>
        <p:spPr>
          <a:xfrm>
            <a:off x="2506325" y="2391215"/>
            <a:ext cx="0" cy="9075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e 6"/>
          <p:cNvGrpSpPr/>
          <p:nvPr/>
        </p:nvGrpSpPr>
        <p:grpSpPr>
          <a:xfrm>
            <a:off x="683568" y="5018112"/>
            <a:ext cx="7920880" cy="1272605"/>
            <a:chOff x="683568" y="5384016"/>
            <a:chExt cx="7920880" cy="1272605"/>
          </a:xfrm>
        </p:grpSpPr>
        <p:cxnSp>
          <p:nvCxnSpPr>
            <p:cNvPr id="4" name="Lige pilforbindelse 3"/>
            <p:cNvCxnSpPr/>
            <p:nvPr/>
          </p:nvCxnSpPr>
          <p:spPr>
            <a:xfrm>
              <a:off x="683568" y="5600040"/>
              <a:ext cx="7344816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ge forbindelse 7"/>
            <p:cNvCxnSpPr/>
            <p:nvPr/>
          </p:nvCxnSpPr>
          <p:spPr>
            <a:xfrm>
              <a:off x="827584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el 1"/>
            <p:cNvSpPr txBox="1">
              <a:spLocks/>
            </p:cNvSpPr>
            <p:nvPr/>
          </p:nvSpPr>
          <p:spPr>
            <a:xfrm>
              <a:off x="8028384" y="5384016"/>
              <a:ext cx="576064" cy="7920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[V]</a:t>
              </a:r>
              <a:endParaRPr lang="da-DK" sz="1800" i="1" baseline="300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683568" y="5600040"/>
              <a:ext cx="360040" cy="7092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0</a:t>
              </a:r>
              <a:endParaRPr lang="da-DK" sz="1800" i="1" baseline="30000" dirty="0"/>
            </a:p>
          </p:txBody>
        </p:sp>
        <p:cxnSp>
          <p:nvCxnSpPr>
            <p:cNvPr id="15" name="Lige forbindelse 14"/>
            <p:cNvCxnSpPr/>
            <p:nvPr/>
          </p:nvCxnSpPr>
          <p:spPr>
            <a:xfrm>
              <a:off x="4932040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ge forbindelse 20"/>
            <p:cNvCxnSpPr/>
            <p:nvPr/>
          </p:nvCxnSpPr>
          <p:spPr>
            <a:xfrm>
              <a:off x="5868144" y="545602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itel 1"/>
            <p:cNvSpPr txBox="1">
              <a:spLocks/>
            </p:cNvSpPr>
            <p:nvPr/>
          </p:nvSpPr>
          <p:spPr>
            <a:xfrm>
              <a:off x="4788024" y="555863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e</a:t>
              </a:r>
              <a:r>
                <a:rPr lang="da-DK" sz="1800" i="1" baseline="30000" dirty="0"/>
                <a:t>-</a:t>
              </a:r>
            </a:p>
          </p:txBody>
        </p:sp>
        <p:sp>
          <p:nvSpPr>
            <p:cNvPr id="25" name="Titel 1"/>
            <p:cNvSpPr txBox="1">
              <a:spLocks/>
            </p:cNvSpPr>
            <p:nvPr/>
          </p:nvSpPr>
          <p:spPr>
            <a:xfrm>
              <a:off x="5724128" y="555863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e</a:t>
              </a:r>
              <a:r>
                <a:rPr lang="da-DK" sz="1800" i="1" baseline="300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itel 1"/>
                <p:cNvSpPr txBox="1">
                  <a:spLocks/>
                </p:cNvSpPr>
                <p:nvPr/>
              </p:nvSpPr>
              <p:spPr>
                <a:xfrm>
                  <a:off x="5076056" y="5936541"/>
                  <a:ext cx="2097691" cy="72008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icm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/>
                          </a:rPr>
                          <m:t>= </m:t>
                        </m:r>
                        <m:f>
                          <m:f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da-DK" sz="1800" b="0" i="1" smtClean="0">
                                <a:latin typeface="Cambria Math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a-DK" sz="1800" b="0" i="1" smtClean="0">
                                    <a:latin typeface="Cambria Math"/>
                                  </a:rPr>
                                  <m:t>−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nor/>
                              </m:rPr>
                              <a:rPr lang="da-DK" sz="1800" b="0" i="1" smtClean="0">
                                <a:latin typeface="Calibri" panose="020F0502020204030204" pitchFamily="3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da-DK" sz="18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itel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6056" y="5936541"/>
                  <a:ext cx="2097691" cy="72008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itel 1"/>
          <p:cNvSpPr txBox="1">
            <a:spLocks/>
          </p:cNvSpPr>
          <p:nvPr/>
        </p:nvSpPr>
        <p:spPr>
          <a:xfrm>
            <a:off x="5414890" y="1871857"/>
            <a:ext cx="2592288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=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OL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id</a:t>
            </a:r>
            <a:r>
              <a:rPr lang="da-DK" sz="2000" i="1" baseline="-25000" dirty="0"/>
              <a:t> </a:t>
            </a:r>
            <a:r>
              <a:rPr lang="da-DK" sz="2000" i="1" dirty="0"/>
              <a:t>+</a:t>
            </a:r>
            <a:r>
              <a:rPr lang="da-DK" sz="2000" i="1" baseline="-25000" dirty="0"/>
              <a:t> </a:t>
            </a:r>
            <a:r>
              <a:rPr lang="da-DK" sz="2000" i="1" dirty="0" err="1"/>
              <a:t>A</a:t>
            </a:r>
            <a:r>
              <a:rPr lang="da-DK" sz="2000" i="1" baseline="-25000" dirty="0" err="1"/>
              <a:t>CM</a:t>
            </a:r>
            <a:r>
              <a:rPr lang="da-DK" sz="2000" i="1" dirty="0" err="1"/>
              <a:t>∙v</a:t>
            </a:r>
            <a:r>
              <a:rPr lang="da-DK" sz="2000" i="1" baseline="-25000" dirty="0" err="1"/>
              <a:t>icm</a:t>
            </a:r>
            <a:endParaRPr lang="da-DK" sz="2000" i="1" baseline="-25000" dirty="0"/>
          </a:p>
        </p:txBody>
      </p:sp>
      <p:sp>
        <p:nvSpPr>
          <p:cNvPr id="29" name="Titel 1"/>
          <p:cNvSpPr txBox="1">
            <a:spLocks/>
          </p:cNvSpPr>
          <p:nvPr/>
        </p:nvSpPr>
        <p:spPr>
          <a:xfrm>
            <a:off x="35496" y="44624"/>
            <a:ext cx="518457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 </a:t>
            </a:r>
            <a:r>
              <a:rPr lang="da-DK" sz="2800" b="1" i="1" dirty="0"/>
              <a:t>praksis</a:t>
            </a:r>
            <a:r>
              <a:rPr lang="da-DK" sz="2800" i="1" dirty="0"/>
              <a:t> forstærkes også </a:t>
            </a:r>
            <a:r>
              <a:rPr lang="da-DK" sz="2800" i="1" dirty="0" err="1"/>
              <a:t>v</a:t>
            </a:r>
            <a:r>
              <a:rPr lang="da-DK" sz="2800" i="1" baseline="-25000" dirty="0" err="1"/>
              <a:t>icm</a:t>
            </a:r>
            <a:endParaRPr lang="da-DK" sz="2800" i="1" baseline="-25000" dirty="0"/>
          </a:p>
        </p:txBody>
      </p:sp>
      <p:sp>
        <p:nvSpPr>
          <p:cNvPr id="22" name="Titel 1"/>
          <p:cNvSpPr txBox="1">
            <a:spLocks/>
          </p:cNvSpPr>
          <p:nvPr/>
        </p:nvSpPr>
        <p:spPr>
          <a:xfrm>
            <a:off x="5220072" y="4427637"/>
            <a:ext cx="1548172" cy="369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v</a:t>
            </a:r>
            <a:r>
              <a:rPr lang="da-DK" sz="2000" i="1" baseline="-25000" dirty="0"/>
              <a:t>id</a:t>
            </a:r>
            <a:r>
              <a:rPr lang="da-DK" sz="2000" i="1" dirty="0"/>
              <a:t> = e</a:t>
            </a:r>
            <a:r>
              <a:rPr lang="da-DK" sz="2000" i="1" baseline="30000" dirty="0"/>
              <a:t>+</a:t>
            </a:r>
            <a:r>
              <a:rPr lang="da-DK" sz="2000" i="1" dirty="0"/>
              <a:t> - e</a:t>
            </a:r>
            <a:r>
              <a:rPr lang="da-DK" sz="2000" i="1" baseline="30000" dirty="0"/>
              <a:t>-</a:t>
            </a:r>
          </a:p>
        </p:txBody>
      </p:sp>
      <p:sp>
        <p:nvSpPr>
          <p:cNvPr id="23" name="Højre klammeparentes 22"/>
          <p:cNvSpPr/>
          <p:nvPr/>
        </p:nvSpPr>
        <p:spPr>
          <a:xfrm rot="16200000">
            <a:off x="5361707" y="4437113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cxnSp>
        <p:nvCxnSpPr>
          <p:cNvPr id="2" name="Lige pilforbindelse 1">
            <a:extLst>
              <a:ext uri="{FF2B5EF4-FFF2-40B4-BE49-F238E27FC236}">
                <a16:creationId xmlns:a16="http://schemas.microsoft.com/office/drawing/2014/main" id="{B857E7F0-3E3B-D768-C021-D97C1CAA6739}"/>
              </a:ext>
            </a:extLst>
          </p:cNvPr>
          <p:cNvCxnSpPr/>
          <p:nvPr/>
        </p:nvCxnSpPr>
        <p:spPr>
          <a:xfrm flipV="1">
            <a:off x="5414890" y="5306887"/>
            <a:ext cx="0" cy="49837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ktangel 2">
            <a:extLst>
              <a:ext uri="{FF2B5EF4-FFF2-40B4-BE49-F238E27FC236}">
                <a16:creationId xmlns:a16="http://schemas.microsoft.com/office/drawing/2014/main" id="{EC3C007C-5DC9-480C-C659-32E697129991}"/>
              </a:ext>
            </a:extLst>
          </p:cNvPr>
          <p:cNvSpPr/>
          <p:nvPr/>
        </p:nvSpPr>
        <p:spPr>
          <a:xfrm>
            <a:off x="5749530" y="1434262"/>
            <a:ext cx="8132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>
                <a:solidFill>
                  <a:srgbClr val="FF0000"/>
                </a:solidFill>
              </a:rPr>
              <a:t>Ønsket</a:t>
            </a:r>
            <a:endParaRPr lang="da-DK" sz="1700" i="1" dirty="0">
              <a:solidFill>
                <a:srgbClr val="FF0000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8EEAFC9-D528-FEB7-2203-54562CEA5B07}"/>
              </a:ext>
            </a:extLst>
          </p:cNvPr>
          <p:cNvSpPr/>
          <p:nvPr/>
        </p:nvSpPr>
        <p:spPr>
          <a:xfrm>
            <a:off x="6444208" y="2674688"/>
            <a:ext cx="8835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>
                <a:solidFill>
                  <a:srgbClr val="FF0000"/>
                </a:solidFill>
              </a:rPr>
              <a:t>Uønsket</a:t>
            </a:r>
            <a:endParaRPr lang="da-DK" sz="1700" i="1" dirty="0">
              <a:solidFill>
                <a:srgbClr val="FF0000"/>
              </a:solidFill>
            </a:endParaRPr>
          </a:p>
        </p:txBody>
      </p:sp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BF5FBF65-2478-0FB5-0366-1EE9248F8D12}"/>
              </a:ext>
            </a:extLst>
          </p:cNvPr>
          <p:cNvCxnSpPr>
            <a:cxnSpLocks/>
          </p:cNvCxnSpPr>
          <p:nvPr/>
        </p:nvCxnSpPr>
        <p:spPr>
          <a:xfrm flipV="1">
            <a:off x="6826754" y="2391215"/>
            <a:ext cx="0" cy="3177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65A34D7F-84D7-B232-A9CF-D888B8C1B68F}"/>
              </a:ext>
            </a:extLst>
          </p:cNvPr>
          <p:cNvCxnSpPr>
            <a:cxnSpLocks/>
          </p:cNvCxnSpPr>
          <p:nvPr/>
        </p:nvCxnSpPr>
        <p:spPr>
          <a:xfrm>
            <a:off x="6034648" y="1765320"/>
            <a:ext cx="0" cy="3177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34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/>
              <p:cNvSpPr txBox="1">
                <a:spLocks/>
              </p:cNvSpPr>
              <p:nvPr/>
            </p:nvSpPr>
            <p:spPr>
              <a:xfrm>
                <a:off x="1782275" y="1925758"/>
                <a:ext cx="3077757" cy="1071194"/>
              </a:xfrm>
              <a:prstGeom prst="rect">
                <a:avLst/>
              </a:prstGeom>
              <a:ln w="63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CMRR</m:t>
                      </m:r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 = 20</m:t>
                      </m:r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log</m:t>
                      </m:r>
                      <m:f>
                        <m:f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cm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5" y="1925758"/>
                <a:ext cx="3077757" cy="1071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63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259228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CMRR </a:t>
            </a:r>
            <a:r>
              <a:rPr lang="da-DK" sz="2800" b="1" i="1" dirty="0"/>
              <a:t>ideelt</a:t>
            </a:r>
            <a:r>
              <a:rPr lang="da-DK" sz="2800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0481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/>
              <p:cNvSpPr txBox="1">
                <a:spLocks/>
              </p:cNvSpPr>
              <p:nvPr/>
            </p:nvSpPr>
            <p:spPr>
              <a:xfrm>
                <a:off x="1782275" y="1925758"/>
                <a:ext cx="3077757" cy="1071194"/>
              </a:xfrm>
              <a:prstGeom prst="rect">
                <a:avLst/>
              </a:prstGeom>
              <a:ln w="63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CMRR</m:t>
                      </m:r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 = 20</m:t>
                      </m:r>
                      <m:r>
                        <m:rPr>
                          <m:nor/>
                        </m:rPr>
                        <a:rPr lang="da-DK" sz="2400" i="1" smtClean="0">
                          <a:latin typeface="+mn-lt"/>
                        </a:rPr>
                        <m:t>log</m:t>
                      </m:r>
                      <m:f>
                        <m:f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smtClean="0">
                                      <a:latin typeface="+mn-lt"/>
                                    </a:rPr>
                                    <m:t>cm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5" y="1925758"/>
                <a:ext cx="3077757" cy="1071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63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259228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CMRR </a:t>
            </a:r>
            <a:r>
              <a:rPr lang="da-DK" sz="2800" b="1" i="1" dirty="0"/>
              <a:t>ideelt</a:t>
            </a:r>
            <a:endParaRPr lang="da-DK" sz="2800" i="1" dirty="0"/>
          </a:p>
        </p:txBody>
      </p:sp>
      <p:grpSp>
        <p:nvGrpSpPr>
          <p:cNvPr id="7" name="Gruppe 6"/>
          <p:cNvGrpSpPr/>
          <p:nvPr/>
        </p:nvGrpSpPr>
        <p:grpSpPr>
          <a:xfrm>
            <a:off x="5364088" y="2261300"/>
            <a:ext cx="2348706" cy="400110"/>
            <a:chOff x="6543774" y="2564904"/>
            <a:chExt cx="1484610" cy="400110"/>
          </a:xfrm>
        </p:grpSpPr>
        <p:sp>
          <p:nvSpPr>
            <p:cNvPr id="10" name="Rektangel 9"/>
            <p:cNvSpPr/>
            <p:nvPr/>
          </p:nvSpPr>
          <p:spPr>
            <a:xfrm>
              <a:off x="6543774" y="2564904"/>
              <a:ext cx="86409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>
                  <a:solidFill>
                    <a:srgbClr val="FF0000"/>
                  </a:solidFill>
                </a:rPr>
                <a:t>CMRR</a:t>
              </a:r>
              <a:r>
                <a:rPr lang="da-DK" sz="2000" i="1" baseline="-25000" dirty="0">
                  <a:solidFill>
                    <a:srgbClr val="FF0000"/>
                  </a:solidFill>
                </a:rPr>
                <a:t>IDEEL</a:t>
              </a:r>
              <a:endParaRPr lang="da-DK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ktangel 10"/>
            <p:cNvSpPr/>
            <p:nvPr/>
          </p:nvSpPr>
          <p:spPr>
            <a:xfrm>
              <a:off x="7596336" y="2564904"/>
              <a:ext cx="4320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da-DK" sz="2000" i="1" dirty="0">
                  <a:solidFill>
                    <a:srgbClr val="FF0000"/>
                  </a:solidFill>
                </a:rPr>
                <a:t>∞</a:t>
              </a:r>
            </a:p>
          </p:txBody>
        </p:sp>
        <p:cxnSp>
          <p:nvCxnSpPr>
            <p:cNvPr id="12" name="Lige pilforbindelse 11"/>
            <p:cNvCxnSpPr>
              <a:cxnSpLocks/>
            </p:cNvCxnSpPr>
            <p:nvPr/>
          </p:nvCxnSpPr>
          <p:spPr>
            <a:xfrm>
              <a:off x="7314232" y="2764959"/>
              <a:ext cx="360040" cy="0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0295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3053335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CMRR for </a:t>
            </a:r>
            <a:r>
              <a:rPr lang="el-GR" sz="2800" i="1" dirty="0"/>
              <a:t>μ</a:t>
            </a:r>
            <a:r>
              <a:rPr lang="da-DK" sz="2800" i="1" dirty="0"/>
              <a:t>A741C</a:t>
            </a: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74BDDFA4-9556-A88A-9D24-0A7921D50136}"/>
              </a:ext>
            </a:extLst>
          </p:cNvPr>
          <p:cNvGrpSpPr/>
          <p:nvPr/>
        </p:nvGrpSpPr>
        <p:grpSpPr>
          <a:xfrm>
            <a:off x="611560" y="1094741"/>
            <a:ext cx="7847651" cy="1694137"/>
            <a:chOff x="831332" y="2924944"/>
            <a:chExt cx="7380312" cy="1593249"/>
          </a:xfrm>
        </p:grpSpPr>
        <p:grpSp>
          <p:nvGrpSpPr>
            <p:cNvPr id="15" name="Gruppe 14">
              <a:extLst>
                <a:ext uri="{FF2B5EF4-FFF2-40B4-BE49-F238E27FC236}">
                  <a16:creationId xmlns:a16="http://schemas.microsoft.com/office/drawing/2014/main" id="{5E6FBEDB-BA73-7D3A-448F-34B2D0F8EBB6}"/>
                </a:ext>
              </a:extLst>
            </p:cNvPr>
            <p:cNvGrpSpPr/>
            <p:nvPr/>
          </p:nvGrpSpPr>
          <p:grpSpPr>
            <a:xfrm>
              <a:off x="831332" y="2924944"/>
              <a:ext cx="7380312" cy="1593249"/>
              <a:chOff x="831332" y="4039823"/>
              <a:chExt cx="7380312" cy="1593249"/>
            </a:xfrm>
          </p:grpSpPr>
          <p:pic>
            <p:nvPicPr>
              <p:cNvPr id="18" name="Billede 17">
                <a:extLst>
                  <a:ext uri="{FF2B5EF4-FFF2-40B4-BE49-F238E27FC236}">
                    <a16:creationId xmlns:a16="http://schemas.microsoft.com/office/drawing/2014/main" id="{1E05557E-54FB-7ADC-B556-374ECB9B5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1332" y="4941168"/>
                <a:ext cx="7380312" cy="691904"/>
              </a:xfrm>
              <a:prstGeom prst="rect">
                <a:avLst/>
              </a:prstGeom>
            </p:spPr>
          </p:pic>
          <p:pic>
            <p:nvPicPr>
              <p:cNvPr id="19" name="Billede 18">
                <a:extLst>
                  <a:ext uri="{FF2B5EF4-FFF2-40B4-BE49-F238E27FC236}">
                    <a16:creationId xmlns:a16="http://schemas.microsoft.com/office/drawing/2014/main" id="{27A7685F-FD9A-1A86-FE43-5B85EB174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076" y="4039823"/>
                <a:ext cx="7254552" cy="818607"/>
              </a:xfrm>
              <a:prstGeom prst="rect">
                <a:avLst/>
              </a:prstGeom>
            </p:spPr>
          </p:pic>
        </p:grp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A97C8E7D-DE8A-9C45-C962-D3F8581BF202}"/>
                </a:ext>
              </a:extLst>
            </p:cNvPr>
            <p:cNvCxnSpPr/>
            <p:nvPr/>
          </p:nvCxnSpPr>
          <p:spPr>
            <a:xfrm>
              <a:off x="5154416" y="2996952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12C7B7ED-D58B-F83A-6670-D616F2FBA395}"/>
                </a:ext>
              </a:extLst>
            </p:cNvPr>
            <p:cNvCxnSpPr/>
            <p:nvPr/>
          </p:nvCxnSpPr>
          <p:spPr>
            <a:xfrm>
              <a:off x="5527160" y="2996952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1890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3053335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CMRR for </a:t>
            </a:r>
            <a:r>
              <a:rPr lang="el-GR" sz="2800" i="1" dirty="0"/>
              <a:t>μ</a:t>
            </a:r>
            <a:r>
              <a:rPr lang="da-DK" sz="2800" i="1" dirty="0"/>
              <a:t>A741C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29F050C-96D6-F7FD-3DD9-D54C8929AFDB}"/>
              </a:ext>
            </a:extLst>
          </p:cNvPr>
          <p:cNvSpPr txBox="1">
            <a:spLocks/>
          </p:cNvSpPr>
          <p:nvPr/>
        </p:nvSpPr>
        <p:spPr>
          <a:xfrm>
            <a:off x="179512" y="3429000"/>
            <a:ext cx="806489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Afhænger CMRR af </a:t>
            </a:r>
            <a:r>
              <a:rPr lang="da-DK" sz="2000" b="1" i="1" dirty="0" err="1"/>
              <a:t>iøjenfaldende</a:t>
            </a:r>
            <a:r>
              <a:rPr lang="da-DK" sz="2000" b="1" i="1" dirty="0"/>
              <a:t> og måske logiske</a:t>
            </a:r>
            <a:r>
              <a:rPr lang="da-DK" sz="2000" i="1" dirty="0"/>
              <a:t> parametre for </a:t>
            </a:r>
            <a:r>
              <a:rPr lang="el-GR" sz="2000" i="1" dirty="0"/>
              <a:t>μ</a:t>
            </a:r>
            <a:r>
              <a:rPr lang="da-DK" sz="2000" i="1" dirty="0"/>
              <a:t>A741C ?</a:t>
            </a: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74BDDFA4-9556-A88A-9D24-0A7921D50136}"/>
              </a:ext>
            </a:extLst>
          </p:cNvPr>
          <p:cNvGrpSpPr/>
          <p:nvPr/>
        </p:nvGrpSpPr>
        <p:grpSpPr>
          <a:xfrm>
            <a:off x="611560" y="1094741"/>
            <a:ext cx="7847651" cy="1694137"/>
            <a:chOff x="831332" y="2924944"/>
            <a:chExt cx="7380312" cy="1593249"/>
          </a:xfrm>
        </p:grpSpPr>
        <p:grpSp>
          <p:nvGrpSpPr>
            <p:cNvPr id="15" name="Gruppe 14">
              <a:extLst>
                <a:ext uri="{FF2B5EF4-FFF2-40B4-BE49-F238E27FC236}">
                  <a16:creationId xmlns:a16="http://schemas.microsoft.com/office/drawing/2014/main" id="{5E6FBEDB-BA73-7D3A-448F-34B2D0F8EBB6}"/>
                </a:ext>
              </a:extLst>
            </p:cNvPr>
            <p:cNvGrpSpPr/>
            <p:nvPr/>
          </p:nvGrpSpPr>
          <p:grpSpPr>
            <a:xfrm>
              <a:off x="831332" y="2924944"/>
              <a:ext cx="7380312" cy="1593249"/>
              <a:chOff x="831332" y="4039823"/>
              <a:chExt cx="7380312" cy="1593249"/>
            </a:xfrm>
          </p:grpSpPr>
          <p:pic>
            <p:nvPicPr>
              <p:cNvPr id="18" name="Billede 17">
                <a:extLst>
                  <a:ext uri="{FF2B5EF4-FFF2-40B4-BE49-F238E27FC236}">
                    <a16:creationId xmlns:a16="http://schemas.microsoft.com/office/drawing/2014/main" id="{1E05557E-54FB-7ADC-B556-374ECB9B5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1332" y="4941168"/>
                <a:ext cx="7380312" cy="691904"/>
              </a:xfrm>
              <a:prstGeom prst="rect">
                <a:avLst/>
              </a:prstGeom>
            </p:spPr>
          </p:pic>
          <p:pic>
            <p:nvPicPr>
              <p:cNvPr id="19" name="Billede 18">
                <a:extLst>
                  <a:ext uri="{FF2B5EF4-FFF2-40B4-BE49-F238E27FC236}">
                    <a16:creationId xmlns:a16="http://schemas.microsoft.com/office/drawing/2014/main" id="{27A7685F-FD9A-1A86-FE43-5B85EB174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076" y="4039823"/>
                <a:ext cx="7254552" cy="818607"/>
              </a:xfrm>
              <a:prstGeom prst="rect">
                <a:avLst/>
              </a:prstGeom>
            </p:spPr>
          </p:pic>
        </p:grp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A97C8E7D-DE8A-9C45-C962-D3F8581BF202}"/>
                </a:ext>
              </a:extLst>
            </p:cNvPr>
            <p:cNvCxnSpPr/>
            <p:nvPr/>
          </p:nvCxnSpPr>
          <p:spPr>
            <a:xfrm>
              <a:off x="5154416" y="2996952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12C7B7ED-D58B-F83A-6670-D616F2FBA395}"/>
                </a:ext>
              </a:extLst>
            </p:cNvPr>
            <p:cNvCxnSpPr/>
            <p:nvPr/>
          </p:nvCxnSpPr>
          <p:spPr>
            <a:xfrm>
              <a:off x="5527160" y="2996952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6234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3053335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CMRR for </a:t>
            </a:r>
            <a:r>
              <a:rPr lang="el-GR" sz="2800" i="1" dirty="0"/>
              <a:t>μ</a:t>
            </a:r>
            <a:r>
              <a:rPr lang="da-DK" sz="2800" i="1" dirty="0"/>
              <a:t>A741C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29F050C-96D6-F7FD-3DD9-D54C8929AFDB}"/>
              </a:ext>
            </a:extLst>
          </p:cNvPr>
          <p:cNvSpPr txBox="1">
            <a:spLocks/>
          </p:cNvSpPr>
          <p:nvPr/>
        </p:nvSpPr>
        <p:spPr>
          <a:xfrm>
            <a:off x="179512" y="3429000"/>
            <a:ext cx="806489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Afhænger CMRR af </a:t>
            </a:r>
            <a:r>
              <a:rPr lang="da-DK" sz="2000" b="1" i="1" dirty="0" err="1"/>
              <a:t>iøjenfaldende</a:t>
            </a:r>
            <a:r>
              <a:rPr lang="da-DK" sz="2000" b="1" i="1" dirty="0"/>
              <a:t> og måske logiske</a:t>
            </a:r>
            <a:r>
              <a:rPr lang="da-DK" sz="2000" i="1" dirty="0"/>
              <a:t> parametre for </a:t>
            </a:r>
            <a:r>
              <a:rPr lang="el-GR" sz="2000" i="1" dirty="0"/>
              <a:t>μ</a:t>
            </a:r>
            <a:r>
              <a:rPr lang="da-DK" sz="2000" i="1" dirty="0"/>
              <a:t>A741C ?</a:t>
            </a: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74BDDFA4-9556-A88A-9D24-0A7921D50136}"/>
              </a:ext>
            </a:extLst>
          </p:cNvPr>
          <p:cNvGrpSpPr/>
          <p:nvPr/>
        </p:nvGrpSpPr>
        <p:grpSpPr>
          <a:xfrm>
            <a:off x="611560" y="1094741"/>
            <a:ext cx="7847651" cy="1694137"/>
            <a:chOff x="831332" y="2924944"/>
            <a:chExt cx="7380312" cy="1593249"/>
          </a:xfrm>
        </p:grpSpPr>
        <p:grpSp>
          <p:nvGrpSpPr>
            <p:cNvPr id="15" name="Gruppe 14">
              <a:extLst>
                <a:ext uri="{FF2B5EF4-FFF2-40B4-BE49-F238E27FC236}">
                  <a16:creationId xmlns:a16="http://schemas.microsoft.com/office/drawing/2014/main" id="{5E6FBEDB-BA73-7D3A-448F-34B2D0F8EBB6}"/>
                </a:ext>
              </a:extLst>
            </p:cNvPr>
            <p:cNvGrpSpPr/>
            <p:nvPr/>
          </p:nvGrpSpPr>
          <p:grpSpPr>
            <a:xfrm>
              <a:off x="831332" y="2924944"/>
              <a:ext cx="7380312" cy="1593249"/>
              <a:chOff x="831332" y="4039823"/>
              <a:chExt cx="7380312" cy="1593249"/>
            </a:xfrm>
          </p:grpSpPr>
          <p:pic>
            <p:nvPicPr>
              <p:cNvPr id="18" name="Billede 17">
                <a:extLst>
                  <a:ext uri="{FF2B5EF4-FFF2-40B4-BE49-F238E27FC236}">
                    <a16:creationId xmlns:a16="http://schemas.microsoft.com/office/drawing/2014/main" id="{1E05557E-54FB-7ADC-B556-374ECB9B5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1332" y="4941168"/>
                <a:ext cx="7380312" cy="691904"/>
              </a:xfrm>
              <a:prstGeom prst="rect">
                <a:avLst/>
              </a:prstGeom>
            </p:spPr>
          </p:pic>
          <p:pic>
            <p:nvPicPr>
              <p:cNvPr id="19" name="Billede 18">
                <a:extLst>
                  <a:ext uri="{FF2B5EF4-FFF2-40B4-BE49-F238E27FC236}">
                    <a16:creationId xmlns:a16="http://schemas.microsoft.com/office/drawing/2014/main" id="{27A7685F-FD9A-1A86-FE43-5B85EB174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076" y="4039823"/>
                <a:ext cx="7254552" cy="818607"/>
              </a:xfrm>
              <a:prstGeom prst="rect">
                <a:avLst/>
              </a:prstGeom>
            </p:spPr>
          </p:pic>
        </p:grp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A97C8E7D-DE8A-9C45-C962-D3F8581BF202}"/>
                </a:ext>
              </a:extLst>
            </p:cNvPr>
            <p:cNvCxnSpPr/>
            <p:nvPr/>
          </p:nvCxnSpPr>
          <p:spPr>
            <a:xfrm>
              <a:off x="5154416" y="2996952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12C7B7ED-D58B-F83A-6670-D616F2FBA395}"/>
                </a:ext>
              </a:extLst>
            </p:cNvPr>
            <p:cNvCxnSpPr/>
            <p:nvPr/>
          </p:nvCxnSpPr>
          <p:spPr>
            <a:xfrm>
              <a:off x="5527160" y="2996952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Billede 3">
            <a:extLst>
              <a:ext uri="{FF2B5EF4-FFF2-40B4-BE49-F238E27FC236}">
                <a16:creationId xmlns:a16="http://schemas.microsoft.com/office/drawing/2014/main" id="{8221DCF7-6F33-2679-AD1C-F9BE02F57F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66" y="3878705"/>
            <a:ext cx="2699788" cy="293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15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35496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6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179512" y="620688"/>
            <a:ext cx="8784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Den inverterende kobling har en fordel mht. fejl grundet ikke ideelle CMRR forhold. Hvilken?</a:t>
            </a:r>
            <a:endParaRPr lang="da-DK" b="1" i="1" dirty="0"/>
          </a:p>
        </p:txBody>
      </p:sp>
      <p:pic>
        <p:nvPicPr>
          <p:cNvPr id="8" name="Picture 4" descr="AAAZYPW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64156"/>
            <a:ext cx="7367587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ktangel 8"/>
          <p:cNvSpPr/>
          <p:nvPr/>
        </p:nvSpPr>
        <p:spPr>
          <a:xfrm>
            <a:off x="3779912" y="5939988"/>
            <a:ext cx="1584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i="1" dirty="0"/>
              <a:t>Figur 2.4</a:t>
            </a:r>
          </a:p>
        </p:txBody>
      </p:sp>
    </p:spTree>
    <p:extLst>
      <p:ext uri="{BB962C8B-B14F-4D97-AF65-F5344CB8AC3E}">
        <p14:creationId xmlns:p14="http://schemas.microsoft.com/office/powerpoint/2010/main" val="4101770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35496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7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179512" y="620688"/>
            <a:ext cx="8784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Hvordan kan fejl grundet CMRR ækvivaleres som en ekstern generator for den ikke inverterende kobling?</a:t>
            </a:r>
            <a:endParaRPr lang="da-DK" b="1" i="1" dirty="0"/>
          </a:p>
        </p:txBody>
      </p:sp>
      <p:sp>
        <p:nvSpPr>
          <p:cNvPr id="9" name="Rektangel 8"/>
          <p:cNvSpPr/>
          <p:nvPr/>
        </p:nvSpPr>
        <p:spPr>
          <a:xfrm>
            <a:off x="3779912" y="6300028"/>
            <a:ext cx="1584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i="1" dirty="0"/>
              <a:t>Figur 2.11</a:t>
            </a:r>
          </a:p>
        </p:txBody>
      </p:sp>
      <p:pic>
        <p:nvPicPr>
          <p:cNvPr id="7" name="Picture 4" descr="AAAZYQD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412776"/>
            <a:ext cx="7367587" cy="466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63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/>
        </p:nvSpPr>
        <p:spPr>
          <a:xfrm>
            <a:off x="179512" y="620688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En simpel differensforstærker baseret på en enkelt Op Amp er vist på figur 2.53 på side 111.</a:t>
            </a:r>
          </a:p>
          <a:p>
            <a:r>
              <a:rPr lang="da-DK" i="1" dirty="0"/>
              <a:t>Hvilken </a:t>
            </a:r>
            <a:r>
              <a:rPr lang="da-DK" b="1" i="1" dirty="0"/>
              <a:t>forudsætning</a:t>
            </a:r>
            <a:r>
              <a:rPr lang="da-DK" i="1" dirty="0"/>
              <a:t> skal være opfyldt for en høj CMRR for denne kobling – også selv om Op </a:t>
            </a:r>
            <a:r>
              <a:rPr lang="da-DK" i="1" dirty="0" err="1"/>
              <a:t>Amp’en</a:t>
            </a:r>
            <a:r>
              <a:rPr lang="da-DK" i="1" dirty="0"/>
              <a:t> regnes for ideel?</a:t>
            </a:r>
            <a:endParaRPr lang="da-DK" b="1" i="1" dirty="0"/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06734"/>
            <a:ext cx="5742384" cy="4057951"/>
          </a:xfrm>
          <a:prstGeom prst="rect">
            <a:avLst/>
          </a:prstGeom>
        </p:spPr>
      </p:pic>
      <p:sp>
        <p:nvSpPr>
          <p:cNvPr id="17" name="Rektangel 16"/>
          <p:cNvSpPr/>
          <p:nvPr/>
        </p:nvSpPr>
        <p:spPr>
          <a:xfrm>
            <a:off x="6588224" y="3028890"/>
            <a:ext cx="17281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>
                <a:solidFill>
                  <a:srgbClr val="FF0000"/>
                </a:solidFill>
              </a:rPr>
              <a:t>A</a:t>
            </a:r>
            <a:r>
              <a:rPr lang="da-DK" sz="2000" i="1" baseline="-25000" dirty="0">
                <a:solidFill>
                  <a:srgbClr val="FF0000"/>
                </a:solidFill>
              </a:rPr>
              <a:t>CM</a:t>
            </a:r>
            <a:r>
              <a:rPr lang="da-DK" sz="2000" i="1" dirty="0">
                <a:solidFill>
                  <a:srgbClr val="FF0000"/>
                </a:solidFill>
              </a:rPr>
              <a:t> = 0</a:t>
            </a:r>
          </a:p>
        </p:txBody>
      </p:sp>
      <p:sp>
        <p:nvSpPr>
          <p:cNvPr id="12" name="Rektangel 11"/>
          <p:cNvSpPr/>
          <p:nvPr/>
        </p:nvSpPr>
        <p:spPr>
          <a:xfrm>
            <a:off x="35496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8 fra forberedelsen:</a:t>
            </a:r>
          </a:p>
        </p:txBody>
      </p:sp>
      <p:cxnSp>
        <p:nvCxnSpPr>
          <p:cNvPr id="13" name="Lige pilforbindelse 12"/>
          <p:cNvCxnSpPr/>
          <p:nvPr/>
        </p:nvCxnSpPr>
        <p:spPr>
          <a:xfrm>
            <a:off x="5364088" y="1268760"/>
            <a:ext cx="1440160" cy="11521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uppe 9"/>
          <p:cNvGrpSpPr/>
          <p:nvPr/>
        </p:nvGrpSpPr>
        <p:grpSpPr>
          <a:xfrm>
            <a:off x="6543774" y="2564904"/>
            <a:ext cx="1484610" cy="400110"/>
            <a:chOff x="6543774" y="2564904"/>
            <a:chExt cx="1484610" cy="400110"/>
          </a:xfrm>
        </p:grpSpPr>
        <p:sp>
          <p:nvSpPr>
            <p:cNvPr id="14" name="Rektangel 13"/>
            <p:cNvSpPr/>
            <p:nvPr/>
          </p:nvSpPr>
          <p:spPr>
            <a:xfrm>
              <a:off x="6543774" y="2564904"/>
              <a:ext cx="86409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>
                  <a:solidFill>
                    <a:srgbClr val="FF0000"/>
                  </a:solidFill>
                </a:rPr>
                <a:t>CMRR</a:t>
              </a:r>
            </a:p>
          </p:txBody>
        </p:sp>
        <p:sp>
          <p:nvSpPr>
            <p:cNvPr id="15" name="Rektangel 14"/>
            <p:cNvSpPr/>
            <p:nvPr/>
          </p:nvSpPr>
          <p:spPr>
            <a:xfrm>
              <a:off x="7596336" y="2564904"/>
              <a:ext cx="4320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da-DK" sz="2000" i="1" dirty="0">
                  <a:solidFill>
                    <a:srgbClr val="FF0000"/>
                  </a:solidFill>
                </a:rPr>
                <a:t>∞</a:t>
              </a:r>
            </a:p>
          </p:txBody>
        </p:sp>
        <p:cxnSp>
          <p:nvCxnSpPr>
            <p:cNvPr id="16" name="Lige pilforbindelse 15"/>
            <p:cNvCxnSpPr>
              <a:cxnSpLocks/>
            </p:cNvCxnSpPr>
            <p:nvPr/>
          </p:nvCxnSpPr>
          <p:spPr>
            <a:xfrm>
              <a:off x="7314232" y="2764959"/>
              <a:ext cx="36004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3872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38498847-62D2-4A45-B8DC-15FD6EA31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791"/>
            <a:ext cx="9144000" cy="644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088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35496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8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179512" y="620688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En simpel differensforstærker baseret på en enkelt Op Amp er vist på figur 2.53 på side 111.</a:t>
            </a:r>
          </a:p>
          <a:p>
            <a:r>
              <a:rPr lang="da-DK" i="1" dirty="0"/>
              <a:t>Hvilken </a:t>
            </a:r>
            <a:r>
              <a:rPr lang="da-DK" b="1" i="1" dirty="0"/>
              <a:t>forudsætning</a:t>
            </a:r>
            <a:r>
              <a:rPr lang="da-DK" i="1" dirty="0"/>
              <a:t> skal være opfyldt for en høj CMRR for denne kobling – også selv om Op </a:t>
            </a:r>
            <a:r>
              <a:rPr lang="da-DK" i="1" dirty="0" err="1"/>
              <a:t>Amp’en</a:t>
            </a:r>
            <a:r>
              <a:rPr lang="da-DK" i="1" dirty="0"/>
              <a:t> regnes for ideel?</a:t>
            </a:r>
            <a:endParaRPr lang="da-DK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5B89413-9AD6-4975-9A3F-166D900FF4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20272" y="5153474"/>
                <a:ext cx="1832570" cy="720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2000" b="0" i="1" baseline="-25000" smtClean="0">
                          <a:latin typeface="+mn-lt"/>
                        </a:rPr>
                        <m:t>o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1</m:t>
                          </m:r>
                        </m:den>
                      </m:f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  <a:ea typeface="Cambria Math"/>
                        </a:rPr>
                        <m:t>∙ 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i="1"/>
                        <m:t>v</m:t>
                      </m:r>
                      <m:r>
                        <m:rPr>
                          <m:nor/>
                        </m:rPr>
                        <a:rPr lang="en-US" sz="2000" b="0" i="1" baseline="-25000" smtClean="0"/>
                        <m:t>1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v</m:t>
                      </m:r>
                      <m:r>
                        <m:rPr>
                          <m:nor/>
                        </m:rPr>
                        <a:rPr lang="en-US" sz="2000" b="0" i="1" baseline="-25000" smtClean="0">
                          <a:latin typeface="+mn-lt"/>
                          <a:ea typeface="Cambria Math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da-DK" sz="20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5B89413-9AD6-4975-9A3F-166D900FF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5153474"/>
                <a:ext cx="1832570" cy="720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e 13">
            <a:extLst>
              <a:ext uri="{FF2B5EF4-FFF2-40B4-BE49-F238E27FC236}">
                <a16:creationId xmlns:a16="http://schemas.microsoft.com/office/drawing/2014/main" id="{EC8FB1C7-A7E1-4728-9A27-0E3E15218D2E}"/>
              </a:ext>
            </a:extLst>
          </p:cNvPr>
          <p:cNvGrpSpPr/>
          <p:nvPr/>
        </p:nvGrpSpPr>
        <p:grpSpPr>
          <a:xfrm>
            <a:off x="611560" y="1775458"/>
            <a:ext cx="3557480" cy="2259524"/>
            <a:chOff x="755576" y="1916832"/>
            <a:chExt cx="3557480" cy="2259524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76" y="1916832"/>
              <a:ext cx="3197440" cy="2259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itel 1">
                  <a:extLst>
                    <a:ext uri="{FF2B5EF4-FFF2-40B4-BE49-F238E27FC236}">
                      <a16:creationId xmlns:a16="http://schemas.microsoft.com/office/drawing/2014/main" id="{6C9F3FF9-2253-4A93-ACB2-A71FDA639FC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53016" y="2628250"/>
                  <a:ext cx="360040" cy="4320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0" i="1" smtClean="0">
                            <a:latin typeface="+mn-lt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000" b="0" i="1" baseline="-25000" smtClean="0">
                            <a:latin typeface="+mn-lt"/>
                          </a:rPr>
                          <m:t>o</m:t>
                        </m:r>
                      </m:oMath>
                    </m:oMathPara>
                  </a14:m>
                  <a:endParaRPr lang="da-DK" sz="20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" name="Titel 1">
                  <a:extLst>
                    <a:ext uri="{FF2B5EF4-FFF2-40B4-BE49-F238E27FC236}">
                      <a16:creationId xmlns:a16="http://schemas.microsoft.com/office/drawing/2014/main" id="{6C9F3FF9-2253-4A93-ACB2-A71FDA639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3016" y="2628250"/>
                  <a:ext cx="360040" cy="4320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D81B3A1E-E32E-4497-82D5-7F90619BA6BB}"/>
              </a:ext>
            </a:extLst>
          </p:cNvPr>
          <p:cNvGrpSpPr/>
          <p:nvPr/>
        </p:nvGrpSpPr>
        <p:grpSpPr>
          <a:xfrm>
            <a:off x="5148064" y="2899934"/>
            <a:ext cx="3528392" cy="2266069"/>
            <a:chOff x="5148064" y="3717032"/>
            <a:chExt cx="3528392" cy="2266069"/>
          </a:xfrm>
        </p:grpSpPr>
        <p:pic>
          <p:nvPicPr>
            <p:cNvPr id="5" name="Billede 4">
              <a:extLst>
                <a:ext uri="{FF2B5EF4-FFF2-40B4-BE49-F238E27FC236}">
                  <a16:creationId xmlns:a16="http://schemas.microsoft.com/office/drawing/2014/main" id="{2EDCCC4B-9E08-4105-BEA2-3E21FCE53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064" y="3717032"/>
              <a:ext cx="3207605" cy="22660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itel 1">
                  <a:extLst>
                    <a:ext uri="{FF2B5EF4-FFF2-40B4-BE49-F238E27FC236}">
                      <a16:creationId xmlns:a16="http://schemas.microsoft.com/office/drawing/2014/main" id="{FC9662DE-AB83-48FC-80F8-ECC8B909A59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16416" y="4509120"/>
                  <a:ext cx="360040" cy="4320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0" i="1" smtClean="0">
                            <a:latin typeface="+mn-lt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000" b="0" i="1" baseline="-25000" smtClean="0">
                            <a:latin typeface="+mn-lt"/>
                          </a:rPr>
                          <m:t>o</m:t>
                        </m:r>
                      </m:oMath>
                    </m:oMathPara>
                  </a14:m>
                  <a:endParaRPr lang="da-DK" sz="20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" name="Titel 1">
                  <a:extLst>
                    <a:ext uri="{FF2B5EF4-FFF2-40B4-BE49-F238E27FC236}">
                      <a16:creationId xmlns:a16="http://schemas.microsoft.com/office/drawing/2014/main" id="{FC9662DE-AB83-48FC-80F8-ECC8B909A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6416" y="4509120"/>
                  <a:ext cx="360040" cy="4320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574A2809-8213-4794-887F-13D73E1DA22B}"/>
              </a:ext>
            </a:extLst>
          </p:cNvPr>
          <p:cNvCxnSpPr>
            <a:cxnSpLocks/>
          </p:cNvCxnSpPr>
          <p:nvPr/>
        </p:nvCxnSpPr>
        <p:spPr>
          <a:xfrm>
            <a:off x="3491880" y="3140968"/>
            <a:ext cx="1296144" cy="6480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65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35496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8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179512" y="620688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En simpel differensforstærker baseret på en enkelt Op Amp er vist på figur 2.53 på side 111.</a:t>
            </a:r>
          </a:p>
          <a:p>
            <a:r>
              <a:rPr lang="da-DK" i="1" dirty="0"/>
              <a:t>Hvilken </a:t>
            </a:r>
            <a:r>
              <a:rPr lang="da-DK" b="1" i="1" dirty="0"/>
              <a:t>forudsætning</a:t>
            </a:r>
            <a:r>
              <a:rPr lang="da-DK" i="1" dirty="0"/>
              <a:t> skal være opfyldt for en høj CMRR for denne kobling – også selv om Op </a:t>
            </a:r>
            <a:r>
              <a:rPr lang="da-DK" i="1" dirty="0" err="1"/>
              <a:t>Amp’en</a:t>
            </a:r>
            <a:r>
              <a:rPr lang="da-DK" i="1" dirty="0"/>
              <a:t> regnes for ideel?</a:t>
            </a:r>
            <a:endParaRPr lang="da-DK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5B89413-9AD6-4975-9A3F-166D900FF4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20272" y="5153474"/>
                <a:ext cx="1832570" cy="720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2000" b="0" i="1" baseline="-25000" smtClean="0">
                          <a:latin typeface="+mn-lt"/>
                        </a:rPr>
                        <m:t>o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1</m:t>
                          </m:r>
                        </m:den>
                      </m:f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  <a:ea typeface="Cambria Math"/>
                        </a:rPr>
                        <m:t>∙ 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i="1"/>
                        <m:t>v</m:t>
                      </m:r>
                      <m:r>
                        <m:rPr>
                          <m:nor/>
                        </m:rPr>
                        <a:rPr lang="en-US" sz="2000" b="0" i="1" baseline="-25000" smtClean="0"/>
                        <m:t>1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v</m:t>
                      </m:r>
                      <m:r>
                        <m:rPr>
                          <m:nor/>
                        </m:rPr>
                        <a:rPr lang="en-US" sz="2000" b="0" i="1" baseline="-25000" smtClean="0">
                          <a:latin typeface="+mn-lt"/>
                          <a:ea typeface="Cambria Math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+mn-lt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da-DK" sz="20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5B89413-9AD6-4975-9A3F-166D900FF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5153474"/>
                <a:ext cx="1832570" cy="720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e 13">
            <a:extLst>
              <a:ext uri="{FF2B5EF4-FFF2-40B4-BE49-F238E27FC236}">
                <a16:creationId xmlns:a16="http://schemas.microsoft.com/office/drawing/2014/main" id="{EC8FB1C7-A7E1-4728-9A27-0E3E15218D2E}"/>
              </a:ext>
            </a:extLst>
          </p:cNvPr>
          <p:cNvGrpSpPr/>
          <p:nvPr/>
        </p:nvGrpSpPr>
        <p:grpSpPr>
          <a:xfrm>
            <a:off x="611560" y="1775458"/>
            <a:ext cx="3557480" cy="2259524"/>
            <a:chOff x="755576" y="1916832"/>
            <a:chExt cx="3557480" cy="2259524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76" y="1916832"/>
              <a:ext cx="3197440" cy="2259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itel 1">
                  <a:extLst>
                    <a:ext uri="{FF2B5EF4-FFF2-40B4-BE49-F238E27FC236}">
                      <a16:creationId xmlns:a16="http://schemas.microsoft.com/office/drawing/2014/main" id="{6C9F3FF9-2253-4A93-ACB2-A71FDA639FC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53016" y="2628250"/>
                  <a:ext cx="360040" cy="4320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0" i="1" smtClean="0">
                            <a:latin typeface="+mn-lt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000" b="0" i="1" baseline="-25000" smtClean="0">
                            <a:latin typeface="+mn-lt"/>
                          </a:rPr>
                          <m:t>o</m:t>
                        </m:r>
                      </m:oMath>
                    </m:oMathPara>
                  </a14:m>
                  <a:endParaRPr lang="da-DK" sz="20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" name="Titel 1">
                  <a:extLst>
                    <a:ext uri="{FF2B5EF4-FFF2-40B4-BE49-F238E27FC236}">
                      <a16:creationId xmlns:a16="http://schemas.microsoft.com/office/drawing/2014/main" id="{6C9F3FF9-2253-4A93-ACB2-A71FDA639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3016" y="2628250"/>
                  <a:ext cx="360040" cy="4320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D81B3A1E-E32E-4497-82D5-7F90619BA6BB}"/>
              </a:ext>
            </a:extLst>
          </p:cNvPr>
          <p:cNvGrpSpPr/>
          <p:nvPr/>
        </p:nvGrpSpPr>
        <p:grpSpPr>
          <a:xfrm>
            <a:off x="5148064" y="2899934"/>
            <a:ext cx="3528392" cy="2266069"/>
            <a:chOff x="5148064" y="3717032"/>
            <a:chExt cx="3528392" cy="2266069"/>
          </a:xfrm>
        </p:grpSpPr>
        <p:pic>
          <p:nvPicPr>
            <p:cNvPr id="5" name="Billede 4">
              <a:extLst>
                <a:ext uri="{FF2B5EF4-FFF2-40B4-BE49-F238E27FC236}">
                  <a16:creationId xmlns:a16="http://schemas.microsoft.com/office/drawing/2014/main" id="{2EDCCC4B-9E08-4105-BEA2-3E21FCE53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064" y="3717032"/>
              <a:ext cx="3207605" cy="22660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itel 1">
                  <a:extLst>
                    <a:ext uri="{FF2B5EF4-FFF2-40B4-BE49-F238E27FC236}">
                      <a16:creationId xmlns:a16="http://schemas.microsoft.com/office/drawing/2014/main" id="{FC9662DE-AB83-48FC-80F8-ECC8B909A59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16416" y="4509120"/>
                  <a:ext cx="360040" cy="4320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0" i="1" smtClean="0">
                            <a:latin typeface="+mn-lt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000" b="0" i="1" baseline="-25000" smtClean="0">
                            <a:latin typeface="+mn-lt"/>
                          </a:rPr>
                          <m:t>o</m:t>
                        </m:r>
                      </m:oMath>
                    </m:oMathPara>
                  </a14:m>
                  <a:endParaRPr lang="da-DK" sz="20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" name="Titel 1">
                  <a:extLst>
                    <a:ext uri="{FF2B5EF4-FFF2-40B4-BE49-F238E27FC236}">
                      <a16:creationId xmlns:a16="http://schemas.microsoft.com/office/drawing/2014/main" id="{FC9662DE-AB83-48FC-80F8-ECC8B909A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6416" y="4509120"/>
                  <a:ext cx="360040" cy="4320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ktangel 14">
            <a:extLst>
              <a:ext uri="{FF2B5EF4-FFF2-40B4-BE49-F238E27FC236}">
                <a16:creationId xmlns:a16="http://schemas.microsoft.com/office/drawing/2014/main" id="{B2DC9EC7-987E-4C53-AE82-247EB73AB8E5}"/>
              </a:ext>
            </a:extLst>
          </p:cNvPr>
          <p:cNvSpPr/>
          <p:nvPr/>
        </p:nvSpPr>
        <p:spPr>
          <a:xfrm>
            <a:off x="4640031" y="6026130"/>
            <a:ext cx="4320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>
                <a:solidFill>
                  <a:srgbClr val="FF0000"/>
                </a:solidFill>
              </a:rPr>
              <a:t>Er indgangene på denne forstærker </a:t>
            </a:r>
            <a:r>
              <a:rPr lang="da-DK" sz="1600" b="1" i="1" dirty="0">
                <a:solidFill>
                  <a:srgbClr val="FF0000"/>
                </a:solidFill>
              </a:rPr>
              <a:t>balancerede</a:t>
            </a:r>
            <a:r>
              <a:rPr lang="da-DK" sz="1600" i="1" dirty="0">
                <a:solidFill>
                  <a:srgbClr val="FF0000"/>
                </a:solidFill>
              </a:rPr>
              <a:t>?</a:t>
            </a:r>
            <a:endParaRPr lang="da-DK" sz="1600" b="1" i="1" dirty="0">
              <a:solidFill>
                <a:srgbClr val="FF0000"/>
              </a:solidFill>
            </a:endParaRP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574A2809-8213-4794-887F-13D73E1DA22B}"/>
              </a:ext>
            </a:extLst>
          </p:cNvPr>
          <p:cNvCxnSpPr>
            <a:cxnSpLocks/>
          </p:cNvCxnSpPr>
          <p:nvPr/>
        </p:nvCxnSpPr>
        <p:spPr>
          <a:xfrm>
            <a:off x="3491880" y="3140968"/>
            <a:ext cx="1296144" cy="6480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379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  <p:grpSp>
        <p:nvGrpSpPr>
          <p:cNvPr id="13" name="Gruppe 12"/>
          <p:cNvGrpSpPr/>
          <p:nvPr/>
        </p:nvGrpSpPr>
        <p:grpSpPr>
          <a:xfrm>
            <a:off x="971600" y="870625"/>
            <a:ext cx="5760640" cy="5726727"/>
            <a:chOff x="971600" y="735901"/>
            <a:chExt cx="5760640" cy="5726727"/>
          </a:xfrm>
        </p:grpSpPr>
        <p:sp>
          <p:nvSpPr>
            <p:cNvPr id="6" name="Rektangel 5"/>
            <p:cNvSpPr/>
            <p:nvPr/>
          </p:nvSpPr>
          <p:spPr>
            <a:xfrm>
              <a:off x="3059832" y="6093296"/>
              <a:ext cx="158417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a-DK" i="1" dirty="0"/>
                <a:t>Figur 2.54</a:t>
              </a:r>
            </a:p>
          </p:txBody>
        </p:sp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40" cy="53573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7305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971600" y="870625"/>
            <a:ext cx="7488832" cy="5726727"/>
            <a:chOff x="971600" y="735901"/>
            <a:chExt cx="7488832" cy="5726727"/>
          </a:xfrm>
        </p:grpSpPr>
        <p:sp>
          <p:nvSpPr>
            <p:cNvPr id="6" name="Rektangel 5"/>
            <p:cNvSpPr/>
            <p:nvPr/>
          </p:nvSpPr>
          <p:spPr>
            <a:xfrm>
              <a:off x="3059832" y="6093296"/>
              <a:ext cx="158417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a-DK" i="1" dirty="0"/>
                <a:t>Figur 2.54</a:t>
              </a:r>
            </a:p>
          </p:txBody>
        </p:sp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40" cy="5357395"/>
            </a:xfrm>
            <a:prstGeom prst="rect">
              <a:avLst/>
            </a:prstGeom>
          </p:spPr>
        </p:pic>
        <p:sp>
          <p:nvSpPr>
            <p:cNvPr id="14" name="Ellipse 13"/>
            <p:cNvSpPr/>
            <p:nvPr/>
          </p:nvSpPr>
          <p:spPr>
            <a:xfrm>
              <a:off x="1639200" y="2399680"/>
              <a:ext cx="864096" cy="136815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5" name="Lige pilforbindelse 14"/>
            <p:cNvCxnSpPr/>
            <p:nvPr/>
          </p:nvCxnSpPr>
          <p:spPr>
            <a:xfrm flipH="1" flipV="1">
              <a:off x="2555776" y="3526986"/>
              <a:ext cx="2376264" cy="176346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ktangel 15"/>
            <p:cNvSpPr/>
            <p:nvPr/>
          </p:nvSpPr>
          <p:spPr>
            <a:xfrm>
              <a:off x="4572000" y="5229200"/>
              <a:ext cx="388843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>
                  <a:solidFill>
                    <a:srgbClr val="FF0000"/>
                  </a:solidFill>
                </a:rPr>
                <a:t>De to R</a:t>
              </a:r>
              <a:r>
                <a:rPr lang="da-DK" sz="2000" i="1" baseline="-25000" dirty="0">
                  <a:solidFill>
                    <a:srgbClr val="FF0000"/>
                  </a:solidFill>
                </a:rPr>
                <a:t>1</a:t>
              </a:r>
              <a:r>
                <a:rPr lang="da-DK" sz="2000" i="1" dirty="0">
                  <a:solidFill>
                    <a:srgbClr val="FF0000"/>
                  </a:solidFill>
                </a:rPr>
                <a:t> modstande erstattes af R</a:t>
              </a:r>
              <a:r>
                <a:rPr lang="da-DK" sz="2000" i="1" baseline="-25000" dirty="0">
                  <a:solidFill>
                    <a:srgbClr val="FF0000"/>
                  </a:solidFill>
                </a:rPr>
                <a:t>G</a:t>
              </a:r>
            </a:p>
          </p:txBody>
        </p:sp>
      </p:grpSp>
      <p:sp>
        <p:nvSpPr>
          <p:cNvPr id="10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012575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971600" y="871291"/>
            <a:ext cx="5760639" cy="5357395"/>
            <a:chOff x="971600" y="735901"/>
            <a:chExt cx="5760639" cy="5357395"/>
          </a:xfrm>
        </p:grpSpPr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39" cy="5357395"/>
            </a:xfrm>
            <a:prstGeom prst="rect">
              <a:avLst/>
            </a:prstGeom>
          </p:spPr>
        </p:pic>
        <p:sp>
          <p:nvSpPr>
            <p:cNvPr id="8" name="Titel 1"/>
            <p:cNvSpPr txBox="1">
              <a:spLocks/>
            </p:cNvSpPr>
            <p:nvPr/>
          </p:nvSpPr>
          <p:spPr>
            <a:xfrm>
              <a:off x="1636924" y="2861562"/>
              <a:ext cx="432048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Titel 1"/>
            <p:cNvSpPr txBox="1">
              <a:spLocks/>
            </p:cNvSpPr>
            <p:nvPr/>
          </p:nvSpPr>
          <p:spPr>
            <a:xfrm>
              <a:off x="3203848" y="1124744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oX1</a:t>
              </a:r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3203848" y="4382356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oX2</a:t>
              </a:r>
            </a:p>
          </p:txBody>
        </p:sp>
      </p:grpSp>
      <p:sp>
        <p:nvSpPr>
          <p:cNvPr id="15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1084FC90-B52B-42B0-8187-476ADF8797AB}"/>
              </a:ext>
            </a:extLst>
          </p:cNvPr>
          <p:cNvSpPr txBox="1">
            <a:spLocks/>
          </p:cNvSpPr>
          <p:nvPr/>
        </p:nvSpPr>
        <p:spPr>
          <a:xfrm>
            <a:off x="6732240" y="5805263"/>
            <a:ext cx="2232248" cy="2929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Kunne være en AD620</a:t>
            </a:r>
            <a:endParaRPr lang="da-DK" sz="1800" i="1" baseline="-25000" dirty="0"/>
          </a:p>
        </p:txBody>
      </p:sp>
      <p:pic>
        <p:nvPicPr>
          <p:cNvPr id="17" name="Billede 16">
            <a:hlinkClick r:id="rId3"/>
            <a:extLst>
              <a:ext uri="{FF2B5EF4-FFF2-40B4-BE49-F238E27FC236}">
                <a16:creationId xmlns:a16="http://schemas.microsoft.com/office/drawing/2014/main" id="{F9DD4019-9150-4C72-A0EB-F8F2BDA965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864" y="6150404"/>
            <a:ext cx="799624" cy="5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978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971600" y="871291"/>
            <a:ext cx="5760639" cy="5357395"/>
            <a:chOff x="971600" y="735901"/>
            <a:chExt cx="5760639" cy="5357395"/>
          </a:xfrm>
        </p:grpSpPr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39" cy="5357395"/>
            </a:xfrm>
            <a:prstGeom prst="rect">
              <a:avLst/>
            </a:prstGeom>
          </p:spPr>
        </p:pic>
        <p:sp>
          <p:nvSpPr>
            <p:cNvPr id="8" name="Titel 1"/>
            <p:cNvSpPr txBox="1">
              <a:spLocks/>
            </p:cNvSpPr>
            <p:nvPr/>
          </p:nvSpPr>
          <p:spPr>
            <a:xfrm>
              <a:off x="1636924" y="2861562"/>
              <a:ext cx="432048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Titel 1"/>
            <p:cNvSpPr txBox="1">
              <a:spLocks/>
            </p:cNvSpPr>
            <p:nvPr/>
          </p:nvSpPr>
          <p:spPr>
            <a:xfrm>
              <a:off x="3203848" y="1124744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oX1</a:t>
              </a:r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3203848" y="4382356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oX2</a:t>
              </a:r>
            </a:p>
          </p:txBody>
        </p:sp>
      </p:grpSp>
      <p:cxnSp>
        <p:nvCxnSpPr>
          <p:cNvPr id="11" name="Lige pilforbindelse 10"/>
          <p:cNvCxnSpPr/>
          <p:nvPr/>
        </p:nvCxnSpPr>
        <p:spPr>
          <a:xfrm flipH="1">
            <a:off x="2411760" y="2564904"/>
            <a:ext cx="630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2511146" y="2492896"/>
            <a:ext cx="432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600" b="1" i="1" dirty="0">
                <a:solidFill>
                  <a:srgbClr val="FF0000"/>
                </a:solidFill>
              </a:rPr>
              <a:t>I</a:t>
            </a:r>
            <a:r>
              <a:rPr lang="da-DK" sz="1600" b="1" i="1" baseline="-25000" dirty="0">
                <a:solidFill>
                  <a:srgbClr val="FF0000"/>
                </a:solidFill>
              </a:rPr>
              <a:t>f</a:t>
            </a:r>
            <a:endParaRPr lang="da-DK" sz="1700" b="1" i="1" baseline="-25000" dirty="0">
              <a:solidFill>
                <a:srgbClr val="FF0000"/>
              </a:solidFill>
            </a:endParaRPr>
          </a:p>
        </p:txBody>
      </p:sp>
      <p:sp>
        <p:nvSpPr>
          <p:cNvPr id="16" name="Titel 1"/>
          <p:cNvSpPr txBox="1">
            <a:spLocks/>
          </p:cNvSpPr>
          <p:nvPr/>
        </p:nvSpPr>
        <p:spPr>
          <a:xfrm>
            <a:off x="6732240" y="5805263"/>
            <a:ext cx="2232248" cy="2929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Kunne være en AD620</a:t>
            </a:r>
            <a:endParaRPr lang="da-DK" sz="1800" i="1" baseline="-25000" dirty="0"/>
          </a:p>
        </p:txBody>
      </p:sp>
      <p:sp>
        <p:nvSpPr>
          <p:cNvPr id="15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  <p:pic>
        <p:nvPicPr>
          <p:cNvPr id="3" name="Billede 2">
            <a:hlinkClick r:id="rId3"/>
            <a:extLst>
              <a:ext uri="{FF2B5EF4-FFF2-40B4-BE49-F238E27FC236}">
                <a16:creationId xmlns:a16="http://schemas.microsoft.com/office/drawing/2014/main" id="{1A1472F4-7A9A-69C9-FD4E-9CD0A9EFF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864" y="6150404"/>
            <a:ext cx="799624" cy="5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310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971600" y="871291"/>
            <a:ext cx="5760639" cy="5357395"/>
            <a:chOff x="971600" y="735901"/>
            <a:chExt cx="5760639" cy="5357395"/>
          </a:xfrm>
        </p:grpSpPr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39" cy="5357395"/>
            </a:xfrm>
            <a:prstGeom prst="rect">
              <a:avLst/>
            </a:prstGeom>
          </p:spPr>
        </p:pic>
        <p:sp>
          <p:nvSpPr>
            <p:cNvPr id="8" name="Titel 1"/>
            <p:cNvSpPr txBox="1">
              <a:spLocks/>
            </p:cNvSpPr>
            <p:nvPr/>
          </p:nvSpPr>
          <p:spPr>
            <a:xfrm>
              <a:off x="1636924" y="2861562"/>
              <a:ext cx="432048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Titel 1"/>
            <p:cNvSpPr txBox="1">
              <a:spLocks/>
            </p:cNvSpPr>
            <p:nvPr/>
          </p:nvSpPr>
          <p:spPr>
            <a:xfrm>
              <a:off x="3203848" y="1124744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oX1</a:t>
              </a:r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3203848" y="4382356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oX2</a:t>
              </a:r>
            </a:p>
          </p:txBody>
        </p:sp>
      </p:grpSp>
      <p:cxnSp>
        <p:nvCxnSpPr>
          <p:cNvPr id="11" name="Lige pilforbindelse 10"/>
          <p:cNvCxnSpPr/>
          <p:nvPr/>
        </p:nvCxnSpPr>
        <p:spPr>
          <a:xfrm flipH="1">
            <a:off x="2411760" y="2564904"/>
            <a:ext cx="630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2511146" y="2492896"/>
            <a:ext cx="432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600" b="1" i="1" dirty="0">
                <a:solidFill>
                  <a:srgbClr val="FF0000"/>
                </a:solidFill>
              </a:rPr>
              <a:t>I</a:t>
            </a:r>
            <a:r>
              <a:rPr lang="da-DK" sz="1600" b="1" i="1" baseline="-25000" dirty="0">
                <a:solidFill>
                  <a:srgbClr val="FF0000"/>
                </a:solidFill>
              </a:rPr>
              <a:t>f</a:t>
            </a:r>
            <a:endParaRPr lang="da-DK" sz="17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16" name="Lige pilforbindelse 15"/>
          <p:cNvCxnSpPr/>
          <p:nvPr/>
        </p:nvCxnSpPr>
        <p:spPr>
          <a:xfrm rot="16200000" flipH="1">
            <a:off x="1926456" y="3294844"/>
            <a:ext cx="630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ktangel 16"/>
          <p:cNvSpPr/>
          <p:nvPr/>
        </p:nvSpPr>
        <p:spPr>
          <a:xfrm>
            <a:off x="2195736" y="3140968"/>
            <a:ext cx="432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600" b="1" i="1" dirty="0">
                <a:solidFill>
                  <a:srgbClr val="FF0000"/>
                </a:solidFill>
              </a:rPr>
              <a:t>I</a:t>
            </a:r>
            <a:r>
              <a:rPr lang="da-DK" sz="1600" b="1" i="1" baseline="-25000" dirty="0">
                <a:solidFill>
                  <a:srgbClr val="FF0000"/>
                </a:solidFill>
              </a:rPr>
              <a:t>f</a:t>
            </a:r>
            <a:endParaRPr lang="da-DK" sz="1700" b="1" i="1" baseline="-25000" dirty="0">
              <a:solidFill>
                <a:srgbClr val="FF0000"/>
              </a:solidFill>
            </a:endParaRPr>
          </a:p>
        </p:txBody>
      </p:sp>
      <p:sp>
        <p:nvSpPr>
          <p:cNvPr id="15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57E2397-B034-405E-808A-BD9054E3CF2F}"/>
              </a:ext>
            </a:extLst>
          </p:cNvPr>
          <p:cNvSpPr txBox="1">
            <a:spLocks/>
          </p:cNvSpPr>
          <p:nvPr/>
        </p:nvSpPr>
        <p:spPr>
          <a:xfrm>
            <a:off x="6732240" y="5805263"/>
            <a:ext cx="2232248" cy="2929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Kunne være en AD620</a:t>
            </a:r>
            <a:endParaRPr lang="da-DK" sz="1800" i="1" baseline="-25000" dirty="0"/>
          </a:p>
        </p:txBody>
      </p:sp>
      <p:pic>
        <p:nvPicPr>
          <p:cNvPr id="3" name="Billede 2">
            <a:hlinkClick r:id="rId3"/>
            <a:extLst>
              <a:ext uri="{FF2B5EF4-FFF2-40B4-BE49-F238E27FC236}">
                <a16:creationId xmlns:a16="http://schemas.microsoft.com/office/drawing/2014/main" id="{E1C483AB-3169-B3BA-2706-E21C91E8B7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864" y="6150404"/>
            <a:ext cx="799624" cy="5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40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971600" y="871291"/>
            <a:ext cx="5760639" cy="5357395"/>
            <a:chOff x="971600" y="735901"/>
            <a:chExt cx="5760639" cy="5357395"/>
          </a:xfrm>
        </p:grpSpPr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39" cy="5357395"/>
            </a:xfrm>
            <a:prstGeom prst="rect">
              <a:avLst/>
            </a:prstGeom>
          </p:spPr>
        </p:pic>
        <p:sp>
          <p:nvSpPr>
            <p:cNvPr id="8" name="Titel 1"/>
            <p:cNvSpPr txBox="1">
              <a:spLocks/>
            </p:cNvSpPr>
            <p:nvPr/>
          </p:nvSpPr>
          <p:spPr>
            <a:xfrm>
              <a:off x="1636924" y="2861562"/>
              <a:ext cx="432048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Titel 1"/>
            <p:cNvSpPr txBox="1">
              <a:spLocks/>
            </p:cNvSpPr>
            <p:nvPr/>
          </p:nvSpPr>
          <p:spPr>
            <a:xfrm>
              <a:off x="3203848" y="1124744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oX1</a:t>
              </a:r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3203848" y="4382356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oX2</a:t>
              </a:r>
            </a:p>
          </p:txBody>
        </p:sp>
      </p:grpSp>
      <p:cxnSp>
        <p:nvCxnSpPr>
          <p:cNvPr id="11" name="Lige pilforbindelse 10"/>
          <p:cNvCxnSpPr/>
          <p:nvPr/>
        </p:nvCxnSpPr>
        <p:spPr>
          <a:xfrm flipH="1">
            <a:off x="2411760" y="2564904"/>
            <a:ext cx="630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2511146" y="2492896"/>
            <a:ext cx="432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600" b="1" i="1" dirty="0">
                <a:solidFill>
                  <a:srgbClr val="FF0000"/>
                </a:solidFill>
              </a:rPr>
              <a:t>I</a:t>
            </a:r>
            <a:r>
              <a:rPr lang="da-DK" sz="1600" b="1" i="1" baseline="-25000" dirty="0">
                <a:solidFill>
                  <a:srgbClr val="FF0000"/>
                </a:solidFill>
              </a:rPr>
              <a:t>f</a:t>
            </a:r>
            <a:endParaRPr lang="da-DK" sz="17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14" name="Lige pilforbindelse 13"/>
          <p:cNvCxnSpPr/>
          <p:nvPr/>
        </p:nvCxnSpPr>
        <p:spPr>
          <a:xfrm>
            <a:off x="2411760" y="4221088"/>
            <a:ext cx="630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ktangel 14"/>
          <p:cNvSpPr/>
          <p:nvPr/>
        </p:nvSpPr>
        <p:spPr>
          <a:xfrm>
            <a:off x="2627784" y="4170566"/>
            <a:ext cx="432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600" b="1" i="1" dirty="0">
                <a:solidFill>
                  <a:srgbClr val="FF0000"/>
                </a:solidFill>
              </a:rPr>
              <a:t>I</a:t>
            </a:r>
            <a:r>
              <a:rPr lang="da-DK" sz="1600" b="1" i="1" baseline="-25000" dirty="0">
                <a:solidFill>
                  <a:srgbClr val="FF0000"/>
                </a:solidFill>
              </a:rPr>
              <a:t>f</a:t>
            </a:r>
            <a:endParaRPr lang="da-DK" sz="17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16" name="Lige pilforbindelse 15"/>
          <p:cNvCxnSpPr/>
          <p:nvPr/>
        </p:nvCxnSpPr>
        <p:spPr>
          <a:xfrm rot="16200000" flipH="1">
            <a:off x="1926456" y="3294844"/>
            <a:ext cx="630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ktangel 16"/>
          <p:cNvSpPr/>
          <p:nvPr/>
        </p:nvSpPr>
        <p:spPr>
          <a:xfrm>
            <a:off x="2195736" y="3140968"/>
            <a:ext cx="432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600" b="1" i="1" dirty="0">
                <a:solidFill>
                  <a:srgbClr val="FF0000"/>
                </a:solidFill>
              </a:rPr>
              <a:t>I</a:t>
            </a:r>
            <a:r>
              <a:rPr lang="da-DK" sz="1600" b="1" i="1" baseline="-25000" dirty="0">
                <a:solidFill>
                  <a:srgbClr val="FF0000"/>
                </a:solidFill>
              </a:rPr>
              <a:t>f</a:t>
            </a:r>
            <a:endParaRPr lang="da-DK" sz="1700" b="1" i="1" baseline="-25000" dirty="0">
              <a:solidFill>
                <a:srgbClr val="FF0000"/>
              </a:solidFill>
            </a:endParaRPr>
          </a:p>
        </p:txBody>
      </p:sp>
      <p:sp>
        <p:nvSpPr>
          <p:cNvPr id="19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531FD68-C731-45E3-8697-B7E1AB179519}"/>
              </a:ext>
            </a:extLst>
          </p:cNvPr>
          <p:cNvSpPr txBox="1">
            <a:spLocks/>
          </p:cNvSpPr>
          <p:nvPr/>
        </p:nvSpPr>
        <p:spPr>
          <a:xfrm>
            <a:off x="6732240" y="5805263"/>
            <a:ext cx="2232248" cy="2929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Kunne være en AD620</a:t>
            </a:r>
            <a:endParaRPr lang="da-DK" sz="1800" i="1" baseline="-25000" dirty="0"/>
          </a:p>
        </p:txBody>
      </p:sp>
      <p:pic>
        <p:nvPicPr>
          <p:cNvPr id="3" name="Billede 2">
            <a:hlinkClick r:id="rId3"/>
            <a:extLst>
              <a:ext uri="{FF2B5EF4-FFF2-40B4-BE49-F238E27FC236}">
                <a16:creationId xmlns:a16="http://schemas.microsoft.com/office/drawing/2014/main" id="{8F4D74A2-E4A3-8246-D69B-83E924A52D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864" y="6150404"/>
            <a:ext cx="799624" cy="5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22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971600" y="871291"/>
            <a:ext cx="5760639" cy="5357395"/>
            <a:chOff x="971600" y="735901"/>
            <a:chExt cx="5760639" cy="5357395"/>
          </a:xfrm>
        </p:grpSpPr>
        <p:pic>
          <p:nvPicPr>
            <p:cNvPr id="12" name="Billed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735901"/>
              <a:ext cx="5760639" cy="5357395"/>
            </a:xfrm>
            <a:prstGeom prst="rect">
              <a:avLst/>
            </a:prstGeom>
          </p:spPr>
        </p:pic>
        <p:sp>
          <p:nvSpPr>
            <p:cNvPr id="8" name="Titel 1"/>
            <p:cNvSpPr txBox="1">
              <a:spLocks/>
            </p:cNvSpPr>
            <p:nvPr/>
          </p:nvSpPr>
          <p:spPr>
            <a:xfrm>
              <a:off x="1636924" y="2861562"/>
              <a:ext cx="432048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Titel 1"/>
            <p:cNvSpPr txBox="1">
              <a:spLocks/>
            </p:cNvSpPr>
            <p:nvPr/>
          </p:nvSpPr>
          <p:spPr>
            <a:xfrm>
              <a:off x="3203848" y="1124744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oX1</a:t>
              </a:r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3203848" y="4382356"/>
              <a:ext cx="576064" cy="4320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>
                  <a:latin typeface="+mn-lt"/>
                  <a:cs typeface="Times New Roman" panose="02020603050405020304" pitchFamily="18" charset="0"/>
                </a:rPr>
                <a:t>v</a:t>
              </a:r>
              <a:r>
                <a:rPr lang="da-DK" sz="1400" i="1" baseline="-25000" dirty="0">
                  <a:latin typeface="+mn-lt"/>
                  <a:cs typeface="Times New Roman" panose="02020603050405020304" pitchFamily="18" charset="0"/>
                </a:rPr>
                <a:t>oX2</a:t>
              </a:r>
            </a:p>
          </p:txBody>
        </p:sp>
      </p:grpSp>
      <p:sp>
        <p:nvSpPr>
          <p:cNvPr id="19" name="Ellipse 18"/>
          <p:cNvSpPr/>
          <p:nvPr/>
        </p:nvSpPr>
        <p:spPr>
          <a:xfrm>
            <a:off x="611560" y="524404"/>
            <a:ext cx="3096344" cy="547260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Rektangel 19"/>
          <p:cNvSpPr/>
          <p:nvPr/>
        </p:nvSpPr>
        <p:spPr>
          <a:xfrm>
            <a:off x="35496" y="6309320"/>
            <a:ext cx="5414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Hvad er Common Mode forstærkningen i det første trin?</a:t>
            </a:r>
          </a:p>
        </p:txBody>
      </p:sp>
      <p:cxnSp>
        <p:nvCxnSpPr>
          <p:cNvPr id="21" name="Lige pilforbindelse 20"/>
          <p:cNvCxnSpPr/>
          <p:nvPr/>
        </p:nvCxnSpPr>
        <p:spPr>
          <a:xfrm flipH="1" flipV="1">
            <a:off x="2768351" y="5900898"/>
            <a:ext cx="1" cy="4729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 txBox="1">
            <a:spLocks/>
          </p:cNvSpPr>
          <p:nvPr/>
        </p:nvSpPr>
        <p:spPr>
          <a:xfrm>
            <a:off x="35496" y="44624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Instrumenteringsforstærker</a:t>
            </a:r>
            <a:endParaRPr lang="da-DK" sz="2800" i="1" baseline="-2500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CEF4CBF-DB2A-4C82-A9AE-E4013494D8D7}"/>
              </a:ext>
            </a:extLst>
          </p:cNvPr>
          <p:cNvSpPr txBox="1">
            <a:spLocks/>
          </p:cNvSpPr>
          <p:nvPr/>
        </p:nvSpPr>
        <p:spPr>
          <a:xfrm>
            <a:off x="6732240" y="5805263"/>
            <a:ext cx="2232248" cy="2929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Kunne være en AD620</a:t>
            </a:r>
            <a:endParaRPr lang="da-DK" sz="1800" i="1" baseline="-25000" dirty="0"/>
          </a:p>
        </p:txBody>
      </p:sp>
      <p:pic>
        <p:nvPicPr>
          <p:cNvPr id="3" name="Billede 2">
            <a:hlinkClick r:id="rId3"/>
            <a:extLst>
              <a:ext uri="{FF2B5EF4-FFF2-40B4-BE49-F238E27FC236}">
                <a16:creationId xmlns:a16="http://schemas.microsoft.com/office/drawing/2014/main" id="{A7556E5B-6BF0-083B-6A0A-C958D696FC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864" y="6150404"/>
            <a:ext cx="799624" cy="5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20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BEBEF4-5AC3-4CE0-9E45-DE82422731BE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856895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”1 k</a:t>
            </a:r>
            <a:r>
              <a:rPr lang="el-GR" sz="2400" i="1" dirty="0"/>
              <a:t>Ω</a:t>
            </a:r>
            <a:r>
              <a:rPr lang="da-DK" sz="2400" i="1" dirty="0"/>
              <a:t> Source </a:t>
            </a:r>
            <a:r>
              <a:rPr lang="da-DK" sz="2400" i="1" dirty="0" err="1"/>
              <a:t>Imbalance</a:t>
            </a:r>
            <a:r>
              <a:rPr lang="da-DK" sz="2400" i="1" dirty="0"/>
              <a:t>” - en kommentar ved CMRR for AD620</a:t>
            </a:r>
            <a:endParaRPr lang="da-DK" sz="2400" i="1" baseline="-25000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2F3B3C51-DD8D-41AA-9B39-AB80E0B4B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20" y="476672"/>
            <a:ext cx="8435052" cy="636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224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Billed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552" y="69338"/>
            <a:ext cx="1905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07504" y="1724610"/>
            <a:ext cx="867645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differensforstærker skal bygges op omkring instrumenteringsforstærkeren AD620A.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 er forsynet med en </a:t>
            </a:r>
            <a:r>
              <a:rPr kumimoji="0" lang="da-DK" altLang="da-D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dual</a:t>
            </a: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forsyningsspænding på ±15 V. Tolerancen på denne forsyning er 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1	Bestem R</a:t>
            </a:r>
            <a:r>
              <a:rPr kumimoji="0" lang="da-DK" altLang="da-DK" sz="16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så forstærkningen bliver 100.</a:t>
            </a: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2	Et differentielt indgangssignal på </a:t>
            </a:r>
            <a:r>
              <a:rPr kumimoji="0" lang="da-DK" altLang="da-DK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da-DK" altLang="da-DK" sz="16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0,14 V skal forstærkes. Hvad er den maksimalt</a:t>
            </a: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tilladelige Common Mode spænding, som kan tillades på indgangen, såfremt fejlen 	hidrørende CMRR ikke må overstige 100 </a:t>
            </a:r>
            <a:r>
              <a:rPr kumimoji="0" lang="da-DK" altLang="da-DK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ppm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3	Hvad bliver den maksimale fejl (”</a:t>
            </a:r>
            <a:r>
              <a:rPr kumimoji="0" lang="da-DK" altLang="da-DK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Worst</a:t>
            </a: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Case”) på udgangen hidrørende fra variationer på </a:t>
            </a: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forsyningsspændingen?</a:t>
            </a: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da-DK" altLang="da-DK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Link til datablad over AD620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Titel 1"/>
          <p:cNvSpPr txBox="1">
            <a:spLocks/>
          </p:cNvSpPr>
          <p:nvPr/>
        </p:nvSpPr>
        <p:spPr>
          <a:xfrm>
            <a:off x="107504" y="44624"/>
            <a:ext cx="187220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F1</a:t>
            </a:r>
            <a:endParaRPr lang="da-DK" sz="2800" i="1" baseline="-25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4AC40D-D196-4EC9-F4EB-B1EE949F2D15}"/>
              </a:ext>
            </a:extLst>
          </p:cNvPr>
          <p:cNvSpPr txBox="1">
            <a:spLocks/>
          </p:cNvSpPr>
          <p:nvPr/>
        </p:nvSpPr>
        <p:spPr>
          <a:xfrm>
            <a:off x="3851920" y="6093296"/>
            <a:ext cx="4987465" cy="5760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2800" i="1" dirty="0"/>
              <a:t>Men kig lige på næste side først!</a:t>
            </a:r>
          </a:p>
        </p:txBody>
      </p:sp>
    </p:spTree>
    <p:extLst>
      <p:ext uri="{BB962C8B-B14F-4D97-AF65-F5344CB8AC3E}">
        <p14:creationId xmlns:p14="http://schemas.microsoft.com/office/powerpoint/2010/main" val="373269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2843808" y="1052736"/>
            <a:ext cx="2945782" cy="5236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Sidste FF lektion!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A030E4C0-AD9F-717B-7F92-21F406D8A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33" y="2008046"/>
            <a:ext cx="2685334" cy="2686625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D4038601-0437-BEC1-5BA7-47F509639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44624"/>
            <a:ext cx="3744416" cy="589156"/>
          </a:xfrm>
        </p:spPr>
        <p:txBody>
          <a:bodyPr>
            <a:normAutofit/>
          </a:bodyPr>
          <a:lstStyle/>
          <a:p>
            <a:pPr algn="l"/>
            <a:r>
              <a:rPr lang="da-DK" sz="3200" i="1" dirty="0"/>
              <a:t>Tirsdag den 29. april</a:t>
            </a:r>
          </a:p>
        </p:txBody>
      </p:sp>
    </p:spTree>
    <p:extLst>
      <p:ext uri="{BB962C8B-B14F-4D97-AF65-F5344CB8AC3E}">
        <p14:creationId xmlns:p14="http://schemas.microsoft.com/office/powerpoint/2010/main" val="5071105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648E-CE5E-2B74-1E82-A05A3315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0FAEB5F1-AD95-39F2-04E3-CAB6AB3E4047}"/>
              </a:ext>
            </a:extLst>
          </p:cNvPr>
          <p:cNvSpPr txBox="1">
            <a:spLocks/>
          </p:cNvSpPr>
          <p:nvPr/>
        </p:nvSpPr>
        <p:spPr>
          <a:xfrm>
            <a:off x="2843808" y="1052736"/>
            <a:ext cx="2945782" cy="5236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Sidste FF lektion!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A8C0DF7D-4605-E839-A524-4664398B8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33" y="2008046"/>
            <a:ext cx="2685334" cy="2686625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3D0AE4EE-E115-A135-68EE-7D53FB15F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66" y="2445393"/>
            <a:ext cx="2274366" cy="1920113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10995106-C9FE-7298-F7AC-EADAD8624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735" y="2337210"/>
            <a:ext cx="1564073" cy="2028296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439F5F68-114F-CFC6-27A3-A23F60E52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44624"/>
            <a:ext cx="3744416" cy="589156"/>
          </a:xfrm>
        </p:spPr>
        <p:txBody>
          <a:bodyPr>
            <a:normAutofit/>
          </a:bodyPr>
          <a:lstStyle/>
          <a:p>
            <a:pPr algn="l"/>
            <a:r>
              <a:rPr lang="da-DK" sz="3200" i="1" dirty="0"/>
              <a:t>Tirsdag den 29. april</a:t>
            </a:r>
          </a:p>
        </p:txBody>
      </p:sp>
    </p:spTree>
    <p:extLst>
      <p:ext uri="{BB962C8B-B14F-4D97-AF65-F5344CB8AC3E}">
        <p14:creationId xmlns:p14="http://schemas.microsoft.com/office/powerpoint/2010/main" val="1022964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7103F-A29A-8BF3-4BEA-402208D4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5BCCE6F6-C34B-1F57-5B54-A54FD963F800}"/>
              </a:ext>
            </a:extLst>
          </p:cNvPr>
          <p:cNvSpPr txBox="1">
            <a:spLocks/>
          </p:cNvSpPr>
          <p:nvPr/>
        </p:nvSpPr>
        <p:spPr>
          <a:xfrm>
            <a:off x="2843808" y="1052736"/>
            <a:ext cx="2945782" cy="5236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Sidste FF lektion!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D8FB2B2-78C0-8450-B949-844F11773845}"/>
              </a:ext>
            </a:extLst>
          </p:cNvPr>
          <p:cNvSpPr txBox="1">
            <a:spLocks/>
          </p:cNvSpPr>
          <p:nvPr/>
        </p:nvSpPr>
        <p:spPr>
          <a:xfrm>
            <a:off x="539552" y="5157192"/>
            <a:ext cx="4320480" cy="5760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Undervisning slut ca. 10.00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FAB7ECB-102A-3ECF-6DF8-AEE8C3AF7444}"/>
              </a:ext>
            </a:extLst>
          </p:cNvPr>
          <p:cNvSpPr txBox="1">
            <a:spLocks/>
          </p:cNvSpPr>
          <p:nvPr/>
        </p:nvSpPr>
        <p:spPr>
          <a:xfrm>
            <a:off x="5851172" y="5157192"/>
            <a:ext cx="2807236" cy="5760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2800" i="1" dirty="0"/>
              <a:t>FF slutevaluering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6272C10A-6C96-A751-DFB1-91012D3024DA}"/>
              </a:ext>
            </a:extLst>
          </p:cNvPr>
          <p:cNvCxnSpPr/>
          <p:nvPr/>
        </p:nvCxnSpPr>
        <p:spPr>
          <a:xfrm>
            <a:off x="4703649" y="5445224"/>
            <a:ext cx="10735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el 1">
            <a:extLst>
              <a:ext uri="{FF2B5EF4-FFF2-40B4-BE49-F238E27FC236}">
                <a16:creationId xmlns:a16="http://schemas.microsoft.com/office/drawing/2014/main" id="{EF682947-8A2B-7222-5042-463834026BBD}"/>
              </a:ext>
            </a:extLst>
          </p:cNvPr>
          <p:cNvSpPr txBox="1">
            <a:spLocks/>
          </p:cNvSpPr>
          <p:nvPr/>
        </p:nvSpPr>
        <p:spPr>
          <a:xfrm>
            <a:off x="4355976" y="5661248"/>
            <a:ext cx="4300100" cy="5760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2800" i="1" dirty="0"/>
              <a:t>Eksamens info/spørgsmål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2B5817A9-C325-03B6-CB29-5C3C89429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33" y="2008046"/>
            <a:ext cx="2685334" cy="2686625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650ACBF1-3D1F-ED92-54E6-CA4F4DF60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66" y="2445393"/>
            <a:ext cx="2274366" cy="1920113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276E9174-F5A6-AF6A-7BB7-4C2FFD1E9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735" y="2337210"/>
            <a:ext cx="1564073" cy="2028296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8CA527AD-BAD6-6872-5870-89A73EB69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44624"/>
            <a:ext cx="3744416" cy="589156"/>
          </a:xfrm>
        </p:spPr>
        <p:txBody>
          <a:bodyPr>
            <a:normAutofit/>
          </a:bodyPr>
          <a:lstStyle/>
          <a:p>
            <a:pPr algn="l"/>
            <a:r>
              <a:rPr lang="da-DK" sz="3200" i="1" dirty="0"/>
              <a:t>Tirsdag den 29. april</a:t>
            </a:r>
          </a:p>
        </p:txBody>
      </p:sp>
    </p:spTree>
    <p:extLst>
      <p:ext uri="{BB962C8B-B14F-4D97-AF65-F5344CB8AC3E}">
        <p14:creationId xmlns:p14="http://schemas.microsoft.com/office/powerpoint/2010/main" val="39121467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683568" y="1340768"/>
            <a:ext cx="7344816" cy="2376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Følgende to sider skal opfattes helt frivillige at studere.</a:t>
            </a:r>
            <a:br>
              <a:rPr lang="da-DK" sz="2400" i="1" dirty="0"/>
            </a:br>
            <a:r>
              <a:rPr lang="da-DK" sz="2400" i="1" dirty="0"/>
              <a:t>De er blot en uddybning af en ”Full Bridge” – en </a:t>
            </a:r>
            <a:r>
              <a:rPr lang="da-DK" sz="2400" i="1" dirty="0" err="1"/>
              <a:t>Wheatstone</a:t>
            </a:r>
            <a:r>
              <a:rPr lang="da-DK" sz="2400" i="1" dirty="0"/>
              <a:t> brokobling med </a:t>
            </a:r>
            <a:r>
              <a:rPr lang="da-DK" sz="2400" i="1" dirty="0" err="1"/>
              <a:t>strain</a:t>
            </a:r>
            <a:r>
              <a:rPr lang="da-DK" sz="2400" i="1" dirty="0"/>
              <a:t> gauges, som kræver differentiel måling af signalet.</a:t>
            </a:r>
          </a:p>
          <a:p>
            <a:pPr algn="l"/>
            <a:endParaRPr lang="da-DK" sz="2400" i="1" dirty="0"/>
          </a:p>
          <a:p>
            <a:pPr algn="l"/>
            <a:r>
              <a:rPr lang="da-DK" sz="2400" i="1" dirty="0"/>
              <a:t>Så læs videre hvis I har lyst </a:t>
            </a:r>
            <a:r>
              <a:rPr lang="da-DK" sz="2400" dirty="0">
                <a:sym typeface="Wingdings" panose="05000000000000000000" pitchFamily="2" charset="2"/>
              </a:rPr>
              <a:t></a:t>
            </a:r>
            <a:endParaRPr lang="da-DK" sz="2400" i="1" dirty="0"/>
          </a:p>
        </p:txBody>
      </p:sp>
    </p:spTree>
    <p:extLst>
      <p:ext uri="{BB962C8B-B14F-4D97-AF65-F5344CB8AC3E}">
        <p14:creationId xmlns:p14="http://schemas.microsoft.com/office/powerpoint/2010/main" val="38904425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CEFB5AE2-A4DE-4FF8-8834-B0EA5B1D0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" y="0"/>
            <a:ext cx="9129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284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4C0A9FDA-C4BC-44FF-AF85-AF5AD0FFE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104"/>
            <a:ext cx="9144000" cy="654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76705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5440</TotalTime>
  <Words>1265</Words>
  <Application>Microsoft Office PowerPoint</Application>
  <PresentationFormat>On-screen Show (4:3)</PresentationFormat>
  <Paragraphs>297</Paragraphs>
  <Slides>56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Kontortema</vt:lpstr>
      <vt:lpstr>ELE-plan for i dag:</vt:lpstr>
      <vt:lpstr>ELE-plan for i dag:</vt:lpstr>
      <vt:lpstr>Repetition</vt:lpstr>
      <vt:lpstr>Hvad er fordelen ved at måle differentielt?</vt:lpstr>
      <vt:lpstr>Hvad er fordelen ved at måle differentielt?</vt:lpstr>
      <vt:lpstr>Hvad er alternativet til differentiel måling?</vt:lpstr>
      <vt:lpstr>Hvad er alternativet til differentiel måling?</vt:lpstr>
      <vt:lpstr>PowerPoint Presentation</vt:lpstr>
      <vt:lpstr>Differensforstærker</vt:lpstr>
      <vt:lpstr>Hvor kan differentiel måling være et krav?</vt:lpstr>
      <vt:lpstr>PowerPoint Presentation</vt:lpstr>
      <vt:lpstr>Differensforstærker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Tirsdag den 29. april</vt:lpstr>
      <vt:lpstr>Tirsdag den 29. april</vt:lpstr>
      <vt:lpstr>Tirsdag den 29. april</vt:lpstr>
      <vt:lpstr>PowerPoint Presentation</vt:lpstr>
      <vt:lpstr>PowerPoint Presentation</vt:lpstr>
      <vt:lpstr>PowerPoint Presentation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6</dc:title>
  <dc:creator>Jan Petersen</dc:creator>
  <cp:lastModifiedBy>Jan Petersen</cp:lastModifiedBy>
  <cp:revision>571</cp:revision>
  <cp:lastPrinted>2013-03-13T07:45:56Z</cp:lastPrinted>
  <dcterms:created xsi:type="dcterms:W3CDTF">2013-01-28T12:22:54Z</dcterms:created>
  <dcterms:modified xsi:type="dcterms:W3CDTF">2026-03-23T07:14:07Z</dcterms:modified>
</cp:coreProperties>
</file>
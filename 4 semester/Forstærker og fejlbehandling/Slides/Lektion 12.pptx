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04" r:id="rId2"/>
    <p:sldId id="390" r:id="rId3"/>
    <p:sldId id="391" r:id="rId4"/>
    <p:sldId id="392" r:id="rId5"/>
    <p:sldId id="443" r:id="rId6"/>
    <p:sldId id="478" r:id="rId7"/>
    <p:sldId id="445" r:id="rId8"/>
    <p:sldId id="479" r:id="rId9"/>
    <p:sldId id="425" r:id="rId10"/>
    <p:sldId id="480" r:id="rId11"/>
    <p:sldId id="481" r:id="rId12"/>
    <p:sldId id="738" r:id="rId13"/>
    <p:sldId id="451" r:id="rId14"/>
    <p:sldId id="450" r:id="rId15"/>
    <p:sldId id="449" r:id="rId16"/>
    <p:sldId id="395" r:id="rId17"/>
    <p:sldId id="461" r:id="rId18"/>
    <p:sldId id="460" r:id="rId19"/>
    <p:sldId id="459" r:id="rId20"/>
    <p:sldId id="458" r:id="rId21"/>
    <p:sldId id="457" r:id="rId22"/>
    <p:sldId id="456" r:id="rId23"/>
    <p:sldId id="467" r:id="rId24"/>
    <p:sldId id="464" r:id="rId25"/>
    <p:sldId id="463" r:id="rId26"/>
    <p:sldId id="402" r:id="rId27"/>
    <p:sldId id="438" r:id="rId28"/>
    <p:sldId id="510" r:id="rId29"/>
    <p:sldId id="465" r:id="rId30"/>
    <p:sldId id="739" r:id="rId31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76A3A5-542A-4E3C-9875-903916C31A30}" v="2" dt="2026-05-10T20:14:59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31" autoAdjust="0"/>
    <p:restoredTop sz="96605" autoAdjust="0"/>
  </p:normalViewPr>
  <p:slideViewPr>
    <p:cSldViewPr>
      <p:cViewPr varScale="1">
        <p:scale>
          <a:sx n="165" d="100"/>
          <a:sy n="165" d="100"/>
        </p:scale>
        <p:origin x="1576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E276A3A5-542A-4E3C-9875-903916C31A30}"/>
    <pc:docChg chg="delSld">
      <pc:chgData name="Kasper Høj Lorenzen" userId="bBWxxBQ7lkasMs2MbwWOgVQi6AWwF9tq+T+K2+XYcig=" providerId="None" clId="Web-{E276A3A5-542A-4E3C-9875-903916C31A30}" dt="2026-05-10T20:14:59.853" v="1"/>
      <pc:docMkLst>
        <pc:docMk/>
      </pc:docMkLst>
      <pc:sldChg chg="del">
        <pc:chgData name="Kasper Høj Lorenzen" userId="bBWxxBQ7lkasMs2MbwWOgVQi6AWwF9tq+T+K2+XYcig=" providerId="None" clId="Web-{E276A3A5-542A-4E3C-9875-903916C31A30}" dt="2026-05-10T20:12:47.565" v="0"/>
        <pc:sldMkLst>
          <pc:docMk/>
          <pc:sldMk cId="223797177" sldId="462"/>
        </pc:sldMkLst>
      </pc:sldChg>
      <pc:sldChg chg="del">
        <pc:chgData name="Kasper Høj Lorenzen" userId="bBWxxBQ7lkasMs2MbwWOgVQi6AWwF9tq+T+K2+XYcig=" providerId="None" clId="Web-{E276A3A5-542A-4E3C-9875-903916C31A30}" dt="2026-05-10T20:14:59.853" v="1"/>
        <pc:sldMkLst>
          <pc:docMk/>
          <pc:sldMk cId="507732451" sldId="7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22EA1-B6F2-4814-AC42-8F7C3E4077CB}" type="datetimeFigureOut">
              <a:rPr lang="da-DK" smtClean="0"/>
              <a:t>10-05-2026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0D978-FBB8-4DAF-B59F-1D9066427F3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37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5293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0D978-FBB8-4DAF-B59F-1D9066427F3B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8040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76A0-30D7-4D7A-A7D9-74402E02671B}" type="datetimeFigureOut">
              <a:rPr lang="da-DK" smtClean="0"/>
              <a:t>10-05-2026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og.com/en/index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419775" y="1008699"/>
            <a:ext cx="7883731" cy="83612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Effekt af negativ feedback på en klasse B forstærker</a:t>
            </a:r>
          </a:p>
          <a:p>
            <a:pPr algn="l"/>
            <a:r>
              <a:rPr lang="da-DK" sz="2400" dirty="0"/>
              <a:t>- Negativ feedback minimerer forvrængning/</a:t>
            </a:r>
            <a:r>
              <a:rPr lang="da-DK" sz="2400" dirty="0" err="1"/>
              <a:t>ulinearitet</a:t>
            </a:r>
            <a:endParaRPr lang="da-DK" sz="240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215F3C5-FC41-40DF-8F34-DCA332F90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496" y="44624"/>
            <a:ext cx="3168352" cy="476086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ELE-plan for i dag:</a:t>
            </a: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BDB85523-D14D-207E-6CBD-27FEB40E1493}"/>
              </a:ext>
            </a:extLst>
          </p:cNvPr>
          <p:cNvGrpSpPr/>
          <p:nvPr/>
        </p:nvGrpSpPr>
        <p:grpSpPr>
          <a:xfrm>
            <a:off x="419775" y="2132856"/>
            <a:ext cx="8391205" cy="1932566"/>
            <a:chOff x="419775" y="2132856"/>
            <a:chExt cx="8391205" cy="1932566"/>
          </a:xfrm>
        </p:grpSpPr>
        <p:grpSp>
          <p:nvGrpSpPr>
            <p:cNvPr id="7" name="Gruppe 6">
              <a:extLst>
                <a:ext uri="{FF2B5EF4-FFF2-40B4-BE49-F238E27FC236}">
                  <a16:creationId xmlns:a16="http://schemas.microsoft.com/office/drawing/2014/main" id="{575BA027-354A-4E91-BD6A-DDA1BC0A683C}"/>
                </a:ext>
              </a:extLst>
            </p:cNvPr>
            <p:cNvGrpSpPr/>
            <p:nvPr/>
          </p:nvGrpSpPr>
          <p:grpSpPr>
            <a:xfrm>
              <a:off x="419775" y="2132856"/>
              <a:ext cx="8391205" cy="1932566"/>
              <a:chOff x="419775" y="2348880"/>
              <a:chExt cx="8391205" cy="1932566"/>
            </a:xfrm>
          </p:grpSpPr>
          <p:sp>
            <p:nvSpPr>
              <p:cNvPr id="14" name="Rektangel 13"/>
              <p:cNvSpPr/>
              <p:nvPr/>
            </p:nvSpPr>
            <p:spPr>
              <a:xfrm>
                <a:off x="4499992" y="3881336"/>
                <a:ext cx="4310988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000" i="1" dirty="0" err="1"/>
                  <a:t>Parametrisk</a:t>
                </a:r>
                <a:r>
                  <a:rPr lang="da-DK" sz="2000" i="1" dirty="0"/>
                  <a:t> søgning på Analog Devices</a:t>
                </a:r>
              </a:p>
            </p:txBody>
          </p:sp>
          <p:cxnSp>
            <p:nvCxnSpPr>
              <p:cNvPr id="15" name="Lige pilforbindelse 14"/>
              <p:cNvCxnSpPr>
                <a:cxnSpLocks/>
              </p:cNvCxnSpPr>
              <p:nvPr/>
            </p:nvCxnSpPr>
            <p:spPr>
              <a:xfrm flipH="1" flipV="1">
                <a:off x="3995936" y="3140968"/>
                <a:ext cx="576064" cy="74415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2130DE98-28B4-4036-9EAD-945EF5C406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9775" y="2348880"/>
                <a:ext cx="7032545" cy="864097"/>
              </a:xfrm>
              <a:prstGeom prst="rect">
                <a:avLst/>
              </a:prstGeom>
            </p:spPr>
            <p:txBody>
              <a:bodyPr vert="horz" lIns="91440" tIns="45720" rIns="91440" bIns="45720" rtlCol="0" anchor="t" anchorCtr="0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da-DK" sz="2400" b="1" i="1" dirty="0"/>
                  <a:t>Hvordan vælger man den ”rigtige” Op Amp?</a:t>
                </a:r>
                <a:br>
                  <a:rPr lang="da-DK" sz="2400" dirty="0"/>
                </a:br>
                <a:r>
                  <a:rPr lang="da-DK" sz="2400" dirty="0"/>
                  <a:t>- Design opgave med valgkriterier for offset- og </a:t>
                </a:r>
                <a:r>
                  <a:rPr lang="da-DK" sz="2400" dirty="0" err="1"/>
                  <a:t>biasfejl</a:t>
                </a:r>
                <a:endParaRPr lang="da-DK" sz="2400" dirty="0"/>
              </a:p>
            </p:txBody>
          </p:sp>
          <p:cxnSp>
            <p:nvCxnSpPr>
              <p:cNvPr id="5" name="Lige pilforbindelse 4">
                <a:extLst>
                  <a:ext uri="{FF2B5EF4-FFF2-40B4-BE49-F238E27FC236}">
                    <a16:creationId xmlns:a16="http://schemas.microsoft.com/office/drawing/2014/main" id="{70F70F90-0794-40B1-B591-E2C2A6934B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0757" y="3140968"/>
                <a:ext cx="0" cy="432048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ktangel 16">
                <a:extLst>
                  <a:ext uri="{FF2B5EF4-FFF2-40B4-BE49-F238E27FC236}">
                    <a16:creationId xmlns:a16="http://schemas.microsoft.com/office/drawing/2014/main" id="{283B47F8-BABC-49FC-BF6C-CED4E794F4CF}"/>
                  </a:ext>
                </a:extLst>
              </p:cNvPr>
              <p:cNvSpPr/>
              <p:nvPr/>
            </p:nvSpPr>
            <p:spPr>
              <a:xfrm>
                <a:off x="1475656" y="3571868"/>
                <a:ext cx="108012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a-DK" sz="2000" i="1" dirty="0"/>
                  <a:t>I regner</a:t>
                </a:r>
              </a:p>
            </p:txBody>
          </p:sp>
        </p:grpSp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FBF64482-2693-7E7E-9FFD-790EFC879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2551" y="3250159"/>
              <a:ext cx="505795" cy="505795"/>
            </a:xfrm>
            <a:prstGeom prst="rect">
              <a:avLst/>
            </a:prstGeom>
          </p:spPr>
        </p:pic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F99D8094-5D24-2CC8-C357-7C35984B020E}"/>
              </a:ext>
            </a:extLst>
          </p:cNvPr>
          <p:cNvSpPr txBox="1">
            <a:spLocks/>
          </p:cNvSpPr>
          <p:nvPr/>
        </p:nvSpPr>
        <p:spPr>
          <a:xfrm>
            <a:off x="419775" y="4581128"/>
            <a:ext cx="3855809" cy="47608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Slutevaluering FF f2025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501E650C-2124-0F29-13F6-FFF93BD55089}"/>
              </a:ext>
            </a:extLst>
          </p:cNvPr>
          <p:cNvSpPr txBox="1">
            <a:spLocks/>
          </p:cNvSpPr>
          <p:nvPr/>
        </p:nvSpPr>
        <p:spPr>
          <a:xfrm>
            <a:off x="419774" y="5364315"/>
            <a:ext cx="3855809" cy="47608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Eksamen FF f2025</a:t>
            </a:r>
          </a:p>
        </p:txBody>
      </p:sp>
    </p:spTree>
    <p:extLst>
      <p:ext uri="{BB962C8B-B14F-4D97-AF65-F5344CB8AC3E}">
        <p14:creationId xmlns:p14="http://schemas.microsoft.com/office/powerpoint/2010/main" val="164786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43" name="Picture 3" descr="AAAZZJU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63" y="836712"/>
            <a:ext cx="51196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Klasse B forstærker</a:t>
            </a:r>
            <a:endParaRPr lang="da-DK" sz="2800" i="1" baseline="-25000" dirty="0"/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983755" y="5810672"/>
            <a:ext cx="117490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Figur 9.7</a:t>
            </a:r>
          </a:p>
        </p:txBody>
      </p:sp>
    </p:spTree>
    <p:extLst>
      <p:ext uri="{BB962C8B-B14F-4D97-AF65-F5344CB8AC3E}">
        <p14:creationId xmlns:p14="http://schemas.microsoft.com/office/powerpoint/2010/main" val="2226091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867" name="Picture 3" descr="AAAZZJV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08920"/>
            <a:ext cx="5235933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1979712" y="6237312"/>
            <a:ext cx="117490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Figur 9.8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Overføringskarakteristik</a:t>
            </a:r>
            <a:endParaRPr lang="da-DK" sz="2800" i="1" baseline="-2500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B02A2355-0AD0-47C0-9A37-0E2F2EB8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766" y="332656"/>
            <a:ext cx="3005682" cy="28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6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179512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Crossover </a:t>
            </a:r>
            <a:r>
              <a:rPr lang="da-DK" sz="2800" i="1" dirty="0" err="1"/>
              <a:t>Distortion</a:t>
            </a:r>
            <a:r>
              <a:rPr lang="da-DK" sz="2800" i="1" dirty="0"/>
              <a:t> – set i tidsdomænet</a:t>
            </a:r>
            <a:endParaRPr lang="da-DK" sz="2800" i="1" baseline="-25000" dirty="0"/>
          </a:p>
        </p:txBody>
      </p:sp>
      <p:grpSp>
        <p:nvGrpSpPr>
          <p:cNvPr id="4" name="Gruppe 3"/>
          <p:cNvGrpSpPr/>
          <p:nvPr/>
        </p:nvGrpSpPr>
        <p:grpSpPr>
          <a:xfrm>
            <a:off x="645887" y="764704"/>
            <a:ext cx="7814545" cy="5256584"/>
            <a:chOff x="645887" y="692696"/>
            <a:chExt cx="7814545" cy="5256584"/>
          </a:xfrm>
        </p:grpSpPr>
        <p:pic>
          <p:nvPicPr>
            <p:cNvPr id="3" name="Billede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887" y="692696"/>
              <a:ext cx="7814545" cy="5256584"/>
            </a:xfrm>
            <a:prstGeom prst="rect">
              <a:avLst/>
            </a:prstGeom>
          </p:spPr>
        </p:pic>
        <p:sp>
          <p:nvSpPr>
            <p:cNvPr id="7" name="Titel 1"/>
            <p:cNvSpPr txBox="1">
              <a:spLocks/>
            </p:cNvSpPr>
            <p:nvPr/>
          </p:nvSpPr>
          <p:spPr>
            <a:xfrm>
              <a:off x="2233240" y="1124744"/>
              <a:ext cx="396950" cy="48642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da-DK" sz="1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itel 1"/>
          <p:cNvSpPr txBox="1">
            <a:spLocks/>
          </p:cNvSpPr>
          <p:nvPr/>
        </p:nvSpPr>
        <p:spPr>
          <a:xfrm>
            <a:off x="3901156" y="6165304"/>
            <a:ext cx="146293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Figur 9.10</a:t>
            </a:r>
          </a:p>
        </p:txBody>
      </p:sp>
    </p:spTree>
    <p:extLst>
      <p:ext uri="{BB962C8B-B14F-4D97-AF65-F5344CB8AC3E}">
        <p14:creationId xmlns:p14="http://schemas.microsoft.com/office/powerpoint/2010/main" val="42172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Hvorfor er klasse B så anvendt så bredt?</a:t>
            </a:r>
            <a:endParaRPr lang="da-DK" sz="28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07596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Hvorfor er klasse B så anvendt så bredt?</a:t>
            </a:r>
            <a:endParaRPr lang="da-DK" sz="2800" i="1" baseline="-25000" dirty="0"/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E0924DED-3CE0-404D-9E9F-E0589AACE974}"/>
              </a:ext>
            </a:extLst>
          </p:cNvPr>
          <p:cNvGrpSpPr/>
          <p:nvPr/>
        </p:nvGrpSpPr>
        <p:grpSpPr>
          <a:xfrm>
            <a:off x="864733" y="1340768"/>
            <a:ext cx="7379675" cy="3384376"/>
            <a:chOff x="864733" y="1340768"/>
            <a:chExt cx="7379675" cy="3384376"/>
          </a:xfrm>
        </p:grpSpPr>
        <p:sp>
          <p:nvSpPr>
            <p:cNvPr id="9" name="Titel 1"/>
            <p:cNvSpPr txBox="1">
              <a:spLocks/>
            </p:cNvSpPr>
            <p:nvPr/>
          </p:nvSpPr>
          <p:spPr>
            <a:xfrm>
              <a:off x="864733" y="1340768"/>
              <a:ext cx="7379675" cy="3384376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b="1" i="1" dirty="0">
                  <a:latin typeface="+mn-lt"/>
                </a:rPr>
                <a:t>Høj virkningsgrad</a:t>
              </a:r>
              <a:r>
                <a:rPr lang="da-DK" sz="2400" i="1" dirty="0">
                  <a:latin typeface="+mn-lt"/>
                </a:rPr>
                <a:t>… (helt op til 78,5%)</a:t>
              </a:r>
            </a:p>
          </p:txBody>
        </p:sp>
        <p:sp>
          <p:nvSpPr>
            <p:cNvPr id="4" name="Titel 1">
              <a:extLst>
                <a:ext uri="{FF2B5EF4-FFF2-40B4-BE49-F238E27FC236}">
                  <a16:creationId xmlns:a16="http://schemas.microsoft.com/office/drawing/2014/main" id="{69A8C159-0FEE-4EBC-A9B9-33777A0B138F}"/>
                </a:ext>
              </a:extLst>
            </p:cNvPr>
            <p:cNvSpPr txBox="1">
              <a:spLocks/>
            </p:cNvSpPr>
            <p:nvPr/>
          </p:nvSpPr>
          <p:spPr>
            <a:xfrm>
              <a:off x="4427984" y="1664194"/>
              <a:ext cx="1872208" cy="288032"/>
            </a:xfrm>
            <a:prstGeom prst="rect">
              <a:avLst/>
            </a:prstGeom>
          </p:spPr>
          <p:txBody>
            <a:bodyPr anchor="ctr" anchorCtr="0"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400" i="1" dirty="0"/>
                <a:t>(Se evt. side 692 – 695)</a:t>
              </a:r>
              <a:endParaRPr lang="da-DK" sz="1400" i="1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9831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Hvorfor er klasse B så anvendt så bredt?</a:t>
            </a:r>
            <a:endParaRPr lang="da-DK" sz="2800" i="1" baseline="-25000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864733" y="1340768"/>
            <a:ext cx="7379675" cy="33843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>
                <a:latin typeface="+mn-lt"/>
              </a:rPr>
              <a:t>Høj virkningsgrad</a:t>
            </a:r>
            <a:r>
              <a:rPr lang="da-DK" sz="2400" i="1" dirty="0">
                <a:latin typeface="+mn-lt"/>
              </a:rPr>
              <a:t>… (helt op til 78,5%)</a:t>
            </a:r>
          </a:p>
          <a:p>
            <a:pPr algn="l"/>
            <a:endParaRPr lang="da-DK" sz="2400" i="1" dirty="0">
              <a:latin typeface="+mn-lt"/>
            </a:endParaRPr>
          </a:p>
          <a:p>
            <a:pPr algn="l"/>
            <a:r>
              <a:rPr lang="da-DK" sz="2400" b="1" i="1" dirty="0">
                <a:latin typeface="+mn-lt"/>
              </a:rPr>
              <a:t>Intet strømforbrug </a:t>
            </a:r>
            <a:r>
              <a:rPr lang="da-DK" sz="2400" i="1" dirty="0">
                <a:latin typeface="+mn-lt"/>
              </a:rPr>
              <a:t>når signalet er slukket…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76AA06B-3539-4537-89BE-106F930C5F2A}"/>
              </a:ext>
            </a:extLst>
          </p:cNvPr>
          <p:cNvSpPr txBox="1">
            <a:spLocks/>
          </p:cNvSpPr>
          <p:nvPr/>
        </p:nvSpPr>
        <p:spPr>
          <a:xfrm>
            <a:off x="4427984" y="1664194"/>
            <a:ext cx="1872208" cy="288032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(Se evt. side 692 – 695)</a:t>
            </a:r>
            <a:endParaRPr lang="da-DK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10750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107504" y="116632"/>
            <a:ext cx="6984776" cy="360040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Hvorfor er klasse B så anvendt så bredt?</a:t>
            </a:r>
            <a:endParaRPr lang="da-DK" sz="2800" i="1" baseline="-25000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5580112" y="5589240"/>
            <a:ext cx="146293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400" i="1" dirty="0"/>
              <a:t>Figur 9.9a</a:t>
            </a:r>
          </a:p>
        </p:txBody>
      </p:sp>
      <p:cxnSp>
        <p:nvCxnSpPr>
          <p:cNvPr id="5" name="Lige pilforbindelse 4"/>
          <p:cNvCxnSpPr/>
          <p:nvPr/>
        </p:nvCxnSpPr>
        <p:spPr>
          <a:xfrm>
            <a:off x="6300192" y="3645024"/>
            <a:ext cx="0" cy="187220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el 1"/>
          <p:cNvSpPr txBox="1">
            <a:spLocks/>
          </p:cNvSpPr>
          <p:nvPr/>
        </p:nvSpPr>
        <p:spPr>
          <a:xfrm>
            <a:off x="864733" y="1340768"/>
            <a:ext cx="7379675" cy="33843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>
                <a:latin typeface="+mn-lt"/>
              </a:rPr>
              <a:t>Høj virkningsgrad</a:t>
            </a:r>
            <a:r>
              <a:rPr lang="da-DK" sz="2400" i="1" dirty="0">
                <a:latin typeface="+mn-lt"/>
              </a:rPr>
              <a:t>… (helt op til 78,5%)</a:t>
            </a:r>
          </a:p>
          <a:p>
            <a:pPr algn="l"/>
            <a:endParaRPr lang="da-DK" sz="2400" i="1" dirty="0">
              <a:latin typeface="+mn-lt"/>
            </a:endParaRPr>
          </a:p>
          <a:p>
            <a:pPr algn="l"/>
            <a:r>
              <a:rPr lang="da-DK" sz="2400" b="1" i="1" dirty="0">
                <a:latin typeface="+mn-lt"/>
              </a:rPr>
              <a:t>Intet strømforbrug </a:t>
            </a:r>
            <a:r>
              <a:rPr lang="da-DK" sz="2400" i="1" dirty="0">
                <a:latin typeface="+mn-lt"/>
              </a:rPr>
              <a:t>når signalet er slukket…</a:t>
            </a:r>
          </a:p>
          <a:p>
            <a:pPr algn="l"/>
            <a:endParaRPr lang="da-DK" sz="2400" i="1" dirty="0">
              <a:latin typeface="+mn-lt"/>
            </a:endParaRPr>
          </a:p>
          <a:p>
            <a:pPr algn="l"/>
            <a:r>
              <a:rPr lang="da-DK" sz="2400" i="1" dirty="0">
                <a:latin typeface="+mn-lt"/>
                <a:cs typeface="Arial" panose="020B0604020202020204" pitchFamily="34" charset="0"/>
              </a:rPr>
              <a:t>Man kan </a:t>
            </a:r>
            <a:r>
              <a:rPr lang="da-DK" sz="2400" b="1" i="1" dirty="0">
                <a:latin typeface="+mn-lt"/>
                <a:cs typeface="Arial" panose="020B0604020202020204" pitchFamily="34" charset="0"/>
              </a:rPr>
              <a:t>mindske</a:t>
            </a:r>
            <a:r>
              <a:rPr lang="da-DK" sz="2400" i="1" dirty="0">
                <a:latin typeface="+mn-lt"/>
                <a:cs typeface="Arial" panose="020B0604020202020204" pitchFamily="34" charset="0"/>
              </a:rPr>
              <a:t> Crossover Distortion!</a:t>
            </a:r>
            <a:endParaRPr lang="da-DK" sz="2400" i="1" dirty="0">
              <a:latin typeface="+mn-lt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FB6036B-A3B6-4F50-B0A4-4C2160466A67}"/>
              </a:ext>
            </a:extLst>
          </p:cNvPr>
          <p:cNvSpPr txBox="1">
            <a:spLocks/>
          </p:cNvSpPr>
          <p:nvPr/>
        </p:nvSpPr>
        <p:spPr>
          <a:xfrm>
            <a:off x="4427984" y="1664194"/>
            <a:ext cx="1872208" cy="288032"/>
          </a:xfrm>
          <a:prstGeom prst="rect">
            <a:avLst/>
          </a:prstGeom>
        </p:spPr>
        <p:txBody>
          <a:bodyPr anchor="ctr" anchorCtr="0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(Se evt. side 692 – 695)</a:t>
            </a:r>
            <a:endParaRPr lang="da-DK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1499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899592" y="6381328"/>
            <a:ext cx="2702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Figure 9.10  </a:t>
            </a:r>
            <a:r>
              <a:rPr lang="en-US" sz="1400" i="1" dirty="0">
                <a:solidFill>
                  <a:srgbClr val="FF0000"/>
                </a:solidFill>
              </a:rPr>
              <a:t>Switch in position A</a:t>
            </a:r>
            <a:r>
              <a:rPr lang="en-US" sz="1400" i="1" dirty="0"/>
              <a:t>.</a:t>
            </a:r>
          </a:p>
        </p:txBody>
      </p:sp>
      <p:pic>
        <p:nvPicPr>
          <p:cNvPr id="422916" name="Picture 4" descr="AAAZZJX0.EPS                                                   0003078BMacintosh HD                   B3377F2F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156" y="3102066"/>
            <a:ext cx="5364708" cy="370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758" y="72008"/>
            <a:ext cx="5777256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850356" y="2780928"/>
            <a:ext cx="2641524" cy="288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Figur 9.9a med switch i position A</a:t>
            </a:r>
          </a:p>
        </p:txBody>
      </p:sp>
    </p:spTree>
    <p:extLst>
      <p:ext uri="{BB962C8B-B14F-4D97-AF65-F5344CB8AC3E}">
        <p14:creationId xmlns:p14="http://schemas.microsoft.com/office/powerpoint/2010/main" val="4279665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899592" y="6381328"/>
            <a:ext cx="2702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Figure 9.11  </a:t>
            </a:r>
            <a:r>
              <a:rPr lang="en-US" sz="1400" i="1" dirty="0">
                <a:solidFill>
                  <a:srgbClr val="FF0000"/>
                </a:solidFill>
              </a:rPr>
              <a:t>Switch in position B</a:t>
            </a:r>
            <a:r>
              <a:rPr lang="en-US" sz="1400" i="1" dirty="0"/>
              <a:t>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758" y="72008"/>
            <a:ext cx="5777256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AAAZZJY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76278"/>
            <a:ext cx="5164324" cy="373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/>
          <p:cNvSpPr txBox="1">
            <a:spLocks/>
          </p:cNvSpPr>
          <p:nvPr/>
        </p:nvSpPr>
        <p:spPr>
          <a:xfrm>
            <a:off x="850356" y="2780928"/>
            <a:ext cx="2641524" cy="288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Figur 9.9a med switch i position B</a:t>
            </a:r>
          </a:p>
        </p:txBody>
      </p:sp>
    </p:spTree>
    <p:extLst>
      <p:ext uri="{BB962C8B-B14F-4D97-AF65-F5344CB8AC3E}">
        <p14:creationId xmlns:p14="http://schemas.microsoft.com/office/powerpoint/2010/main" val="316976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899592" y="6381328"/>
            <a:ext cx="2702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Figure 9.11  </a:t>
            </a:r>
            <a:r>
              <a:rPr lang="en-US" sz="1400" i="1" dirty="0">
                <a:solidFill>
                  <a:srgbClr val="FF0000"/>
                </a:solidFill>
              </a:rPr>
              <a:t>Switch in position B</a:t>
            </a:r>
            <a:r>
              <a:rPr lang="en-US" sz="1400" i="1" dirty="0"/>
              <a:t>.</a:t>
            </a:r>
          </a:p>
        </p:txBody>
      </p:sp>
      <p:pic>
        <p:nvPicPr>
          <p:cNvPr id="6" name="Picture 3" descr="AAAZZJY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76278"/>
            <a:ext cx="5164324" cy="373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79512" y="4293096"/>
            <a:ext cx="27020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i="1" dirty="0" err="1"/>
              <a:t>Indikerer</a:t>
            </a:r>
            <a:r>
              <a:rPr lang="en-US" sz="1400" i="1" dirty="0"/>
              <a:t> </a:t>
            </a:r>
            <a:r>
              <a:rPr lang="en-US" sz="1400" i="1" dirty="0" err="1"/>
              <a:t>dette</a:t>
            </a:r>
            <a:r>
              <a:rPr lang="en-US" sz="1400" i="1" dirty="0"/>
              <a:t> et </a:t>
            </a:r>
            <a:r>
              <a:rPr lang="en-US" sz="1400" i="1" dirty="0" err="1"/>
              <a:t>umiddelbart</a:t>
            </a:r>
            <a:r>
              <a:rPr lang="en-US" sz="1400" i="1" dirty="0"/>
              <a:t> </a:t>
            </a:r>
            <a:r>
              <a:rPr lang="en-US" sz="1400" i="1" dirty="0" err="1"/>
              <a:t>krav</a:t>
            </a:r>
            <a:r>
              <a:rPr lang="en-US" sz="1400" i="1" dirty="0"/>
              <a:t> </a:t>
            </a:r>
            <a:r>
              <a:rPr lang="en-US" sz="1400" i="1" dirty="0" err="1"/>
              <a:t>til</a:t>
            </a:r>
            <a:r>
              <a:rPr lang="en-US" sz="1400" i="1" dirty="0"/>
              <a:t> en </a:t>
            </a:r>
            <a:r>
              <a:rPr lang="en-US" sz="1400" i="1" dirty="0" err="1"/>
              <a:t>af</a:t>
            </a:r>
            <a:r>
              <a:rPr lang="en-US" sz="1400" i="1" dirty="0"/>
              <a:t> </a:t>
            </a:r>
            <a:r>
              <a:rPr lang="en-US" sz="1400" i="1" dirty="0" err="1"/>
              <a:t>komponenterne</a:t>
            </a:r>
            <a:r>
              <a:rPr lang="en-US" sz="1400" i="1" dirty="0"/>
              <a:t>?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758" y="72008"/>
            <a:ext cx="5777256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el 1"/>
          <p:cNvSpPr txBox="1">
            <a:spLocks/>
          </p:cNvSpPr>
          <p:nvPr/>
        </p:nvSpPr>
        <p:spPr>
          <a:xfrm>
            <a:off x="850356" y="2780928"/>
            <a:ext cx="2641524" cy="288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Figur 9.9a med switch i position B</a:t>
            </a:r>
          </a:p>
        </p:txBody>
      </p:sp>
    </p:spTree>
    <p:extLst>
      <p:ext uri="{BB962C8B-B14F-4D97-AF65-F5344CB8AC3E}">
        <p14:creationId xmlns:p14="http://schemas.microsoft.com/office/powerpoint/2010/main" val="299223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F492-B361-CF9C-E988-81863625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>
            <a:extLst>
              <a:ext uri="{FF2B5EF4-FFF2-40B4-BE49-F238E27FC236}">
                <a16:creationId xmlns:a16="http://schemas.microsoft.com/office/drawing/2014/main" id="{C52C7A0E-F5FC-AA50-9388-CE09B0A1D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381328"/>
            <a:ext cx="2702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Figure 9.11  </a:t>
            </a:r>
            <a:r>
              <a:rPr lang="en-US" sz="1400" i="1" dirty="0">
                <a:solidFill>
                  <a:srgbClr val="FF0000"/>
                </a:solidFill>
              </a:rPr>
              <a:t>Switch in position B</a:t>
            </a:r>
            <a:r>
              <a:rPr lang="en-US" sz="1400" i="1" dirty="0"/>
              <a:t>.</a:t>
            </a:r>
          </a:p>
        </p:txBody>
      </p:sp>
      <p:pic>
        <p:nvPicPr>
          <p:cNvPr id="6" name="Picture 3" descr="AAAZZJY0.EPS                                                   0004302BHard Drive-Seat One            B36702C6:">
            <a:extLst>
              <a:ext uri="{FF2B5EF4-FFF2-40B4-BE49-F238E27FC236}">
                <a16:creationId xmlns:a16="http://schemas.microsoft.com/office/drawing/2014/main" id="{2AD8C8A8-3B23-DC75-25DB-80FD9CC61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076278"/>
            <a:ext cx="5164324" cy="373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D4DBA638-4BB2-5215-28E1-3578F9B4E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293096"/>
            <a:ext cx="27020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i="1" dirty="0" err="1"/>
              <a:t>Indikerer</a:t>
            </a:r>
            <a:r>
              <a:rPr lang="en-US" sz="1400" i="1" dirty="0"/>
              <a:t> </a:t>
            </a:r>
            <a:r>
              <a:rPr lang="en-US" sz="1400" i="1" dirty="0" err="1"/>
              <a:t>dette</a:t>
            </a:r>
            <a:r>
              <a:rPr lang="en-US" sz="1400" i="1" dirty="0"/>
              <a:t> et </a:t>
            </a:r>
            <a:r>
              <a:rPr lang="en-US" sz="1400" i="1" dirty="0" err="1"/>
              <a:t>umiddelbart</a:t>
            </a:r>
            <a:r>
              <a:rPr lang="en-US" sz="1400" i="1" dirty="0"/>
              <a:t> </a:t>
            </a:r>
            <a:r>
              <a:rPr lang="en-US" sz="1400" i="1" dirty="0" err="1"/>
              <a:t>krav</a:t>
            </a:r>
            <a:r>
              <a:rPr lang="en-US" sz="1400" i="1" dirty="0"/>
              <a:t> </a:t>
            </a:r>
            <a:r>
              <a:rPr lang="en-US" sz="1400" i="1" dirty="0" err="1"/>
              <a:t>til</a:t>
            </a:r>
            <a:r>
              <a:rPr lang="en-US" sz="1400" i="1" dirty="0"/>
              <a:t> en </a:t>
            </a:r>
            <a:r>
              <a:rPr lang="en-US" sz="1400" i="1" dirty="0" err="1"/>
              <a:t>af</a:t>
            </a:r>
            <a:r>
              <a:rPr lang="en-US" sz="1400" i="1" dirty="0"/>
              <a:t> </a:t>
            </a:r>
            <a:r>
              <a:rPr lang="en-US" sz="1400" i="1" dirty="0" err="1"/>
              <a:t>komponenterne</a:t>
            </a:r>
            <a:r>
              <a:rPr lang="en-US" sz="1400" i="1" dirty="0"/>
              <a:t>?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AC8702DB-3FB7-70B0-09E8-9F2B372E8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758" y="72008"/>
            <a:ext cx="5777256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D6901C16-6FC8-9B8E-0DFD-4104F95DC8B1}"/>
              </a:ext>
            </a:extLst>
          </p:cNvPr>
          <p:cNvSpPr txBox="1">
            <a:spLocks/>
          </p:cNvSpPr>
          <p:nvPr/>
        </p:nvSpPr>
        <p:spPr>
          <a:xfrm>
            <a:off x="850356" y="2780928"/>
            <a:ext cx="2641524" cy="288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/>
              <a:t>Figur 9.9a med switch i position B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430FFD95-B707-70DE-2590-880032F94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210036"/>
            <a:ext cx="27020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i="1" dirty="0"/>
              <a:t>Høj </a:t>
            </a:r>
            <a:r>
              <a:rPr lang="en-US" sz="1400" i="1" dirty="0" err="1"/>
              <a:t>åbensløjfeforstærkning</a:t>
            </a:r>
            <a:r>
              <a:rPr lang="en-US" sz="1400" i="1" dirty="0"/>
              <a:t>  A</a:t>
            </a:r>
            <a:r>
              <a:rPr lang="en-US" sz="1400" i="1" baseline="-25000" dirty="0"/>
              <a:t>OL</a:t>
            </a:r>
            <a:r>
              <a:rPr lang="en-US" sz="1400" i="1" dirty="0"/>
              <a:t> og </a:t>
            </a:r>
            <a:r>
              <a:rPr lang="en-US" sz="1400" i="1" dirty="0" err="1"/>
              <a:t>høj</a:t>
            </a:r>
            <a:r>
              <a:rPr lang="en-US" sz="1400" i="1" dirty="0"/>
              <a:t> </a:t>
            </a:r>
            <a:r>
              <a:rPr lang="en-US" sz="1400" i="1" dirty="0" err="1"/>
              <a:t>Slewrate</a:t>
            </a:r>
            <a:r>
              <a:rPr lang="en-US" sz="1400" i="1" dirty="0"/>
              <a:t> SR</a:t>
            </a:r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5721606B-BE39-C702-ADC4-A5AE7051B3E6}"/>
              </a:ext>
            </a:extLst>
          </p:cNvPr>
          <p:cNvCxnSpPr>
            <a:cxnSpLocks/>
          </p:cNvCxnSpPr>
          <p:nvPr/>
        </p:nvCxnSpPr>
        <p:spPr>
          <a:xfrm>
            <a:off x="1403648" y="4816316"/>
            <a:ext cx="0" cy="43204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99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95536" y="1268760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Hvorfor</a:t>
            </a:r>
            <a:r>
              <a:rPr lang="da-DK" sz="2800" i="1" dirty="0"/>
              <a:t> vil man det?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35496" y="44624"/>
            <a:ext cx="460851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Analog</a:t>
            </a:r>
            <a:r>
              <a:rPr lang="da-DK" sz="2800" i="1" dirty="0"/>
              <a:t> til </a:t>
            </a:r>
            <a:r>
              <a:rPr lang="da-DK" sz="2800" b="1" i="1" dirty="0"/>
              <a:t>digital</a:t>
            </a:r>
            <a:r>
              <a:rPr lang="da-DK" sz="2800" i="1" dirty="0"/>
              <a:t> konvertering</a:t>
            </a:r>
            <a:endParaRPr lang="da-DK" sz="2800" b="1" i="1" dirty="0"/>
          </a:p>
        </p:txBody>
      </p:sp>
    </p:spTree>
    <p:extLst>
      <p:ext uri="{BB962C8B-B14F-4D97-AF65-F5344CB8AC3E}">
        <p14:creationId xmlns:p14="http://schemas.microsoft.com/office/powerpoint/2010/main" val="282046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95536" y="1268760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Hvorfor</a:t>
            </a:r>
            <a:r>
              <a:rPr lang="da-DK" sz="2800" i="1" dirty="0"/>
              <a:t> vil man det?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395536" y="2564904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Hvilken betydning har </a:t>
            </a:r>
            <a:r>
              <a:rPr lang="da-DK" sz="2800" b="1" i="1" dirty="0"/>
              <a:t>antal bit</a:t>
            </a:r>
            <a:r>
              <a:rPr lang="da-DK" sz="2800" i="1" dirty="0"/>
              <a:t>?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1619672" y="3356992"/>
            <a:ext cx="561662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800" i="1" dirty="0">
                <a:solidFill>
                  <a:srgbClr val="FF0000"/>
                </a:solidFill>
              </a:rPr>
              <a:t>8 bit - 16 bit - 24 bit - …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35496" y="44624"/>
            <a:ext cx="460851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Analog</a:t>
            </a:r>
            <a:r>
              <a:rPr lang="da-DK" sz="2800" i="1" dirty="0"/>
              <a:t> til </a:t>
            </a:r>
            <a:r>
              <a:rPr lang="da-DK" sz="2800" b="1" i="1" dirty="0"/>
              <a:t>digital</a:t>
            </a:r>
            <a:r>
              <a:rPr lang="da-DK" sz="2800" i="1" dirty="0"/>
              <a:t> konvertering</a:t>
            </a:r>
            <a:endParaRPr lang="da-DK" sz="2800" b="1" i="1" dirty="0"/>
          </a:p>
        </p:txBody>
      </p:sp>
    </p:spTree>
    <p:extLst>
      <p:ext uri="{BB962C8B-B14F-4D97-AF65-F5344CB8AC3E}">
        <p14:creationId xmlns:p14="http://schemas.microsoft.com/office/powerpoint/2010/main" val="464199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95536" y="1268760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Hvorfor</a:t>
            </a:r>
            <a:r>
              <a:rPr lang="da-DK" sz="2800" i="1" dirty="0"/>
              <a:t> vil man det?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395536" y="2564904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Hvilken betydning har </a:t>
            </a:r>
            <a:r>
              <a:rPr lang="da-DK" sz="2800" b="1" i="1" dirty="0"/>
              <a:t>antal bit</a:t>
            </a:r>
            <a:r>
              <a:rPr lang="da-DK" sz="2800" i="1" dirty="0"/>
              <a:t>?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1619672" y="3356992"/>
            <a:ext cx="561662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2800" i="1" dirty="0">
                <a:solidFill>
                  <a:srgbClr val="FF0000"/>
                </a:solidFill>
              </a:rPr>
              <a:t>8 bit - 16 bit - 24 bit - …</a:t>
            </a:r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395536" y="4941168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Øges </a:t>
            </a:r>
            <a:r>
              <a:rPr lang="da-DK" sz="2800" b="1" i="1" dirty="0"/>
              <a:t>nøjagtigheden</a:t>
            </a:r>
            <a:r>
              <a:rPr lang="da-DK" sz="2800" i="1" dirty="0"/>
              <a:t> på en måling ved at foretage en A/D konvertering?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5496" y="44624"/>
            <a:ext cx="4608512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b="1" i="1" dirty="0"/>
              <a:t>Analog</a:t>
            </a:r>
            <a:r>
              <a:rPr lang="da-DK" sz="2800" i="1" dirty="0"/>
              <a:t> til </a:t>
            </a:r>
            <a:r>
              <a:rPr lang="da-DK" sz="2800" b="1" i="1" dirty="0"/>
              <a:t>digital</a:t>
            </a:r>
            <a:r>
              <a:rPr lang="da-DK" sz="2800" i="1" dirty="0"/>
              <a:t> konvertering</a:t>
            </a:r>
            <a:endParaRPr lang="da-DK" sz="2800" b="1" i="1" dirty="0"/>
          </a:p>
        </p:txBody>
      </p:sp>
    </p:spTree>
    <p:extLst>
      <p:ext uri="{BB962C8B-B14F-4D97-AF65-F5344CB8AC3E}">
        <p14:creationId xmlns:p14="http://schemas.microsoft.com/office/powerpoint/2010/main" val="4237831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</p:spTree>
    <p:extLst>
      <p:ext uri="{BB962C8B-B14F-4D97-AF65-F5344CB8AC3E}">
        <p14:creationId xmlns:p14="http://schemas.microsoft.com/office/powerpoint/2010/main" val="2163034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54546" y="44624"/>
            <a:ext cx="2520280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/>
              <a:t>Valg af Op Amp</a:t>
            </a:r>
            <a:endParaRPr lang="da-DK" sz="2800" i="1" dirty="0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90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73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54546" y="44624"/>
            <a:ext cx="2520280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/>
              <a:t>Valg af Op Amp</a:t>
            </a:r>
            <a:endParaRPr lang="da-DK" sz="2800" i="1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meget må den </a:t>
            </a:r>
            <a:r>
              <a:rPr lang="da-DK" sz="2800" b="1" i="1" dirty="0"/>
              <a:t>koste</a:t>
            </a:r>
            <a:r>
              <a:rPr lang="da-DK" sz="2800" i="1" dirty="0"/>
              <a:t>?</a:t>
            </a:r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meget må den </a:t>
            </a:r>
            <a:r>
              <a:rPr lang="da-DK" sz="2800" b="1" i="1" dirty="0"/>
              <a:t>koste</a:t>
            </a:r>
            <a:r>
              <a:rPr lang="da-DK" sz="2800" i="1" dirty="0"/>
              <a:t>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Har man noget i </a:t>
            </a:r>
            <a:r>
              <a:rPr lang="da-DK" sz="2800" b="1" i="1" dirty="0"/>
              <a:t>forvejen</a:t>
            </a:r>
            <a:r>
              <a:rPr lang="da-DK" sz="2800" i="1" dirty="0"/>
              <a:t>, som kan benyttes?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00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meget må den </a:t>
            </a:r>
            <a:r>
              <a:rPr lang="da-DK" sz="2800" b="1" i="1" dirty="0"/>
              <a:t>koste</a:t>
            </a:r>
            <a:r>
              <a:rPr lang="da-DK" sz="2800" i="1" dirty="0"/>
              <a:t>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Har man noget i </a:t>
            </a:r>
            <a:r>
              <a:rPr lang="da-DK" sz="2800" b="1" i="1" dirty="0"/>
              <a:t>forvejen</a:t>
            </a:r>
            <a:r>
              <a:rPr lang="da-DK" sz="2800" i="1" dirty="0"/>
              <a:t>, som kan benyttes?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Hvornår skal man bruge den?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2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meget må den </a:t>
            </a:r>
            <a:r>
              <a:rPr lang="da-DK" sz="2800" b="1" i="1" dirty="0"/>
              <a:t>koste</a:t>
            </a:r>
            <a:r>
              <a:rPr lang="da-DK" sz="2800" i="1" dirty="0"/>
              <a:t>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Har man noget i </a:t>
            </a:r>
            <a:r>
              <a:rPr lang="da-DK" sz="2800" b="1" i="1" dirty="0"/>
              <a:t>forvejen</a:t>
            </a:r>
            <a:r>
              <a:rPr lang="da-DK" sz="2800" i="1" dirty="0"/>
              <a:t>, som kan benyttes?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Hvornår skal man bruge den?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395536" y="5373216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solidFill>
                  <a:srgbClr val="FF0000"/>
                </a:solidFill>
              </a:rPr>
              <a:t>Hvilket af ovenstående krav er det vigtigste?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  <p:pic>
        <p:nvPicPr>
          <p:cNvPr id="11" name="Billed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17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09119">
            <a:off x="7431643" y="1282891"/>
            <a:ext cx="1071032" cy="1141560"/>
          </a:xfrm>
          <a:prstGeom prst="rect">
            <a:avLst/>
          </a:prstGeom>
        </p:spPr>
      </p:pic>
      <p:sp>
        <p:nvSpPr>
          <p:cNvPr id="6" name="Titel 1"/>
          <p:cNvSpPr txBox="1">
            <a:spLocks/>
          </p:cNvSpPr>
          <p:nvPr/>
        </p:nvSpPr>
        <p:spPr>
          <a:xfrm>
            <a:off x="395536" y="270892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Hvilke </a:t>
            </a:r>
            <a:r>
              <a:rPr lang="da-DK" sz="2800" b="1" i="1" dirty="0"/>
              <a:t>fysiske</a:t>
            </a:r>
            <a:r>
              <a:rPr lang="da-DK" sz="2800" i="1" dirty="0"/>
              <a:t> krav stilles der?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meget må den </a:t>
            </a:r>
            <a:r>
              <a:rPr lang="da-DK" sz="2800" b="1" i="1" dirty="0"/>
              <a:t>koste</a:t>
            </a:r>
            <a:r>
              <a:rPr lang="da-DK" sz="2800" i="1" dirty="0"/>
              <a:t>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Har man noget i </a:t>
            </a:r>
            <a:r>
              <a:rPr lang="da-DK" sz="2800" b="1" i="1" dirty="0"/>
              <a:t>forvejen</a:t>
            </a:r>
            <a:r>
              <a:rPr lang="da-DK" sz="2800" i="1" dirty="0"/>
              <a:t>, som kan benyttes?</a:t>
            </a:r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Hvornår skal man bruge den?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395536" y="5373216"/>
            <a:ext cx="82296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solidFill>
                  <a:srgbClr val="FF0000"/>
                </a:solidFill>
              </a:rPr>
              <a:t>Hvilket af ovenstående krav er det vigtigste?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95536" y="1124744"/>
            <a:ext cx="82296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Eksakt samme overvejelser som når man vil købe eksempelvis en ny jakke:</a:t>
            </a:r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4546" y="44624"/>
            <a:ext cx="2520280" cy="360040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Valg af Op </a:t>
            </a:r>
            <a:r>
              <a:rPr lang="da-DK" sz="2800" i="1" dirty="0" err="1"/>
              <a:t>Amp</a:t>
            </a:r>
            <a:endParaRPr lang="da-DK" sz="2800" i="1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013" y="2497083"/>
            <a:ext cx="421123" cy="85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4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1844824"/>
            <a:ext cx="8229600" cy="3456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Single Supply (eller andet vedr. allerede ”fastlagt” forsyning - eks. AD623)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35496" y="44624"/>
            <a:ext cx="496855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Samtidig kan man have for øje…</a:t>
            </a:r>
          </a:p>
        </p:txBody>
      </p:sp>
    </p:spTree>
    <p:extLst>
      <p:ext uri="{BB962C8B-B14F-4D97-AF65-F5344CB8AC3E}">
        <p14:creationId xmlns:p14="http://schemas.microsoft.com/office/powerpoint/2010/main" val="744787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1844824"/>
            <a:ext cx="8229600" cy="34563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Single Supply (eller andet vedr. allerede ”fastlagt” forsyning - eks. AD623)</a:t>
            </a:r>
            <a:br>
              <a:rPr lang="da-DK" sz="2800" i="1" dirty="0"/>
            </a:br>
            <a:endParaRPr lang="da-DK" sz="2800" i="1" dirty="0"/>
          </a:p>
          <a:p>
            <a:pPr marL="514350" indent="-514350" algn="l">
              <a:buFont typeface="+mj-lt"/>
              <a:buAutoNum type="arabicPeriod"/>
            </a:pPr>
            <a:r>
              <a:rPr lang="da-DK" sz="2800" i="1" dirty="0"/>
              <a:t>Hvor mange (ens?) Op </a:t>
            </a:r>
            <a:r>
              <a:rPr lang="da-DK" sz="2800" i="1" dirty="0" err="1"/>
              <a:t>Amps</a:t>
            </a:r>
            <a:r>
              <a:rPr lang="da-DK" sz="2800" i="1" dirty="0"/>
              <a:t> skal bruges?</a:t>
            </a:r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35496" y="44624"/>
            <a:ext cx="496855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Samtidig kan man have for øje…</a:t>
            </a:r>
          </a:p>
        </p:txBody>
      </p:sp>
    </p:spTree>
    <p:extLst>
      <p:ext uri="{BB962C8B-B14F-4D97-AF65-F5344CB8AC3E}">
        <p14:creationId xmlns:p14="http://schemas.microsoft.com/office/powerpoint/2010/main" val="1799721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/>
          <p:cNvSpPr txBox="1">
            <a:spLocks/>
          </p:cNvSpPr>
          <p:nvPr/>
        </p:nvSpPr>
        <p:spPr>
          <a:xfrm>
            <a:off x="35496" y="44624"/>
            <a:ext cx="619268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Vedr. </a:t>
            </a:r>
            <a:r>
              <a:rPr lang="da-DK" sz="2800" b="1" i="1" dirty="0"/>
              <a:t>styklisten</a:t>
            </a:r>
            <a:r>
              <a:rPr lang="da-DK" sz="2800" i="1" dirty="0"/>
              <a:t> (teknisk dokumentation):</a:t>
            </a:r>
          </a:p>
        </p:txBody>
      </p:sp>
    </p:spTree>
    <p:extLst>
      <p:ext uri="{BB962C8B-B14F-4D97-AF65-F5344CB8AC3E}">
        <p14:creationId xmlns:p14="http://schemas.microsoft.com/office/powerpoint/2010/main" val="2786719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395536" y="2492896"/>
            <a:ext cx="8229600" cy="1584176"/>
          </a:xfrm>
          <a:prstGeom prst="rect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Tænk godt over hvad der er </a:t>
            </a:r>
            <a:r>
              <a:rPr lang="da-DK" sz="2800" b="1" i="1" dirty="0"/>
              <a:t>specielle krav </a:t>
            </a:r>
            <a:r>
              <a:rPr lang="da-DK" sz="2800" i="1" dirty="0"/>
              <a:t>til den specificerede Op Amp, og hvad der </a:t>
            </a:r>
            <a:r>
              <a:rPr lang="da-DK" sz="2800" b="1" i="1" dirty="0"/>
              <a:t>tilfældigvis er data</a:t>
            </a:r>
            <a:r>
              <a:rPr lang="da-DK" sz="2800" i="1" dirty="0"/>
              <a:t> </a:t>
            </a:r>
          </a:p>
          <a:p>
            <a:pPr algn="l"/>
            <a:r>
              <a:rPr lang="da-DK" sz="2800" i="1" dirty="0"/>
              <a:t>(eks. ”Bill of Materials”) for den valgte type…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619268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Vedr. </a:t>
            </a:r>
            <a:r>
              <a:rPr lang="da-DK" sz="2800" b="1" i="1" dirty="0"/>
              <a:t>styklisten</a:t>
            </a:r>
            <a:r>
              <a:rPr lang="da-DK" sz="2800" i="1" dirty="0"/>
              <a:t> (teknisk dokumentation):</a:t>
            </a:r>
          </a:p>
        </p:txBody>
      </p:sp>
    </p:spTree>
    <p:extLst>
      <p:ext uri="{BB962C8B-B14F-4D97-AF65-F5344CB8AC3E}">
        <p14:creationId xmlns:p14="http://schemas.microsoft.com/office/powerpoint/2010/main" val="2362791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felt 8">
            <a:extLst>
              <a:ext uri="{FF2B5EF4-FFF2-40B4-BE49-F238E27FC236}">
                <a16:creationId xmlns:a16="http://schemas.microsoft.com/office/drawing/2014/main" id="{26D19E8F-8C18-4D75-9E73-94796C1DF164}"/>
              </a:ext>
            </a:extLst>
          </p:cNvPr>
          <p:cNvSpPr txBox="1"/>
          <p:nvPr/>
        </p:nvSpPr>
        <p:spPr>
          <a:xfrm>
            <a:off x="251520" y="1412776"/>
            <a:ext cx="86409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0385">
              <a:tabLst>
                <a:tab pos="540385" algn="l"/>
              </a:tabLst>
            </a:pPr>
            <a:r>
              <a:rPr lang="da-DK" sz="1400" b="1" i="1" u="sng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da-DK" sz="1400" b="1" i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7</a:t>
            </a: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I forbindelse med valg af konkret Op Amp kan I tage et kig på Analog Devices’ side:</a:t>
            </a:r>
            <a:endParaRPr lang="da-D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 algn="ctr">
              <a:spcBef>
                <a:spcPts val="600"/>
              </a:spcBef>
              <a:spcAft>
                <a:spcPts val="600"/>
              </a:spcAft>
              <a:tabLst>
                <a:tab pos="540385" algn="l"/>
              </a:tabLst>
            </a:pPr>
            <a:r>
              <a:rPr lang="da-DK" sz="1400" i="1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https://www.analog.com/en/index.html</a:t>
            </a:r>
            <a:endParaRPr lang="da-D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0385">
              <a:tabLst>
                <a:tab pos="540385" algn="l"/>
              </a:tabLst>
            </a:pP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a-DK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øg på ”Op Amp”, vælg øverste punkt ”</a:t>
            </a:r>
            <a:r>
              <a:rPr lang="da-DK" sz="1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Operational </a:t>
            </a:r>
            <a:r>
              <a:rPr lang="da-DK" sz="14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Amplifiers</a:t>
            </a:r>
            <a:r>
              <a:rPr lang="da-DK" sz="1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(Op </a:t>
            </a:r>
            <a:r>
              <a:rPr lang="da-DK" sz="14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Amps</a:t>
            </a:r>
            <a:r>
              <a:rPr lang="da-DK" sz="1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og vælg </a:t>
            </a:r>
            <a:r>
              <a:rPr lang="da-DK" sz="1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”View All Parts in </a:t>
            </a:r>
            <a:r>
              <a:rPr lang="da-DK" sz="1400" i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Subcategory</a:t>
            </a:r>
            <a:r>
              <a:rPr lang="da-DK" sz="14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I den fremkomne tabel kan I nu prøve at variere kriterierne i søgefilteret.</a:t>
            </a:r>
            <a:b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Dette er et meget stærkt søgeværktøj, og det kan selvfølgelig bruges på flere måder.</a:t>
            </a:r>
            <a:endParaRPr lang="da-D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D13788FC-C4AB-D608-36C7-44067CC00F44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59228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Analog Devices</a:t>
            </a:r>
          </a:p>
        </p:txBody>
      </p:sp>
    </p:spTree>
    <p:extLst>
      <p:ext uri="{BB962C8B-B14F-4D97-AF65-F5344CB8AC3E}">
        <p14:creationId xmlns:p14="http://schemas.microsoft.com/office/powerpoint/2010/main" val="444080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/>
        </p:nvSpPr>
        <p:spPr>
          <a:xfrm>
            <a:off x="107504" y="44624"/>
            <a:ext cx="2880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b="1" i="1" dirty="0" err="1"/>
              <a:t>Sp</a:t>
            </a:r>
            <a:r>
              <a:rPr lang="da-DK" b="1" i="1" dirty="0"/>
              <a:t>. 6 fra forberedelsen:</a:t>
            </a:r>
          </a:p>
        </p:txBody>
      </p:sp>
      <p:sp>
        <p:nvSpPr>
          <p:cNvPr id="6" name="Rektangel 5"/>
          <p:cNvSpPr/>
          <p:nvPr/>
        </p:nvSpPr>
        <p:spPr>
          <a:xfrm>
            <a:off x="179512" y="594554"/>
            <a:ext cx="8784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En Op Amp i den inverterende kobling som den på figur 2.5 kan regnes ideel bortset fra offset- og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biasfejl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. R</a:t>
            </a:r>
            <a:r>
              <a:rPr lang="da-DK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1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= 1 kΩ; R</a:t>
            </a:r>
            <a:r>
              <a:rPr lang="da-DK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= 100 kΩ.</a:t>
            </a:r>
          </a:p>
          <a:p>
            <a:pPr>
              <a:spcAft>
                <a:spcPts val="0"/>
              </a:spcAft>
            </a:pP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Forstærkeren skal levere signalet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v</a:t>
            </a:r>
            <a:r>
              <a:rPr lang="da-DK" baseline="-25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o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til en 12-bit ADC, hvor ”Full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Scale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Input” er 5V.</a:t>
            </a:r>
            <a:b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Offset- og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biasfejl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må højst bidrage med, hvad der svarer til 1 LSB.</a:t>
            </a:r>
          </a:p>
          <a:p>
            <a:pPr>
              <a:spcAft>
                <a:spcPts val="0"/>
              </a:spcAft>
            </a:pPr>
            <a:b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Kom med et forslag til valgkriterier for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V</a:t>
            </a:r>
            <a:r>
              <a:rPr lang="da-DK" baseline="-25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off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, I</a:t>
            </a:r>
            <a:r>
              <a:rPr lang="da-DK" baseline="-25000" dirty="0">
                <a:latin typeface="Calibri" panose="020F0502020204030204" pitchFamily="34" charset="0"/>
                <a:ea typeface="Times New Roman" panose="02020603050405020304" pitchFamily="18" charset="0"/>
              </a:rPr>
              <a:t>B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og </a:t>
            </a:r>
            <a:r>
              <a:rPr lang="da-DK" dirty="0" err="1"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da-DK" baseline="-250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off</a:t>
            </a:r>
            <a:r>
              <a:rPr lang="da-DK" dirty="0">
                <a:latin typeface="Calibri" panose="020F0502020204030204" pitchFamily="34" charset="0"/>
                <a:ea typeface="Times New Roman" panose="02020603050405020304" pitchFamily="18" charset="0"/>
              </a:rPr>
              <a:t> for den Op Amp, som skal vælges.</a:t>
            </a:r>
          </a:p>
          <a:p>
            <a:pPr>
              <a:spcAft>
                <a:spcPts val="0"/>
              </a:spcAft>
            </a:pPr>
            <a:endParaRPr lang="da-DK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a-DK" dirty="0"/>
              <a:t>Der må gerne foretages </a:t>
            </a:r>
            <a:r>
              <a:rPr lang="da-DK" dirty="0" err="1"/>
              <a:t>biaskompensering</a:t>
            </a:r>
            <a:r>
              <a:rPr lang="da-DK" dirty="0"/>
              <a:t>.</a:t>
            </a:r>
          </a:p>
        </p:txBody>
      </p:sp>
      <p:grpSp>
        <p:nvGrpSpPr>
          <p:cNvPr id="12" name="Gruppe 11"/>
          <p:cNvGrpSpPr/>
          <p:nvPr/>
        </p:nvGrpSpPr>
        <p:grpSpPr>
          <a:xfrm>
            <a:off x="1403648" y="3231303"/>
            <a:ext cx="6192688" cy="2861993"/>
            <a:chOff x="1475656" y="620688"/>
            <a:chExt cx="6192688" cy="2861993"/>
          </a:xfrm>
        </p:grpSpPr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75656" y="620688"/>
              <a:ext cx="6192688" cy="2861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itel 1"/>
            <p:cNvSpPr txBox="1">
              <a:spLocks/>
            </p:cNvSpPr>
            <p:nvPr/>
          </p:nvSpPr>
          <p:spPr>
            <a:xfrm>
              <a:off x="3347864" y="1946247"/>
              <a:ext cx="792088" cy="3508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1 k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  <p:sp>
          <p:nvSpPr>
            <p:cNvPr id="15" name="Titel 1"/>
            <p:cNvSpPr txBox="1">
              <a:spLocks/>
            </p:cNvSpPr>
            <p:nvPr/>
          </p:nvSpPr>
          <p:spPr>
            <a:xfrm>
              <a:off x="4644008" y="1154193"/>
              <a:ext cx="929484" cy="35087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800" i="1" dirty="0"/>
                <a:t>100 k</a:t>
              </a:r>
              <a:r>
                <a:rPr lang="el-GR" sz="1800" i="1" dirty="0"/>
                <a:t>Ω</a:t>
              </a:r>
              <a:endParaRPr lang="da-DK" sz="18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40939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694C-DE64-3DAE-1835-FCFBA437C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D8717D30-CC0E-0B0D-FE87-4716C2302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039" y="836712"/>
            <a:ext cx="6301922" cy="419708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B1A175F-E24A-7DF2-86D9-9EE046616D7D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158417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Eksamen</a:t>
            </a:r>
          </a:p>
        </p:txBody>
      </p:sp>
    </p:spTree>
    <p:extLst>
      <p:ext uri="{BB962C8B-B14F-4D97-AF65-F5344CB8AC3E}">
        <p14:creationId xmlns:p14="http://schemas.microsoft.com/office/powerpoint/2010/main" val="3970341279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986</Words>
  <Application>Microsoft Office PowerPoint</Application>
  <PresentationFormat>On-screen Show (4:3)</PresentationFormat>
  <Paragraphs>124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Kontortema</vt:lpstr>
      <vt:lpstr>ELE-plan for i dag: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Valg af Op Amp</vt:lpstr>
      <vt:lpstr>PowerPoint Presentation</vt:lpstr>
      <vt:lpstr>Valg af Op Amp</vt:lpstr>
      <vt:lpstr>PowerPoint Presentation</vt:lpstr>
      <vt:lpstr>Valg af Op Amp</vt:lpstr>
      <vt:lpstr>Valg af Op Amp</vt:lpstr>
      <vt:lpstr>Valg af Op Amp</vt:lpstr>
      <vt:lpstr>Valg af Op Amp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7</dc:title>
  <dc:creator>Jan Petersen</dc:creator>
  <cp:lastModifiedBy>Jan Petersen</cp:lastModifiedBy>
  <cp:revision>503</cp:revision>
  <dcterms:created xsi:type="dcterms:W3CDTF">2013-01-28T12:22:54Z</dcterms:created>
  <dcterms:modified xsi:type="dcterms:W3CDTF">2026-05-10T20:15:00Z</dcterms:modified>
</cp:coreProperties>
</file>
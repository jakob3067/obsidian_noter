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8"/>
  </p:handoutMasterIdLst>
  <p:sldIdLst>
    <p:sldId id="298" r:id="rId2"/>
    <p:sldId id="261" r:id="rId3"/>
    <p:sldId id="300" r:id="rId4"/>
    <p:sldId id="284" r:id="rId5"/>
    <p:sldId id="500" r:id="rId6"/>
    <p:sldId id="276" r:id="rId7"/>
    <p:sldId id="295" r:id="rId8"/>
    <p:sldId id="501" r:id="rId9"/>
    <p:sldId id="502" r:id="rId10"/>
    <p:sldId id="503" r:id="rId11"/>
    <p:sldId id="505" r:id="rId12"/>
    <p:sldId id="506" r:id="rId13"/>
    <p:sldId id="510" r:id="rId14"/>
    <p:sldId id="511" r:id="rId15"/>
    <p:sldId id="512" r:id="rId16"/>
    <p:sldId id="515" r:id="rId17"/>
    <p:sldId id="517" r:id="rId18"/>
    <p:sldId id="514" r:id="rId19"/>
    <p:sldId id="494" r:id="rId20"/>
    <p:sldId id="489" r:id="rId21"/>
    <p:sldId id="490" r:id="rId22"/>
    <p:sldId id="496" r:id="rId23"/>
    <p:sldId id="497" r:id="rId24"/>
    <p:sldId id="498" r:id="rId25"/>
    <p:sldId id="499" r:id="rId26"/>
    <p:sldId id="438" r:id="rId27"/>
    <p:sldId id="439" r:id="rId28"/>
    <p:sldId id="513" r:id="rId29"/>
    <p:sldId id="452" r:id="rId30"/>
    <p:sldId id="450" r:id="rId31"/>
    <p:sldId id="459" r:id="rId32"/>
    <p:sldId id="488" r:id="rId33"/>
    <p:sldId id="486" r:id="rId34"/>
    <p:sldId id="485" r:id="rId35"/>
    <p:sldId id="401" r:id="rId36"/>
    <p:sldId id="402" r:id="rId37"/>
    <p:sldId id="404" r:id="rId38"/>
    <p:sldId id="407" r:id="rId39"/>
    <p:sldId id="408" r:id="rId40"/>
    <p:sldId id="410" r:id="rId41"/>
    <p:sldId id="411" r:id="rId42"/>
    <p:sldId id="412" r:id="rId43"/>
    <p:sldId id="416" r:id="rId44"/>
    <p:sldId id="414" r:id="rId45"/>
    <p:sldId id="415" r:id="rId46"/>
    <p:sldId id="296" r:id="rId47"/>
  </p:sldIdLst>
  <p:sldSz cx="9144000" cy="6858000" type="screen4x3"/>
  <p:notesSz cx="6761163" cy="9942513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78744-E698-4891-97C6-4477543AAF18}" v="2" dt="2026-02-06T13:36:20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94639" autoAdjust="0"/>
  </p:normalViewPr>
  <p:slideViewPr>
    <p:cSldViewPr>
      <p:cViewPr varScale="1">
        <p:scale>
          <a:sx n="161" d="100"/>
          <a:sy n="161" d="100"/>
        </p:scale>
        <p:origin x="1696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øj Lorenzen" userId="bBWxxBQ7lkasMs2MbwWOgVQi6AWwF9tq+T+K2+XYcig=" providerId="None" clId="Web-{A8A78744-E698-4891-97C6-4477543AAF18}"/>
    <pc:docChg chg="addSld delSld">
      <pc:chgData name="Kasper Høj Lorenzen" userId="bBWxxBQ7lkasMs2MbwWOgVQi6AWwF9tq+T+K2+XYcig=" providerId="None" clId="Web-{A8A78744-E698-4891-97C6-4477543AAF18}" dt="2026-02-06T13:36:20.109" v="1"/>
      <pc:docMkLst>
        <pc:docMk/>
      </pc:docMkLst>
      <pc:sldChg chg="add del">
        <pc:chgData name="Kasper Høj Lorenzen" userId="bBWxxBQ7lkasMs2MbwWOgVQi6AWwF9tq+T+K2+XYcig=" providerId="None" clId="Web-{A8A78744-E698-4891-97C6-4477543AAF18}" dt="2026-02-06T13:36:20.109" v="1"/>
        <pc:sldMkLst>
          <pc:docMk/>
          <pc:sldMk cId="874866065" sldId="4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4FA-F002-44FD-BC06-277F7A0EBC5C}" type="datetimeFigureOut">
              <a:rPr lang="da-DK" smtClean="0"/>
              <a:t>06-02-2026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BC8F8-F3F4-4049-ABC7-A4AA54C3668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15082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76A0-30D7-4D7A-A7D9-74402E02671B}" type="datetimeFigureOut">
              <a:rPr lang="da-DK" smtClean="0"/>
              <a:t>06-02-2026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7504" y="44626"/>
            <a:ext cx="3312368" cy="504054"/>
          </a:xfrm>
        </p:spPr>
        <p:txBody>
          <a:bodyPr>
            <a:normAutofit fontScale="90000"/>
          </a:bodyPr>
          <a:lstStyle/>
          <a:p>
            <a:pPr algn="l"/>
            <a:r>
              <a:rPr lang="da-DK" sz="2800" b="1" i="1" dirty="0"/>
              <a:t>ELE-plan for i dag</a:t>
            </a:r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648708" y="692695"/>
            <a:ext cx="6803612" cy="9361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Forstærker med negativ feedback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Systematisere fejl - i forhold til ideel performance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648708" y="1628800"/>
            <a:ext cx="6731604" cy="15841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Modkoblet forstærker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Princip med </a:t>
            </a:r>
            <a:r>
              <a:rPr lang="el-GR" sz="2400" i="1" dirty="0"/>
              <a:t>α</a:t>
            </a:r>
            <a:r>
              <a:rPr lang="da-DK" sz="2400" i="1" dirty="0"/>
              <a:t> og </a:t>
            </a: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r>
              <a:rPr lang="da-DK" sz="2400" i="1" dirty="0" err="1"/>
              <a:t>A</a:t>
            </a:r>
            <a:r>
              <a:rPr lang="da-DK" sz="2400" i="1" baseline="-25000" dirty="0" err="1"/>
              <a:t>OL</a:t>
            </a:r>
            <a:r>
              <a:rPr lang="da-DK" sz="2400" i="1" dirty="0" err="1"/>
              <a:t>’s</a:t>
            </a:r>
            <a:r>
              <a:rPr lang="da-DK" sz="2400" i="1" dirty="0"/>
              <a:t> indflydelse på </a:t>
            </a:r>
            <a:r>
              <a:rPr lang="da-DK" sz="2400" i="1" dirty="0" err="1"/>
              <a:t>lukketsløjfeforstærkningen</a:t>
            </a:r>
            <a:r>
              <a:rPr lang="da-DK" sz="2400" i="1" dirty="0"/>
              <a:t> A</a:t>
            </a:r>
            <a:r>
              <a:rPr lang="da-DK" sz="2400" i="1" baseline="-25000" dirty="0"/>
              <a:t>CL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Fejlfaktor </a:t>
            </a:r>
            <a:r>
              <a:rPr lang="da-DK" sz="2400" i="1" dirty="0" err="1"/>
              <a:t>K</a:t>
            </a:r>
            <a:r>
              <a:rPr lang="da-DK" sz="2400" i="1" baseline="-25000" dirty="0" err="1"/>
              <a:t>f</a:t>
            </a:r>
            <a:endParaRPr lang="da-DK" sz="2400" i="1" baseline="-25000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648708" y="3573016"/>
            <a:ext cx="5795500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Effekt af negativ feedback på </a:t>
            </a:r>
            <a:r>
              <a:rPr lang="da-DK" sz="2400" b="1" i="1" dirty="0" err="1"/>
              <a:t>Z</a:t>
            </a:r>
            <a:r>
              <a:rPr lang="da-DK" sz="2400" b="1" i="1" baseline="-25000" dirty="0" err="1"/>
              <a:t>o</a:t>
            </a:r>
            <a:r>
              <a:rPr lang="da-DK" sz="2400" b="1" i="1" dirty="0"/>
              <a:t>, Z</a:t>
            </a:r>
            <a:r>
              <a:rPr lang="da-DK" sz="2400" b="1" i="1" baseline="-25000" dirty="0"/>
              <a:t>in</a:t>
            </a:r>
            <a:r>
              <a:rPr lang="da-DK" sz="2400" b="1" i="1" dirty="0"/>
              <a:t> og A</a:t>
            </a:r>
            <a:r>
              <a:rPr lang="da-DK" sz="2400" b="1" i="1" baseline="-25000" dirty="0"/>
              <a:t>CL</a:t>
            </a:r>
            <a:r>
              <a:rPr lang="da-DK" sz="2400" b="1" i="1" dirty="0"/>
              <a:t> 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Ikke-inverterende kobling som eksempel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61777E00-3607-4CAE-88C9-1905F08D8BA7}"/>
              </a:ext>
            </a:extLst>
          </p:cNvPr>
          <p:cNvSpPr txBox="1">
            <a:spLocks/>
          </p:cNvSpPr>
          <p:nvPr/>
        </p:nvSpPr>
        <p:spPr>
          <a:xfrm>
            <a:off x="648708" y="4869160"/>
            <a:ext cx="8315780" cy="16561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Generelle betragtninger af forstærker med negativ feedback</a:t>
            </a:r>
          </a:p>
          <a:p>
            <a:pPr marL="342900" indent="-342900" algn="l">
              <a:buFontTx/>
              <a:buChar char="-"/>
            </a:pPr>
            <a:r>
              <a:rPr lang="da-DK" sz="2400" i="1"/>
              <a:t>Indgående forstærkninger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Feedback typer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Baggrund for valg af feedback type (set fra kilde/belastning)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F806148-080A-4CDF-B468-3EFDE19C2086}"/>
              </a:ext>
            </a:extLst>
          </p:cNvPr>
          <p:cNvSpPr txBox="1">
            <a:spLocks/>
          </p:cNvSpPr>
          <p:nvPr/>
        </p:nvSpPr>
        <p:spPr>
          <a:xfrm>
            <a:off x="7092280" y="3140968"/>
            <a:ext cx="648072" cy="324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>
                <a:solidFill>
                  <a:srgbClr val="FF0000"/>
                </a:solidFill>
              </a:rPr>
              <a:t>Pause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683E4A7-915F-404D-A751-0EFC3AE1D753}"/>
              </a:ext>
            </a:extLst>
          </p:cNvPr>
          <p:cNvSpPr txBox="1">
            <a:spLocks/>
          </p:cNvSpPr>
          <p:nvPr/>
        </p:nvSpPr>
        <p:spPr>
          <a:xfrm>
            <a:off x="7092280" y="4329101"/>
            <a:ext cx="648072" cy="324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>
                <a:solidFill>
                  <a:srgbClr val="FF0000"/>
                </a:solidFill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174458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B2CB2BB-3FD2-44E2-BE73-3C3C84EA05F0}"/>
              </a:ext>
            </a:extLst>
          </p:cNvPr>
          <p:cNvSpPr/>
          <p:nvPr/>
        </p:nvSpPr>
        <p:spPr>
          <a:xfrm>
            <a:off x="1043608" y="404664"/>
            <a:ext cx="6264696" cy="1577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da-DK" sz="1600" b="1" i="1" kern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Forberedelse til lektion 2</a:t>
            </a:r>
            <a:endParaRPr lang="da-DK" sz="1600" b="1" kern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da-DK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da-DK" sz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 kommer langt med Kirchhoff’s og Ohm’s love, men skal man foretage et </a:t>
            </a:r>
            <a:r>
              <a:rPr lang="da-DK" sz="1100" b="1" i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systematiseret design</a:t>
            </a: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og i denne forbindelse kunne foretage </a:t>
            </a:r>
            <a:r>
              <a:rPr lang="da-DK" sz="1100" b="1" i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kvalificerede komponentvalg</a:t>
            </a: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så er man nødt til ligeledes at kunne </a:t>
            </a:r>
            <a:r>
              <a:rPr lang="da-DK" sz="1100" b="1" i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systematisere sine fejlberegninger</a:t>
            </a: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a-DK" sz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Anvender man Op </a:t>
            </a:r>
            <a:r>
              <a:rPr lang="da-DK" sz="1100" dirty="0" err="1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Amps</a:t>
            </a: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 sin signalbehandling, kan man med fordel </a:t>
            </a:r>
            <a:r>
              <a:rPr lang="da-DK" sz="1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relatere de aktuelle egenskaber til den ideelle performance</a:t>
            </a:r>
            <a:r>
              <a:rPr lang="da-DK" sz="11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vurdere hvilke størrelser, der giver anledning til hvilke fejl og måske sætte en kvantitativ størrelse på disse.</a:t>
            </a:r>
            <a:endParaRPr lang="da-DK" sz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86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lede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" t="6929" r="7183" b="7357"/>
          <a:stretch/>
        </p:blipFill>
        <p:spPr>
          <a:xfrm>
            <a:off x="2123728" y="908720"/>
            <a:ext cx="4698522" cy="2592288"/>
          </a:xfrm>
          <a:prstGeom prst="rect">
            <a:avLst/>
          </a:prstGeom>
        </p:spPr>
      </p:pic>
      <p:cxnSp>
        <p:nvCxnSpPr>
          <p:cNvPr id="3" name="Lige pilforbindelse 2"/>
          <p:cNvCxnSpPr>
            <a:cxnSpLocks/>
          </p:cNvCxnSpPr>
          <p:nvPr/>
        </p:nvCxnSpPr>
        <p:spPr>
          <a:xfrm flipV="1">
            <a:off x="2771800" y="2564905"/>
            <a:ext cx="3096344" cy="1584175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Undertitel 2"/>
          <p:cNvSpPr txBox="1">
            <a:spLocks/>
          </p:cNvSpPr>
          <p:nvPr/>
        </p:nvSpPr>
        <p:spPr>
          <a:xfrm>
            <a:off x="467544" y="4077072"/>
            <a:ext cx="8568952" cy="10801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400" i="1" dirty="0"/>
              <a:t>”</a:t>
            </a:r>
            <a:r>
              <a:rPr lang="da-DK" sz="2400" b="1" i="1" dirty="0"/>
              <a:t>O</a:t>
            </a:r>
            <a:r>
              <a:rPr lang="da-DK" sz="2400" i="1" dirty="0"/>
              <a:t>pen </a:t>
            </a:r>
            <a:r>
              <a:rPr lang="da-DK" sz="2400" b="1" i="1" dirty="0"/>
              <a:t>L</a:t>
            </a:r>
            <a:r>
              <a:rPr lang="da-DK" sz="2400" i="1" dirty="0"/>
              <a:t>oop </a:t>
            </a:r>
            <a:r>
              <a:rPr lang="da-DK" sz="2400" i="1" dirty="0" err="1"/>
              <a:t>Gain</a:t>
            </a:r>
            <a:r>
              <a:rPr lang="da-DK" sz="2400" i="1" dirty="0"/>
              <a:t>”</a:t>
            </a:r>
          </a:p>
          <a:p>
            <a:pPr marL="0" indent="0">
              <a:buNone/>
              <a:tabLst>
                <a:tab pos="1617663" algn="l"/>
              </a:tabLst>
            </a:pPr>
            <a:r>
              <a:rPr lang="da-DK" sz="2400" i="1" dirty="0"/>
              <a:t>Åbensløjfeforstærkning - forstærkning </a:t>
            </a:r>
            <a:r>
              <a:rPr lang="da-DK" sz="2400" b="1" i="1" dirty="0"/>
              <a:t>uden</a:t>
            </a:r>
            <a:r>
              <a:rPr lang="da-DK" sz="2400" i="1" dirty="0"/>
              <a:t> feedback</a:t>
            </a:r>
            <a:endParaRPr lang="da-DK" sz="2400" b="1" i="1" baseline="-25000" dirty="0">
              <a:solidFill>
                <a:srgbClr val="FF0000"/>
              </a:solidFill>
            </a:endParaRPr>
          </a:p>
          <a:p>
            <a:pPr marL="0" indent="0">
              <a:buNone/>
              <a:tabLst>
                <a:tab pos="1617663" algn="l"/>
              </a:tabLst>
            </a:pPr>
            <a:endParaRPr lang="da-DK" sz="2400" b="1" i="1" baseline="-25000" dirty="0">
              <a:solidFill>
                <a:srgbClr val="FF0000"/>
              </a:solidFill>
            </a:endParaRPr>
          </a:p>
        </p:txBody>
      </p:sp>
      <p:sp>
        <p:nvSpPr>
          <p:cNvPr id="9" name="Undertitel 2"/>
          <p:cNvSpPr>
            <a:spLocks noGrp="1"/>
          </p:cNvSpPr>
          <p:nvPr>
            <p:ph type="subTitle" idx="1"/>
          </p:nvPr>
        </p:nvSpPr>
        <p:spPr>
          <a:xfrm>
            <a:off x="467544" y="5301208"/>
            <a:ext cx="8136904" cy="849515"/>
          </a:xfrm>
        </p:spPr>
        <p:txBody>
          <a:bodyPr anchor="ctr" anchorCtr="0">
            <a:normAutofit/>
          </a:bodyPr>
          <a:lstStyle/>
          <a:p>
            <a:pPr algn="l">
              <a:tabLst>
                <a:tab pos="1617663" algn="l"/>
              </a:tabLst>
            </a:pPr>
            <a:r>
              <a:rPr lang="da-DK" sz="2400" i="1" dirty="0">
                <a:solidFill>
                  <a:schemeClr val="tx1"/>
                </a:solidFill>
              </a:rPr>
              <a:t>Hvordan ser overføringsfunktionen </a:t>
            </a:r>
            <a:r>
              <a:rPr lang="da-DK" sz="2400" b="1" i="1" dirty="0" err="1">
                <a:solidFill>
                  <a:schemeClr val="tx1"/>
                </a:solidFill>
              </a:rPr>
              <a:t>v</a:t>
            </a:r>
            <a:r>
              <a:rPr lang="da-DK" sz="2400" b="1" i="1" baseline="-25000" dirty="0" err="1">
                <a:solidFill>
                  <a:schemeClr val="tx1"/>
                </a:solidFill>
              </a:rPr>
              <a:t>o</a:t>
            </a:r>
            <a:r>
              <a:rPr lang="da-DK" sz="2400" b="1" i="1" dirty="0">
                <a:solidFill>
                  <a:schemeClr val="tx1"/>
                </a:solidFill>
              </a:rPr>
              <a:t> som funktion af v</a:t>
            </a:r>
            <a:r>
              <a:rPr lang="da-DK" sz="2400" b="1" i="1" baseline="-25000" dirty="0">
                <a:solidFill>
                  <a:schemeClr val="tx1"/>
                </a:solidFill>
              </a:rPr>
              <a:t>id</a:t>
            </a:r>
            <a:r>
              <a:rPr lang="da-DK" sz="2400" i="1" dirty="0">
                <a:solidFill>
                  <a:schemeClr val="tx1"/>
                </a:solidFill>
              </a:rPr>
              <a:t> ud? Ideelt? I praksis?</a:t>
            </a:r>
          </a:p>
        </p:txBody>
      </p:sp>
    </p:spTree>
    <p:extLst>
      <p:ext uri="{BB962C8B-B14F-4D97-AF65-F5344CB8AC3E}">
        <p14:creationId xmlns:p14="http://schemas.microsoft.com/office/powerpoint/2010/main" val="512462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568" y="260648"/>
            <a:ext cx="8150757" cy="6369817"/>
          </a:xfrm>
          <a:prstGeom prst="rect">
            <a:avLst/>
          </a:prstGeom>
        </p:spPr>
      </p:pic>
      <p:sp>
        <p:nvSpPr>
          <p:cNvPr id="3" name="Ellipse 2"/>
          <p:cNvSpPr/>
          <p:nvPr/>
        </p:nvSpPr>
        <p:spPr>
          <a:xfrm>
            <a:off x="7482800" y="412284"/>
            <a:ext cx="736964" cy="74435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/>
          <p:cNvSpPr/>
          <p:nvPr/>
        </p:nvSpPr>
        <p:spPr>
          <a:xfrm>
            <a:off x="7482800" y="5614118"/>
            <a:ext cx="736964" cy="74435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8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Lige pilforbindelse 58"/>
          <p:cNvCxnSpPr/>
          <p:nvPr/>
        </p:nvCxnSpPr>
        <p:spPr>
          <a:xfrm flipV="1">
            <a:off x="4608687" y="620688"/>
            <a:ext cx="0" cy="5256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Lige pilforbindelse 59"/>
          <p:cNvCxnSpPr/>
          <p:nvPr/>
        </p:nvCxnSpPr>
        <p:spPr>
          <a:xfrm>
            <a:off x="1486885" y="3406511"/>
            <a:ext cx="61775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Lige forbindelse 60"/>
          <p:cNvCxnSpPr/>
          <p:nvPr/>
        </p:nvCxnSpPr>
        <p:spPr>
          <a:xfrm>
            <a:off x="1486885" y="1358599"/>
            <a:ext cx="613042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7578748" y="3295035"/>
            <a:ext cx="593652" cy="63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da-DK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endParaRPr lang="da-DK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1081334" y="1121098"/>
            <a:ext cx="518729" cy="5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da-DK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da-DK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Text Box 25"/>
          <p:cNvSpPr txBox="1">
            <a:spLocks noChangeArrowheads="1"/>
          </p:cNvSpPr>
          <p:nvPr/>
        </p:nvSpPr>
        <p:spPr bwMode="auto">
          <a:xfrm>
            <a:off x="1043608" y="5133693"/>
            <a:ext cx="434435" cy="55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da-DK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9" name="Lige forbindelse 68"/>
          <p:cNvCxnSpPr/>
          <p:nvPr/>
        </p:nvCxnSpPr>
        <p:spPr>
          <a:xfrm>
            <a:off x="1429118" y="5383948"/>
            <a:ext cx="613042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4716016" y="270699"/>
            <a:ext cx="593652" cy="63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da-DK" sz="20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endParaRPr lang="da-DK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uppe 4"/>
          <p:cNvGrpSpPr/>
          <p:nvPr/>
        </p:nvGrpSpPr>
        <p:grpSpPr>
          <a:xfrm>
            <a:off x="2329013" y="1353468"/>
            <a:ext cx="4564902" cy="4030480"/>
            <a:chOff x="2329013" y="1353468"/>
            <a:chExt cx="4564902" cy="4030480"/>
          </a:xfrm>
        </p:grpSpPr>
        <p:cxnSp>
          <p:nvCxnSpPr>
            <p:cNvPr id="3" name="Lige forbindelse 2"/>
            <p:cNvCxnSpPr/>
            <p:nvPr/>
          </p:nvCxnSpPr>
          <p:spPr>
            <a:xfrm>
              <a:off x="4612258" y="1358599"/>
              <a:ext cx="0" cy="402534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forbindelse 16"/>
            <p:cNvCxnSpPr/>
            <p:nvPr/>
          </p:nvCxnSpPr>
          <p:spPr>
            <a:xfrm>
              <a:off x="2329013" y="5379566"/>
              <a:ext cx="23007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ige forbindelse 18"/>
            <p:cNvCxnSpPr/>
            <p:nvPr/>
          </p:nvCxnSpPr>
          <p:spPr>
            <a:xfrm>
              <a:off x="4593208" y="1353468"/>
              <a:ext cx="23007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Undertitel 2">
            <a:extLst>
              <a:ext uri="{FF2B5EF4-FFF2-40B4-BE49-F238E27FC236}">
                <a16:creationId xmlns:a16="http://schemas.microsoft.com/office/drawing/2014/main" id="{A30163A0-F789-434E-9BA8-5761794425CF}"/>
              </a:ext>
            </a:extLst>
          </p:cNvPr>
          <p:cNvSpPr txBox="1">
            <a:spLocks/>
          </p:cNvSpPr>
          <p:nvPr/>
        </p:nvSpPr>
        <p:spPr>
          <a:xfrm>
            <a:off x="3779912" y="1606311"/>
            <a:ext cx="792088" cy="38251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2000" i="1" dirty="0">
                <a:solidFill>
                  <a:srgbClr val="0070C0"/>
                </a:solidFill>
              </a:rPr>
              <a:t>Ideelt</a:t>
            </a:r>
            <a:endParaRPr lang="da-DK" sz="2000" i="1" baseline="-25000" dirty="0">
              <a:solidFill>
                <a:srgbClr val="0070C0"/>
              </a:solidFill>
            </a:endParaRP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9797C28C-7FB2-4ECE-A9B2-BFFC8BE227DB}"/>
              </a:ext>
            </a:extLst>
          </p:cNvPr>
          <p:cNvGrpSpPr/>
          <p:nvPr/>
        </p:nvGrpSpPr>
        <p:grpSpPr>
          <a:xfrm>
            <a:off x="5199136" y="5875225"/>
            <a:ext cx="3765352" cy="794135"/>
            <a:chOff x="1187624" y="5805264"/>
            <a:chExt cx="3765352" cy="794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Undertitel 2">
                  <a:extLst>
                    <a:ext uri="{FF2B5EF4-FFF2-40B4-BE49-F238E27FC236}">
                      <a16:creationId xmlns:a16="http://schemas.microsoft.com/office/drawing/2014/main" id="{880B5C06-2245-4F3C-A042-AE966E5B2EC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91880" y="5805264"/>
                  <a:ext cx="1461096" cy="794135"/>
                </a:xfrm>
                <a:prstGeom prst="rect">
                  <a:avLst/>
                </a:prstGeom>
              </p:spPr>
              <p:txBody>
                <a:bodyPr anchor="ctr" anchorCtr="0">
                  <a:normAutofit/>
                </a:bodyPr>
                <a:lstStyle>
                  <a:lvl1pPr marL="342900" indent="-3429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  <a:tabLst>
                      <a:tab pos="1617663" algn="l"/>
                    </a:tabLs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da-DK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2000" b="0" i="1" smtClean="0">
                              <a:solidFill>
                                <a:schemeClr val="tx1"/>
                              </a:solidFill>
                            </a:rPr>
                            <m:t>dv</m:t>
                          </m:r>
                          <m:r>
                            <m:rPr>
                              <m:nor/>
                            </m:rPr>
                            <a:rPr lang="da-DK" sz="2000" b="0" i="1" baseline="-25000" smtClean="0">
                              <a:solidFill>
                                <a:schemeClr val="tx1"/>
                              </a:solidFill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2000" b="0" i="1" smtClean="0">
                              <a:solidFill>
                                <a:schemeClr val="tx1"/>
                              </a:solidFill>
                            </a:rPr>
                            <m:t>dv</m:t>
                          </m:r>
                          <m:r>
                            <m:rPr>
                              <m:nor/>
                            </m:rPr>
                            <a:rPr lang="da-DK" sz="2000" b="0" i="1" baseline="-25000" smtClean="0">
                              <a:solidFill>
                                <a:schemeClr val="tx1"/>
                              </a:solidFill>
                            </a:rPr>
                            <m:t>id</m:t>
                          </m:r>
                        </m:den>
                      </m:f>
                    </m:oMath>
                  </a14:m>
                  <a:r>
                    <a:rPr lang="da-DK" sz="2000" i="1" dirty="0"/>
                    <a:t> = A</a:t>
                  </a:r>
                  <a:r>
                    <a:rPr lang="da-DK" sz="2000" i="1" baseline="-25000" dirty="0"/>
                    <a:t>OL</a:t>
                  </a:r>
                  <a:endParaRPr lang="da-DK" sz="2000" i="1" baseline="-25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Undertitel 2">
                  <a:extLst>
                    <a:ext uri="{FF2B5EF4-FFF2-40B4-BE49-F238E27FC236}">
                      <a16:creationId xmlns:a16="http://schemas.microsoft.com/office/drawing/2014/main" id="{880B5C06-2245-4F3C-A042-AE966E5B2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1880" y="5805264"/>
                  <a:ext cx="1461096" cy="79413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Undertitel 2">
              <a:extLst>
                <a:ext uri="{FF2B5EF4-FFF2-40B4-BE49-F238E27FC236}">
                  <a16:creationId xmlns:a16="http://schemas.microsoft.com/office/drawing/2014/main" id="{EA8CBC2C-1F4C-40D5-8D35-B55EE370E4DC}"/>
                </a:ext>
              </a:extLst>
            </p:cNvPr>
            <p:cNvSpPr txBox="1">
              <a:spLocks/>
            </p:cNvSpPr>
            <p:nvPr/>
          </p:nvSpPr>
          <p:spPr>
            <a:xfrm>
              <a:off x="1187624" y="5950304"/>
              <a:ext cx="1512168" cy="504055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tabLst>
                  <a:tab pos="1617663" algn="l"/>
                </a:tabLst>
              </a:pPr>
              <a:r>
                <a:rPr lang="da-DK" sz="2000" i="1" dirty="0" err="1">
                  <a:solidFill>
                    <a:schemeClr val="tx1"/>
                  </a:solidFill>
                </a:rPr>
                <a:t>v</a:t>
              </a:r>
              <a:r>
                <a:rPr lang="da-DK" sz="2000" i="1" baseline="-25000" dirty="0" err="1">
                  <a:solidFill>
                    <a:schemeClr val="tx1"/>
                  </a:solidFill>
                </a:rPr>
                <a:t>o</a:t>
              </a:r>
              <a:r>
                <a:rPr lang="da-DK" sz="2000" i="1" dirty="0">
                  <a:solidFill>
                    <a:schemeClr val="tx1"/>
                  </a:solidFill>
                </a:rPr>
                <a:t> = </a:t>
              </a:r>
              <a:r>
                <a:rPr lang="da-DK" sz="2000" i="1" dirty="0" err="1">
                  <a:solidFill>
                    <a:schemeClr val="tx1"/>
                  </a:solidFill>
                </a:rPr>
                <a:t>A</a:t>
              </a:r>
              <a:r>
                <a:rPr lang="da-DK" sz="2000" i="1" baseline="-25000" dirty="0" err="1">
                  <a:solidFill>
                    <a:schemeClr val="tx1"/>
                  </a:solidFill>
                </a:rPr>
                <a:t>OL</a:t>
              </a:r>
              <a:r>
                <a:rPr lang="da-DK" sz="2000" i="1" dirty="0" err="1">
                  <a:solidFill>
                    <a:schemeClr val="tx1"/>
                  </a:solidFill>
                </a:rPr>
                <a:t>∙v</a:t>
              </a:r>
              <a:r>
                <a:rPr lang="da-DK" sz="2000" i="1" baseline="-25000" dirty="0" err="1">
                  <a:solidFill>
                    <a:schemeClr val="tx1"/>
                  </a:solidFill>
                </a:rPr>
                <a:t>id</a:t>
              </a:r>
              <a:endParaRPr lang="da-DK" sz="2000" i="1" baseline="-25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Undertitel 2">
                  <a:extLst>
                    <a:ext uri="{FF2B5EF4-FFF2-40B4-BE49-F238E27FC236}">
                      <a16:creationId xmlns:a16="http://schemas.microsoft.com/office/drawing/2014/main" id="{2ACB6AD3-9B35-41F0-B86A-D7FE7BEA6C5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71801" y="5969495"/>
                  <a:ext cx="504056" cy="465673"/>
                </a:xfrm>
                <a:prstGeom prst="rect">
                  <a:avLst/>
                </a:prstGeom>
              </p:spPr>
              <p:txBody>
                <a:bodyPr anchor="ctr" anchorCtr="0">
                  <a:normAutofit/>
                </a:bodyPr>
                <a:lstStyle>
                  <a:lvl1pPr marL="342900" indent="-3429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  <a:tabLst>
                      <a:tab pos="1617663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da-DK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Undertitel 2">
                  <a:extLst>
                    <a:ext uri="{FF2B5EF4-FFF2-40B4-BE49-F238E27FC236}">
                      <a16:creationId xmlns:a16="http://schemas.microsoft.com/office/drawing/2014/main" id="{2ACB6AD3-9B35-41F0-B86A-D7FE7BEA6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1801" y="5969495"/>
                  <a:ext cx="504056" cy="4656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uppe 9">
            <a:extLst>
              <a:ext uri="{FF2B5EF4-FFF2-40B4-BE49-F238E27FC236}">
                <a16:creationId xmlns:a16="http://schemas.microsoft.com/office/drawing/2014/main" id="{95454485-942F-1924-4076-B838C5F2E4A6}"/>
              </a:ext>
            </a:extLst>
          </p:cNvPr>
          <p:cNvGrpSpPr/>
          <p:nvPr/>
        </p:nvGrpSpPr>
        <p:grpSpPr>
          <a:xfrm>
            <a:off x="2054638" y="1515979"/>
            <a:ext cx="5122199" cy="3682976"/>
            <a:chOff x="2054638" y="1515979"/>
            <a:chExt cx="5122199" cy="3682976"/>
          </a:xfrm>
        </p:grpSpPr>
        <p:sp>
          <p:nvSpPr>
            <p:cNvPr id="8" name="Kombinationstegning: figur 7">
              <a:extLst>
                <a:ext uri="{FF2B5EF4-FFF2-40B4-BE49-F238E27FC236}">
                  <a16:creationId xmlns:a16="http://schemas.microsoft.com/office/drawing/2014/main" id="{73AAF430-B4C4-D80F-49BE-19EE41B0F5A6}"/>
                </a:ext>
              </a:extLst>
            </p:cNvPr>
            <p:cNvSpPr/>
            <p:nvPr/>
          </p:nvSpPr>
          <p:spPr>
            <a:xfrm>
              <a:off x="4602079" y="1515979"/>
              <a:ext cx="2574758" cy="1888958"/>
            </a:xfrm>
            <a:custGeom>
              <a:avLst/>
              <a:gdLst>
                <a:gd name="connsiteX0" fmla="*/ 2574758 w 2574758"/>
                <a:gd name="connsiteY0" fmla="*/ 0 h 1888958"/>
                <a:gd name="connsiteX1" fmla="*/ 691816 w 2574758"/>
                <a:gd name="connsiteY1" fmla="*/ 541421 h 1888958"/>
                <a:gd name="connsiteX2" fmla="*/ 0 w 2574758"/>
                <a:gd name="connsiteY2" fmla="*/ 1888958 h 1888958"/>
                <a:gd name="connsiteX3" fmla="*/ 0 w 2574758"/>
                <a:gd name="connsiteY3" fmla="*/ 1888958 h 188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4758" h="1888958">
                  <a:moveTo>
                    <a:pt x="2574758" y="0"/>
                  </a:moveTo>
                  <a:cubicBezTo>
                    <a:pt x="1847850" y="113297"/>
                    <a:pt x="1120942" y="226595"/>
                    <a:pt x="691816" y="541421"/>
                  </a:cubicBezTo>
                  <a:cubicBezTo>
                    <a:pt x="262690" y="856247"/>
                    <a:pt x="0" y="1888958"/>
                    <a:pt x="0" y="1888958"/>
                  </a:cubicBezTo>
                  <a:lnTo>
                    <a:pt x="0" y="1888958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Kombinationstegning: figur 8">
              <a:extLst>
                <a:ext uri="{FF2B5EF4-FFF2-40B4-BE49-F238E27FC236}">
                  <a16:creationId xmlns:a16="http://schemas.microsoft.com/office/drawing/2014/main" id="{BD119C75-3853-365E-B035-A034ECCA8C4F}"/>
                </a:ext>
              </a:extLst>
            </p:cNvPr>
            <p:cNvSpPr/>
            <p:nvPr/>
          </p:nvSpPr>
          <p:spPr>
            <a:xfrm flipH="1" flipV="1">
              <a:off x="2054638" y="3309997"/>
              <a:ext cx="2574758" cy="1888958"/>
            </a:xfrm>
            <a:custGeom>
              <a:avLst/>
              <a:gdLst>
                <a:gd name="connsiteX0" fmla="*/ 2574758 w 2574758"/>
                <a:gd name="connsiteY0" fmla="*/ 0 h 1888958"/>
                <a:gd name="connsiteX1" fmla="*/ 691816 w 2574758"/>
                <a:gd name="connsiteY1" fmla="*/ 541421 h 1888958"/>
                <a:gd name="connsiteX2" fmla="*/ 0 w 2574758"/>
                <a:gd name="connsiteY2" fmla="*/ 1888958 h 1888958"/>
                <a:gd name="connsiteX3" fmla="*/ 0 w 2574758"/>
                <a:gd name="connsiteY3" fmla="*/ 1888958 h 188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4758" h="1888958">
                  <a:moveTo>
                    <a:pt x="2574758" y="0"/>
                  </a:moveTo>
                  <a:cubicBezTo>
                    <a:pt x="1847850" y="113297"/>
                    <a:pt x="1120942" y="226595"/>
                    <a:pt x="691816" y="541421"/>
                  </a:cubicBezTo>
                  <a:cubicBezTo>
                    <a:pt x="262690" y="856247"/>
                    <a:pt x="0" y="1888958"/>
                    <a:pt x="0" y="1888958"/>
                  </a:cubicBezTo>
                  <a:lnTo>
                    <a:pt x="0" y="1888958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1" name="Undertitel 2">
            <a:extLst>
              <a:ext uri="{FF2B5EF4-FFF2-40B4-BE49-F238E27FC236}">
                <a16:creationId xmlns:a16="http://schemas.microsoft.com/office/drawing/2014/main" id="{178B4C96-CC40-FE4A-A939-4A7F5446ABA1}"/>
              </a:ext>
            </a:extLst>
          </p:cNvPr>
          <p:cNvSpPr txBox="1">
            <a:spLocks/>
          </p:cNvSpPr>
          <p:nvPr/>
        </p:nvSpPr>
        <p:spPr>
          <a:xfrm>
            <a:off x="5428173" y="1919562"/>
            <a:ext cx="1008107" cy="4021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2000" i="1" dirty="0">
                <a:solidFill>
                  <a:srgbClr val="C00000"/>
                </a:solidFill>
              </a:rPr>
              <a:t>Praksis</a:t>
            </a:r>
            <a:endParaRPr lang="da-DK" sz="2000" i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91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28800"/>
            <a:ext cx="8313861" cy="3672408"/>
          </a:xfrm>
          <a:prstGeom prst="rect">
            <a:avLst/>
          </a:prstGeom>
        </p:spPr>
      </p:pic>
      <p:sp>
        <p:nvSpPr>
          <p:cNvPr id="3" name="Undertitel 2"/>
          <p:cNvSpPr txBox="1">
            <a:spLocks/>
          </p:cNvSpPr>
          <p:nvPr/>
        </p:nvSpPr>
        <p:spPr>
          <a:xfrm>
            <a:off x="251520" y="6395158"/>
            <a:ext cx="3639500" cy="31297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1617663" algn="l"/>
              </a:tabLst>
            </a:pPr>
            <a:r>
              <a:rPr lang="da-DK" sz="1600" i="1" dirty="0">
                <a:solidFill>
                  <a:schemeClr val="tx1"/>
                </a:solidFill>
              </a:rPr>
              <a:t>Note: Forstærker med negativ feedback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107504" y="116632"/>
            <a:ext cx="367240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Modkoblet forstærker</a:t>
            </a:r>
          </a:p>
        </p:txBody>
      </p:sp>
    </p:spTree>
    <p:extLst>
      <p:ext uri="{BB962C8B-B14F-4D97-AF65-F5344CB8AC3E}">
        <p14:creationId xmlns:p14="http://schemas.microsoft.com/office/powerpoint/2010/main" val="189147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dertitel 2"/>
          <p:cNvSpPr txBox="1">
            <a:spLocks/>
          </p:cNvSpPr>
          <p:nvPr/>
        </p:nvSpPr>
        <p:spPr>
          <a:xfrm>
            <a:off x="2411760" y="5949280"/>
            <a:ext cx="1512168" cy="6480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el-GR" sz="2400" i="1" dirty="0"/>
              <a:t>α</a:t>
            </a:r>
            <a:r>
              <a:rPr lang="da-DK" sz="2400" i="1" dirty="0"/>
              <a:t> = ?</a:t>
            </a:r>
          </a:p>
        </p:txBody>
      </p:sp>
      <p:sp>
        <p:nvSpPr>
          <p:cNvPr id="7" name="Undertitel 2"/>
          <p:cNvSpPr txBox="1">
            <a:spLocks/>
          </p:cNvSpPr>
          <p:nvPr/>
        </p:nvSpPr>
        <p:spPr>
          <a:xfrm>
            <a:off x="4283968" y="5949280"/>
            <a:ext cx="1512168" cy="6480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>
                <a:latin typeface="Arial" panose="020B0604020202020204" pitchFamily="34" charset="0"/>
                <a:cs typeface="Arial" panose="020B0604020202020204" pitchFamily="34" charset="0"/>
              </a:rPr>
              <a:t> = ?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107504" y="116632"/>
            <a:ext cx="388843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Inverterende forstærker</a:t>
            </a:r>
          </a:p>
        </p:txBody>
      </p:sp>
      <p:grpSp>
        <p:nvGrpSpPr>
          <p:cNvPr id="10" name="Gruppe 9">
            <a:extLst>
              <a:ext uri="{FF2B5EF4-FFF2-40B4-BE49-F238E27FC236}">
                <a16:creationId xmlns:a16="http://schemas.microsoft.com/office/drawing/2014/main" id="{4A923045-D589-6DAD-EC2F-CD3C8EB0E258}"/>
              </a:ext>
            </a:extLst>
          </p:cNvPr>
          <p:cNvGrpSpPr/>
          <p:nvPr/>
        </p:nvGrpSpPr>
        <p:grpSpPr>
          <a:xfrm>
            <a:off x="1331640" y="1639361"/>
            <a:ext cx="5760640" cy="3291246"/>
            <a:chOff x="1331640" y="1639361"/>
            <a:chExt cx="5760640" cy="3291246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1640" y="1639361"/>
              <a:ext cx="5760640" cy="3291246"/>
            </a:xfrm>
            <a:prstGeom prst="rect">
              <a:avLst/>
            </a:prstGeom>
          </p:spPr>
        </p:pic>
        <p:sp>
          <p:nvSpPr>
            <p:cNvPr id="3" name="Text Box 25">
              <a:extLst>
                <a:ext uri="{FF2B5EF4-FFF2-40B4-BE49-F238E27FC236}">
                  <a16:creationId xmlns:a16="http://schemas.microsoft.com/office/drawing/2014/main" id="{8BC91415-06BE-3C51-D8D5-17A59EFB3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928" y="2838650"/>
              <a:ext cx="432048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6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Lige pilforbindelse 4">
              <a:extLst>
                <a:ext uri="{FF2B5EF4-FFF2-40B4-BE49-F238E27FC236}">
                  <a16:creationId xmlns:a16="http://schemas.microsoft.com/office/drawing/2014/main" id="{244DC743-E94C-FBC9-C2D0-F18C6D6267D6}"/>
                </a:ext>
              </a:extLst>
            </p:cNvPr>
            <p:cNvCxnSpPr>
              <a:cxnSpLocks/>
            </p:cNvCxnSpPr>
            <p:nvPr/>
          </p:nvCxnSpPr>
          <p:spPr>
            <a:xfrm>
              <a:off x="4283968" y="2934468"/>
              <a:ext cx="0" cy="3175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350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/>
        </p:nvSpPr>
        <p:spPr>
          <a:xfrm>
            <a:off x="107504" y="116632"/>
            <a:ext cx="482453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Ikke-inverterende forstærker</a:t>
            </a:r>
          </a:p>
        </p:txBody>
      </p:sp>
      <p:sp>
        <p:nvSpPr>
          <p:cNvPr id="12" name="Undertitel 2">
            <a:extLst>
              <a:ext uri="{FF2B5EF4-FFF2-40B4-BE49-F238E27FC236}">
                <a16:creationId xmlns:a16="http://schemas.microsoft.com/office/drawing/2014/main" id="{5B2273B6-2D5F-450E-A760-115E694564F5}"/>
              </a:ext>
            </a:extLst>
          </p:cNvPr>
          <p:cNvSpPr txBox="1">
            <a:spLocks/>
          </p:cNvSpPr>
          <p:nvPr/>
        </p:nvSpPr>
        <p:spPr>
          <a:xfrm>
            <a:off x="2411760" y="5949280"/>
            <a:ext cx="1512168" cy="6480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el-GR" sz="2400" i="1" dirty="0"/>
              <a:t>α</a:t>
            </a:r>
            <a:r>
              <a:rPr lang="da-DK" sz="2400" i="1" dirty="0"/>
              <a:t> = ?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2C3F6B71-91FC-45B5-BE4A-0EA7D8E08C4A}"/>
              </a:ext>
            </a:extLst>
          </p:cNvPr>
          <p:cNvSpPr txBox="1">
            <a:spLocks/>
          </p:cNvSpPr>
          <p:nvPr/>
        </p:nvSpPr>
        <p:spPr>
          <a:xfrm>
            <a:off x="4283968" y="5949280"/>
            <a:ext cx="1512168" cy="6480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617663" algn="l"/>
              </a:tabLst>
            </a:pP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>
                <a:latin typeface="Arial" panose="020B0604020202020204" pitchFamily="34" charset="0"/>
                <a:cs typeface="Arial" panose="020B0604020202020204" pitchFamily="34" charset="0"/>
              </a:rPr>
              <a:t> = ?</a:t>
            </a:r>
          </a:p>
        </p:txBody>
      </p: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6DDCA5C5-6825-38DB-9A39-0139A6284EEC}"/>
              </a:ext>
            </a:extLst>
          </p:cNvPr>
          <p:cNvGrpSpPr/>
          <p:nvPr/>
        </p:nvGrpSpPr>
        <p:grpSpPr>
          <a:xfrm>
            <a:off x="1277220" y="1645613"/>
            <a:ext cx="6342932" cy="3326868"/>
            <a:chOff x="1277220" y="1645613"/>
            <a:chExt cx="6342932" cy="3326868"/>
          </a:xfrm>
        </p:grpSpPr>
        <p:pic>
          <p:nvPicPr>
            <p:cNvPr id="10" name="Billede 9" descr="Et billede, der indeholder tekst, ur&#10;&#10;Automatisk genereret beskrivelse">
              <a:extLst>
                <a:ext uri="{FF2B5EF4-FFF2-40B4-BE49-F238E27FC236}">
                  <a16:creationId xmlns:a16="http://schemas.microsoft.com/office/drawing/2014/main" id="{B23E3F1E-EF38-3ACE-B46E-77A16AB4B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7220" y="1645613"/>
              <a:ext cx="6342932" cy="3326868"/>
            </a:xfrm>
            <a:prstGeom prst="rect">
              <a:avLst/>
            </a:prstGeom>
          </p:spPr>
        </p:pic>
        <p:cxnSp>
          <p:nvCxnSpPr>
            <p:cNvPr id="7" name="Lige pilforbindelse 6"/>
            <p:cNvCxnSpPr>
              <a:cxnSpLocks/>
            </p:cNvCxnSpPr>
            <p:nvPr/>
          </p:nvCxnSpPr>
          <p:spPr>
            <a:xfrm>
              <a:off x="4355976" y="3039064"/>
              <a:ext cx="0" cy="3175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 Box 25"/>
            <p:cNvSpPr txBox="1">
              <a:spLocks noChangeArrowheads="1"/>
            </p:cNvSpPr>
            <p:nvPr/>
          </p:nvSpPr>
          <p:spPr bwMode="auto">
            <a:xfrm>
              <a:off x="4016912" y="2924944"/>
              <a:ext cx="411072" cy="444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6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05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/>
        </p:nvSpPr>
        <p:spPr>
          <a:xfrm>
            <a:off x="107504" y="98526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3 fra forberedelsen:</a:t>
            </a:r>
          </a:p>
        </p:txBody>
      </p:sp>
      <p:sp>
        <p:nvSpPr>
          <p:cNvPr id="3" name="Rektangel 2"/>
          <p:cNvSpPr/>
          <p:nvPr/>
        </p:nvSpPr>
        <p:spPr>
          <a:xfrm>
            <a:off x="467544" y="694437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tabLst>
                <a:tab pos="540385" algn="l"/>
              </a:tabLst>
            </a:pPr>
            <a:r>
              <a:rPr lang="da-DK" dirty="0">
                <a:ea typeface="Times New Roman" panose="02020603050405020304" pitchFamily="18" charset="0"/>
              </a:rPr>
              <a:t>En inverterende forstærker som på figur 2.5 er bygget med R</a:t>
            </a:r>
            <a:r>
              <a:rPr lang="da-DK" baseline="-25000" dirty="0">
                <a:ea typeface="Times New Roman" panose="02020603050405020304" pitchFamily="18" charset="0"/>
              </a:rPr>
              <a:t>1</a:t>
            </a:r>
            <a:r>
              <a:rPr lang="da-DK" dirty="0">
                <a:ea typeface="Times New Roman" panose="02020603050405020304" pitchFamily="18" charset="0"/>
              </a:rPr>
              <a:t> = 10 kΩ og R</a:t>
            </a:r>
            <a:r>
              <a:rPr lang="da-DK" baseline="-25000" dirty="0">
                <a:ea typeface="Times New Roman" panose="02020603050405020304" pitchFamily="18" charset="0"/>
              </a:rPr>
              <a:t>2</a:t>
            </a:r>
            <a:r>
              <a:rPr lang="da-DK" dirty="0">
                <a:ea typeface="Times New Roman" panose="02020603050405020304" pitchFamily="18" charset="0"/>
              </a:rPr>
              <a:t> = 100 kΩ.</a:t>
            </a:r>
            <a:endParaRPr lang="da-DK" sz="2000" dirty="0">
              <a:ea typeface="Times New Roman" panose="02020603050405020304" pitchFamily="18" charset="0"/>
            </a:endParaRPr>
          </a:p>
          <a:p>
            <a:r>
              <a:rPr lang="da-DK" dirty="0">
                <a:ea typeface="Times New Roman" panose="02020603050405020304" pitchFamily="18" charset="0"/>
              </a:rPr>
              <a:t>A</a:t>
            </a:r>
            <a:r>
              <a:rPr lang="da-DK" baseline="-25000" dirty="0">
                <a:ea typeface="Times New Roman" panose="02020603050405020304" pitchFamily="18" charset="0"/>
              </a:rPr>
              <a:t>OL</a:t>
            </a:r>
            <a:r>
              <a:rPr lang="da-DK" dirty="0">
                <a:ea typeface="Times New Roman" panose="02020603050405020304" pitchFamily="18" charset="0"/>
              </a:rPr>
              <a:t> er 10</a:t>
            </a:r>
            <a:r>
              <a:rPr lang="da-DK" baseline="30000" dirty="0">
                <a:ea typeface="Times New Roman" panose="02020603050405020304" pitchFamily="18" charset="0"/>
              </a:rPr>
              <a:t>6</a:t>
            </a:r>
            <a:r>
              <a:rPr lang="da-DK" dirty="0">
                <a:ea typeface="Times New Roman" panose="02020603050405020304" pitchFamily="18" charset="0"/>
              </a:rPr>
              <a:t>. Hvor stor er afvigelsen fra den ideelle forstærkning?</a:t>
            </a:r>
            <a:endParaRPr lang="da-DK" dirty="0"/>
          </a:p>
        </p:txBody>
      </p:sp>
      <p:grpSp>
        <p:nvGrpSpPr>
          <p:cNvPr id="12" name="Gruppe 11">
            <a:extLst>
              <a:ext uri="{FF2B5EF4-FFF2-40B4-BE49-F238E27FC236}">
                <a16:creationId xmlns:a16="http://schemas.microsoft.com/office/drawing/2014/main" id="{CE8E4007-0770-E3EC-8421-D69626B25051}"/>
              </a:ext>
            </a:extLst>
          </p:cNvPr>
          <p:cNvGrpSpPr/>
          <p:nvPr/>
        </p:nvGrpSpPr>
        <p:grpSpPr>
          <a:xfrm>
            <a:off x="1547788" y="2009962"/>
            <a:ext cx="5760640" cy="3291246"/>
            <a:chOff x="1547788" y="1916832"/>
            <a:chExt cx="5760640" cy="3291246"/>
          </a:xfrm>
        </p:grpSpPr>
        <p:grpSp>
          <p:nvGrpSpPr>
            <p:cNvPr id="2" name="Gruppe 1">
              <a:extLst>
                <a:ext uri="{FF2B5EF4-FFF2-40B4-BE49-F238E27FC236}">
                  <a16:creationId xmlns:a16="http://schemas.microsoft.com/office/drawing/2014/main" id="{64AAEAA1-8CC6-AFD9-CB2D-4C2C9419910F}"/>
                </a:ext>
              </a:extLst>
            </p:cNvPr>
            <p:cNvGrpSpPr/>
            <p:nvPr/>
          </p:nvGrpSpPr>
          <p:grpSpPr>
            <a:xfrm>
              <a:off x="1547788" y="1916832"/>
              <a:ext cx="5760640" cy="3291246"/>
              <a:chOff x="1331640" y="1639361"/>
              <a:chExt cx="5760640" cy="3291246"/>
            </a:xfrm>
          </p:grpSpPr>
          <p:pic>
            <p:nvPicPr>
              <p:cNvPr id="4" name="Billede 3">
                <a:extLst>
                  <a:ext uri="{FF2B5EF4-FFF2-40B4-BE49-F238E27FC236}">
                    <a16:creationId xmlns:a16="http://schemas.microsoft.com/office/drawing/2014/main" id="{2430AD9F-4A6C-C53B-1361-282524CFA6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31640" y="1639361"/>
                <a:ext cx="5760640" cy="3291246"/>
              </a:xfrm>
              <a:prstGeom prst="rect">
                <a:avLst/>
              </a:prstGeom>
            </p:spPr>
          </p:pic>
          <p:sp>
            <p:nvSpPr>
              <p:cNvPr id="5" name="Text Box 25">
                <a:extLst>
                  <a:ext uri="{FF2B5EF4-FFF2-40B4-BE49-F238E27FC236}">
                    <a16:creationId xmlns:a16="http://schemas.microsoft.com/office/drawing/2014/main" id="{9A5AD7C7-CA2C-109C-2AB1-5CD956E97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928" y="2838650"/>
                <a:ext cx="43204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da-DK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</a:t>
                </a:r>
                <a:r>
                  <a:rPr lang="da-DK" sz="16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id</a:t>
                </a:r>
                <a:endParaRPr lang="da-DK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28D8130F-E319-6960-F24D-AC4D2037F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3968" y="2934468"/>
                <a:ext cx="0" cy="3175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B64B428F-544B-73C4-06E2-AC62A5728177}"/>
                </a:ext>
              </a:extLst>
            </p:cNvPr>
            <p:cNvSpPr txBox="1">
              <a:spLocks/>
            </p:cNvSpPr>
            <p:nvPr/>
          </p:nvSpPr>
          <p:spPr>
            <a:xfrm>
              <a:off x="2915816" y="3288997"/>
              <a:ext cx="834150" cy="297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600" i="1" dirty="0"/>
                <a:t>10 k</a:t>
              </a:r>
              <a:r>
                <a:rPr lang="el-GR" sz="1600" i="1" dirty="0"/>
                <a:t>Ω</a:t>
              </a:r>
              <a:endParaRPr lang="da-DK" sz="1600" i="1" dirty="0"/>
            </a:p>
          </p:txBody>
        </p:sp>
        <p:sp>
          <p:nvSpPr>
            <p:cNvPr id="11" name="Titel 1">
              <a:extLst>
                <a:ext uri="{FF2B5EF4-FFF2-40B4-BE49-F238E27FC236}">
                  <a16:creationId xmlns:a16="http://schemas.microsoft.com/office/drawing/2014/main" id="{027ED8A5-B1F7-C750-855F-81065279DD1B}"/>
                </a:ext>
              </a:extLst>
            </p:cNvPr>
            <p:cNvSpPr txBox="1">
              <a:spLocks/>
            </p:cNvSpPr>
            <p:nvPr/>
          </p:nvSpPr>
          <p:spPr>
            <a:xfrm>
              <a:off x="4430372" y="2533154"/>
              <a:ext cx="906158" cy="297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600" i="1" dirty="0"/>
                <a:t>100 k</a:t>
              </a:r>
              <a:r>
                <a:rPr lang="el-GR" sz="1600" i="1" dirty="0"/>
                <a:t>Ω</a:t>
              </a:r>
              <a:endParaRPr lang="da-DK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4525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19" name="Gruppe 18">
            <a:extLst>
              <a:ext uri="{FF2B5EF4-FFF2-40B4-BE49-F238E27FC236}">
                <a16:creationId xmlns:a16="http://schemas.microsoft.com/office/drawing/2014/main" id="{67A74D44-0179-016B-6362-F1372718B112}"/>
              </a:ext>
            </a:extLst>
          </p:cNvPr>
          <p:cNvGrpSpPr/>
          <p:nvPr/>
        </p:nvGrpSpPr>
        <p:grpSpPr>
          <a:xfrm>
            <a:off x="669028" y="540262"/>
            <a:ext cx="7805944" cy="4389129"/>
            <a:chOff x="669028" y="1234435"/>
            <a:chExt cx="7805944" cy="4389129"/>
          </a:xfrm>
        </p:grpSpPr>
        <p:pic>
          <p:nvPicPr>
            <p:cNvPr id="9" name="Billede 8">
              <a:extLst>
                <a:ext uri="{FF2B5EF4-FFF2-40B4-BE49-F238E27FC236}">
                  <a16:creationId xmlns:a16="http://schemas.microsoft.com/office/drawing/2014/main" id="{619A78E3-8986-BD66-2429-CEF75236A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028" y="1234435"/>
              <a:ext cx="7805944" cy="4389129"/>
            </a:xfrm>
            <a:prstGeom prst="rect">
              <a:avLst/>
            </a:prstGeom>
          </p:spPr>
        </p:pic>
        <p:sp>
          <p:nvSpPr>
            <p:cNvPr id="3" name="Undertitel 2">
              <a:extLst>
                <a:ext uri="{FF2B5EF4-FFF2-40B4-BE49-F238E27FC236}">
                  <a16:creationId xmlns:a16="http://schemas.microsoft.com/office/drawing/2014/main" id="{340F7AB6-417E-11F2-592D-A6FD8D779725}"/>
                </a:ext>
              </a:extLst>
            </p:cNvPr>
            <p:cNvSpPr txBox="1">
              <a:spLocks/>
            </p:cNvSpPr>
            <p:nvPr/>
          </p:nvSpPr>
          <p:spPr>
            <a:xfrm>
              <a:off x="2240315" y="2420888"/>
              <a:ext cx="531485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/>
                <a:t>R</a:t>
              </a:r>
              <a:r>
                <a:rPr lang="da-DK" sz="1800" i="1" baseline="-25000" dirty="0"/>
                <a:t>1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Lige pilforbindelse 4">
              <a:extLst>
                <a:ext uri="{FF2B5EF4-FFF2-40B4-BE49-F238E27FC236}">
                  <a16:creationId xmlns:a16="http://schemas.microsoft.com/office/drawing/2014/main" id="{053743BE-24A1-89E6-CF1F-FD6A6271DC40}"/>
                </a:ext>
              </a:extLst>
            </p:cNvPr>
            <p:cNvCxnSpPr/>
            <p:nvPr/>
          </p:nvCxnSpPr>
          <p:spPr>
            <a:xfrm flipV="1">
              <a:off x="2759895" y="4139556"/>
              <a:ext cx="0" cy="648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ge pilforbindelse 5">
              <a:extLst>
                <a:ext uri="{FF2B5EF4-FFF2-40B4-BE49-F238E27FC236}">
                  <a16:creationId xmlns:a16="http://schemas.microsoft.com/office/drawing/2014/main" id="{4F641525-7B42-578D-3DFB-88B9E2BFE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9519" y="3645024"/>
              <a:ext cx="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Undertitel 2">
              <a:extLst>
                <a:ext uri="{FF2B5EF4-FFF2-40B4-BE49-F238E27FC236}">
                  <a16:creationId xmlns:a16="http://schemas.microsoft.com/office/drawing/2014/main" id="{F8DC298E-2079-EE7D-18B3-7E1B15429B62}"/>
                </a:ext>
              </a:extLst>
            </p:cNvPr>
            <p:cNvSpPr txBox="1">
              <a:spLocks/>
            </p:cNvSpPr>
            <p:nvPr/>
          </p:nvSpPr>
          <p:spPr>
            <a:xfrm>
              <a:off x="4472563" y="1700808"/>
              <a:ext cx="531485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/>
                <a:t>R</a:t>
              </a:r>
              <a:r>
                <a:rPr lang="da-DK" sz="1800" i="1" baseline="-25000" dirty="0"/>
                <a:t>2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0" name="Undertitel 2">
              <a:extLst>
                <a:ext uri="{FF2B5EF4-FFF2-40B4-BE49-F238E27FC236}">
                  <a16:creationId xmlns:a16="http://schemas.microsoft.com/office/drawing/2014/main" id="{DAE3B6D5-BA08-8A23-15A8-2E0695AF12F1}"/>
                </a:ext>
              </a:extLst>
            </p:cNvPr>
            <p:cNvSpPr txBox="1">
              <a:spLocks/>
            </p:cNvSpPr>
            <p:nvPr/>
          </p:nvSpPr>
          <p:spPr>
            <a:xfrm>
              <a:off x="3813253" y="3265932"/>
              <a:ext cx="531485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1" name="Undertitel 2">
              <a:extLst>
                <a:ext uri="{FF2B5EF4-FFF2-40B4-BE49-F238E27FC236}">
                  <a16:creationId xmlns:a16="http://schemas.microsoft.com/office/drawing/2014/main" id="{36EAB521-B9EC-A09D-A614-0D5BAF6BF8C3}"/>
                </a:ext>
              </a:extLst>
            </p:cNvPr>
            <p:cNvSpPr txBox="1">
              <a:spLocks/>
            </p:cNvSpPr>
            <p:nvPr/>
          </p:nvSpPr>
          <p:spPr>
            <a:xfrm>
              <a:off x="4764209" y="3068960"/>
              <a:ext cx="531485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Lige pilforbindelse 11">
              <a:extLst>
                <a:ext uri="{FF2B5EF4-FFF2-40B4-BE49-F238E27FC236}">
                  <a16:creationId xmlns:a16="http://schemas.microsoft.com/office/drawing/2014/main" id="{6AA7F0CC-E61D-0CF5-D1BC-25250EDA82FC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56" y="3128779"/>
              <a:ext cx="0" cy="7200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pilforbindelse 13">
              <a:extLst>
                <a:ext uri="{FF2B5EF4-FFF2-40B4-BE49-F238E27FC236}">
                  <a16:creationId xmlns:a16="http://schemas.microsoft.com/office/drawing/2014/main" id="{9B11DD7A-89B6-0451-0865-4633185F755F}"/>
                </a:ext>
              </a:extLst>
            </p:cNvPr>
            <p:cNvCxnSpPr/>
            <p:nvPr/>
          </p:nvCxnSpPr>
          <p:spPr>
            <a:xfrm flipV="1">
              <a:off x="5014143" y="4052694"/>
              <a:ext cx="0" cy="4869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Undertitel 2">
              <a:extLst>
                <a:ext uri="{FF2B5EF4-FFF2-40B4-BE49-F238E27FC236}">
                  <a16:creationId xmlns:a16="http://schemas.microsoft.com/office/drawing/2014/main" id="{C528C659-0E25-9E99-919D-A11830592A61}"/>
                </a:ext>
              </a:extLst>
            </p:cNvPr>
            <p:cNvSpPr txBox="1">
              <a:spLocks/>
            </p:cNvSpPr>
            <p:nvPr/>
          </p:nvSpPr>
          <p:spPr>
            <a:xfrm>
              <a:off x="4960618" y="4106208"/>
              <a:ext cx="792088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 err="1"/>
                <a:t>A</a:t>
              </a:r>
              <a:r>
                <a:rPr lang="da-DK" sz="1800" i="1" baseline="-25000" dirty="0" err="1"/>
                <a:t>OL</a:t>
              </a:r>
              <a:r>
                <a:rPr lang="da-DK" sz="1800" i="1" dirty="0" err="1"/>
                <a:t>∙v</a:t>
              </a:r>
              <a:r>
                <a:rPr lang="da-DK" sz="1800" i="1" baseline="-25000" dirty="0" err="1"/>
                <a:t>id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6" name="Undertitel 2">
              <a:extLst>
                <a:ext uri="{FF2B5EF4-FFF2-40B4-BE49-F238E27FC236}">
                  <a16:creationId xmlns:a16="http://schemas.microsoft.com/office/drawing/2014/main" id="{2CEC5298-3966-F98D-0F15-637578391482}"/>
                </a:ext>
              </a:extLst>
            </p:cNvPr>
            <p:cNvSpPr txBox="1">
              <a:spLocks/>
            </p:cNvSpPr>
            <p:nvPr/>
          </p:nvSpPr>
          <p:spPr>
            <a:xfrm>
              <a:off x="2867623" y="3275458"/>
              <a:ext cx="432048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1617663" algn="l"/>
                </a:tabLst>
              </a:pPr>
              <a:r>
                <a:rPr lang="da-DK" sz="1800" i="1" dirty="0"/>
                <a:t>v</a:t>
              </a:r>
              <a:r>
                <a:rPr lang="da-DK" sz="1800" i="1" baseline="-25000" dirty="0"/>
                <a:t>id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7" name="Undertitel 2">
              <a:extLst>
                <a:ext uri="{FF2B5EF4-FFF2-40B4-BE49-F238E27FC236}">
                  <a16:creationId xmlns:a16="http://schemas.microsoft.com/office/drawing/2014/main" id="{401C03AE-C5C9-0C83-78DD-84D408E7A5D1}"/>
                </a:ext>
              </a:extLst>
            </p:cNvPr>
            <p:cNvSpPr txBox="1">
              <a:spLocks/>
            </p:cNvSpPr>
            <p:nvPr/>
          </p:nvSpPr>
          <p:spPr>
            <a:xfrm>
              <a:off x="2309856" y="4268501"/>
              <a:ext cx="432048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1617663" algn="l"/>
                </a:tabLst>
              </a:pPr>
              <a:r>
                <a:rPr lang="da-DK" sz="1800" i="1" dirty="0"/>
                <a:t>v</a:t>
              </a:r>
              <a:r>
                <a:rPr lang="da-DK" sz="1800" i="1" baseline="-25000" dirty="0"/>
                <a:t>in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8" name="Undertitel 2">
              <a:extLst>
                <a:ext uri="{FF2B5EF4-FFF2-40B4-BE49-F238E27FC236}">
                  <a16:creationId xmlns:a16="http://schemas.microsoft.com/office/drawing/2014/main" id="{923B1FA6-10C0-1B23-876B-CF3AC55C5208}"/>
                </a:ext>
              </a:extLst>
            </p:cNvPr>
            <p:cNvSpPr txBox="1">
              <a:spLocks/>
            </p:cNvSpPr>
            <p:nvPr/>
          </p:nvSpPr>
          <p:spPr>
            <a:xfrm>
              <a:off x="6552312" y="3977726"/>
              <a:ext cx="444779" cy="41471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800" i="1" dirty="0" err="1"/>
                <a:t>v</a:t>
              </a:r>
              <a:r>
                <a:rPr lang="da-DK" sz="1800" i="1" baseline="-25000" dirty="0" err="1"/>
                <a:t>o</a:t>
              </a:r>
              <a:endParaRPr lang="da-DK" sz="1800" b="1" i="1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312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4607F2BB-AA90-6068-A912-14E132813613}"/>
              </a:ext>
            </a:extLst>
          </p:cNvPr>
          <p:cNvGrpSpPr/>
          <p:nvPr/>
        </p:nvGrpSpPr>
        <p:grpSpPr>
          <a:xfrm>
            <a:off x="669028" y="540262"/>
            <a:ext cx="7805944" cy="4535495"/>
            <a:chOff x="669028" y="1234435"/>
            <a:chExt cx="7805944" cy="4535495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67A74D44-0179-016B-6362-F1372718B112}"/>
                </a:ext>
              </a:extLst>
            </p:cNvPr>
            <p:cNvGrpSpPr/>
            <p:nvPr/>
          </p:nvGrpSpPr>
          <p:grpSpPr>
            <a:xfrm>
              <a:off x="669028" y="1234435"/>
              <a:ext cx="7805944" cy="4389129"/>
              <a:chOff x="669028" y="1234435"/>
              <a:chExt cx="7805944" cy="4389129"/>
            </a:xfrm>
          </p:grpSpPr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619A78E3-8986-BD66-2429-CEF75236A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28" y="1234435"/>
                <a:ext cx="7805944" cy="4389129"/>
              </a:xfrm>
              <a:prstGeom prst="rect">
                <a:avLst/>
              </a:prstGeom>
            </p:spPr>
          </p:pic>
          <p:sp>
            <p:nvSpPr>
              <p:cNvPr id="3" name="Undertitel 2">
                <a:extLst>
                  <a:ext uri="{FF2B5EF4-FFF2-40B4-BE49-F238E27FC236}">
                    <a16:creationId xmlns:a16="http://schemas.microsoft.com/office/drawing/2014/main" id="{340F7AB6-417E-11F2-592D-A6FD8D7797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0315" y="242088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1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053743BE-24A1-89E6-CF1F-FD6A6271DC40}"/>
                  </a:ext>
                </a:extLst>
              </p:cNvPr>
              <p:cNvCxnSpPr/>
              <p:nvPr/>
            </p:nvCxnSpPr>
            <p:spPr>
              <a:xfrm flipV="1">
                <a:off x="2759895" y="4139556"/>
                <a:ext cx="0" cy="6480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4F641525-7B42-578D-3DFB-88B9E2BFEE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519" y="3645024"/>
                <a:ext cx="0" cy="10801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Undertitel 2">
                <a:extLst>
                  <a:ext uri="{FF2B5EF4-FFF2-40B4-BE49-F238E27FC236}">
                    <a16:creationId xmlns:a16="http://schemas.microsoft.com/office/drawing/2014/main" id="{F8DC298E-2079-EE7D-18B3-7E1B15429B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2563" y="170080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2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Undertitel 2">
                <a:extLst>
                  <a:ext uri="{FF2B5EF4-FFF2-40B4-BE49-F238E27FC236}">
                    <a16:creationId xmlns:a16="http://schemas.microsoft.com/office/drawing/2014/main" id="{DAE3B6D5-BA08-8A23-15A8-2E0695AF1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3253" y="3265932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36EAB521-B9EC-A09D-A614-0D5BAF6BF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4209" y="3068960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Lige pilforbindelse 11">
                <a:extLst>
                  <a:ext uri="{FF2B5EF4-FFF2-40B4-BE49-F238E27FC236}">
                    <a16:creationId xmlns:a16="http://schemas.microsoft.com/office/drawing/2014/main" id="{6AA7F0CC-E61D-0CF5-D1BC-25250EDA8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5856" y="3128779"/>
                <a:ext cx="0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Lige pilforbindelse 13">
                <a:extLst>
                  <a:ext uri="{FF2B5EF4-FFF2-40B4-BE49-F238E27FC236}">
                    <a16:creationId xmlns:a16="http://schemas.microsoft.com/office/drawing/2014/main" id="{9B11DD7A-89B6-0451-0865-4633185F755F}"/>
                  </a:ext>
                </a:extLst>
              </p:cNvPr>
              <p:cNvCxnSpPr/>
              <p:nvPr/>
            </p:nvCxnSpPr>
            <p:spPr>
              <a:xfrm flipV="1">
                <a:off x="5014143" y="4052694"/>
                <a:ext cx="0" cy="4869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Undertitel 2">
                <a:extLst>
                  <a:ext uri="{FF2B5EF4-FFF2-40B4-BE49-F238E27FC236}">
                    <a16:creationId xmlns:a16="http://schemas.microsoft.com/office/drawing/2014/main" id="{C528C659-0E25-9E99-919D-A11830592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0618" y="4106208"/>
                <a:ext cx="79208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A</a:t>
                </a:r>
                <a:r>
                  <a:rPr lang="da-DK" sz="1800" i="1" baseline="-25000" dirty="0" err="1"/>
                  <a:t>OL</a:t>
                </a:r>
                <a:r>
                  <a:rPr lang="da-DK" sz="1800" i="1" dirty="0" err="1"/>
                  <a:t>∙v</a:t>
                </a:r>
                <a:r>
                  <a:rPr lang="da-DK" sz="1800" i="1" baseline="-25000" dirty="0" err="1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2CEC5298-3966-F98D-0F15-6375783914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623" y="3275458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401C03AE-C5C9-0C83-78DD-84D408E7A5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9856" y="4268501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Undertitel 2">
                <a:extLst>
                  <a:ext uri="{FF2B5EF4-FFF2-40B4-BE49-F238E27FC236}">
                    <a16:creationId xmlns:a16="http://schemas.microsoft.com/office/drawing/2014/main" id="{923B1FA6-10C0-1B23-876B-CF3AC55C52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312" y="3977726"/>
                <a:ext cx="444779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v</a:t>
                </a:r>
                <a:r>
                  <a:rPr lang="da-DK" sz="1800" i="1" baseline="-25000" dirty="0" err="1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F2C0EAC5-3873-3133-A5EE-742B1834B967}"/>
                </a:ext>
              </a:extLst>
            </p:cNvPr>
            <p:cNvGrpSpPr/>
            <p:nvPr/>
          </p:nvGrpSpPr>
          <p:grpSpPr>
            <a:xfrm>
              <a:off x="1495760" y="4637056"/>
              <a:ext cx="1412168" cy="1132874"/>
              <a:chOff x="1495760" y="4637056"/>
              <a:chExt cx="1412168" cy="1132874"/>
            </a:xfrm>
          </p:grpSpPr>
          <p:cxnSp>
            <p:nvCxnSpPr>
              <p:cNvPr id="35" name="Vinklet forbindelse 17">
                <a:extLst>
                  <a:ext uri="{FF2B5EF4-FFF2-40B4-BE49-F238E27FC236}">
                    <a16:creationId xmlns:a16="http://schemas.microsoft.com/office/drawing/2014/main" id="{12963AB9-A525-65C2-20A6-70ADDB636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1784" y="4637056"/>
                <a:ext cx="1196144" cy="764319"/>
              </a:xfrm>
              <a:prstGeom prst="bentConnector3">
                <a:avLst>
                  <a:gd name="adj1" fmla="val -293"/>
                </a:avLst>
              </a:prstGeom>
              <a:ln w="12700">
                <a:solidFill>
                  <a:srgbClr val="FF0000"/>
                </a:solidFill>
                <a:prstDash val="lgDash"/>
                <a:headEnd type="none" w="med" len="med"/>
                <a:tailEnd type="triangle" w="med" len="med"/>
              </a:ln>
              <a:effectLst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Undertitel 2">
                <a:extLst>
                  <a:ext uri="{FF2B5EF4-FFF2-40B4-BE49-F238E27FC236}">
                    <a16:creationId xmlns:a16="http://schemas.microsoft.com/office/drawing/2014/main" id="{3F448FA3-B90C-730B-99D2-3759FC92A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760" y="5355215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>
                    <a:solidFill>
                      <a:srgbClr val="FF0000"/>
                    </a:solidFill>
                  </a:rPr>
                  <a:t>Z</a:t>
                </a:r>
                <a:r>
                  <a:rPr lang="da-DK" sz="1800" i="1" baseline="-25000" dirty="0">
                    <a:solidFill>
                      <a:srgbClr val="FF0000"/>
                    </a:solidFill>
                  </a:rPr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30" name="Vinklet forbindelse 17">
              <a:extLst>
                <a:ext uri="{FF2B5EF4-FFF2-40B4-BE49-F238E27FC236}">
                  <a16:creationId xmlns:a16="http://schemas.microsoft.com/office/drawing/2014/main" id="{E512188F-AF61-3114-7FE3-11993A3848C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4168" y="3083617"/>
              <a:ext cx="1196144" cy="764319"/>
            </a:xfrm>
            <a:prstGeom prst="bentConnector3">
              <a:avLst>
                <a:gd name="adj1" fmla="val -293"/>
              </a:avLst>
            </a:prstGeom>
            <a:ln w="12700">
              <a:solidFill>
                <a:srgbClr val="FF0000"/>
              </a:solidFill>
              <a:prstDash val="lgDash"/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Undertitel 2">
            <a:extLst>
              <a:ext uri="{FF2B5EF4-FFF2-40B4-BE49-F238E27FC236}">
                <a16:creationId xmlns:a16="http://schemas.microsoft.com/office/drawing/2014/main" id="{7D672036-CCC0-343A-D752-30EAE811D11B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C99EF386-3577-1D6F-A2C2-7BAF7F0AE599}"/>
              </a:ext>
            </a:extLst>
          </p:cNvPr>
          <p:cNvGrpSpPr/>
          <p:nvPr/>
        </p:nvGrpSpPr>
        <p:grpSpPr>
          <a:xfrm>
            <a:off x="4864254" y="638584"/>
            <a:ext cx="1699248" cy="884914"/>
            <a:chOff x="3563888" y="1442454"/>
            <a:chExt cx="1699248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itel 1">
                  <a:extLst>
                    <a:ext uri="{FF2B5EF4-FFF2-40B4-BE49-F238E27FC236}">
                      <a16:creationId xmlns:a16="http://schemas.microsoft.com/office/drawing/2014/main" id="{5A0964E5-76AD-7508-3711-788B15302C6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1800" i="1">
                          <a:solidFill>
                            <a:srgbClr val="FF0000"/>
                          </a:solidFill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Titel 1">
                  <a:extLst>
                    <a:ext uri="{FF2B5EF4-FFF2-40B4-BE49-F238E27FC236}">
                      <a16:creationId xmlns:a16="http://schemas.microsoft.com/office/drawing/2014/main" id="{5A0964E5-76AD-7508-3711-788B15302C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  <a:blipFill>
                  <a:blip r:embed="rId3"/>
                  <a:stretch>
                    <a:fillRect l="-6122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itel 1">
                  <a:extLst>
                    <a:ext uri="{FF2B5EF4-FFF2-40B4-BE49-F238E27FC236}">
                      <a16:creationId xmlns:a16="http://schemas.microsoft.com/office/drawing/2014/main" id="{355158AB-EC82-C8AF-D072-872BD35019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Titel 1">
                  <a:extLst>
                    <a:ext uri="{FF2B5EF4-FFF2-40B4-BE49-F238E27FC236}">
                      <a16:creationId xmlns:a16="http://schemas.microsoft.com/office/drawing/2014/main" id="{355158AB-EC82-C8AF-D072-872BD35019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itel 1">
                  <a:extLst>
                    <a:ext uri="{FF2B5EF4-FFF2-40B4-BE49-F238E27FC236}">
                      <a16:creationId xmlns:a16="http://schemas.microsoft.com/office/drawing/2014/main" id="{2F6DDD2C-67FC-A0C0-180A-A12F0EE66DE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20" name="Titel 1">
                  <a:extLst>
                    <a:ext uri="{FF2B5EF4-FFF2-40B4-BE49-F238E27FC236}">
                      <a16:creationId xmlns:a16="http://schemas.microsoft.com/office/drawing/2014/main" id="{2F6DDD2C-67FC-A0C0-180A-A12F0EE66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  <a:blipFill>
                  <a:blip r:embed="rId5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62076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4607F2BB-AA90-6068-A912-14E132813613}"/>
              </a:ext>
            </a:extLst>
          </p:cNvPr>
          <p:cNvGrpSpPr/>
          <p:nvPr/>
        </p:nvGrpSpPr>
        <p:grpSpPr>
          <a:xfrm>
            <a:off x="669028" y="540262"/>
            <a:ext cx="7805944" cy="4535495"/>
            <a:chOff x="669028" y="1234435"/>
            <a:chExt cx="7805944" cy="4535495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67A74D44-0179-016B-6362-F1372718B112}"/>
                </a:ext>
              </a:extLst>
            </p:cNvPr>
            <p:cNvGrpSpPr/>
            <p:nvPr/>
          </p:nvGrpSpPr>
          <p:grpSpPr>
            <a:xfrm>
              <a:off x="669028" y="1234435"/>
              <a:ext cx="7805944" cy="4389129"/>
              <a:chOff x="669028" y="1234435"/>
              <a:chExt cx="7805944" cy="4389129"/>
            </a:xfrm>
          </p:grpSpPr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619A78E3-8986-BD66-2429-CEF75236A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28" y="1234435"/>
                <a:ext cx="7805944" cy="4389129"/>
              </a:xfrm>
              <a:prstGeom prst="rect">
                <a:avLst/>
              </a:prstGeom>
            </p:spPr>
          </p:pic>
          <p:sp>
            <p:nvSpPr>
              <p:cNvPr id="3" name="Undertitel 2">
                <a:extLst>
                  <a:ext uri="{FF2B5EF4-FFF2-40B4-BE49-F238E27FC236}">
                    <a16:creationId xmlns:a16="http://schemas.microsoft.com/office/drawing/2014/main" id="{340F7AB6-417E-11F2-592D-A6FD8D7797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0315" y="242088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1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053743BE-24A1-89E6-CF1F-FD6A6271DC40}"/>
                  </a:ext>
                </a:extLst>
              </p:cNvPr>
              <p:cNvCxnSpPr/>
              <p:nvPr/>
            </p:nvCxnSpPr>
            <p:spPr>
              <a:xfrm flipV="1">
                <a:off x="2759895" y="4139556"/>
                <a:ext cx="0" cy="6480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4F641525-7B42-578D-3DFB-88B9E2BFEE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519" y="3645024"/>
                <a:ext cx="0" cy="10801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Undertitel 2">
                <a:extLst>
                  <a:ext uri="{FF2B5EF4-FFF2-40B4-BE49-F238E27FC236}">
                    <a16:creationId xmlns:a16="http://schemas.microsoft.com/office/drawing/2014/main" id="{F8DC298E-2079-EE7D-18B3-7E1B15429B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2563" y="170080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2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Undertitel 2">
                <a:extLst>
                  <a:ext uri="{FF2B5EF4-FFF2-40B4-BE49-F238E27FC236}">
                    <a16:creationId xmlns:a16="http://schemas.microsoft.com/office/drawing/2014/main" id="{DAE3B6D5-BA08-8A23-15A8-2E0695AF1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3253" y="3265932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36EAB521-B9EC-A09D-A614-0D5BAF6BF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4209" y="3068960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Lige pilforbindelse 11">
                <a:extLst>
                  <a:ext uri="{FF2B5EF4-FFF2-40B4-BE49-F238E27FC236}">
                    <a16:creationId xmlns:a16="http://schemas.microsoft.com/office/drawing/2014/main" id="{6AA7F0CC-E61D-0CF5-D1BC-25250EDA8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5856" y="3128779"/>
                <a:ext cx="0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Lige pilforbindelse 13">
                <a:extLst>
                  <a:ext uri="{FF2B5EF4-FFF2-40B4-BE49-F238E27FC236}">
                    <a16:creationId xmlns:a16="http://schemas.microsoft.com/office/drawing/2014/main" id="{9B11DD7A-89B6-0451-0865-4633185F755F}"/>
                  </a:ext>
                </a:extLst>
              </p:cNvPr>
              <p:cNvCxnSpPr/>
              <p:nvPr/>
            </p:nvCxnSpPr>
            <p:spPr>
              <a:xfrm flipV="1">
                <a:off x="5014143" y="4052694"/>
                <a:ext cx="0" cy="4869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Undertitel 2">
                <a:extLst>
                  <a:ext uri="{FF2B5EF4-FFF2-40B4-BE49-F238E27FC236}">
                    <a16:creationId xmlns:a16="http://schemas.microsoft.com/office/drawing/2014/main" id="{C528C659-0E25-9E99-919D-A11830592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0618" y="4106208"/>
                <a:ext cx="79208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A</a:t>
                </a:r>
                <a:r>
                  <a:rPr lang="da-DK" sz="1800" i="1" baseline="-25000" dirty="0" err="1"/>
                  <a:t>OL</a:t>
                </a:r>
                <a:r>
                  <a:rPr lang="da-DK" sz="1800" i="1" dirty="0" err="1"/>
                  <a:t>∙v</a:t>
                </a:r>
                <a:r>
                  <a:rPr lang="da-DK" sz="1800" i="1" baseline="-25000" dirty="0" err="1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2CEC5298-3966-F98D-0F15-6375783914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623" y="3275458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401C03AE-C5C9-0C83-78DD-84D408E7A5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9856" y="4268501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Undertitel 2">
                <a:extLst>
                  <a:ext uri="{FF2B5EF4-FFF2-40B4-BE49-F238E27FC236}">
                    <a16:creationId xmlns:a16="http://schemas.microsoft.com/office/drawing/2014/main" id="{923B1FA6-10C0-1B23-876B-CF3AC55C52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312" y="3977726"/>
                <a:ext cx="444779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v</a:t>
                </a:r>
                <a:r>
                  <a:rPr lang="da-DK" sz="1800" i="1" baseline="-25000" dirty="0" err="1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F2C0EAC5-3873-3133-A5EE-742B1834B967}"/>
                </a:ext>
              </a:extLst>
            </p:cNvPr>
            <p:cNvGrpSpPr/>
            <p:nvPr/>
          </p:nvGrpSpPr>
          <p:grpSpPr>
            <a:xfrm>
              <a:off x="1495760" y="4637056"/>
              <a:ext cx="1412168" cy="1132874"/>
              <a:chOff x="1495760" y="4637056"/>
              <a:chExt cx="1412168" cy="1132874"/>
            </a:xfrm>
          </p:grpSpPr>
          <p:cxnSp>
            <p:nvCxnSpPr>
              <p:cNvPr id="35" name="Vinklet forbindelse 17">
                <a:extLst>
                  <a:ext uri="{FF2B5EF4-FFF2-40B4-BE49-F238E27FC236}">
                    <a16:creationId xmlns:a16="http://schemas.microsoft.com/office/drawing/2014/main" id="{12963AB9-A525-65C2-20A6-70ADDB636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1784" y="4637056"/>
                <a:ext cx="1196144" cy="764319"/>
              </a:xfrm>
              <a:prstGeom prst="bentConnector3">
                <a:avLst>
                  <a:gd name="adj1" fmla="val -293"/>
                </a:avLst>
              </a:prstGeom>
              <a:ln w="12700">
                <a:solidFill>
                  <a:srgbClr val="FF0000"/>
                </a:solidFill>
                <a:prstDash val="lgDash"/>
                <a:headEnd type="none" w="med" len="med"/>
                <a:tailEnd type="triangle" w="med" len="med"/>
              </a:ln>
              <a:effectLst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Undertitel 2">
                <a:extLst>
                  <a:ext uri="{FF2B5EF4-FFF2-40B4-BE49-F238E27FC236}">
                    <a16:creationId xmlns:a16="http://schemas.microsoft.com/office/drawing/2014/main" id="{3F448FA3-B90C-730B-99D2-3759FC92A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760" y="5355215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>
                    <a:solidFill>
                      <a:srgbClr val="FF0000"/>
                    </a:solidFill>
                  </a:rPr>
                  <a:t>Z</a:t>
                </a:r>
                <a:r>
                  <a:rPr lang="da-DK" sz="1800" i="1" baseline="-25000" dirty="0">
                    <a:solidFill>
                      <a:srgbClr val="FF0000"/>
                    </a:solidFill>
                  </a:rPr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30" name="Vinklet forbindelse 17">
              <a:extLst>
                <a:ext uri="{FF2B5EF4-FFF2-40B4-BE49-F238E27FC236}">
                  <a16:creationId xmlns:a16="http://schemas.microsoft.com/office/drawing/2014/main" id="{E512188F-AF61-3114-7FE3-11993A3848C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4168" y="3083617"/>
              <a:ext cx="1196144" cy="764319"/>
            </a:xfrm>
            <a:prstGeom prst="bentConnector3">
              <a:avLst>
                <a:gd name="adj1" fmla="val -293"/>
              </a:avLst>
            </a:prstGeom>
            <a:ln w="12700">
              <a:solidFill>
                <a:srgbClr val="FF0000"/>
              </a:solidFill>
              <a:prstDash val="lgDash"/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pe 23">
            <a:extLst>
              <a:ext uri="{FF2B5EF4-FFF2-40B4-BE49-F238E27FC236}">
                <a16:creationId xmlns:a16="http://schemas.microsoft.com/office/drawing/2014/main" id="{0E23783C-9CD0-31C3-EF50-8A2325477812}"/>
              </a:ext>
            </a:extLst>
          </p:cNvPr>
          <p:cNvGrpSpPr/>
          <p:nvPr/>
        </p:nvGrpSpPr>
        <p:grpSpPr>
          <a:xfrm>
            <a:off x="2773965" y="5103679"/>
            <a:ext cx="1510003" cy="1226600"/>
            <a:chOff x="3275856" y="2924944"/>
            <a:chExt cx="1656184" cy="1584176"/>
          </a:xfrm>
        </p:grpSpPr>
        <p:sp>
          <p:nvSpPr>
            <p:cNvPr id="25" name="Titel 1">
              <a:extLst>
                <a:ext uri="{FF2B5EF4-FFF2-40B4-BE49-F238E27FC236}">
                  <a16:creationId xmlns:a16="http://schemas.microsoft.com/office/drawing/2014/main" id="{2B043E85-002B-7CC8-6A8A-AB5C2FCBEAAC}"/>
                </a:ext>
              </a:extLst>
            </p:cNvPr>
            <p:cNvSpPr txBox="1">
              <a:spLocks/>
            </p:cNvSpPr>
            <p:nvPr/>
          </p:nvSpPr>
          <p:spPr>
            <a:xfrm>
              <a:off x="3275856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A</a:t>
              </a:r>
              <a:r>
                <a:rPr lang="da-DK" sz="1800" i="1" baseline="-25000" dirty="0"/>
                <a:t>OL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i="1" dirty="0"/>
            </a:p>
          </p:txBody>
        </p:sp>
        <p:sp>
          <p:nvSpPr>
            <p:cNvPr id="26" name="Titel 1">
              <a:extLst>
                <a:ext uri="{FF2B5EF4-FFF2-40B4-BE49-F238E27FC236}">
                  <a16:creationId xmlns:a16="http://schemas.microsoft.com/office/drawing/2014/main" id="{8DDAAFF6-559D-3EC2-EA4D-C8420005E953}"/>
                </a:ext>
              </a:extLst>
            </p:cNvPr>
            <p:cNvSpPr txBox="1">
              <a:spLocks/>
            </p:cNvSpPr>
            <p:nvPr/>
          </p:nvSpPr>
          <p:spPr>
            <a:xfrm>
              <a:off x="4211960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0 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  <p:grpSp>
          <p:nvGrpSpPr>
            <p:cNvPr id="27" name="Gruppe 26">
              <a:extLst>
                <a:ext uri="{FF2B5EF4-FFF2-40B4-BE49-F238E27FC236}">
                  <a16:creationId xmlns:a16="http://schemas.microsoft.com/office/drawing/2014/main" id="{0F34E16B-E201-4B9D-42E0-CCDBD0494FC4}"/>
                </a:ext>
              </a:extLst>
            </p:cNvPr>
            <p:cNvGrpSpPr/>
            <p:nvPr/>
          </p:nvGrpSpPr>
          <p:grpSpPr>
            <a:xfrm>
              <a:off x="3923928" y="3356992"/>
              <a:ext cx="360040" cy="726096"/>
              <a:chOff x="4031940" y="3356992"/>
              <a:chExt cx="360040" cy="726096"/>
            </a:xfrm>
          </p:grpSpPr>
          <p:cxnSp>
            <p:nvCxnSpPr>
              <p:cNvPr id="28" name="Lige pilforbindelse 27">
                <a:extLst>
                  <a:ext uri="{FF2B5EF4-FFF2-40B4-BE49-F238E27FC236}">
                    <a16:creationId xmlns:a16="http://schemas.microsoft.com/office/drawing/2014/main" id="{8EF8FDEE-83D1-6C24-E9AF-CCF24593FBE9}"/>
                  </a:ext>
                </a:extLst>
              </p:cNvPr>
              <p:cNvCxnSpPr/>
              <p:nvPr/>
            </p:nvCxnSpPr>
            <p:spPr>
              <a:xfrm>
                <a:off x="4031940" y="3356992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Lige pilforbindelse 28">
                <a:extLst>
                  <a:ext uri="{FF2B5EF4-FFF2-40B4-BE49-F238E27FC236}">
                    <a16:creationId xmlns:a16="http://schemas.microsoft.com/office/drawing/2014/main" id="{66073148-5CD7-C435-586A-43DE697D8B08}"/>
                  </a:ext>
                </a:extLst>
              </p:cNvPr>
              <p:cNvCxnSpPr/>
              <p:nvPr/>
            </p:nvCxnSpPr>
            <p:spPr>
              <a:xfrm>
                <a:off x="4031940" y="3729064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Lige pilforbindelse 30">
                <a:extLst>
                  <a:ext uri="{FF2B5EF4-FFF2-40B4-BE49-F238E27FC236}">
                    <a16:creationId xmlns:a16="http://schemas.microsoft.com/office/drawing/2014/main" id="{03A29E5A-0423-C6F8-2007-B6A6E3AF3E30}"/>
                  </a:ext>
                </a:extLst>
              </p:cNvPr>
              <p:cNvCxnSpPr/>
              <p:nvPr/>
            </p:nvCxnSpPr>
            <p:spPr>
              <a:xfrm>
                <a:off x="4031940" y="4083088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910A2AC-8EA7-CE1D-0682-4B1A08F76BE1}"/>
              </a:ext>
            </a:extLst>
          </p:cNvPr>
          <p:cNvSpPr txBox="1">
            <a:spLocks/>
          </p:cNvSpPr>
          <p:nvPr/>
        </p:nvSpPr>
        <p:spPr>
          <a:xfrm>
            <a:off x="683568" y="5263223"/>
            <a:ext cx="199421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Ideel Op Amp:</a:t>
            </a:r>
          </a:p>
        </p:txBody>
      </p:sp>
      <p:sp>
        <p:nvSpPr>
          <p:cNvPr id="33" name="Undertitel 2">
            <a:extLst>
              <a:ext uri="{FF2B5EF4-FFF2-40B4-BE49-F238E27FC236}">
                <a16:creationId xmlns:a16="http://schemas.microsoft.com/office/drawing/2014/main" id="{094C8A31-750A-DBCD-C36E-A5AD2130D770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96D8C020-6774-1F56-F528-FC1A84FB89DE}"/>
              </a:ext>
            </a:extLst>
          </p:cNvPr>
          <p:cNvGrpSpPr/>
          <p:nvPr/>
        </p:nvGrpSpPr>
        <p:grpSpPr>
          <a:xfrm>
            <a:off x="4864254" y="638584"/>
            <a:ext cx="1699248" cy="884914"/>
            <a:chOff x="3563888" y="1442454"/>
            <a:chExt cx="1699248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itel 1">
                  <a:extLst>
                    <a:ext uri="{FF2B5EF4-FFF2-40B4-BE49-F238E27FC236}">
                      <a16:creationId xmlns:a16="http://schemas.microsoft.com/office/drawing/2014/main" id="{CFC3276C-7838-37B8-86F9-EE6C76852F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1800" i="1">
                          <a:solidFill>
                            <a:srgbClr val="FF0000"/>
                          </a:solidFill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Titel 1">
                  <a:extLst>
                    <a:ext uri="{FF2B5EF4-FFF2-40B4-BE49-F238E27FC236}">
                      <a16:creationId xmlns:a16="http://schemas.microsoft.com/office/drawing/2014/main" id="{CFC3276C-7838-37B8-86F9-EE6C76852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  <a:blipFill>
                  <a:blip r:embed="rId3"/>
                  <a:stretch>
                    <a:fillRect l="-6122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itel 1">
                  <a:extLst>
                    <a:ext uri="{FF2B5EF4-FFF2-40B4-BE49-F238E27FC236}">
                      <a16:creationId xmlns:a16="http://schemas.microsoft.com/office/drawing/2014/main" id="{FACD6529-4D8B-20D6-E1A3-CACBBF091FE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Titel 1">
                  <a:extLst>
                    <a:ext uri="{FF2B5EF4-FFF2-40B4-BE49-F238E27FC236}">
                      <a16:creationId xmlns:a16="http://schemas.microsoft.com/office/drawing/2014/main" id="{FACD6529-4D8B-20D6-E1A3-CACBBF091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itel 1">
                  <a:extLst>
                    <a:ext uri="{FF2B5EF4-FFF2-40B4-BE49-F238E27FC236}">
                      <a16:creationId xmlns:a16="http://schemas.microsoft.com/office/drawing/2014/main" id="{D6821CBA-1CD7-7D54-D06E-2A8C415583E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23" name="Titel 1">
                  <a:extLst>
                    <a:ext uri="{FF2B5EF4-FFF2-40B4-BE49-F238E27FC236}">
                      <a16:creationId xmlns:a16="http://schemas.microsoft.com/office/drawing/2014/main" id="{D6821CBA-1CD7-7D54-D06E-2A8C41558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  <a:blipFill>
                  <a:blip r:embed="rId5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9177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619A78E3-8986-BD66-2429-CEF75236AB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28" y="540262"/>
            <a:ext cx="7805944" cy="4389129"/>
          </a:xfrm>
          <a:prstGeom prst="rect">
            <a:avLst/>
          </a:prstGeom>
        </p:spPr>
      </p:pic>
      <p:sp>
        <p:nvSpPr>
          <p:cNvPr id="3" name="Undertitel 2">
            <a:extLst>
              <a:ext uri="{FF2B5EF4-FFF2-40B4-BE49-F238E27FC236}">
                <a16:creationId xmlns:a16="http://schemas.microsoft.com/office/drawing/2014/main" id="{340F7AB6-417E-11F2-592D-A6FD8D779725}"/>
              </a:ext>
            </a:extLst>
          </p:cNvPr>
          <p:cNvSpPr txBox="1">
            <a:spLocks/>
          </p:cNvSpPr>
          <p:nvPr/>
        </p:nvSpPr>
        <p:spPr>
          <a:xfrm>
            <a:off x="2240315" y="1726715"/>
            <a:ext cx="531485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/>
              <a:t>R</a:t>
            </a:r>
            <a:r>
              <a:rPr lang="da-DK" sz="1800" i="1" baseline="-25000" dirty="0"/>
              <a:t>1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5" name="Lige pilforbindelse 4">
            <a:extLst>
              <a:ext uri="{FF2B5EF4-FFF2-40B4-BE49-F238E27FC236}">
                <a16:creationId xmlns:a16="http://schemas.microsoft.com/office/drawing/2014/main" id="{053743BE-24A1-89E6-CF1F-FD6A6271DC40}"/>
              </a:ext>
            </a:extLst>
          </p:cNvPr>
          <p:cNvCxnSpPr/>
          <p:nvPr/>
        </p:nvCxnSpPr>
        <p:spPr>
          <a:xfrm flipV="1">
            <a:off x="2759895" y="3445383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4F641525-7B42-578D-3DFB-88B9E2BFEE79}"/>
              </a:ext>
            </a:extLst>
          </p:cNvPr>
          <p:cNvCxnSpPr>
            <a:cxnSpLocks/>
          </p:cNvCxnSpPr>
          <p:nvPr/>
        </p:nvCxnSpPr>
        <p:spPr>
          <a:xfrm flipV="1">
            <a:off x="6569519" y="2950851"/>
            <a:ext cx="0" cy="10801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Undertitel 2">
            <a:extLst>
              <a:ext uri="{FF2B5EF4-FFF2-40B4-BE49-F238E27FC236}">
                <a16:creationId xmlns:a16="http://schemas.microsoft.com/office/drawing/2014/main" id="{F8DC298E-2079-EE7D-18B3-7E1B15429B62}"/>
              </a:ext>
            </a:extLst>
          </p:cNvPr>
          <p:cNvSpPr txBox="1">
            <a:spLocks/>
          </p:cNvSpPr>
          <p:nvPr/>
        </p:nvSpPr>
        <p:spPr>
          <a:xfrm>
            <a:off x="4472563" y="1006635"/>
            <a:ext cx="531485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/>
              <a:t>R</a:t>
            </a:r>
            <a:r>
              <a:rPr lang="da-DK" sz="1800" i="1" baseline="-25000" dirty="0"/>
              <a:t>2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DAE3B6D5-BA08-8A23-15A8-2E0695AF12F1}"/>
              </a:ext>
            </a:extLst>
          </p:cNvPr>
          <p:cNvSpPr txBox="1">
            <a:spLocks/>
          </p:cNvSpPr>
          <p:nvPr/>
        </p:nvSpPr>
        <p:spPr>
          <a:xfrm>
            <a:off x="3813253" y="2571759"/>
            <a:ext cx="531485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/>
              <a:t>R</a:t>
            </a:r>
            <a:r>
              <a:rPr lang="da-DK" sz="1800" i="1" baseline="-25000" dirty="0"/>
              <a:t>in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sp>
        <p:nvSpPr>
          <p:cNvPr id="11" name="Undertitel 2">
            <a:extLst>
              <a:ext uri="{FF2B5EF4-FFF2-40B4-BE49-F238E27FC236}">
                <a16:creationId xmlns:a16="http://schemas.microsoft.com/office/drawing/2014/main" id="{36EAB521-B9EC-A09D-A614-0D5BAF6BF8C3}"/>
              </a:ext>
            </a:extLst>
          </p:cNvPr>
          <p:cNvSpPr txBox="1">
            <a:spLocks/>
          </p:cNvSpPr>
          <p:nvPr/>
        </p:nvSpPr>
        <p:spPr>
          <a:xfrm>
            <a:off x="4764209" y="2374787"/>
            <a:ext cx="531485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/>
              <a:t>R</a:t>
            </a:r>
            <a:r>
              <a:rPr lang="da-DK" sz="1800" i="1" baseline="-25000" dirty="0"/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6AA7F0CC-E61D-0CF5-D1BC-25250EDA82FC}"/>
              </a:ext>
            </a:extLst>
          </p:cNvPr>
          <p:cNvCxnSpPr>
            <a:cxnSpLocks/>
          </p:cNvCxnSpPr>
          <p:nvPr/>
        </p:nvCxnSpPr>
        <p:spPr>
          <a:xfrm>
            <a:off x="3275856" y="2434606"/>
            <a:ext cx="0" cy="720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9B11DD7A-89B6-0451-0865-4633185F755F}"/>
              </a:ext>
            </a:extLst>
          </p:cNvPr>
          <p:cNvCxnSpPr/>
          <p:nvPr/>
        </p:nvCxnSpPr>
        <p:spPr>
          <a:xfrm flipV="1">
            <a:off x="5014143" y="3358521"/>
            <a:ext cx="0" cy="486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Undertitel 2">
            <a:extLst>
              <a:ext uri="{FF2B5EF4-FFF2-40B4-BE49-F238E27FC236}">
                <a16:creationId xmlns:a16="http://schemas.microsoft.com/office/drawing/2014/main" id="{C528C659-0E25-9E99-919D-A11830592A61}"/>
              </a:ext>
            </a:extLst>
          </p:cNvPr>
          <p:cNvSpPr txBox="1">
            <a:spLocks/>
          </p:cNvSpPr>
          <p:nvPr/>
        </p:nvSpPr>
        <p:spPr>
          <a:xfrm>
            <a:off x="4960618" y="3412035"/>
            <a:ext cx="792088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 err="1"/>
              <a:t>A</a:t>
            </a:r>
            <a:r>
              <a:rPr lang="da-DK" sz="1800" i="1" baseline="-25000" dirty="0" err="1"/>
              <a:t>OL</a:t>
            </a:r>
            <a:r>
              <a:rPr lang="da-DK" sz="1800" i="1" dirty="0" err="1"/>
              <a:t>∙v</a:t>
            </a:r>
            <a:r>
              <a:rPr lang="da-DK" sz="1800" i="1" baseline="-25000" dirty="0" err="1"/>
              <a:t>id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sp>
        <p:nvSpPr>
          <p:cNvPr id="16" name="Undertitel 2">
            <a:extLst>
              <a:ext uri="{FF2B5EF4-FFF2-40B4-BE49-F238E27FC236}">
                <a16:creationId xmlns:a16="http://schemas.microsoft.com/office/drawing/2014/main" id="{2CEC5298-3966-F98D-0F15-637578391482}"/>
              </a:ext>
            </a:extLst>
          </p:cNvPr>
          <p:cNvSpPr txBox="1">
            <a:spLocks/>
          </p:cNvSpPr>
          <p:nvPr/>
        </p:nvSpPr>
        <p:spPr>
          <a:xfrm>
            <a:off x="2867623" y="2581285"/>
            <a:ext cx="432048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/>
              <a:t>v</a:t>
            </a:r>
            <a:r>
              <a:rPr lang="da-DK" sz="1800" i="1" baseline="-25000" dirty="0"/>
              <a:t>id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sp>
        <p:nvSpPr>
          <p:cNvPr id="17" name="Undertitel 2">
            <a:extLst>
              <a:ext uri="{FF2B5EF4-FFF2-40B4-BE49-F238E27FC236}">
                <a16:creationId xmlns:a16="http://schemas.microsoft.com/office/drawing/2014/main" id="{401C03AE-C5C9-0C83-78DD-84D408E7A5D1}"/>
              </a:ext>
            </a:extLst>
          </p:cNvPr>
          <p:cNvSpPr txBox="1">
            <a:spLocks/>
          </p:cNvSpPr>
          <p:nvPr/>
        </p:nvSpPr>
        <p:spPr>
          <a:xfrm>
            <a:off x="2309856" y="3574328"/>
            <a:ext cx="432048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/>
              <a:t>v</a:t>
            </a:r>
            <a:r>
              <a:rPr lang="da-DK" sz="1800" i="1" baseline="-25000" dirty="0"/>
              <a:t>in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sp>
        <p:nvSpPr>
          <p:cNvPr id="18" name="Undertitel 2">
            <a:extLst>
              <a:ext uri="{FF2B5EF4-FFF2-40B4-BE49-F238E27FC236}">
                <a16:creationId xmlns:a16="http://schemas.microsoft.com/office/drawing/2014/main" id="{923B1FA6-10C0-1B23-876B-CF3AC55C5208}"/>
              </a:ext>
            </a:extLst>
          </p:cNvPr>
          <p:cNvSpPr txBox="1">
            <a:spLocks/>
          </p:cNvSpPr>
          <p:nvPr/>
        </p:nvSpPr>
        <p:spPr>
          <a:xfrm>
            <a:off x="6552312" y="3283553"/>
            <a:ext cx="444779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 err="1"/>
              <a:t>v</a:t>
            </a:r>
            <a:r>
              <a:rPr lang="da-DK" sz="1800" i="1" baseline="-25000" dirty="0" err="1"/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35" name="Vinklet forbindelse 17">
            <a:extLst>
              <a:ext uri="{FF2B5EF4-FFF2-40B4-BE49-F238E27FC236}">
                <a16:creationId xmlns:a16="http://schemas.microsoft.com/office/drawing/2014/main" id="{12963AB9-A525-65C2-20A6-70ADDB636766}"/>
              </a:ext>
            </a:extLst>
          </p:cNvPr>
          <p:cNvCxnSpPr>
            <a:cxnSpLocks/>
          </p:cNvCxnSpPr>
          <p:nvPr/>
        </p:nvCxnSpPr>
        <p:spPr>
          <a:xfrm flipV="1">
            <a:off x="1711784" y="3942883"/>
            <a:ext cx="1196144" cy="764319"/>
          </a:xfrm>
          <a:prstGeom prst="bentConnector3">
            <a:avLst>
              <a:gd name="adj1" fmla="val -293"/>
            </a:avLst>
          </a:prstGeom>
          <a:ln w="12700">
            <a:solidFill>
              <a:srgbClr val="FF0000"/>
            </a:solidFill>
            <a:prstDash val="lgDash"/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Undertitel 2">
            <a:extLst>
              <a:ext uri="{FF2B5EF4-FFF2-40B4-BE49-F238E27FC236}">
                <a16:creationId xmlns:a16="http://schemas.microsoft.com/office/drawing/2014/main" id="{3F448FA3-B90C-730B-99D2-3759FC92A073}"/>
              </a:ext>
            </a:extLst>
          </p:cNvPr>
          <p:cNvSpPr txBox="1">
            <a:spLocks/>
          </p:cNvSpPr>
          <p:nvPr/>
        </p:nvSpPr>
        <p:spPr>
          <a:xfrm>
            <a:off x="1495760" y="4661042"/>
            <a:ext cx="432048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>
                <a:solidFill>
                  <a:srgbClr val="FF0000"/>
                </a:solidFill>
              </a:rPr>
              <a:t>Z</a:t>
            </a:r>
            <a:r>
              <a:rPr lang="da-DK" sz="1800" i="1" baseline="-25000" dirty="0">
                <a:solidFill>
                  <a:srgbClr val="FF0000"/>
                </a:solidFill>
              </a:rPr>
              <a:t>in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30" name="Vinklet forbindelse 17">
            <a:extLst>
              <a:ext uri="{FF2B5EF4-FFF2-40B4-BE49-F238E27FC236}">
                <a16:creationId xmlns:a16="http://schemas.microsoft.com/office/drawing/2014/main" id="{E512188F-AF61-3114-7FE3-11993A3848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84168" y="2389444"/>
            <a:ext cx="1196144" cy="764319"/>
          </a:xfrm>
          <a:prstGeom prst="bentConnector3">
            <a:avLst>
              <a:gd name="adj1" fmla="val -293"/>
            </a:avLst>
          </a:prstGeom>
          <a:ln w="12700">
            <a:solidFill>
              <a:srgbClr val="FF0000"/>
            </a:solidFill>
            <a:prstDash val="lgDash"/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Undertitel 2">
            <a:extLst>
              <a:ext uri="{FF2B5EF4-FFF2-40B4-BE49-F238E27FC236}">
                <a16:creationId xmlns:a16="http://schemas.microsoft.com/office/drawing/2014/main" id="{21B5F2F7-53D6-FD42-791F-2A2F5EC62290}"/>
              </a:ext>
            </a:extLst>
          </p:cNvPr>
          <p:cNvSpPr txBox="1">
            <a:spLocks/>
          </p:cNvSpPr>
          <p:nvPr/>
        </p:nvSpPr>
        <p:spPr>
          <a:xfrm>
            <a:off x="7322424" y="2018395"/>
            <a:ext cx="697748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800" i="1" dirty="0">
                <a:solidFill>
                  <a:srgbClr val="FF0000"/>
                </a:solidFill>
              </a:rPr>
              <a:t>= 0 </a:t>
            </a:r>
            <a:r>
              <a:rPr lang="el-GR" sz="1800" i="1" dirty="0">
                <a:solidFill>
                  <a:srgbClr val="FF0000"/>
                </a:solidFill>
              </a:rPr>
              <a:t>Ω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B354E17D-B1C6-BDD2-C7E5-BC5F909C0EF0}"/>
              </a:ext>
            </a:extLst>
          </p:cNvPr>
          <p:cNvCxnSpPr/>
          <p:nvPr/>
        </p:nvCxnSpPr>
        <p:spPr>
          <a:xfrm>
            <a:off x="1907704" y="4871541"/>
            <a:ext cx="3282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13F3CB45-32F9-48EE-2993-4A82201764DB}"/>
              </a:ext>
            </a:extLst>
          </p:cNvPr>
          <p:cNvSpPr txBox="1">
            <a:spLocks/>
          </p:cNvSpPr>
          <p:nvPr/>
        </p:nvSpPr>
        <p:spPr>
          <a:xfrm>
            <a:off x="2259293" y="4737822"/>
            <a:ext cx="368491" cy="261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>
                <a:solidFill>
                  <a:srgbClr val="FF0000"/>
                </a:solidFill>
              </a:rPr>
              <a:t>∞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BF1291C5-2C4E-85D5-390E-7A649B28583C}"/>
              </a:ext>
            </a:extLst>
          </p:cNvPr>
          <p:cNvGrpSpPr/>
          <p:nvPr/>
        </p:nvGrpSpPr>
        <p:grpSpPr>
          <a:xfrm>
            <a:off x="2773965" y="5103679"/>
            <a:ext cx="1510003" cy="1226600"/>
            <a:chOff x="3275856" y="2924944"/>
            <a:chExt cx="1656184" cy="1584176"/>
          </a:xfrm>
        </p:grpSpPr>
        <p:sp>
          <p:nvSpPr>
            <p:cNvPr id="33" name="Titel 1">
              <a:extLst>
                <a:ext uri="{FF2B5EF4-FFF2-40B4-BE49-F238E27FC236}">
                  <a16:creationId xmlns:a16="http://schemas.microsoft.com/office/drawing/2014/main" id="{76464C22-9904-BCA2-E3C9-AD59D9924258}"/>
                </a:ext>
              </a:extLst>
            </p:cNvPr>
            <p:cNvSpPr txBox="1">
              <a:spLocks/>
            </p:cNvSpPr>
            <p:nvPr/>
          </p:nvSpPr>
          <p:spPr>
            <a:xfrm>
              <a:off x="3275856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A</a:t>
              </a:r>
              <a:r>
                <a:rPr lang="da-DK" sz="1800" i="1" baseline="-25000" dirty="0"/>
                <a:t>OL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i="1" dirty="0"/>
            </a:p>
          </p:txBody>
        </p:sp>
        <p:sp>
          <p:nvSpPr>
            <p:cNvPr id="34" name="Titel 1">
              <a:extLst>
                <a:ext uri="{FF2B5EF4-FFF2-40B4-BE49-F238E27FC236}">
                  <a16:creationId xmlns:a16="http://schemas.microsoft.com/office/drawing/2014/main" id="{C0231869-23B0-A6E0-95D1-946C432B1184}"/>
                </a:ext>
              </a:extLst>
            </p:cNvPr>
            <p:cNvSpPr txBox="1">
              <a:spLocks/>
            </p:cNvSpPr>
            <p:nvPr/>
          </p:nvSpPr>
          <p:spPr>
            <a:xfrm>
              <a:off x="4211960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0 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  <p:grpSp>
          <p:nvGrpSpPr>
            <p:cNvPr id="36" name="Gruppe 35">
              <a:extLst>
                <a:ext uri="{FF2B5EF4-FFF2-40B4-BE49-F238E27FC236}">
                  <a16:creationId xmlns:a16="http://schemas.microsoft.com/office/drawing/2014/main" id="{12A37AFB-6D42-7611-662F-0E81A547E2E4}"/>
                </a:ext>
              </a:extLst>
            </p:cNvPr>
            <p:cNvGrpSpPr/>
            <p:nvPr/>
          </p:nvGrpSpPr>
          <p:grpSpPr>
            <a:xfrm>
              <a:off x="3923928" y="3356992"/>
              <a:ext cx="360040" cy="726096"/>
              <a:chOff x="4031940" y="3356992"/>
              <a:chExt cx="360040" cy="726096"/>
            </a:xfrm>
          </p:grpSpPr>
          <p:cxnSp>
            <p:nvCxnSpPr>
              <p:cNvPr id="41" name="Lige pilforbindelse 40">
                <a:extLst>
                  <a:ext uri="{FF2B5EF4-FFF2-40B4-BE49-F238E27FC236}">
                    <a16:creationId xmlns:a16="http://schemas.microsoft.com/office/drawing/2014/main" id="{0FFCD3DC-FD92-8D07-0D6D-94D705786826}"/>
                  </a:ext>
                </a:extLst>
              </p:cNvPr>
              <p:cNvCxnSpPr/>
              <p:nvPr/>
            </p:nvCxnSpPr>
            <p:spPr>
              <a:xfrm>
                <a:off x="4031940" y="3356992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Lige pilforbindelse 42">
                <a:extLst>
                  <a:ext uri="{FF2B5EF4-FFF2-40B4-BE49-F238E27FC236}">
                    <a16:creationId xmlns:a16="http://schemas.microsoft.com/office/drawing/2014/main" id="{C4EE4383-580C-509F-6977-170CF6E9ECBF}"/>
                  </a:ext>
                </a:extLst>
              </p:cNvPr>
              <p:cNvCxnSpPr/>
              <p:nvPr/>
            </p:nvCxnSpPr>
            <p:spPr>
              <a:xfrm>
                <a:off x="4031940" y="3729064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Lige pilforbindelse 43">
                <a:extLst>
                  <a:ext uri="{FF2B5EF4-FFF2-40B4-BE49-F238E27FC236}">
                    <a16:creationId xmlns:a16="http://schemas.microsoft.com/office/drawing/2014/main" id="{0DE80FF7-3B3F-E8B3-268A-6C88426D2BAC}"/>
                  </a:ext>
                </a:extLst>
              </p:cNvPr>
              <p:cNvCxnSpPr/>
              <p:nvPr/>
            </p:nvCxnSpPr>
            <p:spPr>
              <a:xfrm>
                <a:off x="4031940" y="4083088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Titel 1">
            <a:extLst>
              <a:ext uri="{FF2B5EF4-FFF2-40B4-BE49-F238E27FC236}">
                <a16:creationId xmlns:a16="http://schemas.microsoft.com/office/drawing/2014/main" id="{34D44893-985F-CE4C-F3E3-FE6BCA8839EB}"/>
              </a:ext>
            </a:extLst>
          </p:cNvPr>
          <p:cNvSpPr txBox="1">
            <a:spLocks/>
          </p:cNvSpPr>
          <p:nvPr/>
        </p:nvSpPr>
        <p:spPr>
          <a:xfrm>
            <a:off x="683568" y="5263223"/>
            <a:ext cx="199421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i="1" dirty="0"/>
              <a:t>Ideel Op Amp:</a:t>
            </a:r>
          </a:p>
        </p:txBody>
      </p:sp>
      <p:sp>
        <p:nvSpPr>
          <p:cNvPr id="38" name="Undertitel 2">
            <a:extLst>
              <a:ext uri="{FF2B5EF4-FFF2-40B4-BE49-F238E27FC236}">
                <a16:creationId xmlns:a16="http://schemas.microsoft.com/office/drawing/2014/main" id="{3E51F892-D626-C129-FEF1-62B487227A4F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20" name="Gruppe 19">
            <a:extLst>
              <a:ext uri="{FF2B5EF4-FFF2-40B4-BE49-F238E27FC236}">
                <a16:creationId xmlns:a16="http://schemas.microsoft.com/office/drawing/2014/main" id="{E60A6893-FEF4-103E-A705-631C121BC830}"/>
              </a:ext>
            </a:extLst>
          </p:cNvPr>
          <p:cNvGrpSpPr/>
          <p:nvPr/>
        </p:nvGrpSpPr>
        <p:grpSpPr>
          <a:xfrm>
            <a:off x="4864254" y="638584"/>
            <a:ext cx="3020114" cy="884914"/>
            <a:chOff x="4864254" y="638584"/>
            <a:chExt cx="3020114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itel 1">
                  <a:extLst>
                    <a:ext uri="{FF2B5EF4-FFF2-40B4-BE49-F238E27FC236}">
                      <a16:creationId xmlns:a16="http://schemas.microsoft.com/office/drawing/2014/main" id="{45FE3D26-46FC-C582-4D3E-CB28761280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63431" y="680914"/>
                  <a:ext cx="1120937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1 +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1</m:t>
                          </m:r>
                        </m:den>
                      </m:f>
                    </m:oMath>
                  </a14:m>
                  <a:endParaRPr lang="da-DK" sz="1800" i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9" name="Titel 1">
                  <a:extLst>
                    <a:ext uri="{FF2B5EF4-FFF2-40B4-BE49-F238E27FC236}">
                      <a16:creationId xmlns:a16="http://schemas.microsoft.com/office/drawing/2014/main" id="{45FE3D26-46FC-C582-4D3E-CB2876128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3431" y="680914"/>
                  <a:ext cx="1120937" cy="800472"/>
                </a:xfrm>
                <a:prstGeom prst="rect">
                  <a:avLst/>
                </a:prstGeom>
                <a:blipFill>
                  <a:blip r:embed="rId3"/>
                  <a:stretch>
                    <a:fillRect l="-4348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uppe 23">
              <a:extLst>
                <a:ext uri="{FF2B5EF4-FFF2-40B4-BE49-F238E27FC236}">
                  <a16:creationId xmlns:a16="http://schemas.microsoft.com/office/drawing/2014/main" id="{B6CB003C-0D48-72AB-4C75-BC6C5D03396E}"/>
                </a:ext>
              </a:extLst>
            </p:cNvPr>
            <p:cNvGrpSpPr/>
            <p:nvPr/>
          </p:nvGrpSpPr>
          <p:grpSpPr>
            <a:xfrm>
              <a:off x="4864254" y="638584"/>
              <a:ext cx="1699248" cy="884914"/>
              <a:chOff x="3563888" y="1442454"/>
              <a:chExt cx="1699248" cy="8849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itel 1">
                    <a:extLst>
                      <a:ext uri="{FF2B5EF4-FFF2-40B4-BE49-F238E27FC236}">
                        <a16:creationId xmlns:a16="http://schemas.microsoft.com/office/drawing/2014/main" id="{8E7AA9B4-FF3E-CCDC-0C42-0AF54E6A135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367850" y="1526896"/>
                    <a:ext cx="895286" cy="800472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rmAutofit/>
                  </a:bodyPr>
                  <a:lstStyle>
                    <a:lvl1pPr algn="ctr" defTabSz="914400" rtl="0" eaLnBrk="1" latinLnBrk="0" hangingPunct="1">
                      <a:spcBef>
                        <a:spcPct val="0"/>
                      </a:spcBef>
                      <a:buNone/>
                      <a:defRPr sz="44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l"/>
                    <a:r>
                      <a:rPr lang="da-DK" sz="1800" i="1" dirty="0">
                        <a:solidFill>
                          <a:srgbClr val="FF0000"/>
                        </a:solidFill>
                        <a:latin typeface="+mn-lt"/>
                      </a:rPr>
                      <a:t>=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da-DK" sz="1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1800" i="1">
                                <a:solidFill>
                                  <a:srgbClr val="FF0000"/>
                                </a:solidFill>
                                <a:latin typeface="+mn-lt"/>
                              </a:rPr>
                              <m:t>α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1800" i="1">
                                <a:solidFill>
                                  <a:srgbClr val="FF0000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da-DK" sz="1800" i="1">
                            <a:solidFill>
                              <a:srgbClr val="FF0000"/>
                            </a:solidFill>
                            <a:latin typeface="+mn-lt"/>
                          </a:rPr>
                          <m:t> ∙ </m:t>
                        </m:r>
                        <m:sSub>
                          <m:sSubPr>
                            <m:ctrlPr>
                              <a:rPr lang="da-DK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sz="1800" i="1">
                                <a:solidFill>
                                  <a:srgbClr val="FF0000"/>
                                </a:solidFill>
                                <a:latin typeface="+mn-lt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sz="1800" i="1" baseline="-25000">
                                <a:solidFill>
                                  <a:srgbClr val="FF0000"/>
                                </a:solidFill>
                                <a:latin typeface="+mn-lt"/>
                              </a:rPr>
                              <m:t>f</m:t>
                            </m:r>
                          </m:sub>
                        </m:sSub>
                      </m:oMath>
                    </a14:m>
                    <a:r>
                      <a:rPr lang="da-DK" sz="1800" i="1" dirty="0">
                        <a:solidFill>
                          <a:srgbClr val="FF0000"/>
                        </a:solidFill>
                        <a:latin typeface="+mn-lt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5" name="Titel 1">
                    <a:extLst>
                      <a:ext uri="{FF2B5EF4-FFF2-40B4-BE49-F238E27FC236}">
                        <a16:creationId xmlns:a16="http://schemas.microsoft.com/office/drawing/2014/main" id="{8E7AA9B4-FF3E-CCDC-0C42-0AF54E6A13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7850" y="1526896"/>
                    <a:ext cx="895286" cy="80047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122"/>
                    </a:stretch>
                  </a:blipFill>
                </p:spPr>
                <p:txBody>
                  <a:bodyPr/>
                  <a:lstStyle/>
                  <a:p>
                    <a:r>
                      <a:rPr lang="da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itel 1">
                    <a:extLst>
                      <a:ext uri="{FF2B5EF4-FFF2-40B4-BE49-F238E27FC236}">
                        <a16:creationId xmlns:a16="http://schemas.microsoft.com/office/drawing/2014/main" id="{26E46E74-AFA3-97DD-D42C-3A0BC4B2A9C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019684" y="1442454"/>
                    <a:ext cx="472865" cy="800472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rmAutofit/>
                  </a:bodyPr>
                  <a:lstStyle>
                    <a:lvl1pPr algn="ctr" defTabSz="914400" rtl="0" eaLnBrk="1" latinLnBrk="0" hangingPunct="1">
                      <a:spcBef>
                        <a:spcPct val="0"/>
                      </a:spcBef>
                      <a:buNone/>
                      <a:defRPr sz="44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r"/>
                    <a14:m>
                      <m:oMath xmlns:m="http://schemas.openxmlformats.org/officeDocument/2006/math">
                        <m:f>
                          <m:fPr>
                            <m:ctrlPr>
                              <a:rPr lang="da-DK" sz="1800" b="0" i="1" baseline="-25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1800" i="1">
                                <a:solidFill>
                                  <a:srgbClr val="FF0000"/>
                                </a:solidFill>
                                <a:cs typeface="Arial" panose="020B0604020202020204" pitchFamily="34" charset="0"/>
                              </a:rPr>
                              <m:t>v</m:t>
                            </m:r>
                            <m:r>
                              <m:rPr>
                                <m:nor/>
                              </m:rPr>
                              <a:rPr lang="da-DK" sz="1800" b="0" i="1" baseline="-25000" smtClean="0">
                                <a:solidFill>
                                  <a:srgbClr val="FF0000"/>
                                </a:solidFill>
                                <a:cs typeface="Arial" panose="020B0604020202020204" pitchFamily="34" charset="0"/>
                              </a:rPr>
                              <m:t>o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1800" b="0" i="1" smtClean="0">
                                <a:solidFill>
                                  <a:srgbClr val="FF0000"/>
                                </a:solidFill>
                                <a:latin typeface="+mn-lt"/>
                                <a:cs typeface="Arial" panose="020B0604020202020204" pitchFamily="34" charset="0"/>
                              </a:rPr>
                              <m:t>v</m:t>
                            </m:r>
                            <m:r>
                              <m:rPr>
                                <m:nor/>
                              </m:rPr>
                              <a:rPr lang="da-DK" sz="1800" b="0" i="1" baseline="-25000" smtClean="0">
                                <a:solidFill>
                                  <a:srgbClr val="FF0000"/>
                                </a:solidFill>
                                <a:latin typeface="+mn-lt"/>
                                <a:cs typeface="Arial" panose="020B0604020202020204" pitchFamily="34" charset="0"/>
                              </a:rPr>
                              <m:t>in</m:t>
                            </m:r>
                          </m:den>
                        </m:f>
                      </m:oMath>
                    </a14:m>
                    <a:r>
                      <a:rPr lang="da-DK" sz="1800" i="1" dirty="0">
                        <a:solidFill>
                          <a:srgbClr val="FF0000"/>
                        </a:solidFill>
                        <a:latin typeface="+mn-lt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6" name="Titel 1">
                    <a:extLst>
                      <a:ext uri="{FF2B5EF4-FFF2-40B4-BE49-F238E27FC236}">
                        <a16:creationId xmlns:a16="http://schemas.microsoft.com/office/drawing/2014/main" id="{26E46E74-AFA3-97DD-D42C-3A0BC4B2A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9684" y="1442454"/>
                    <a:ext cx="472865" cy="80047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a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itel 1">
                    <a:extLst>
                      <a:ext uri="{FF2B5EF4-FFF2-40B4-BE49-F238E27FC236}">
                        <a16:creationId xmlns:a16="http://schemas.microsoft.com/office/drawing/2014/main" id="{E52D12A2-5E96-8E50-054C-42F484F83A4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63888" y="1505397"/>
                    <a:ext cx="648072" cy="800472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rmAutofit/>
                  </a:bodyPr>
                  <a:lstStyle>
                    <a:lvl1pPr algn="ctr" defTabSz="914400" rtl="0" eaLnBrk="1" latinLnBrk="0" hangingPunct="1">
                      <a:spcBef>
                        <a:spcPct val="0"/>
                      </a:spcBef>
                      <a:buNone/>
                      <a:defRPr sz="44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da-DK" sz="1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sz="1800" i="1">
                                <a:solidFill>
                                  <a:srgbClr val="FF0000"/>
                                </a:solidFill>
                                <a:latin typeface="+mn-lt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sz="1800" i="1" baseline="-25000">
                                <a:solidFill>
                                  <a:srgbClr val="FF0000"/>
                                </a:solidFill>
                                <a:latin typeface="+mn-lt"/>
                              </a:rPr>
                              <m:t>CL</m:t>
                            </m:r>
                          </m:sub>
                        </m:sSub>
                      </m:oMath>
                    </a14:m>
                    <a:r>
                      <a:rPr lang="da-DK" sz="1800" i="1" dirty="0">
                        <a:solidFill>
                          <a:srgbClr val="FF0000"/>
                        </a:solidFill>
                        <a:latin typeface="+mn-lt"/>
                      </a:rPr>
                      <a:t>=</a:t>
                    </a:r>
                  </a:p>
                </p:txBody>
              </p:sp>
            </mc:Choice>
            <mc:Fallback xmlns="">
              <p:sp>
                <p:nvSpPr>
                  <p:cNvPr id="27" name="Titel 1">
                    <a:extLst>
                      <a:ext uri="{FF2B5EF4-FFF2-40B4-BE49-F238E27FC236}">
                        <a16:creationId xmlns:a16="http://schemas.microsoft.com/office/drawing/2014/main" id="{E52D12A2-5E96-8E50-054C-42F484F83A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888" y="1505397"/>
                    <a:ext cx="648072" cy="8004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7547"/>
                    </a:stretch>
                  </a:blipFill>
                </p:spPr>
                <p:txBody>
                  <a:bodyPr/>
                  <a:lstStyle/>
                  <a:p>
                    <a:r>
                      <a:rPr lang="da-D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itel 1">
                  <a:extLst>
                    <a:ext uri="{FF2B5EF4-FFF2-40B4-BE49-F238E27FC236}">
                      <a16:creationId xmlns:a16="http://schemas.microsoft.com/office/drawing/2014/main" id="{26BC3281-AC9C-3757-AADE-46531C12E62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392754" y="723026"/>
                  <a:ext cx="551584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</m:oMath>
                  </a14:m>
                  <a:endParaRPr lang="da-DK" sz="1800" i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3" name="Titel 1">
                  <a:extLst>
                    <a:ext uri="{FF2B5EF4-FFF2-40B4-BE49-F238E27FC236}">
                      <a16:creationId xmlns:a16="http://schemas.microsoft.com/office/drawing/2014/main" id="{26BC3281-AC9C-3757-AADE-46531C12E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2754" y="723026"/>
                  <a:ext cx="551584" cy="800472"/>
                </a:xfrm>
                <a:prstGeom prst="rect">
                  <a:avLst/>
                </a:prstGeom>
                <a:blipFill>
                  <a:blip r:embed="rId7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317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4607F2BB-AA90-6068-A912-14E132813613}"/>
              </a:ext>
            </a:extLst>
          </p:cNvPr>
          <p:cNvGrpSpPr/>
          <p:nvPr/>
        </p:nvGrpSpPr>
        <p:grpSpPr>
          <a:xfrm>
            <a:off x="669028" y="540262"/>
            <a:ext cx="7805944" cy="4535495"/>
            <a:chOff x="669028" y="1234435"/>
            <a:chExt cx="7805944" cy="4535495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67A74D44-0179-016B-6362-F1372718B112}"/>
                </a:ext>
              </a:extLst>
            </p:cNvPr>
            <p:cNvGrpSpPr/>
            <p:nvPr/>
          </p:nvGrpSpPr>
          <p:grpSpPr>
            <a:xfrm>
              <a:off x="669028" y="1234435"/>
              <a:ext cx="7805944" cy="4389129"/>
              <a:chOff x="669028" y="1234435"/>
              <a:chExt cx="7805944" cy="4389129"/>
            </a:xfrm>
          </p:grpSpPr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619A78E3-8986-BD66-2429-CEF75236A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28" y="1234435"/>
                <a:ext cx="7805944" cy="4389129"/>
              </a:xfrm>
              <a:prstGeom prst="rect">
                <a:avLst/>
              </a:prstGeom>
            </p:spPr>
          </p:pic>
          <p:sp>
            <p:nvSpPr>
              <p:cNvPr id="3" name="Undertitel 2">
                <a:extLst>
                  <a:ext uri="{FF2B5EF4-FFF2-40B4-BE49-F238E27FC236}">
                    <a16:creationId xmlns:a16="http://schemas.microsoft.com/office/drawing/2014/main" id="{340F7AB6-417E-11F2-592D-A6FD8D7797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0315" y="242088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1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053743BE-24A1-89E6-CF1F-FD6A6271DC40}"/>
                  </a:ext>
                </a:extLst>
              </p:cNvPr>
              <p:cNvCxnSpPr/>
              <p:nvPr/>
            </p:nvCxnSpPr>
            <p:spPr>
              <a:xfrm flipV="1">
                <a:off x="2759895" y="4139556"/>
                <a:ext cx="0" cy="6480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4F641525-7B42-578D-3DFB-88B9E2BFEE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519" y="3645024"/>
                <a:ext cx="0" cy="10801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Undertitel 2">
                <a:extLst>
                  <a:ext uri="{FF2B5EF4-FFF2-40B4-BE49-F238E27FC236}">
                    <a16:creationId xmlns:a16="http://schemas.microsoft.com/office/drawing/2014/main" id="{F8DC298E-2079-EE7D-18B3-7E1B15429B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2563" y="170080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2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Undertitel 2">
                <a:extLst>
                  <a:ext uri="{FF2B5EF4-FFF2-40B4-BE49-F238E27FC236}">
                    <a16:creationId xmlns:a16="http://schemas.microsoft.com/office/drawing/2014/main" id="{DAE3B6D5-BA08-8A23-15A8-2E0695AF1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3253" y="3265932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36EAB521-B9EC-A09D-A614-0D5BAF6BF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4209" y="3068960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Lige pilforbindelse 11">
                <a:extLst>
                  <a:ext uri="{FF2B5EF4-FFF2-40B4-BE49-F238E27FC236}">
                    <a16:creationId xmlns:a16="http://schemas.microsoft.com/office/drawing/2014/main" id="{6AA7F0CC-E61D-0CF5-D1BC-25250EDA8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5856" y="3128779"/>
                <a:ext cx="0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Lige pilforbindelse 13">
                <a:extLst>
                  <a:ext uri="{FF2B5EF4-FFF2-40B4-BE49-F238E27FC236}">
                    <a16:creationId xmlns:a16="http://schemas.microsoft.com/office/drawing/2014/main" id="{9B11DD7A-89B6-0451-0865-4633185F755F}"/>
                  </a:ext>
                </a:extLst>
              </p:cNvPr>
              <p:cNvCxnSpPr/>
              <p:nvPr/>
            </p:nvCxnSpPr>
            <p:spPr>
              <a:xfrm flipV="1">
                <a:off x="5014143" y="4052694"/>
                <a:ext cx="0" cy="4869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Undertitel 2">
                <a:extLst>
                  <a:ext uri="{FF2B5EF4-FFF2-40B4-BE49-F238E27FC236}">
                    <a16:creationId xmlns:a16="http://schemas.microsoft.com/office/drawing/2014/main" id="{C528C659-0E25-9E99-919D-A11830592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0618" y="4106208"/>
                <a:ext cx="79208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A</a:t>
                </a:r>
                <a:r>
                  <a:rPr lang="da-DK" sz="1800" i="1" baseline="-25000" dirty="0" err="1"/>
                  <a:t>OL</a:t>
                </a:r>
                <a:r>
                  <a:rPr lang="da-DK" sz="1800" i="1" dirty="0" err="1"/>
                  <a:t>∙v</a:t>
                </a:r>
                <a:r>
                  <a:rPr lang="da-DK" sz="1800" i="1" baseline="-25000" dirty="0" err="1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2CEC5298-3966-F98D-0F15-6375783914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623" y="3275458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401C03AE-C5C9-0C83-78DD-84D408E7A5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9856" y="4268501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Undertitel 2">
                <a:extLst>
                  <a:ext uri="{FF2B5EF4-FFF2-40B4-BE49-F238E27FC236}">
                    <a16:creationId xmlns:a16="http://schemas.microsoft.com/office/drawing/2014/main" id="{923B1FA6-10C0-1B23-876B-CF3AC55C52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312" y="3977726"/>
                <a:ext cx="444779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v</a:t>
                </a:r>
                <a:r>
                  <a:rPr lang="da-DK" sz="1800" i="1" baseline="-25000" dirty="0" err="1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F2C0EAC5-3873-3133-A5EE-742B1834B967}"/>
                </a:ext>
              </a:extLst>
            </p:cNvPr>
            <p:cNvGrpSpPr/>
            <p:nvPr/>
          </p:nvGrpSpPr>
          <p:grpSpPr>
            <a:xfrm>
              <a:off x="1495760" y="4637056"/>
              <a:ext cx="1412168" cy="1132874"/>
              <a:chOff x="1495760" y="4637056"/>
              <a:chExt cx="1412168" cy="1132874"/>
            </a:xfrm>
          </p:grpSpPr>
          <p:cxnSp>
            <p:nvCxnSpPr>
              <p:cNvPr id="35" name="Vinklet forbindelse 17">
                <a:extLst>
                  <a:ext uri="{FF2B5EF4-FFF2-40B4-BE49-F238E27FC236}">
                    <a16:creationId xmlns:a16="http://schemas.microsoft.com/office/drawing/2014/main" id="{12963AB9-A525-65C2-20A6-70ADDB636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1784" y="4637056"/>
                <a:ext cx="1196144" cy="764319"/>
              </a:xfrm>
              <a:prstGeom prst="bentConnector3">
                <a:avLst>
                  <a:gd name="adj1" fmla="val -293"/>
                </a:avLst>
              </a:prstGeom>
              <a:ln w="12700">
                <a:solidFill>
                  <a:srgbClr val="FF0000"/>
                </a:solidFill>
                <a:prstDash val="lgDash"/>
                <a:headEnd type="none" w="med" len="med"/>
                <a:tailEnd type="triangle" w="med" len="med"/>
              </a:ln>
              <a:effectLst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Undertitel 2">
                <a:extLst>
                  <a:ext uri="{FF2B5EF4-FFF2-40B4-BE49-F238E27FC236}">
                    <a16:creationId xmlns:a16="http://schemas.microsoft.com/office/drawing/2014/main" id="{3F448FA3-B90C-730B-99D2-3759FC92A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760" y="5355215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>
                    <a:solidFill>
                      <a:srgbClr val="FF0000"/>
                    </a:solidFill>
                  </a:rPr>
                  <a:t>Z</a:t>
                </a:r>
                <a:r>
                  <a:rPr lang="da-DK" sz="1800" i="1" baseline="-25000" dirty="0">
                    <a:solidFill>
                      <a:srgbClr val="FF0000"/>
                    </a:solidFill>
                  </a:rPr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30" name="Vinklet forbindelse 17">
              <a:extLst>
                <a:ext uri="{FF2B5EF4-FFF2-40B4-BE49-F238E27FC236}">
                  <a16:creationId xmlns:a16="http://schemas.microsoft.com/office/drawing/2014/main" id="{E512188F-AF61-3114-7FE3-11993A3848C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4168" y="3083617"/>
              <a:ext cx="1196144" cy="764319"/>
            </a:xfrm>
            <a:prstGeom prst="bentConnector3">
              <a:avLst>
                <a:gd name="adj1" fmla="val -293"/>
              </a:avLst>
            </a:prstGeom>
            <a:ln w="12700">
              <a:solidFill>
                <a:srgbClr val="FF0000"/>
              </a:solidFill>
              <a:prstDash val="lgDash"/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910A2AC-8EA7-CE1D-0682-4B1A08F76BE1}"/>
              </a:ext>
            </a:extLst>
          </p:cNvPr>
          <p:cNvSpPr txBox="1">
            <a:spLocks/>
          </p:cNvSpPr>
          <p:nvPr/>
        </p:nvSpPr>
        <p:spPr>
          <a:xfrm>
            <a:off x="683568" y="5263223"/>
            <a:ext cx="199421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b="1" i="1" dirty="0"/>
              <a:t>Ikke</a:t>
            </a:r>
            <a:r>
              <a:rPr lang="da-DK" sz="1800" i="1" dirty="0"/>
              <a:t> ideel Op Amp:</a:t>
            </a:r>
          </a:p>
        </p:txBody>
      </p:sp>
      <p:sp>
        <p:nvSpPr>
          <p:cNvPr id="33" name="Undertitel 2">
            <a:extLst>
              <a:ext uri="{FF2B5EF4-FFF2-40B4-BE49-F238E27FC236}">
                <a16:creationId xmlns:a16="http://schemas.microsoft.com/office/drawing/2014/main" id="{094C8A31-750A-DBCD-C36E-A5AD2130D770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A1B105F7-9CC2-B58B-5797-CFD98DF6F78E}"/>
              </a:ext>
            </a:extLst>
          </p:cNvPr>
          <p:cNvGrpSpPr/>
          <p:nvPr/>
        </p:nvGrpSpPr>
        <p:grpSpPr>
          <a:xfrm>
            <a:off x="2771800" y="4931164"/>
            <a:ext cx="1224136" cy="1584176"/>
            <a:chOff x="3275856" y="2924944"/>
            <a:chExt cx="1224136" cy="1584176"/>
          </a:xfrm>
        </p:grpSpPr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7C66C4C3-2C7F-FBCF-99A0-F7C4D4A034DA}"/>
                </a:ext>
              </a:extLst>
            </p:cNvPr>
            <p:cNvSpPr txBox="1">
              <a:spLocks/>
            </p:cNvSpPr>
            <p:nvPr/>
          </p:nvSpPr>
          <p:spPr>
            <a:xfrm>
              <a:off x="3635896" y="2924944"/>
              <a:ext cx="4628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278098E5-1FBD-44B5-14D2-3C12D6A77AFD}"/>
                </a:ext>
              </a:extLst>
            </p:cNvPr>
            <p:cNvSpPr txBox="1">
              <a:spLocks/>
            </p:cNvSpPr>
            <p:nvPr/>
          </p:nvSpPr>
          <p:spPr>
            <a:xfrm>
              <a:off x="3275856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A</a:t>
              </a:r>
              <a:r>
                <a:rPr lang="da-DK" sz="1800" i="1" baseline="-25000" dirty="0"/>
                <a:t>OL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i="1" dirty="0"/>
            </a:p>
          </p:txBody>
        </p:sp>
        <p:sp>
          <p:nvSpPr>
            <p:cNvPr id="20" name="Titel 1">
              <a:extLst>
                <a:ext uri="{FF2B5EF4-FFF2-40B4-BE49-F238E27FC236}">
                  <a16:creationId xmlns:a16="http://schemas.microsoft.com/office/drawing/2014/main" id="{F6FB76AD-2C04-9789-60A2-7725A284182E}"/>
                </a:ext>
              </a:extLst>
            </p:cNvPr>
            <p:cNvSpPr txBox="1">
              <a:spLocks/>
            </p:cNvSpPr>
            <p:nvPr/>
          </p:nvSpPr>
          <p:spPr>
            <a:xfrm>
              <a:off x="3923928" y="2924944"/>
              <a:ext cx="576064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0 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</p:grpSp>
      <p:sp>
        <p:nvSpPr>
          <p:cNvPr id="21" name="Titel 1">
            <a:extLst>
              <a:ext uri="{FF2B5EF4-FFF2-40B4-BE49-F238E27FC236}">
                <a16:creationId xmlns:a16="http://schemas.microsoft.com/office/drawing/2014/main" id="{1B534558-B5D7-3D8F-EA13-79A6F53E4361}"/>
              </a:ext>
            </a:extLst>
          </p:cNvPr>
          <p:cNvSpPr txBox="1">
            <a:spLocks/>
          </p:cNvSpPr>
          <p:nvPr/>
        </p:nvSpPr>
        <p:spPr>
          <a:xfrm>
            <a:off x="4738024" y="5263222"/>
            <a:ext cx="235425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Se datablad for µA741</a:t>
            </a:r>
          </a:p>
        </p:txBody>
      </p:sp>
      <p:grpSp>
        <p:nvGrpSpPr>
          <p:cNvPr id="25" name="Gruppe 24">
            <a:extLst>
              <a:ext uri="{FF2B5EF4-FFF2-40B4-BE49-F238E27FC236}">
                <a16:creationId xmlns:a16="http://schemas.microsoft.com/office/drawing/2014/main" id="{0B5027DF-0975-D6FB-0CC3-55E9520A98CC}"/>
              </a:ext>
            </a:extLst>
          </p:cNvPr>
          <p:cNvGrpSpPr/>
          <p:nvPr/>
        </p:nvGrpSpPr>
        <p:grpSpPr>
          <a:xfrm>
            <a:off x="4864254" y="638584"/>
            <a:ext cx="1699248" cy="884914"/>
            <a:chOff x="3563888" y="1442454"/>
            <a:chExt cx="1699248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itel 1">
                  <a:extLst>
                    <a:ext uri="{FF2B5EF4-FFF2-40B4-BE49-F238E27FC236}">
                      <a16:creationId xmlns:a16="http://schemas.microsoft.com/office/drawing/2014/main" id="{88F8306E-EFE2-5409-D0CF-B0150565E62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1800" i="1">
                          <a:solidFill>
                            <a:srgbClr val="FF0000"/>
                          </a:solidFill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" name="Titel 1">
                  <a:extLst>
                    <a:ext uri="{FF2B5EF4-FFF2-40B4-BE49-F238E27FC236}">
                      <a16:creationId xmlns:a16="http://schemas.microsoft.com/office/drawing/2014/main" id="{88F8306E-EFE2-5409-D0CF-B0150565E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  <a:blipFill>
                  <a:blip r:embed="rId3"/>
                  <a:stretch>
                    <a:fillRect l="-6122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itel 1">
                  <a:extLst>
                    <a:ext uri="{FF2B5EF4-FFF2-40B4-BE49-F238E27FC236}">
                      <a16:creationId xmlns:a16="http://schemas.microsoft.com/office/drawing/2014/main" id="{3445CF46-8A38-4084-EBED-4C65401EFA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7" name="Titel 1">
                  <a:extLst>
                    <a:ext uri="{FF2B5EF4-FFF2-40B4-BE49-F238E27FC236}">
                      <a16:creationId xmlns:a16="http://schemas.microsoft.com/office/drawing/2014/main" id="{3445CF46-8A38-4084-EBED-4C65401EF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itel 1">
                  <a:extLst>
                    <a:ext uri="{FF2B5EF4-FFF2-40B4-BE49-F238E27FC236}">
                      <a16:creationId xmlns:a16="http://schemas.microsoft.com/office/drawing/2014/main" id="{2DBC884E-D362-84FE-338C-BD90A2E252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28" name="Titel 1">
                  <a:extLst>
                    <a:ext uri="{FF2B5EF4-FFF2-40B4-BE49-F238E27FC236}">
                      <a16:creationId xmlns:a16="http://schemas.microsoft.com/office/drawing/2014/main" id="{2DBC884E-D362-84FE-338C-BD90A2E25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  <a:blipFill>
                  <a:blip r:embed="rId5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802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4607F2BB-AA90-6068-A912-14E132813613}"/>
              </a:ext>
            </a:extLst>
          </p:cNvPr>
          <p:cNvGrpSpPr/>
          <p:nvPr/>
        </p:nvGrpSpPr>
        <p:grpSpPr>
          <a:xfrm>
            <a:off x="669028" y="540262"/>
            <a:ext cx="7805944" cy="4535495"/>
            <a:chOff x="669028" y="1234435"/>
            <a:chExt cx="7805944" cy="4535495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67A74D44-0179-016B-6362-F1372718B112}"/>
                </a:ext>
              </a:extLst>
            </p:cNvPr>
            <p:cNvGrpSpPr/>
            <p:nvPr/>
          </p:nvGrpSpPr>
          <p:grpSpPr>
            <a:xfrm>
              <a:off x="669028" y="1234435"/>
              <a:ext cx="7805944" cy="4389129"/>
              <a:chOff x="669028" y="1234435"/>
              <a:chExt cx="7805944" cy="4389129"/>
            </a:xfrm>
          </p:grpSpPr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619A78E3-8986-BD66-2429-CEF75236A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28" y="1234435"/>
                <a:ext cx="7805944" cy="4389129"/>
              </a:xfrm>
              <a:prstGeom prst="rect">
                <a:avLst/>
              </a:prstGeom>
            </p:spPr>
          </p:pic>
          <p:sp>
            <p:nvSpPr>
              <p:cNvPr id="3" name="Undertitel 2">
                <a:extLst>
                  <a:ext uri="{FF2B5EF4-FFF2-40B4-BE49-F238E27FC236}">
                    <a16:creationId xmlns:a16="http://schemas.microsoft.com/office/drawing/2014/main" id="{340F7AB6-417E-11F2-592D-A6FD8D7797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0315" y="242088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1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053743BE-24A1-89E6-CF1F-FD6A6271DC40}"/>
                  </a:ext>
                </a:extLst>
              </p:cNvPr>
              <p:cNvCxnSpPr/>
              <p:nvPr/>
            </p:nvCxnSpPr>
            <p:spPr>
              <a:xfrm flipV="1">
                <a:off x="2759895" y="4139556"/>
                <a:ext cx="0" cy="6480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4F641525-7B42-578D-3DFB-88B9E2BFEE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519" y="3645024"/>
                <a:ext cx="0" cy="10801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Undertitel 2">
                <a:extLst>
                  <a:ext uri="{FF2B5EF4-FFF2-40B4-BE49-F238E27FC236}">
                    <a16:creationId xmlns:a16="http://schemas.microsoft.com/office/drawing/2014/main" id="{F8DC298E-2079-EE7D-18B3-7E1B15429B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2563" y="170080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2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Undertitel 2">
                <a:extLst>
                  <a:ext uri="{FF2B5EF4-FFF2-40B4-BE49-F238E27FC236}">
                    <a16:creationId xmlns:a16="http://schemas.microsoft.com/office/drawing/2014/main" id="{DAE3B6D5-BA08-8A23-15A8-2E0695AF1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3253" y="3265932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36EAB521-B9EC-A09D-A614-0D5BAF6BF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4209" y="3068960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Lige pilforbindelse 11">
                <a:extLst>
                  <a:ext uri="{FF2B5EF4-FFF2-40B4-BE49-F238E27FC236}">
                    <a16:creationId xmlns:a16="http://schemas.microsoft.com/office/drawing/2014/main" id="{6AA7F0CC-E61D-0CF5-D1BC-25250EDA8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5856" y="3128779"/>
                <a:ext cx="0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Lige pilforbindelse 13">
                <a:extLst>
                  <a:ext uri="{FF2B5EF4-FFF2-40B4-BE49-F238E27FC236}">
                    <a16:creationId xmlns:a16="http://schemas.microsoft.com/office/drawing/2014/main" id="{9B11DD7A-89B6-0451-0865-4633185F755F}"/>
                  </a:ext>
                </a:extLst>
              </p:cNvPr>
              <p:cNvCxnSpPr/>
              <p:nvPr/>
            </p:nvCxnSpPr>
            <p:spPr>
              <a:xfrm flipV="1">
                <a:off x="5014143" y="4052694"/>
                <a:ext cx="0" cy="4869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Undertitel 2">
                <a:extLst>
                  <a:ext uri="{FF2B5EF4-FFF2-40B4-BE49-F238E27FC236}">
                    <a16:creationId xmlns:a16="http://schemas.microsoft.com/office/drawing/2014/main" id="{C528C659-0E25-9E99-919D-A11830592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0618" y="4106208"/>
                <a:ext cx="79208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A</a:t>
                </a:r>
                <a:r>
                  <a:rPr lang="da-DK" sz="1800" i="1" baseline="-25000" dirty="0" err="1"/>
                  <a:t>OL</a:t>
                </a:r>
                <a:r>
                  <a:rPr lang="da-DK" sz="1800" i="1" dirty="0" err="1"/>
                  <a:t>∙v</a:t>
                </a:r>
                <a:r>
                  <a:rPr lang="da-DK" sz="1800" i="1" baseline="-25000" dirty="0" err="1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2CEC5298-3966-F98D-0F15-6375783914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623" y="3275458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401C03AE-C5C9-0C83-78DD-84D408E7A5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9856" y="4268501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Undertitel 2">
                <a:extLst>
                  <a:ext uri="{FF2B5EF4-FFF2-40B4-BE49-F238E27FC236}">
                    <a16:creationId xmlns:a16="http://schemas.microsoft.com/office/drawing/2014/main" id="{923B1FA6-10C0-1B23-876B-CF3AC55C52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312" y="3977726"/>
                <a:ext cx="444779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v</a:t>
                </a:r>
                <a:r>
                  <a:rPr lang="da-DK" sz="1800" i="1" baseline="-25000" dirty="0" err="1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F2C0EAC5-3873-3133-A5EE-742B1834B967}"/>
                </a:ext>
              </a:extLst>
            </p:cNvPr>
            <p:cNvGrpSpPr/>
            <p:nvPr/>
          </p:nvGrpSpPr>
          <p:grpSpPr>
            <a:xfrm>
              <a:off x="1495760" y="4637056"/>
              <a:ext cx="1412168" cy="1132874"/>
              <a:chOff x="1495760" y="4637056"/>
              <a:chExt cx="1412168" cy="1132874"/>
            </a:xfrm>
          </p:grpSpPr>
          <p:cxnSp>
            <p:nvCxnSpPr>
              <p:cNvPr id="35" name="Vinklet forbindelse 17">
                <a:extLst>
                  <a:ext uri="{FF2B5EF4-FFF2-40B4-BE49-F238E27FC236}">
                    <a16:creationId xmlns:a16="http://schemas.microsoft.com/office/drawing/2014/main" id="{12963AB9-A525-65C2-20A6-70ADDB636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1784" y="4637056"/>
                <a:ext cx="1196144" cy="764319"/>
              </a:xfrm>
              <a:prstGeom prst="bentConnector3">
                <a:avLst>
                  <a:gd name="adj1" fmla="val -293"/>
                </a:avLst>
              </a:prstGeom>
              <a:ln w="12700">
                <a:solidFill>
                  <a:srgbClr val="FF0000"/>
                </a:solidFill>
                <a:prstDash val="lgDash"/>
                <a:headEnd type="none" w="med" len="med"/>
                <a:tailEnd type="triangle" w="med" len="med"/>
              </a:ln>
              <a:effectLst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Undertitel 2">
                <a:extLst>
                  <a:ext uri="{FF2B5EF4-FFF2-40B4-BE49-F238E27FC236}">
                    <a16:creationId xmlns:a16="http://schemas.microsoft.com/office/drawing/2014/main" id="{3F448FA3-B90C-730B-99D2-3759FC92A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760" y="5355215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>
                    <a:solidFill>
                      <a:srgbClr val="FF0000"/>
                    </a:solidFill>
                  </a:rPr>
                  <a:t>Z</a:t>
                </a:r>
                <a:r>
                  <a:rPr lang="da-DK" sz="1800" i="1" baseline="-25000" dirty="0">
                    <a:solidFill>
                      <a:srgbClr val="FF0000"/>
                    </a:solidFill>
                  </a:rPr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30" name="Vinklet forbindelse 17">
              <a:extLst>
                <a:ext uri="{FF2B5EF4-FFF2-40B4-BE49-F238E27FC236}">
                  <a16:creationId xmlns:a16="http://schemas.microsoft.com/office/drawing/2014/main" id="{E512188F-AF61-3114-7FE3-11993A3848C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4168" y="3083617"/>
              <a:ext cx="1196144" cy="764319"/>
            </a:xfrm>
            <a:prstGeom prst="bentConnector3">
              <a:avLst>
                <a:gd name="adj1" fmla="val -293"/>
              </a:avLst>
            </a:prstGeom>
            <a:ln w="12700">
              <a:solidFill>
                <a:srgbClr val="FF0000"/>
              </a:solidFill>
              <a:prstDash val="lgDash"/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910A2AC-8EA7-CE1D-0682-4B1A08F76BE1}"/>
              </a:ext>
            </a:extLst>
          </p:cNvPr>
          <p:cNvSpPr txBox="1">
            <a:spLocks/>
          </p:cNvSpPr>
          <p:nvPr/>
        </p:nvSpPr>
        <p:spPr>
          <a:xfrm>
            <a:off x="683568" y="5263223"/>
            <a:ext cx="199421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b="1" i="1" dirty="0"/>
              <a:t>Ikke</a:t>
            </a:r>
            <a:r>
              <a:rPr lang="da-DK" sz="1800" i="1" dirty="0"/>
              <a:t> ideel Op Amp:</a:t>
            </a:r>
          </a:p>
        </p:txBody>
      </p:sp>
      <p:sp>
        <p:nvSpPr>
          <p:cNvPr id="33" name="Undertitel 2">
            <a:extLst>
              <a:ext uri="{FF2B5EF4-FFF2-40B4-BE49-F238E27FC236}">
                <a16:creationId xmlns:a16="http://schemas.microsoft.com/office/drawing/2014/main" id="{094C8A31-750A-DBCD-C36E-A5AD2130D770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A1B105F7-9CC2-B58B-5797-CFD98DF6F78E}"/>
              </a:ext>
            </a:extLst>
          </p:cNvPr>
          <p:cNvGrpSpPr/>
          <p:nvPr/>
        </p:nvGrpSpPr>
        <p:grpSpPr>
          <a:xfrm>
            <a:off x="2771800" y="4931164"/>
            <a:ext cx="1224136" cy="1584176"/>
            <a:chOff x="3275856" y="2924944"/>
            <a:chExt cx="1224136" cy="1584176"/>
          </a:xfrm>
        </p:grpSpPr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7C66C4C3-2C7F-FBCF-99A0-F7C4D4A034DA}"/>
                </a:ext>
              </a:extLst>
            </p:cNvPr>
            <p:cNvSpPr txBox="1">
              <a:spLocks/>
            </p:cNvSpPr>
            <p:nvPr/>
          </p:nvSpPr>
          <p:spPr>
            <a:xfrm>
              <a:off x="3635896" y="2924944"/>
              <a:ext cx="4628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278098E5-1FBD-44B5-14D2-3C12D6A77AFD}"/>
                </a:ext>
              </a:extLst>
            </p:cNvPr>
            <p:cNvSpPr txBox="1">
              <a:spLocks/>
            </p:cNvSpPr>
            <p:nvPr/>
          </p:nvSpPr>
          <p:spPr>
            <a:xfrm>
              <a:off x="3275856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A</a:t>
              </a:r>
              <a:r>
                <a:rPr lang="da-DK" sz="1800" i="1" baseline="-25000" dirty="0"/>
                <a:t>OL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i="1" dirty="0"/>
            </a:p>
          </p:txBody>
        </p:sp>
        <p:sp>
          <p:nvSpPr>
            <p:cNvPr id="20" name="Titel 1">
              <a:extLst>
                <a:ext uri="{FF2B5EF4-FFF2-40B4-BE49-F238E27FC236}">
                  <a16:creationId xmlns:a16="http://schemas.microsoft.com/office/drawing/2014/main" id="{F6FB76AD-2C04-9789-60A2-7725A284182E}"/>
                </a:ext>
              </a:extLst>
            </p:cNvPr>
            <p:cNvSpPr txBox="1">
              <a:spLocks/>
            </p:cNvSpPr>
            <p:nvPr/>
          </p:nvSpPr>
          <p:spPr>
            <a:xfrm>
              <a:off x="3923928" y="2924944"/>
              <a:ext cx="576064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0 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</p:grpSp>
      <p:pic>
        <p:nvPicPr>
          <p:cNvPr id="25" name="Billede 24">
            <a:extLst>
              <a:ext uri="{FF2B5EF4-FFF2-40B4-BE49-F238E27FC236}">
                <a16:creationId xmlns:a16="http://schemas.microsoft.com/office/drawing/2014/main" id="{B3BF974D-F91C-FAA6-A241-99F9278F27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4941168"/>
            <a:ext cx="1584176" cy="1584176"/>
          </a:xfrm>
          <a:prstGeom prst="rect">
            <a:avLst/>
          </a:prstGeom>
        </p:spPr>
      </p:pic>
      <p:grpSp>
        <p:nvGrpSpPr>
          <p:cNvPr id="29" name="Gruppe 28">
            <a:extLst>
              <a:ext uri="{FF2B5EF4-FFF2-40B4-BE49-F238E27FC236}">
                <a16:creationId xmlns:a16="http://schemas.microsoft.com/office/drawing/2014/main" id="{4A269C1E-31E0-2FB7-667E-44CA732DE21D}"/>
              </a:ext>
            </a:extLst>
          </p:cNvPr>
          <p:cNvGrpSpPr/>
          <p:nvPr/>
        </p:nvGrpSpPr>
        <p:grpSpPr>
          <a:xfrm>
            <a:off x="4864254" y="638584"/>
            <a:ext cx="1699248" cy="884914"/>
            <a:chOff x="3563888" y="1442454"/>
            <a:chExt cx="1699248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itel 1">
                  <a:extLst>
                    <a:ext uri="{FF2B5EF4-FFF2-40B4-BE49-F238E27FC236}">
                      <a16:creationId xmlns:a16="http://schemas.microsoft.com/office/drawing/2014/main" id="{83BAA7B5-A1D6-85B5-D8C1-C63FA15E527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1800" i="1">
                          <a:solidFill>
                            <a:srgbClr val="FF0000"/>
                          </a:solidFill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Titel 1">
                  <a:extLst>
                    <a:ext uri="{FF2B5EF4-FFF2-40B4-BE49-F238E27FC236}">
                      <a16:creationId xmlns:a16="http://schemas.microsoft.com/office/drawing/2014/main" id="{83BAA7B5-A1D6-85B5-D8C1-C63FA15E5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  <a:blipFill>
                  <a:blip r:embed="rId4"/>
                  <a:stretch>
                    <a:fillRect l="-6122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itel 1">
                  <a:extLst>
                    <a:ext uri="{FF2B5EF4-FFF2-40B4-BE49-F238E27FC236}">
                      <a16:creationId xmlns:a16="http://schemas.microsoft.com/office/drawing/2014/main" id="{352A5EF1-4C51-4A0F-B7D9-FCC6619241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4" name="Titel 1">
                  <a:extLst>
                    <a:ext uri="{FF2B5EF4-FFF2-40B4-BE49-F238E27FC236}">
                      <a16:creationId xmlns:a16="http://schemas.microsoft.com/office/drawing/2014/main" id="{352A5EF1-4C51-4A0F-B7D9-FCC661924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itel 1">
                  <a:extLst>
                    <a:ext uri="{FF2B5EF4-FFF2-40B4-BE49-F238E27FC236}">
                      <a16:creationId xmlns:a16="http://schemas.microsoft.com/office/drawing/2014/main" id="{049FF92B-C435-DBD6-3433-4A180FB4DB0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36" name="Titel 1">
                  <a:extLst>
                    <a:ext uri="{FF2B5EF4-FFF2-40B4-BE49-F238E27FC236}">
                      <a16:creationId xmlns:a16="http://schemas.microsoft.com/office/drawing/2014/main" id="{049FF92B-C435-DBD6-3433-4A180FB4D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  <a:blipFill>
                  <a:blip r:embed="rId6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941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0B71A-34E7-D97C-1A45-CA05F1516A55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4607F2BB-AA90-6068-A912-14E132813613}"/>
              </a:ext>
            </a:extLst>
          </p:cNvPr>
          <p:cNvGrpSpPr/>
          <p:nvPr/>
        </p:nvGrpSpPr>
        <p:grpSpPr>
          <a:xfrm>
            <a:off x="669028" y="540262"/>
            <a:ext cx="7805944" cy="4535495"/>
            <a:chOff x="669028" y="1234435"/>
            <a:chExt cx="7805944" cy="4535495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67A74D44-0179-016B-6362-F1372718B112}"/>
                </a:ext>
              </a:extLst>
            </p:cNvPr>
            <p:cNvGrpSpPr/>
            <p:nvPr/>
          </p:nvGrpSpPr>
          <p:grpSpPr>
            <a:xfrm>
              <a:off x="669028" y="1234435"/>
              <a:ext cx="7805944" cy="4389129"/>
              <a:chOff x="669028" y="1234435"/>
              <a:chExt cx="7805944" cy="4389129"/>
            </a:xfrm>
          </p:grpSpPr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619A78E3-8986-BD66-2429-CEF75236A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28" y="1234435"/>
                <a:ext cx="7805944" cy="4389129"/>
              </a:xfrm>
              <a:prstGeom prst="rect">
                <a:avLst/>
              </a:prstGeom>
            </p:spPr>
          </p:pic>
          <p:sp>
            <p:nvSpPr>
              <p:cNvPr id="3" name="Undertitel 2">
                <a:extLst>
                  <a:ext uri="{FF2B5EF4-FFF2-40B4-BE49-F238E27FC236}">
                    <a16:creationId xmlns:a16="http://schemas.microsoft.com/office/drawing/2014/main" id="{340F7AB6-417E-11F2-592D-A6FD8D7797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0315" y="242088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1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053743BE-24A1-89E6-CF1F-FD6A6271DC40}"/>
                  </a:ext>
                </a:extLst>
              </p:cNvPr>
              <p:cNvCxnSpPr/>
              <p:nvPr/>
            </p:nvCxnSpPr>
            <p:spPr>
              <a:xfrm flipV="1">
                <a:off x="2759895" y="4139556"/>
                <a:ext cx="0" cy="6480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4F641525-7B42-578D-3DFB-88B9E2BFEE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519" y="3645024"/>
                <a:ext cx="0" cy="10801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Undertitel 2">
                <a:extLst>
                  <a:ext uri="{FF2B5EF4-FFF2-40B4-BE49-F238E27FC236}">
                    <a16:creationId xmlns:a16="http://schemas.microsoft.com/office/drawing/2014/main" id="{F8DC298E-2079-EE7D-18B3-7E1B15429B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2563" y="170080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2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Undertitel 2">
                <a:extLst>
                  <a:ext uri="{FF2B5EF4-FFF2-40B4-BE49-F238E27FC236}">
                    <a16:creationId xmlns:a16="http://schemas.microsoft.com/office/drawing/2014/main" id="{DAE3B6D5-BA08-8A23-15A8-2E0695AF1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3253" y="3265932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36EAB521-B9EC-A09D-A614-0D5BAF6BF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4209" y="3068960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Lige pilforbindelse 11">
                <a:extLst>
                  <a:ext uri="{FF2B5EF4-FFF2-40B4-BE49-F238E27FC236}">
                    <a16:creationId xmlns:a16="http://schemas.microsoft.com/office/drawing/2014/main" id="{6AA7F0CC-E61D-0CF5-D1BC-25250EDA8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5856" y="3128779"/>
                <a:ext cx="0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Lige pilforbindelse 13">
                <a:extLst>
                  <a:ext uri="{FF2B5EF4-FFF2-40B4-BE49-F238E27FC236}">
                    <a16:creationId xmlns:a16="http://schemas.microsoft.com/office/drawing/2014/main" id="{9B11DD7A-89B6-0451-0865-4633185F755F}"/>
                  </a:ext>
                </a:extLst>
              </p:cNvPr>
              <p:cNvCxnSpPr/>
              <p:nvPr/>
            </p:nvCxnSpPr>
            <p:spPr>
              <a:xfrm flipV="1">
                <a:off x="5014143" y="4052694"/>
                <a:ext cx="0" cy="4869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Undertitel 2">
                <a:extLst>
                  <a:ext uri="{FF2B5EF4-FFF2-40B4-BE49-F238E27FC236}">
                    <a16:creationId xmlns:a16="http://schemas.microsoft.com/office/drawing/2014/main" id="{C528C659-0E25-9E99-919D-A11830592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0618" y="4106208"/>
                <a:ext cx="79208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A</a:t>
                </a:r>
                <a:r>
                  <a:rPr lang="da-DK" sz="1800" i="1" baseline="-25000" dirty="0" err="1"/>
                  <a:t>OL</a:t>
                </a:r>
                <a:r>
                  <a:rPr lang="da-DK" sz="1800" i="1" dirty="0" err="1"/>
                  <a:t>∙v</a:t>
                </a:r>
                <a:r>
                  <a:rPr lang="da-DK" sz="1800" i="1" baseline="-25000" dirty="0" err="1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2CEC5298-3966-F98D-0F15-6375783914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623" y="3275458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401C03AE-C5C9-0C83-78DD-84D408E7A5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9856" y="4268501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Undertitel 2">
                <a:extLst>
                  <a:ext uri="{FF2B5EF4-FFF2-40B4-BE49-F238E27FC236}">
                    <a16:creationId xmlns:a16="http://schemas.microsoft.com/office/drawing/2014/main" id="{923B1FA6-10C0-1B23-876B-CF3AC55C52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312" y="3977726"/>
                <a:ext cx="444779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v</a:t>
                </a:r>
                <a:r>
                  <a:rPr lang="da-DK" sz="1800" i="1" baseline="-25000" dirty="0" err="1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F2C0EAC5-3873-3133-A5EE-742B1834B967}"/>
                </a:ext>
              </a:extLst>
            </p:cNvPr>
            <p:cNvGrpSpPr/>
            <p:nvPr/>
          </p:nvGrpSpPr>
          <p:grpSpPr>
            <a:xfrm>
              <a:off x="1495760" y="4637056"/>
              <a:ext cx="1412168" cy="1132874"/>
              <a:chOff x="1495760" y="4637056"/>
              <a:chExt cx="1412168" cy="1132874"/>
            </a:xfrm>
          </p:grpSpPr>
          <p:cxnSp>
            <p:nvCxnSpPr>
              <p:cNvPr id="35" name="Vinklet forbindelse 17">
                <a:extLst>
                  <a:ext uri="{FF2B5EF4-FFF2-40B4-BE49-F238E27FC236}">
                    <a16:creationId xmlns:a16="http://schemas.microsoft.com/office/drawing/2014/main" id="{12963AB9-A525-65C2-20A6-70ADDB636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1784" y="4637056"/>
                <a:ext cx="1196144" cy="764319"/>
              </a:xfrm>
              <a:prstGeom prst="bentConnector3">
                <a:avLst>
                  <a:gd name="adj1" fmla="val -293"/>
                </a:avLst>
              </a:prstGeom>
              <a:ln w="12700">
                <a:solidFill>
                  <a:srgbClr val="FF0000"/>
                </a:solidFill>
                <a:prstDash val="lgDash"/>
                <a:headEnd type="none" w="med" len="med"/>
                <a:tailEnd type="triangle" w="med" len="med"/>
              </a:ln>
              <a:effectLst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Undertitel 2">
                <a:extLst>
                  <a:ext uri="{FF2B5EF4-FFF2-40B4-BE49-F238E27FC236}">
                    <a16:creationId xmlns:a16="http://schemas.microsoft.com/office/drawing/2014/main" id="{3F448FA3-B90C-730B-99D2-3759FC92A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760" y="5355215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>
                    <a:solidFill>
                      <a:srgbClr val="FF0000"/>
                    </a:solidFill>
                  </a:rPr>
                  <a:t>Z</a:t>
                </a:r>
                <a:r>
                  <a:rPr lang="da-DK" sz="1800" i="1" baseline="-25000" dirty="0">
                    <a:solidFill>
                      <a:srgbClr val="FF0000"/>
                    </a:solidFill>
                  </a:rPr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30" name="Vinklet forbindelse 17">
              <a:extLst>
                <a:ext uri="{FF2B5EF4-FFF2-40B4-BE49-F238E27FC236}">
                  <a16:creationId xmlns:a16="http://schemas.microsoft.com/office/drawing/2014/main" id="{E512188F-AF61-3114-7FE3-11993A3848C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4168" y="3083617"/>
              <a:ext cx="1196144" cy="764319"/>
            </a:xfrm>
            <a:prstGeom prst="bentConnector3">
              <a:avLst>
                <a:gd name="adj1" fmla="val -293"/>
              </a:avLst>
            </a:prstGeom>
            <a:ln w="12700">
              <a:solidFill>
                <a:srgbClr val="FF0000"/>
              </a:solidFill>
              <a:prstDash val="lgDash"/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910A2AC-8EA7-CE1D-0682-4B1A08F76BE1}"/>
              </a:ext>
            </a:extLst>
          </p:cNvPr>
          <p:cNvSpPr txBox="1">
            <a:spLocks/>
          </p:cNvSpPr>
          <p:nvPr/>
        </p:nvSpPr>
        <p:spPr>
          <a:xfrm>
            <a:off x="683568" y="5263223"/>
            <a:ext cx="199421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b="1" i="1" dirty="0"/>
              <a:t>Ikke</a:t>
            </a:r>
            <a:r>
              <a:rPr lang="da-DK" sz="1800" i="1" dirty="0"/>
              <a:t> ideel Op Amp:</a:t>
            </a:r>
          </a:p>
        </p:txBody>
      </p:sp>
      <p:sp>
        <p:nvSpPr>
          <p:cNvPr id="33" name="Undertitel 2">
            <a:extLst>
              <a:ext uri="{FF2B5EF4-FFF2-40B4-BE49-F238E27FC236}">
                <a16:creationId xmlns:a16="http://schemas.microsoft.com/office/drawing/2014/main" id="{094C8A31-750A-DBCD-C36E-A5AD2130D770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A1B105F7-9CC2-B58B-5797-CFD98DF6F78E}"/>
              </a:ext>
            </a:extLst>
          </p:cNvPr>
          <p:cNvGrpSpPr/>
          <p:nvPr/>
        </p:nvGrpSpPr>
        <p:grpSpPr>
          <a:xfrm>
            <a:off x="2771800" y="4931164"/>
            <a:ext cx="1224136" cy="1584176"/>
            <a:chOff x="3275856" y="2924944"/>
            <a:chExt cx="1224136" cy="1584176"/>
          </a:xfrm>
        </p:grpSpPr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7C66C4C3-2C7F-FBCF-99A0-F7C4D4A034DA}"/>
                </a:ext>
              </a:extLst>
            </p:cNvPr>
            <p:cNvSpPr txBox="1">
              <a:spLocks/>
            </p:cNvSpPr>
            <p:nvPr/>
          </p:nvSpPr>
          <p:spPr>
            <a:xfrm>
              <a:off x="3635896" y="2924944"/>
              <a:ext cx="4628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278098E5-1FBD-44B5-14D2-3C12D6A77AFD}"/>
                </a:ext>
              </a:extLst>
            </p:cNvPr>
            <p:cNvSpPr txBox="1">
              <a:spLocks/>
            </p:cNvSpPr>
            <p:nvPr/>
          </p:nvSpPr>
          <p:spPr>
            <a:xfrm>
              <a:off x="3275856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A</a:t>
              </a:r>
              <a:r>
                <a:rPr lang="da-DK" sz="1800" i="1" baseline="-25000" dirty="0"/>
                <a:t>OL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i="1" dirty="0"/>
            </a:p>
          </p:txBody>
        </p:sp>
        <p:sp>
          <p:nvSpPr>
            <p:cNvPr id="20" name="Titel 1">
              <a:extLst>
                <a:ext uri="{FF2B5EF4-FFF2-40B4-BE49-F238E27FC236}">
                  <a16:creationId xmlns:a16="http://schemas.microsoft.com/office/drawing/2014/main" id="{F6FB76AD-2C04-9789-60A2-7725A284182E}"/>
                </a:ext>
              </a:extLst>
            </p:cNvPr>
            <p:cNvSpPr txBox="1">
              <a:spLocks/>
            </p:cNvSpPr>
            <p:nvPr/>
          </p:nvSpPr>
          <p:spPr>
            <a:xfrm>
              <a:off x="3923928" y="2924944"/>
              <a:ext cx="576064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0 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</p:grpSp>
      <p:grpSp>
        <p:nvGrpSpPr>
          <p:cNvPr id="29" name="Gruppe 28">
            <a:extLst>
              <a:ext uri="{FF2B5EF4-FFF2-40B4-BE49-F238E27FC236}">
                <a16:creationId xmlns:a16="http://schemas.microsoft.com/office/drawing/2014/main" id="{4A269C1E-31E0-2FB7-667E-44CA732DE21D}"/>
              </a:ext>
            </a:extLst>
          </p:cNvPr>
          <p:cNvGrpSpPr/>
          <p:nvPr/>
        </p:nvGrpSpPr>
        <p:grpSpPr>
          <a:xfrm>
            <a:off x="4864254" y="638584"/>
            <a:ext cx="1699248" cy="884914"/>
            <a:chOff x="3563888" y="1442454"/>
            <a:chExt cx="1699248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itel 1">
                  <a:extLst>
                    <a:ext uri="{FF2B5EF4-FFF2-40B4-BE49-F238E27FC236}">
                      <a16:creationId xmlns:a16="http://schemas.microsoft.com/office/drawing/2014/main" id="{83BAA7B5-A1D6-85B5-D8C1-C63FA15E527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1800" i="1">
                          <a:solidFill>
                            <a:srgbClr val="FF0000"/>
                          </a:solidFill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Titel 1">
                  <a:extLst>
                    <a:ext uri="{FF2B5EF4-FFF2-40B4-BE49-F238E27FC236}">
                      <a16:creationId xmlns:a16="http://schemas.microsoft.com/office/drawing/2014/main" id="{83BAA7B5-A1D6-85B5-D8C1-C63FA15E5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  <a:blipFill>
                  <a:blip r:embed="rId3"/>
                  <a:stretch>
                    <a:fillRect l="-6122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itel 1">
                  <a:extLst>
                    <a:ext uri="{FF2B5EF4-FFF2-40B4-BE49-F238E27FC236}">
                      <a16:creationId xmlns:a16="http://schemas.microsoft.com/office/drawing/2014/main" id="{352A5EF1-4C51-4A0F-B7D9-FCC6619241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4" name="Titel 1">
                  <a:extLst>
                    <a:ext uri="{FF2B5EF4-FFF2-40B4-BE49-F238E27FC236}">
                      <a16:creationId xmlns:a16="http://schemas.microsoft.com/office/drawing/2014/main" id="{352A5EF1-4C51-4A0F-B7D9-FCC661924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itel 1">
                  <a:extLst>
                    <a:ext uri="{FF2B5EF4-FFF2-40B4-BE49-F238E27FC236}">
                      <a16:creationId xmlns:a16="http://schemas.microsoft.com/office/drawing/2014/main" id="{049FF92B-C435-DBD6-3433-4A180FB4DB0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36" name="Titel 1">
                  <a:extLst>
                    <a:ext uri="{FF2B5EF4-FFF2-40B4-BE49-F238E27FC236}">
                      <a16:creationId xmlns:a16="http://schemas.microsoft.com/office/drawing/2014/main" id="{049FF92B-C435-DBD6-3433-4A180FB4D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  <a:blipFill>
                  <a:blip r:embed="rId5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itel 1">
            <a:extLst>
              <a:ext uri="{FF2B5EF4-FFF2-40B4-BE49-F238E27FC236}">
                <a16:creationId xmlns:a16="http://schemas.microsoft.com/office/drawing/2014/main" id="{5894C105-7DE2-4872-848A-DA71B2C4BA9C}"/>
              </a:ext>
            </a:extLst>
          </p:cNvPr>
          <p:cNvSpPr txBox="1">
            <a:spLocks/>
          </p:cNvSpPr>
          <p:nvPr/>
        </p:nvSpPr>
        <p:spPr>
          <a:xfrm>
            <a:off x="5295694" y="6442563"/>
            <a:ext cx="2930320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400" i="1" dirty="0"/>
              <a:t>Betragtninger af Thevenin modstand</a:t>
            </a:r>
          </a:p>
        </p:txBody>
      </p:sp>
      <p:cxnSp>
        <p:nvCxnSpPr>
          <p:cNvPr id="41" name="Lige pilforbindelse 40">
            <a:extLst>
              <a:ext uri="{FF2B5EF4-FFF2-40B4-BE49-F238E27FC236}">
                <a16:creationId xmlns:a16="http://schemas.microsoft.com/office/drawing/2014/main" id="{38A49E7C-D504-CF6D-7EF6-2997BD921EF3}"/>
              </a:ext>
            </a:extLst>
          </p:cNvPr>
          <p:cNvCxnSpPr>
            <a:cxnSpLocks/>
          </p:cNvCxnSpPr>
          <p:nvPr/>
        </p:nvCxnSpPr>
        <p:spPr>
          <a:xfrm>
            <a:off x="8244408" y="6630245"/>
            <a:ext cx="648072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406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AEF5-D270-1210-3E7E-A97B637E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247E8-0C5B-82D0-B380-09316DE199A1}"/>
              </a:ext>
            </a:extLst>
          </p:cNvPr>
          <p:cNvSpPr txBox="1">
            <a:spLocks/>
          </p:cNvSpPr>
          <p:nvPr/>
        </p:nvSpPr>
        <p:spPr>
          <a:xfrm>
            <a:off x="101154" y="53132"/>
            <a:ext cx="6480720" cy="438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Effekt af negativ feedback på </a:t>
            </a:r>
            <a:r>
              <a:rPr lang="da-DK" sz="2800" i="1" dirty="0" err="1"/>
              <a:t>Z</a:t>
            </a:r>
            <a:r>
              <a:rPr lang="da-DK" sz="2800" i="1" baseline="-25000" dirty="0" err="1"/>
              <a:t>o</a:t>
            </a:r>
            <a:r>
              <a:rPr lang="da-DK" sz="2800" i="1" dirty="0"/>
              <a:t>, Z</a:t>
            </a:r>
            <a:r>
              <a:rPr lang="da-DK" sz="2800" i="1" baseline="-25000" dirty="0"/>
              <a:t>in</a:t>
            </a:r>
            <a:r>
              <a:rPr lang="da-DK" sz="2800" i="1" dirty="0"/>
              <a:t> og A</a:t>
            </a:r>
            <a:r>
              <a:rPr lang="da-DK" sz="2800" i="1" baseline="-25000" dirty="0"/>
              <a:t>CL</a:t>
            </a:r>
            <a:r>
              <a:rPr lang="da-DK" sz="2800" i="1" dirty="0"/>
              <a:t> </a:t>
            </a:r>
          </a:p>
        </p:txBody>
      </p: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EF67C348-E724-A52E-97BB-CACDBD5415CB}"/>
              </a:ext>
            </a:extLst>
          </p:cNvPr>
          <p:cNvGrpSpPr/>
          <p:nvPr/>
        </p:nvGrpSpPr>
        <p:grpSpPr>
          <a:xfrm>
            <a:off x="669028" y="540262"/>
            <a:ext cx="7805944" cy="4535495"/>
            <a:chOff x="669028" y="1234435"/>
            <a:chExt cx="7805944" cy="4535495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5118B58D-77B9-D755-BF0F-5292941D71D8}"/>
                </a:ext>
              </a:extLst>
            </p:cNvPr>
            <p:cNvGrpSpPr/>
            <p:nvPr/>
          </p:nvGrpSpPr>
          <p:grpSpPr>
            <a:xfrm>
              <a:off x="669028" y="1234435"/>
              <a:ext cx="7805944" cy="4389129"/>
              <a:chOff x="669028" y="1234435"/>
              <a:chExt cx="7805944" cy="4389129"/>
            </a:xfrm>
          </p:grpSpPr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591B8CF8-660D-4312-2896-502699003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28" y="1234435"/>
                <a:ext cx="7805944" cy="4389129"/>
              </a:xfrm>
              <a:prstGeom prst="rect">
                <a:avLst/>
              </a:prstGeom>
            </p:spPr>
          </p:pic>
          <p:sp>
            <p:nvSpPr>
              <p:cNvPr id="3" name="Undertitel 2">
                <a:extLst>
                  <a:ext uri="{FF2B5EF4-FFF2-40B4-BE49-F238E27FC236}">
                    <a16:creationId xmlns:a16="http://schemas.microsoft.com/office/drawing/2014/main" id="{B2D61CB5-BBB6-0040-C9A5-2977817EEF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0315" y="242088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1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8FA16277-7C4E-E46E-C425-2B59528C5051}"/>
                  </a:ext>
                </a:extLst>
              </p:cNvPr>
              <p:cNvCxnSpPr/>
              <p:nvPr/>
            </p:nvCxnSpPr>
            <p:spPr>
              <a:xfrm flipV="1">
                <a:off x="2759895" y="4139556"/>
                <a:ext cx="0" cy="6480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Lige pilforbindelse 5">
                <a:extLst>
                  <a:ext uri="{FF2B5EF4-FFF2-40B4-BE49-F238E27FC236}">
                    <a16:creationId xmlns:a16="http://schemas.microsoft.com/office/drawing/2014/main" id="{2C1428E7-7CDF-0236-967B-4EC06BD95F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519" y="3645024"/>
                <a:ext cx="0" cy="10801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Undertitel 2">
                <a:extLst>
                  <a:ext uri="{FF2B5EF4-FFF2-40B4-BE49-F238E27FC236}">
                    <a16:creationId xmlns:a16="http://schemas.microsoft.com/office/drawing/2014/main" id="{BC49EAC1-AA9F-7614-D101-45E5C3F7E0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2563" y="1700808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2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Undertitel 2">
                <a:extLst>
                  <a:ext uri="{FF2B5EF4-FFF2-40B4-BE49-F238E27FC236}">
                    <a16:creationId xmlns:a16="http://schemas.microsoft.com/office/drawing/2014/main" id="{42578AB1-680D-F2AF-872C-86A79EC2F9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3253" y="3265932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88245A14-8255-25C0-8CD0-FDD0AC30D7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4209" y="3068960"/>
                <a:ext cx="531485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R</a:t>
                </a:r>
                <a:r>
                  <a:rPr lang="da-DK" sz="1800" i="1" baseline="-25000" dirty="0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Lige pilforbindelse 11">
                <a:extLst>
                  <a:ext uri="{FF2B5EF4-FFF2-40B4-BE49-F238E27FC236}">
                    <a16:creationId xmlns:a16="http://schemas.microsoft.com/office/drawing/2014/main" id="{3A775903-AE17-B9B4-265F-F95BD09626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5856" y="3128779"/>
                <a:ext cx="0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Lige pilforbindelse 13">
                <a:extLst>
                  <a:ext uri="{FF2B5EF4-FFF2-40B4-BE49-F238E27FC236}">
                    <a16:creationId xmlns:a16="http://schemas.microsoft.com/office/drawing/2014/main" id="{743400EE-B04E-7EFF-BEFE-9B3E5162FBEF}"/>
                  </a:ext>
                </a:extLst>
              </p:cNvPr>
              <p:cNvCxnSpPr/>
              <p:nvPr/>
            </p:nvCxnSpPr>
            <p:spPr>
              <a:xfrm flipV="1">
                <a:off x="5014143" y="4052694"/>
                <a:ext cx="0" cy="4869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Undertitel 2">
                <a:extLst>
                  <a:ext uri="{FF2B5EF4-FFF2-40B4-BE49-F238E27FC236}">
                    <a16:creationId xmlns:a16="http://schemas.microsoft.com/office/drawing/2014/main" id="{ED43AD81-E5B6-747E-7406-50904673C2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0618" y="4106208"/>
                <a:ext cx="79208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A</a:t>
                </a:r>
                <a:r>
                  <a:rPr lang="da-DK" sz="1800" i="1" baseline="-25000" dirty="0" err="1"/>
                  <a:t>OL</a:t>
                </a:r>
                <a:r>
                  <a:rPr lang="da-DK" sz="1800" i="1" dirty="0" err="1"/>
                  <a:t>∙v</a:t>
                </a:r>
                <a:r>
                  <a:rPr lang="da-DK" sz="1800" i="1" baseline="-25000" dirty="0" err="1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1709DB36-B2FB-BE58-C0B8-4A22B3CD4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623" y="3275458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id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Undertitel 2">
                <a:extLst>
                  <a:ext uri="{FF2B5EF4-FFF2-40B4-BE49-F238E27FC236}">
                    <a16:creationId xmlns:a16="http://schemas.microsoft.com/office/drawing/2014/main" id="{26EE1371-B923-7589-02A7-A6A7B792B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9856" y="4268501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/>
                  <a:t>v</a:t>
                </a:r>
                <a:r>
                  <a:rPr lang="da-DK" sz="1800" i="1" baseline="-25000" dirty="0"/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Undertitel 2">
                <a:extLst>
                  <a:ext uri="{FF2B5EF4-FFF2-40B4-BE49-F238E27FC236}">
                    <a16:creationId xmlns:a16="http://schemas.microsoft.com/office/drawing/2014/main" id="{C2400A46-2725-3988-A7BB-B8C1B09564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312" y="3977726"/>
                <a:ext cx="444779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1800" i="1" dirty="0" err="1"/>
                  <a:t>v</a:t>
                </a:r>
                <a:r>
                  <a:rPr lang="da-DK" sz="1800" i="1" baseline="-25000" dirty="0" err="1"/>
                  <a:t>o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B883D4C7-0658-0D6F-2C6A-EDD1DC80292F}"/>
                </a:ext>
              </a:extLst>
            </p:cNvPr>
            <p:cNvGrpSpPr/>
            <p:nvPr/>
          </p:nvGrpSpPr>
          <p:grpSpPr>
            <a:xfrm>
              <a:off x="1495760" y="4637056"/>
              <a:ext cx="1412168" cy="1132874"/>
              <a:chOff x="1495760" y="4637056"/>
              <a:chExt cx="1412168" cy="1132874"/>
            </a:xfrm>
          </p:grpSpPr>
          <p:cxnSp>
            <p:nvCxnSpPr>
              <p:cNvPr id="35" name="Vinklet forbindelse 17">
                <a:extLst>
                  <a:ext uri="{FF2B5EF4-FFF2-40B4-BE49-F238E27FC236}">
                    <a16:creationId xmlns:a16="http://schemas.microsoft.com/office/drawing/2014/main" id="{5667FBEC-460C-35B6-07D1-5053B6D414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1784" y="4637056"/>
                <a:ext cx="1196144" cy="764319"/>
              </a:xfrm>
              <a:prstGeom prst="bentConnector3">
                <a:avLst>
                  <a:gd name="adj1" fmla="val -293"/>
                </a:avLst>
              </a:prstGeom>
              <a:ln w="12700">
                <a:solidFill>
                  <a:srgbClr val="FF0000"/>
                </a:solidFill>
                <a:prstDash val="lgDash"/>
                <a:headEnd type="none" w="med" len="med"/>
                <a:tailEnd type="triangle" w="med" len="med"/>
              </a:ln>
              <a:effectLst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Undertitel 2">
                <a:extLst>
                  <a:ext uri="{FF2B5EF4-FFF2-40B4-BE49-F238E27FC236}">
                    <a16:creationId xmlns:a16="http://schemas.microsoft.com/office/drawing/2014/main" id="{AC67EF7D-DF99-E1A0-10C1-D02646C0AE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760" y="5355215"/>
                <a:ext cx="432048" cy="4147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  <a:tabLst>
                    <a:tab pos="1617663" algn="l"/>
                  </a:tabLst>
                </a:pPr>
                <a:r>
                  <a:rPr lang="da-DK" sz="1800" i="1" dirty="0">
                    <a:solidFill>
                      <a:srgbClr val="FF0000"/>
                    </a:solidFill>
                  </a:rPr>
                  <a:t>Z</a:t>
                </a:r>
                <a:r>
                  <a:rPr lang="da-DK" sz="1800" i="1" baseline="-25000" dirty="0">
                    <a:solidFill>
                      <a:srgbClr val="FF0000"/>
                    </a:solidFill>
                  </a:rPr>
                  <a:t>in</a:t>
                </a:r>
                <a:endParaRPr lang="da-DK" sz="1800" b="1" i="1" baseline="-25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30" name="Vinklet forbindelse 17">
              <a:extLst>
                <a:ext uri="{FF2B5EF4-FFF2-40B4-BE49-F238E27FC236}">
                  <a16:creationId xmlns:a16="http://schemas.microsoft.com/office/drawing/2014/main" id="{D10239BF-B5CC-635C-5C4D-635F0129DEC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4168" y="3083617"/>
              <a:ext cx="1196144" cy="764319"/>
            </a:xfrm>
            <a:prstGeom prst="bentConnector3">
              <a:avLst>
                <a:gd name="adj1" fmla="val -293"/>
              </a:avLst>
            </a:prstGeom>
            <a:ln w="12700">
              <a:solidFill>
                <a:srgbClr val="FF0000"/>
              </a:solidFill>
              <a:prstDash val="lgDash"/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FC0434AB-A77E-4394-3128-69A3026C488F}"/>
              </a:ext>
            </a:extLst>
          </p:cNvPr>
          <p:cNvSpPr txBox="1">
            <a:spLocks/>
          </p:cNvSpPr>
          <p:nvPr/>
        </p:nvSpPr>
        <p:spPr>
          <a:xfrm>
            <a:off x="683568" y="5263223"/>
            <a:ext cx="1994216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800" b="1" i="1" dirty="0"/>
              <a:t>Ikke</a:t>
            </a:r>
            <a:r>
              <a:rPr lang="da-DK" sz="1800" i="1" dirty="0"/>
              <a:t> ideel Op Amp:</a:t>
            </a:r>
          </a:p>
        </p:txBody>
      </p:sp>
      <p:sp>
        <p:nvSpPr>
          <p:cNvPr id="33" name="Undertitel 2">
            <a:extLst>
              <a:ext uri="{FF2B5EF4-FFF2-40B4-BE49-F238E27FC236}">
                <a16:creationId xmlns:a16="http://schemas.microsoft.com/office/drawing/2014/main" id="{0F87E769-52EC-3F24-4D06-A0E8D6EF2FAD}"/>
              </a:ext>
            </a:extLst>
          </p:cNvPr>
          <p:cNvSpPr txBox="1">
            <a:spLocks/>
          </p:cNvSpPr>
          <p:nvPr/>
        </p:nvSpPr>
        <p:spPr>
          <a:xfrm>
            <a:off x="7066128" y="2014747"/>
            <a:ext cx="404056" cy="414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tabLst>
                <a:tab pos="1617663" algn="l"/>
              </a:tabLst>
            </a:pPr>
            <a:r>
              <a:rPr lang="da-DK" sz="1800" i="1" dirty="0" err="1">
                <a:solidFill>
                  <a:srgbClr val="FF0000"/>
                </a:solidFill>
              </a:rPr>
              <a:t>Z</a:t>
            </a:r>
            <a:r>
              <a:rPr lang="da-DK" sz="1800" i="1" baseline="-25000" dirty="0" err="1">
                <a:solidFill>
                  <a:srgbClr val="FF0000"/>
                </a:solidFill>
              </a:rPr>
              <a:t>o</a:t>
            </a:r>
            <a:endParaRPr lang="da-DK" sz="1800" b="1" i="1" baseline="-25000" dirty="0">
              <a:solidFill>
                <a:srgbClr val="FF0000"/>
              </a:solidFill>
            </a:endParaRP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A7DDF0EA-CBA7-4A19-E3F6-0FFA62EE3A03}"/>
              </a:ext>
            </a:extLst>
          </p:cNvPr>
          <p:cNvGrpSpPr/>
          <p:nvPr/>
        </p:nvGrpSpPr>
        <p:grpSpPr>
          <a:xfrm>
            <a:off x="2771800" y="4931164"/>
            <a:ext cx="1224136" cy="1584176"/>
            <a:chOff x="3275856" y="2924944"/>
            <a:chExt cx="1224136" cy="1584176"/>
          </a:xfrm>
        </p:grpSpPr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A863DE65-4E45-F9D4-B5F5-8AD39905696F}"/>
                </a:ext>
              </a:extLst>
            </p:cNvPr>
            <p:cNvSpPr txBox="1">
              <a:spLocks/>
            </p:cNvSpPr>
            <p:nvPr/>
          </p:nvSpPr>
          <p:spPr>
            <a:xfrm>
              <a:off x="3635896" y="2924944"/>
              <a:ext cx="4628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  <a:p>
              <a:r>
                <a:rPr lang="da-DK" sz="1800" i="1" dirty="0"/>
                <a:t>≠</a:t>
              </a:r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69BC5C79-2AF9-7475-7685-2490669F3834}"/>
                </a:ext>
              </a:extLst>
            </p:cNvPr>
            <p:cNvSpPr txBox="1">
              <a:spLocks/>
            </p:cNvSpPr>
            <p:nvPr/>
          </p:nvSpPr>
          <p:spPr>
            <a:xfrm>
              <a:off x="3275856" y="2924944"/>
              <a:ext cx="720080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A</a:t>
              </a:r>
              <a:r>
                <a:rPr lang="da-DK" sz="1800" i="1" baseline="-25000" dirty="0"/>
                <a:t>OL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in</a:t>
              </a:r>
              <a:endParaRPr lang="da-DK" sz="1800" i="1" dirty="0"/>
            </a:p>
            <a:p>
              <a:pPr algn="l"/>
              <a:r>
                <a:rPr lang="da-DK" sz="1800" i="1" dirty="0"/>
                <a:t>R</a:t>
              </a:r>
              <a:r>
                <a:rPr lang="da-DK" sz="1800" i="1" baseline="-25000" dirty="0"/>
                <a:t>o</a:t>
              </a:r>
              <a:endParaRPr lang="da-DK" sz="1800" i="1" dirty="0"/>
            </a:p>
          </p:txBody>
        </p:sp>
        <p:sp>
          <p:nvSpPr>
            <p:cNvPr id="20" name="Titel 1">
              <a:extLst>
                <a:ext uri="{FF2B5EF4-FFF2-40B4-BE49-F238E27FC236}">
                  <a16:creationId xmlns:a16="http://schemas.microsoft.com/office/drawing/2014/main" id="{5F2C3A70-516C-F3A9-59D6-9F6E6E3584B9}"/>
                </a:ext>
              </a:extLst>
            </p:cNvPr>
            <p:cNvSpPr txBox="1">
              <a:spLocks/>
            </p:cNvSpPr>
            <p:nvPr/>
          </p:nvSpPr>
          <p:spPr>
            <a:xfrm>
              <a:off x="3923928" y="2924944"/>
              <a:ext cx="576064" cy="1584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∞</a:t>
              </a:r>
            </a:p>
            <a:p>
              <a:pPr algn="r"/>
              <a:r>
                <a:rPr lang="da-DK" sz="1800" i="1" dirty="0"/>
                <a:t>0 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</p:grpSp>
      <p:grpSp>
        <p:nvGrpSpPr>
          <p:cNvPr id="29" name="Gruppe 28">
            <a:extLst>
              <a:ext uri="{FF2B5EF4-FFF2-40B4-BE49-F238E27FC236}">
                <a16:creationId xmlns:a16="http://schemas.microsoft.com/office/drawing/2014/main" id="{6005CCAD-8648-E335-11AC-CCF0A8451EBE}"/>
              </a:ext>
            </a:extLst>
          </p:cNvPr>
          <p:cNvGrpSpPr/>
          <p:nvPr/>
        </p:nvGrpSpPr>
        <p:grpSpPr>
          <a:xfrm>
            <a:off x="4864254" y="638584"/>
            <a:ext cx="1699248" cy="884914"/>
            <a:chOff x="3563888" y="1442454"/>
            <a:chExt cx="1699248" cy="884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itel 1">
                  <a:extLst>
                    <a:ext uri="{FF2B5EF4-FFF2-40B4-BE49-F238E27FC236}">
                      <a16:creationId xmlns:a16="http://schemas.microsoft.com/office/drawing/2014/main" id="{4821A4C7-66A7-EC35-0966-48156F46FCB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α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  <m:r>
                        <m:rPr>
                          <m:nor/>
                        </m:rPr>
                        <a:rPr lang="da-DK" sz="1800" i="1">
                          <a:solidFill>
                            <a:srgbClr val="FF0000"/>
                          </a:solidFill>
                          <a:latin typeface="+mn-lt"/>
                        </a:rPr>
                        <m:t> ∙ 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Titel 1">
                  <a:extLst>
                    <a:ext uri="{FF2B5EF4-FFF2-40B4-BE49-F238E27FC236}">
                      <a16:creationId xmlns:a16="http://schemas.microsoft.com/office/drawing/2014/main" id="{4821A4C7-66A7-EC35-0966-48156F46F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850" y="1526896"/>
                  <a:ext cx="895286" cy="800472"/>
                </a:xfrm>
                <a:prstGeom prst="rect">
                  <a:avLst/>
                </a:prstGeom>
                <a:blipFill>
                  <a:blip r:embed="rId3"/>
                  <a:stretch>
                    <a:fillRect l="-6122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itel 1">
                  <a:extLst>
                    <a:ext uri="{FF2B5EF4-FFF2-40B4-BE49-F238E27FC236}">
                      <a16:creationId xmlns:a16="http://schemas.microsoft.com/office/drawing/2014/main" id="{7268AD30-25D7-82DF-BBD8-8D5C87C7902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f>
                        <m:fPr>
                          <m:ctrl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cs typeface="Arial" panose="020B0604020202020204" pitchFamily="34" charset="0"/>
                            </a:rPr>
                            <m:t>o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800" b="0" i="1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da-DK" sz="1800" b="0" i="1" baseline="-25000" smtClean="0">
                              <a:solidFill>
                                <a:srgbClr val="FF0000"/>
                              </a:solidFill>
                              <a:latin typeface="+mn-lt"/>
                              <a:cs typeface="Arial" panose="020B0604020202020204" pitchFamily="34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4" name="Titel 1">
                  <a:extLst>
                    <a:ext uri="{FF2B5EF4-FFF2-40B4-BE49-F238E27FC236}">
                      <a16:creationId xmlns:a16="http://schemas.microsoft.com/office/drawing/2014/main" id="{7268AD30-25D7-82DF-BBD8-8D5C87C79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684" y="1442454"/>
                  <a:ext cx="472865" cy="8004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itel 1">
                  <a:extLst>
                    <a:ext uri="{FF2B5EF4-FFF2-40B4-BE49-F238E27FC236}">
                      <a16:creationId xmlns:a16="http://schemas.microsoft.com/office/drawing/2014/main" id="{90A8D554-37F2-CE48-1246-D7AECC36D4A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da-DK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sz="1800" i="1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a-DK" sz="1800" i="1" baseline="-25000">
                              <a:solidFill>
                                <a:srgbClr val="FF0000"/>
                              </a:solidFill>
                              <a:latin typeface="+mn-lt"/>
                            </a:rPr>
                            <m:t>CL</m:t>
                          </m:r>
                        </m:sub>
                      </m:sSub>
                    </m:oMath>
                  </a14:m>
                  <a:r>
                    <a:rPr lang="da-DK" sz="1800" i="1" dirty="0">
                      <a:solidFill>
                        <a:srgbClr val="FF0000"/>
                      </a:solidFill>
                      <a:latin typeface="+mn-lt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36" name="Titel 1">
                  <a:extLst>
                    <a:ext uri="{FF2B5EF4-FFF2-40B4-BE49-F238E27FC236}">
                      <a16:creationId xmlns:a16="http://schemas.microsoft.com/office/drawing/2014/main" id="{90A8D554-37F2-CE48-1246-D7AECC36D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3888" y="1505397"/>
                  <a:ext cx="648072" cy="800472"/>
                </a:xfrm>
                <a:prstGeom prst="rect">
                  <a:avLst/>
                </a:prstGeom>
                <a:blipFill>
                  <a:blip r:embed="rId5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1" name="Billede 20">
            <a:extLst>
              <a:ext uri="{FF2B5EF4-FFF2-40B4-BE49-F238E27FC236}">
                <a16:creationId xmlns:a16="http://schemas.microsoft.com/office/drawing/2014/main" id="{F68A3E4A-C012-6F1A-F7E9-45A924DAF9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021288"/>
            <a:ext cx="548680" cy="548680"/>
          </a:xfrm>
          <a:prstGeom prst="rect">
            <a:avLst/>
          </a:prstGeom>
        </p:spPr>
      </p:pic>
      <p:sp>
        <p:nvSpPr>
          <p:cNvPr id="22" name="Titel 1">
            <a:extLst>
              <a:ext uri="{FF2B5EF4-FFF2-40B4-BE49-F238E27FC236}">
                <a16:creationId xmlns:a16="http://schemas.microsoft.com/office/drawing/2014/main" id="{34942DA5-DB82-4844-3319-DB2E131F0857}"/>
              </a:ext>
            </a:extLst>
          </p:cNvPr>
          <p:cNvSpPr txBox="1">
            <a:spLocks/>
          </p:cNvSpPr>
          <p:nvPr/>
        </p:nvSpPr>
        <p:spPr>
          <a:xfrm>
            <a:off x="6581874" y="6442563"/>
            <a:ext cx="2518742" cy="375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400" i="1" dirty="0"/>
              <a:t>Vi starter lige med at beregne </a:t>
            </a:r>
            <a:r>
              <a:rPr lang="el-GR" sz="1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da-DK" sz="1400" i="1" dirty="0"/>
          </a:p>
        </p:txBody>
      </p:sp>
    </p:spTree>
    <p:extLst>
      <p:ext uri="{BB962C8B-B14F-4D97-AF65-F5344CB8AC3E}">
        <p14:creationId xmlns:p14="http://schemas.microsoft.com/office/powerpoint/2010/main" val="2511510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64704" y="1461011"/>
            <a:ext cx="8414592" cy="671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Generelle betragtninger af forstærker med negativ feedback</a:t>
            </a:r>
          </a:p>
        </p:txBody>
      </p:sp>
    </p:spTree>
    <p:extLst>
      <p:ext uri="{BB962C8B-B14F-4D97-AF65-F5344CB8AC3E}">
        <p14:creationId xmlns:p14="http://schemas.microsoft.com/office/powerpoint/2010/main" val="2108249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E05BFB8D-55C0-4CB9-96E7-46EA52700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52" y="3702295"/>
            <a:ext cx="3993381" cy="1763961"/>
          </a:xfrm>
          <a:prstGeom prst="rect">
            <a:avLst/>
          </a:prstGeom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6984776" cy="432048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Forstærker med negativ feedback</a:t>
            </a:r>
            <a:endParaRPr lang="da-DK" sz="2800" b="1" i="1" baseline="-25000" dirty="0"/>
          </a:p>
        </p:txBody>
      </p:sp>
      <p:pic>
        <p:nvPicPr>
          <p:cNvPr id="7" name="Picture 11" descr="AAAZZJO0.EPS 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23C35B69-0C49-4589-A419-FE557BC68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503829" cy="228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AA2CF9FC-256B-43F4-91EE-3693764F5317}"/>
              </a:ext>
            </a:extLst>
          </p:cNvPr>
          <p:cNvSpPr txBox="1">
            <a:spLocks/>
          </p:cNvSpPr>
          <p:nvPr/>
        </p:nvSpPr>
        <p:spPr>
          <a:xfrm>
            <a:off x="4313914" y="3586747"/>
            <a:ext cx="970994" cy="297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/>
              <a:t>Figur 9.1</a:t>
            </a:r>
          </a:p>
        </p:txBody>
      </p:sp>
    </p:spTree>
    <p:extLst>
      <p:ext uri="{BB962C8B-B14F-4D97-AF65-F5344CB8AC3E}">
        <p14:creationId xmlns:p14="http://schemas.microsoft.com/office/powerpoint/2010/main" val="321362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BD90281A-181E-440F-AAAE-B797633B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52" y="3702295"/>
            <a:ext cx="3993381" cy="1763961"/>
          </a:xfrm>
          <a:prstGeom prst="rect">
            <a:avLst/>
          </a:prstGeom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6984776" cy="432048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Forstærker med negativ feedback</a:t>
            </a:r>
            <a:endParaRPr lang="da-DK" sz="2800" b="1" i="1" baseline="-25000" dirty="0"/>
          </a:p>
        </p:txBody>
      </p:sp>
      <p:pic>
        <p:nvPicPr>
          <p:cNvPr id="7" name="Picture 11" descr="AAAZZJO0.EPS 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FBB7EC04-F81A-4B22-8391-9E03762B8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503829" cy="228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284D6D8-176D-4C9B-90F4-063B608BBEA0}"/>
              </a:ext>
            </a:extLst>
          </p:cNvPr>
          <p:cNvSpPr txBox="1">
            <a:spLocks/>
          </p:cNvSpPr>
          <p:nvPr/>
        </p:nvSpPr>
        <p:spPr>
          <a:xfrm>
            <a:off x="4313914" y="3586747"/>
            <a:ext cx="970994" cy="297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/>
              <a:t>Figur 9.1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01DB0DB3-6023-4FF1-BC51-C850372B9C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5470974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01DB0DB3-6023-4FF1-BC51-C850372B9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5470974"/>
                <a:ext cx="6423471" cy="954181"/>
              </a:xfrm>
              <a:prstGeom prst="rect">
                <a:avLst/>
              </a:prstGeom>
              <a:blipFill>
                <a:blip r:embed="rId4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481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CA8586E4-4BFA-465A-8011-CBF177F1D5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52" y="3702295"/>
            <a:ext cx="3993381" cy="1763961"/>
          </a:xfrm>
          <a:prstGeom prst="rect">
            <a:avLst/>
          </a:prstGeom>
        </p:spPr>
      </p:pic>
      <p:pic>
        <p:nvPicPr>
          <p:cNvPr id="53259" name="Picture 11" descr="AAAZZJO0.EPS                                                   0003078BMacintosh HD                   B3377F2F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503829" cy="228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>
          <a:xfrm>
            <a:off x="4313914" y="3586747"/>
            <a:ext cx="970994" cy="297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/>
              <a:t>Figur 9.1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6984776" cy="432048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Forstærker med negativ feedback</a:t>
            </a:r>
            <a:endParaRPr lang="da-DK" sz="2800" b="1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41EBD8A-8125-4AF3-8227-97F092A0E4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5470974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41EBD8A-8125-4AF3-8227-97F092A0E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5470974"/>
                <a:ext cx="6423471" cy="954181"/>
              </a:xfrm>
              <a:prstGeom prst="rect">
                <a:avLst/>
              </a:prstGeom>
              <a:blipFill>
                <a:blip r:embed="rId4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el 1">
            <a:extLst>
              <a:ext uri="{FF2B5EF4-FFF2-40B4-BE49-F238E27FC236}">
                <a16:creationId xmlns:a16="http://schemas.microsoft.com/office/drawing/2014/main" id="{6B7E01D4-5E1C-45D4-AC4E-6CD997257DCF}"/>
              </a:ext>
            </a:extLst>
          </p:cNvPr>
          <p:cNvSpPr txBox="1">
            <a:spLocks/>
          </p:cNvSpPr>
          <p:nvPr/>
        </p:nvSpPr>
        <p:spPr>
          <a:xfrm>
            <a:off x="1788960" y="4418220"/>
            <a:ext cx="2736304" cy="551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600" i="1" dirty="0">
                <a:solidFill>
                  <a:srgbClr val="FF0000"/>
                </a:solidFill>
              </a:rPr>
              <a:t>Bemærk </a:t>
            </a:r>
            <a:r>
              <a:rPr lang="el-GR" sz="1600" i="1" dirty="0">
                <a:solidFill>
                  <a:srgbClr val="FF0000"/>
                </a:solidFill>
              </a:rPr>
              <a:t>α</a:t>
            </a:r>
            <a:r>
              <a:rPr lang="da-DK" sz="1600" i="1" dirty="0">
                <a:solidFill>
                  <a:srgbClr val="FF0000"/>
                </a:solidFill>
              </a:rPr>
              <a:t> = 1 idet </a:t>
            </a:r>
            <a:r>
              <a:rPr lang="da-DK" sz="1600" i="1" dirty="0" err="1">
                <a:solidFill>
                  <a:srgbClr val="FF0000"/>
                </a:solidFill>
              </a:rPr>
              <a:t>x</a:t>
            </a:r>
            <a:r>
              <a:rPr lang="da-DK" sz="1600" i="1" baseline="-25000" dirty="0" err="1">
                <a:solidFill>
                  <a:srgbClr val="FF0000"/>
                </a:solidFill>
              </a:rPr>
              <a:t>s</a:t>
            </a:r>
            <a:r>
              <a:rPr lang="da-DK" sz="1600" i="1" dirty="0">
                <a:solidFill>
                  <a:srgbClr val="FF0000"/>
                </a:solidFill>
              </a:rPr>
              <a:t> betragtes som indgangssignal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3C5D8153-6A48-4442-B3D3-2C5551675B2C}"/>
              </a:ext>
            </a:extLst>
          </p:cNvPr>
          <p:cNvCxnSpPr>
            <a:cxnSpLocks/>
          </p:cNvCxnSpPr>
          <p:nvPr/>
        </p:nvCxnSpPr>
        <p:spPr>
          <a:xfrm>
            <a:off x="3707904" y="4797152"/>
            <a:ext cx="504056" cy="70674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095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FD23EFEC-9FEE-4F6D-B0F8-080296D9F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FD23EFEC-9FEE-4F6D-B0F8-080296D9F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  <a:blipFill>
                <a:blip r:embed="rId2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Billede 2">
            <a:extLst>
              <a:ext uri="{FF2B5EF4-FFF2-40B4-BE49-F238E27FC236}">
                <a16:creationId xmlns:a16="http://schemas.microsoft.com/office/drawing/2014/main" id="{917E77A5-A6A5-455D-ABB0-3DA4DF1A9E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751784"/>
            <a:ext cx="3307951" cy="146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9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576701" y="1772816"/>
            <a:ext cx="4715380" cy="108012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534988" algn="l"/>
              </a:tabLst>
            </a:pPr>
            <a:r>
              <a:rPr lang="da-DK" sz="2400" i="1" dirty="0"/>
              <a:t>A:	</a:t>
            </a:r>
            <a:r>
              <a:rPr lang="da-DK" sz="2400" b="1" i="1" dirty="0"/>
              <a:t>Åben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OL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20492D6-3431-4369-97F4-E1FE0AFCD9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20492D6-3431-4369-97F4-E1FE0AFCD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  <a:blipFill>
                <a:blip r:embed="rId2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8BECF1B9-97D6-4E73-98FD-31E332AF5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751784"/>
            <a:ext cx="3307951" cy="1461192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A57A2670-A59F-EBE5-63F0-484DBEB25927}"/>
              </a:ext>
            </a:extLst>
          </p:cNvPr>
          <p:cNvSpPr/>
          <p:nvPr/>
        </p:nvSpPr>
        <p:spPr>
          <a:xfrm>
            <a:off x="7444109" y="2044294"/>
            <a:ext cx="335131" cy="33849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253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576701" y="1772816"/>
            <a:ext cx="4859396" cy="108012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534988" algn="l"/>
              </a:tabLst>
            </a:pPr>
            <a:r>
              <a:rPr lang="da-DK" sz="2400" i="1" dirty="0"/>
              <a:t>A:	</a:t>
            </a:r>
            <a:r>
              <a:rPr lang="da-DK" sz="2400" b="1" i="1" dirty="0"/>
              <a:t>Åben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OL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  <a:p>
            <a:pPr algn="l">
              <a:tabLst>
                <a:tab pos="534988" algn="l"/>
              </a:tabLst>
            </a:pPr>
            <a:r>
              <a:rPr lang="da-DK" sz="2400" i="1" dirty="0"/>
              <a:t>A</a:t>
            </a:r>
            <a:r>
              <a:rPr lang="da-DK" sz="2400" i="1" baseline="-25000" dirty="0"/>
              <a:t>f</a:t>
            </a:r>
            <a:r>
              <a:rPr lang="da-DK" sz="2400" i="1" dirty="0"/>
              <a:t>:	</a:t>
            </a:r>
            <a:r>
              <a:rPr lang="da-DK" sz="2400" b="1" i="1" dirty="0"/>
              <a:t>Lukket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CL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99714838-4B1D-4C1A-9CB1-5592B8949C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99714838-4B1D-4C1A-9CB1-5592B8949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  <a:blipFill>
                <a:blip r:embed="rId2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39C84252-87FB-4AB3-90C0-2D7B9FDE1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751784"/>
            <a:ext cx="3307951" cy="1461192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11753008-5F25-016B-C494-1CC7CEA23EA5}"/>
              </a:ext>
            </a:extLst>
          </p:cNvPr>
          <p:cNvSpPr/>
          <p:nvPr/>
        </p:nvSpPr>
        <p:spPr>
          <a:xfrm>
            <a:off x="8388424" y="2060848"/>
            <a:ext cx="216024" cy="218189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E949B09-F059-8E1C-0894-02891EA145BE}"/>
              </a:ext>
            </a:extLst>
          </p:cNvPr>
          <p:cNvSpPr/>
          <p:nvPr/>
        </p:nvSpPr>
        <p:spPr>
          <a:xfrm>
            <a:off x="6564438" y="2060848"/>
            <a:ext cx="216024" cy="218189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Kombinationstegning: figur 7">
            <a:extLst>
              <a:ext uri="{FF2B5EF4-FFF2-40B4-BE49-F238E27FC236}">
                <a16:creationId xmlns:a16="http://schemas.microsoft.com/office/drawing/2014/main" id="{B95CEAEE-900B-B1BA-AC3C-3008FCF77D1B}"/>
              </a:ext>
            </a:extLst>
          </p:cNvPr>
          <p:cNvSpPr/>
          <p:nvPr/>
        </p:nvSpPr>
        <p:spPr>
          <a:xfrm>
            <a:off x="6667499" y="1556793"/>
            <a:ext cx="1833563" cy="360040"/>
          </a:xfrm>
          <a:custGeom>
            <a:avLst/>
            <a:gdLst>
              <a:gd name="connsiteX0" fmla="*/ 0 w 1833563"/>
              <a:gd name="connsiteY0" fmla="*/ 204788 h 204788"/>
              <a:gd name="connsiteX1" fmla="*/ 928688 w 1833563"/>
              <a:gd name="connsiteY1" fmla="*/ 0 h 204788"/>
              <a:gd name="connsiteX2" fmla="*/ 1833563 w 1833563"/>
              <a:gd name="connsiteY2" fmla="*/ 204788 h 204788"/>
              <a:gd name="connsiteX3" fmla="*/ 1833563 w 1833563"/>
              <a:gd name="connsiteY3" fmla="*/ 204788 h 20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3563" h="204788">
                <a:moveTo>
                  <a:pt x="0" y="204788"/>
                </a:moveTo>
                <a:cubicBezTo>
                  <a:pt x="311547" y="102394"/>
                  <a:pt x="623094" y="0"/>
                  <a:pt x="928688" y="0"/>
                </a:cubicBezTo>
                <a:cubicBezTo>
                  <a:pt x="1234282" y="0"/>
                  <a:pt x="1833563" y="204788"/>
                  <a:pt x="1833563" y="204788"/>
                </a:cubicBezTo>
                <a:lnTo>
                  <a:pt x="1833563" y="204788"/>
                </a:lnTo>
              </a:path>
            </a:pathLst>
          </a:custGeom>
          <a:noFill/>
          <a:ln w="9525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564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576701" y="1772816"/>
            <a:ext cx="4715380" cy="1368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534988" algn="l"/>
              </a:tabLst>
            </a:pPr>
            <a:r>
              <a:rPr lang="da-DK" sz="2400" i="1" dirty="0"/>
              <a:t>A:	</a:t>
            </a:r>
            <a:r>
              <a:rPr lang="da-DK" sz="2400" b="1" i="1" dirty="0"/>
              <a:t>Åben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OL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  <a:p>
            <a:pPr algn="l">
              <a:tabLst>
                <a:tab pos="534988" algn="l"/>
              </a:tabLst>
            </a:pPr>
            <a:r>
              <a:rPr lang="da-DK" sz="2400" i="1" dirty="0"/>
              <a:t>A</a:t>
            </a:r>
            <a:r>
              <a:rPr lang="da-DK" sz="2400" i="1" baseline="-25000" dirty="0"/>
              <a:t>f</a:t>
            </a:r>
            <a:r>
              <a:rPr lang="da-DK" sz="2400" i="1" dirty="0"/>
              <a:t>:	</a:t>
            </a:r>
            <a:r>
              <a:rPr lang="da-DK" sz="2400" b="1" i="1" dirty="0"/>
              <a:t>Lukket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CL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  <a:p>
            <a:pPr algn="l">
              <a:tabLst>
                <a:tab pos="534988" algn="l"/>
              </a:tabLst>
            </a:pP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/>
              <a:t>A:	</a:t>
            </a:r>
            <a:r>
              <a:rPr lang="da-DK" sz="2400" b="1" i="1" dirty="0"/>
              <a:t>Sløjfe</a:t>
            </a:r>
            <a:r>
              <a:rPr lang="da-DK" sz="2400" i="1" dirty="0"/>
              <a:t>forstærkningen </a:t>
            </a:r>
            <a:r>
              <a:rPr lang="da-DK" sz="2400" i="1" dirty="0">
                <a:solidFill>
                  <a:srgbClr val="FF0000"/>
                </a:solidFill>
              </a:rPr>
              <a:t>(</a:t>
            </a:r>
            <a:r>
              <a:rPr lang="el-GR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>
                <a:solidFill>
                  <a:srgbClr val="FF0000"/>
                </a:solidFill>
              </a:rPr>
              <a:t>A</a:t>
            </a:r>
            <a:r>
              <a:rPr lang="da-DK" sz="2400" i="1" baseline="-25000" dirty="0">
                <a:solidFill>
                  <a:srgbClr val="FF0000"/>
                </a:solidFill>
              </a:rPr>
              <a:t>OL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  <a:p>
            <a:pPr algn="l">
              <a:tabLst>
                <a:tab pos="534988" algn="l"/>
              </a:tabLst>
            </a:pPr>
            <a:endParaRPr lang="da-DK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EC308A19-2A0A-4A87-80FB-F196FD5AEC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EC308A19-2A0A-4A87-80FB-F196FD5AE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  <a:blipFill>
                <a:blip r:embed="rId2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0F4F1F13-F20F-4140-894F-5D4D4B0DCB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751784"/>
            <a:ext cx="3307951" cy="1461192"/>
          </a:xfrm>
          <a:prstGeom prst="rect">
            <a:avLst/>
          </a:prstGeom>
        </p:spPr>
      </p:pic>
      <p:sp>
        <p:nvSpPr>
          <p:cNvPr id="10" name="Kombinationstegning: figur 9">
            <a:extLst>
              <a:ext uri="{FF2B5EF4-FFF2-40B4-BE49-F238E27FC236}">
                <a16:creationId xmlns:a16="http://schemas.microsoft.com/office/drawing/2014/main" id="{BF4FF89D-D1ED-7F1C-E178-84E73FE9A78E}"/>
              </a:ext>
            </a:extLst>
          </p:cNvPr>
          <p:cNvSpPr/>
          <p:nvPr/>
        </p:nvSpPr>
        <p:spPr>
          <a:xfrm>
            <a:off x="7020272" y="2204864"/>
            <a:ext cx="1139851" cy="665211"/>
          </a:xfrm>
          <a:custGeom>
            <a:avLst/>
            <a:gdLst>
              <a:gd name="connsiteX0" fmla="*/ 183032 w 1492850"/>
              <a:gd name="connsiteY0" fmla="*/ 93538 h 1302150"/>
              <a:gd name="connsiteX1" fmla="*/ 1335557 w 1492850"/>
              <a:gd name="connsiteY1" fmla="*/ 103063 h 1302150"/>
              <a:gd name="connsiteX2" fmla="*/ 1359370 w 1492850"/>
              <a:gd name="connsiteY2" fmla="*/ 1141288 h 1302150"/>
              <a:gd name="connsiteX3" fmla="*/ 192557 w 1492850"/>
              <a:gd name="connsiteY3" fmla="*/ 1222250 h 1302150"/>
              <a:gd name="connsiteX4" fmla="*/ 2057 w 1492850"/>
              <a:gd name="connsiteY4" fmla="*/ 384050 h 1302150"/>
              <a:gd name="connsiteX5" fmla="*/ 2057 w 1492850"/>
              <a:gd name="connsiteY5" fmla="*/ 384050 h 130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2850" h="1302150">
                <a:moveTo>
                  <a:pt x="183032" y="93538"/>
                </a:moveTo>
                <a:cubicBezTo>
                  <a:pt x="661266" y="10988"/>
                  <a:pt x="1139501" y="-71562"/>
                  <a:pt x="1335557" y="103063"/>
                </a:cubicBezTo>
                <a:cubicBezTo>
                  <a:pt x="1531613" y="277688"/>
                  <a:pt x="1549870" y="954757"/>
                  <a:pt x="1359370" y="1141288"/>
                </a:cubicBezTo>
                <a:cubicBezTo>
                  <a:pt x="1168870" y="1327819"/>
                  <a:pt x="418776" y="1348456"/>
                  <a:pt x="192557" y="1222250"/>
                </a:cubicBezTo>
                <a:cubicBezTo>
                  <a:pt x="-33662" y="1096044"/>
                  <a:pt x="2057" y="384050"/>
                  <a:pt x="2057" y="384050"/>
                </a:cubicBezTo>
                <a:lnTo>
                  <a:pt x="2057" y="384050"/>
                </a:lnTo>
              </a:path>
            </a:pathLst>
          </a:custGeom>
          <a:noFill/>
          <a:ln w="9525">
            <a:solidFill>
              <a:srgbClr val="FF0000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995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3771896" y="3492325"/>
            <a:ext cx="1505859" cy="483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/>
              <a:t>A &gt;&gt; 1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1224751" y="4581128"/>
            <a:ext cx="658761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 err="1"/>
              <a:t>Lukketsløjfeforstærkningen</a:t>
            </a:r>
            <a:r>
              <a:rPr lang="da-DK" sz="2400" i="1" dirty="0"/>
              <a:t> A</a:t>
            </a:r>
            <a:r>
              <a:rPr lang="da-DK" sz="2400" i="1" baseline="-25000" dirty="0"/>
              <a:t>f</a:t>
            </a:r>
            <a:r>
              <a:rPr lang="da-DK" sz="2400" i="1" dirty="0"/>
              <a:t> bliver uafhængig af åbensløjfeforstærkningen A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5868144" y="5550437"/>
            <a:ext cx="2831707" cy="686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b="1" i="1" dirty="0">
                <a:solidFill>
                  <a:srgbClr val="FF0000"/>
                </a:solidFill>
              </a:rPr>
              <a:t>A</a:t>
            </a:r>
            <a:r>
              <a:rPr lang="da-DK" sz="1400" i="1" dirty="0">
                <a:solidFill>
                  <a:srgbClr val="FF0000"/>
                </a:solidFill>
              </a:rPr>
              <a:t> afhænger ofte </a:t>
            </a:r>
            <a:r>
              <a:rPr lang="da-DK" sz="1400" b="1" i="1" dirty="0">
                <a:solidFill>
                  <a:srgbClr val="FF0000"/>
                </a:solidFill>
              </a:rPr>
              <a:t>markant</a:t>
            </a:r>
            <a:r>
              <a:rPr lang="da-DK" sz="1400" i="1" dirty="0">
                <a:solidFill>
                  <a:srgbClr val="FF0000"/>
                </a:solidFill>
              </a:rPr>
              <a:t> af den aktive komponents parametre ( A</a:t>
            </a:r>
            <a:r>
              <a:rPr lang="da-DK" sz="1400" i="1" baseline="-25000" dirty="0">
                <a:solidFill>
                  <a:srgbClr val="FF0000"/>
                </a:solidFill>
              </a:rPr>
              <a:t>OL</a:t>
            </a:r>
            <a:r>
              <a:rPr lang="da-DK" sz="1400" i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8" name="Lige pilforbindelse 7"/>
          <p:cNvCxnSpPr/>
          <p:nvPr/>
        </p:nvCxnSpPr>
        <p:spPr>
          <a:xfrm>
            <a:off x="4518555" y="3997334"/>
            <a:ext cx="0" cy="514363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576700" y="1772816"/>
            <a:ext cx="7379675" cy="1368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534988" algn="l"/>
              </a:tabLst>
            </a:pPr>
            <a:r>
              <a:rPr lang="da-DK" sz="2400" i="1" dirty="0"/>
              <a:t>A:	</a:t>
            </a:r>
            <a:r>
              <a:rPr lang="da-DK" sz="2400" b="1" i="1" dirty="0"/>
              <a:t>Åben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OL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  <a:p>
            <a:pPr algn="l">
              <a:tabLst>
                <a:tab pos="534988" algn="l"/>
              </a:tabLst>
            </a:pPr>
            <a:r>
              <a:rPr lang="da-DK" sz="2400" i="1" dirty="0"/>
              <a:t>A</a:t>
            </a:r>
            <a:r>
              <a:rPr lang="da-DK" sz="2400" i="1" baseline="-25000" dirty="0"/>
              <a:t>f</a:t>
            </a:r>
            <a:r>
              <a:rPr lang="da-DK" sz="2400" i="1" dirty="0"/>
              <a:t>:	</a:t>
            </a:r>
            <a:r>
              <a:rPr lang="da-DK" sz="2400" b="1" i="1" dirty="0"/>
              <a:t>Lukket</a:t>
            </a:r>
            <a:r>
              <a:rPr lang="da-DK" sz="2400" i="1" dirty="0"/>
              <a:t>sløjfeforstærkningen </a:t>
            </a:r>
            <a:r>
              <a:rPr lang="da-DK" sz="2400" i="1" dirty="0">
                <a:solidFill>
                  <a:srgbClr val="FF0000"/>
                </a:solidFill>
              </a:rPr>
              <a:t>(A</a:t>
            </a:r>
            <a:r>
              <a:rPr lang="da-DK" sz="2400" i="1" baseline="-25000" dirty="0">
                <a:solidFill>
                  <a:srgbClr val="FF0000"/>
                </a:solidFill>
              </a:rPr>
              <a:t>CL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</a:p>
          <a:p>
            <a:pPr algn="l">
              <a:tabLst>
                <a:tab pos="534988" algn="l"/>
              </a:tabLst>
            </a:pPr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/>
              <a:t>A	</a:t>
            </a:r>
            <a:r>
              <a:rPr lang="da-DK" sz="2400" b="1" i="1" dirty="0"/>
              <a:t>Sløjfe</a:t>
            </a:r>
            <a:r>
              <a:rPr lang="da-DK" sz="2400" i="1" dirty="0"/>
              <a:t>forstærkningen </a:t>
            </a:r>
            <a:r>
              <a:rPr lang="da-DK" sz="2400" i="1" dirty="0">
                <a:solidFill>
                  <a:srgbClr val="FF0000"/>
                </a:solidFill>
              </a:rPr>
              <a:t>(</a:t>
            </a:r>
            <a:r>
              <a:rPr lang="el-GR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>
                <a:solidFill>
                  <a:srgbClr val="FF0000"/>
                </a:solidFill>
              </a:rPr>
              <a:t>A</a:t>
            </a:r>
            <a:r>
              <a:rPr lang="da-DK" sz="2400" i="1" baseline="-25000" dirty="0">
                <a:solidFill>
                  <a:srgbClr val="FF0000"/>
                </a:solidFill>
              </a:rPr>
              <a:t>OL</a:t>
            </a:r>
            <a:r>
              <a:rPr lang="da-DK" sz="2400" i="1" dirty="0">
                <a:solidFill>
                  <a:srgbClr val="FF0000"/>
                </a:solidFill>
              </a:rPr>
              <a:t>)</a:t>
            </a:r>
            <a:endParaRPr lang="da-DK" sz="2400" i="1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395536" y="3356992"/>
            <a:ext cx="1907068" cy="9496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b="1" i="1" dirty="0">
                <a:solidFill>
                  <a:srgbClr val="FF0000"/>
                </a:solidFill>
              </a:rPr>
              <a:t>A</a:t>
            </a:r>
            <a:r>
              <a:rPr lang="da-DK" sz="1400" b="1" i="1" baseline="-25000" dirty="0">
                <a:solidFill>
                  <a:srgbClr val="FF0000"/>
                </a:solidFill>
              </a:rPr>
              <a:t>f</a:t>
            </a:r>
            <a:r>
              <a:rPr lang="da-DK" sz="1400" i="1" dirty="0">
                <a:solidFill>
                  <a:srgbClr val="FF0000"/>
                </a:solidFill>
              </a:rPr>
              <a:t> er hele kredsløbets performance set fra terminalerne udefra.</a:t>
            </a:r>
          </a:p>
        </p:txBody>
      </p:sp>
      <p:cxnSp>
        <p:nvCxnSpPr>
          <p:cNvPr id="11" name="Lige pilforbindelse 10"/>
          <p:cNvCxnSpPr/>
          <p:nvPr/>
        </p:nvCxnSpPr>
        <p:spPr>
          <a:xfrm>
            <a:off x="1293949" y="4203189"/>
            <a:ext cx="325723" cy="449947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/>
          <p:cNvCxnSpPr/>
          <p:nvPr/>
        </p:nvCxnSpPr>
        <p:spPr>
          <a:xfrm flipH="1" flipV="1">
            <a:off x="6236810" y="5294831"/>
            <a:ext cx="322349" cy="36004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3F242E6-DC21-46C4-BD30-BFE0DCEEC9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/>
                          <m:t>s</m:t>
                        </m:r>
                      </m:den>
                    </m:f>
                    <m: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/>
                      <m:t>=</m:t>
                    </m:r>
                    <m:r>
                      <a:rPr lang="da-DK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3F242E6-DC21-46C4-BD30-BFE0DCEEC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386587"/>
                <a:ext cx="6423471" cy="954181"/>
              </a:xfrm>
              <a:prstGeom prst="rect">
                <a:avLst/>
              </a:prstGeom>
              <a:blipFill>
                <a:blip r:embed="rId2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Billede 1">
            <a:extLst>
              <a:ext uri="{FF2B5EF4-FFF2-40B4-BE49-F238E27FC236}">
                <a16:creationId xmlns:a16="http://schemas.microsoft.com/office/drawing/2014/main" id="{5937D27F-8003-3EB2-0692-6DCB044FC5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751784"/>
            <a:ext cx="3307951" cy="146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97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251520" y="332656"/>
            <a:ext cx="568863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/>
              <a:t> er typisk bestemt af </a:t>
            </a:r>
            <a:r>
              <a:rPr lang="da-DK" sz="2400" b="1" i="1" dirty="0"/>
              <a:t>passive</a:t>
            </a:r>
            <a:r>
              <a:rPr lang="da-DK" sz="2400" i="1" dirty="0"/>
              <a:t> komponenter: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18A43D-C674-B265-71D9-C6FDCB307D6D}"/>
              </a:ext>
            </a:extLst>
          </p:cNvPr>
          <p:cNvSpPr txBox="1">
            <a:spLocks/>
          </p:cNvSpPr>
          <p:nvPr/>
        </p:nvSpPr>
        <p:spPr>
          <a:xfrm>
            <a:off x="6020544" y="332656"/>
            <a:ext cx="135976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R, C, etc.</a:t>
            </a:r>
          </a:p>
        </p:txBody>
      </p:sp>
    </p:spTree>
    <p:extLst>
      <p:ext uri="{BB962C8B-B14F-4D97-AF65-F5344CB8AC3E}">
        <p14:creationId xmlns:p14="http://schemas.microsoft.com/office/powerpoint/2010/main" val="1168168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251520" y="332656"/>
            <a:ext cx="568863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/>
              <a:t> er typisk bestemt af </a:t>
            </a:r>
            <a:r>
              <a:rPr lang="da-DK" sz="2400" b="1" i="1" dirty="0"/>
              <a:t>passive</a:t>
            </a:r>
            <a:r>
              <a:rPr lang="da-DK" sz="2400" i="1" dirty="0"/>
              <a:t> komponenter:</a:t>
            </a:r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576698" y="3933056"/>
            <a:ext cx="7883731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…kan man udskifte den </a:t>
            </a:r>
            <a:r>
              <a:rPr lang="da-DK" sz="2400" b="1" i="1" dirty="0"/>
              <a:t>aktive komponent </a:t>
            </a:r>
            <a:r>
              <a:rPr lang="da-DK" sz="2400" i="1" dirty="0"/>
              <a:t>og opnå </a:t>
            </a:r>
            <a:r>
              <a:rPr lang="da-DK" sz="2400" b="1" i="1" dirty="0"/>
              <a:t>uændret performance</a:t>
            </a:r>
            <a:r>
              <a:rPr lang="da-DK" sz="2400" i="1" dirty="0"/>
              <a:t>, hvis blot…</a:t>
            </a:r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3203848" y="5013176"/>
            <a:ext cx="2339118" cy="936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24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/>
              <a:t>A &gt;&gt; 1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251520" y="1556792"/>
            <a:ext cx="1034505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22EDC86B-8259-4945-8A4D-18D30DF646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25" y="2258795"/>
                <a:ext cx="6423471" cy="9541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</a:rPr>
                      <m:t>=</m:t>
                    </m:r>
                    <m:r>
                      <m:rPr>
                        <m:nor/>
                      </m:rPr>
                      <a:rPr lang="da-DK" sz="24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</a:rPr>
                      <m:t> </m:t>
                    </m:r>
                    <m:f>
                      <m:fPr>
                        <m:ctrlPr>
                          <a:rPr lang="da-DK" sz="2400" i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</a:rPr>
                          <m:t>o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da-DK" sz="2400" b="0" i="1" baseline="-25000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</a:rPr>
                          <m:t>s</m:t>
                        </m:r>
                      </m:den>
                    </m:f>
                    <m:r>
                      <a:rPr lang="da-DK" sz="24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m:t>=</m:t>
                    </m:r>
                    <m:r>
                      <a:rPr lang="da-DK" sz="24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</a:rPr>
                          <m:t>1+ 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+mn-lt"/>
                            <a:ea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 dirty="0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 dirty="0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 dirty="0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nor/>
                              </m:rPr>
                              <a:rPr lang="da-DK" sz="2400" i="1" dirty="0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da-DK" sz="2400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40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+mn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m:rPr>
                        <m:nor/>
                      </m:rPr>
                      <a:rPr lang="da-DK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a-DK" sz="2400" i="1" dirty="0" smtClean="0"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da-DK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da-DK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da-DK" sz="2400" i="1" dirty="0">
                                    <a:latin typeface="Arial" panose="020B0604020202020204" pitchFamily="34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da-DK" sz="2400" i="1" dirty="0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da-DK" sz="2400" i="1" dirty="0" smtClean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da-DK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→∞</m:t>
                        </m:r>
                      </m:sub>
                    </m:sSub>
                  </m:oMath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22EDC86B-8259-4945-8A4D-18D30DF6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25" y="2258795"/>
                <a:ext cx="6423471" cy="954181"/>
              </a:xfrm>
              <a:prstGeom prst="rect">
                <a:avLst/>
              </a:prstGeom>
              <a:blipFill>
                <a:blip r:embed="rId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1918A43D-C674-B265-71D9-C6FDCB307D6D}"/>
              </a:ext>
            </a:extLst>
          </p:cNvPr>
          <p:cNvSpPr txBox="1">
            <a:spLocks/>
          </p:cNvSpPr>
          <p:nvPr/>
        </p:nvSpPr>
        <p:spPr>
          <a:xfrm>
            <a:off x="6020544" y="332656"/>
            <a:ext cx="135976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R, C, etc.</a:t>
            </a:r>
          </a:p>
        </p:txBody>
      </p:sp>
    </p:spTree>
    <p:extLst>
      <p:ext uri="{BB962C8B-B14F-4D97-AF65-F5344CB8AC3E}">
        <p14:creationId xmlns:p14="http://schemas.microsoft.com/office/powerpoint/2010/main" val="1162924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576699" y="1340768"/>
            <a:ext cx="7883731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feedback signalet </a:t>
            </a:r>
            <a:r>
              <a:rPr lang="da-DK" sz="2400" b="1" i="1" dirty="0"/>
              <a:t>samples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Feedback typer</a:t>
            </a:r>
            <a:endParaRPr lang="da-DK" sz="2800" b="1" i="1" baseline="-2500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75155A7-A7FC-48BE-9768-B9A9E5C9D903}"/>
              </a:ext>
            </a:extLst>
          </p:cNvPr>
          <p:cNvSpPr txBox="1">
            <a:spLocks/>
          </p:cNvSpPr>
          <p:nvPr/>
        </p:nvSpPr>
        <p:spPr>
          <a:xfrm>
            <a:off x="3275856" y="2705742"/>
            <a:ext cx="2664296" cy="6480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Spænding/strøm</a:t>
            </a:r>
            <a:endParaRPr lang="da-DK" sz="2400" b="1" i="1" dirty="0"/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EF622299-6A85-4219-BC13-1D2403EA8FD7}"/>
              </a:ext>
            </a:extLst>
          </p:cNvPr>
          <p:cNvCxnSpPr/>
          <p:nvPr/>
        </p:nvCxnSpPr>
        <p:spPr>
          <a:xfrm flipV="1">
            <a:off x="4608004" y="1916832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Billede 1">
            <a:extLst>
              <a:ext uri="{FF2B5EF4-FFF2-40B4-BE49-F238E27FC236}">
                <a16:creationId xmlns:a16="http://schemas.microsoft.com/office/drawing/2014/main" id="{39F2DB6D-F745-E9F3-0261-3492F163CC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09829"/>
            <a:ext cx="3307951" cy="146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12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576699" y="1340768"/>
            <a:ext cx="7883731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feedback signalet </a:t>
            </a:r>
            <a:r>
              <a:rPr lang="da-DK" sz="2400" b="1" i="1" dirty="0"/>
              <a:t>samples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576699" y="3933056"/>
            <a:ext cx="7883731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feedback signalet </a:t>
            </a:r>
            <a:r>
              <a:rPr lang="da-DK" sz="2400" b="1" i="1" dirty="0"/>
              <a:t>føres tilbage</a:t>
            </a:r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3275856" y="2705742"/>
            <a:ext cx="2664296" cy="6480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Spænding/strøm</a:t>
            </a:r>
            <a:endParaRPr lang="da-DK" sz="2400" b="1" i="1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3275856" y="5301208"/>
            <a:ext cx="2304256" cy="6480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Serie/parallel</a:t>
            </a:r>
            <a:endParaRPr lang="da-DK" sz="2400" b="1" i="1" dirty="0"/>
          </a:p>
        </p:txBody>
      </p:sp>
      <p:cxnSp>
        <p:nvCxnSpPr>
          <p:cNvPr id="12" name="Lige pilforbindelse 11"/>
          <p:cNvCxnSpPr/>
          <p:nvPr/>
        </p:nvCxnSpPr>
        <p:spPr>
          <a:xfrm flipV="1">
            <a:off x="4608004" y="1916832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/>
          <p:cNvCxnSpPr/>
          <p:nvPr/>
        </p:nvCxnSpPr>
        <p:spPr>
          <a:xfrm flipV="1">
            <a:off x="4355976" y="4437112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Feedback typer</a:t>
            </a:r>
            <a:endParaRPr lang="da-DK" sz="2800" b="1" i="1" baseline="-25000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5EE09C91-868C-FAA7-5062-6614513A64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09829"/>
            <a:ext cx="3307951" cy="146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51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&#10;AAAZZKBOa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23404998-3EC3-4F87-81E7-445AE5C9F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1539"/>
            <a:ext cx="4360487" cy="27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&#10;AAAZZKBOb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E1E0758F-684F-4D87-B9D5-08D921E83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91539"/>
            <a:ext cx="4320480" cy="278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&#10;AAAZZKBOc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777247AD-45AD-4D45-B2ED-6D49F0C2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56992"/>
            <a:ext cx="4348797" cy="27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&#10;AAAZZKBOd.EPS                                                  0003078BMacintosh HD                   B3377F2F:">
            <a:extLst>
              <a:ext uri="{FF2B5EF4-FFF2-40B4-BE49-F238E27FC236}">
                <a16:creationId xmlns:a16="http://schemas.microsoft.com/office/drawing/2014/main" id="{0F601399-E239-4B9F-B373-1BACAFBC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997" y="3356992"/>
            <a:ext cx="4297499" cy="278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E7D460B4-5051-406D-A7F5-599DF7AEF29F}"/>
              </a:ext>
            </a:extLst>
          </p:cNvPr>
          <p:cNvSpPr txBox="1">
            <a:spLocks/>
          </p:cNvSpPr>
          <p:nvPr/>
        </p:nvSpPr>
        <p:spPr>
          <a:xfrm>
            <a:off x="4021645" y="6270043"/>
            <a:ext cx="1099123" cy="327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00" i="1" dirty="0"/>
              <a:t>Figur 9.14</a:t>
            </a:r>
          </a:p>
        </p:txBody>
      </p:sp>
    </p:spTree>
    <p:extLst>
      <p:ext uri="{BB962C8B-B14F-4D97-AF65-F5344CB8AC3E}">
        <p14:creationId xmlns:p14="http://schemas.microsoft.com/office/powerpoint/2010/main" val="874866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576700" y="939428"/>
            <a:ext cx="5579476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kilde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4499992" y="2282270"/>
            <a:ext cx="1654318" cy="486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Set fra R</a:t>
            </a:r>
            <a:r>
              <a:rPr lang="da-DK" sz="2400" i="1" baseline="-25000" dirty="0"/>
              <a:t>L</a:t>
            </a:r>
            <a:endParaRPr lang="da-DK" sz="2400" b="1" i="1" baseline="-25000" dirty="0"/>
          </a:p>
        </p:txBody>
      </p:sp>
      <p:cxnSp>
        <p:nvCxnSpPr>
          <p:cNvPr id="12" name="Lige pilforbindelse 11"/>
          <p:cNvCxnSpPr/>
          <p:nvPr/>
        </p:nvCxnSpPr>
        <p:spPr>
          <a:xfrm flipV="1">
            <a:off x="5327151" y="1412776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 txBox="1">
            <a:spLocks/>
          </p:cNvSpPr>
          <p:nvPr/>
        </p:nvSpPr>
        <p:spPr>
          <a:xfrm>
            <a:off x="35496" y="44624"/>
            <a:ext cx="5760640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Baggrund for valg af feedback type</a:t>
            </a:r>
            <a:endParaRPr lang="da-DK" sz="2800" b="1" i="1" baseline="-25000" dirty="0"/>
          </a:p>
        </p:txBody>
      </p:sp>
      <p:grpSp>
        <p:nvGrpSpPr>
          <p:cNvPr id="22" name="Gruppe 21"/>
          <p:cNvGrpSpPr/>
          <p:nvPr/>
        </p:nvGrpSpPr>
        <p:grpSpPr>
          <a:xfrm>
            <a:off x="820699" y="1700808"/>
            <a:ext cx="3391261" cy="1271976"/>
            <a:chOff x="820699" y="5181360"/>
            <a:chExt cx="3391261" cy="1271976"/>
          </a:xfrm>
        </p:grpSpPr>
        <p:pic>
          <p:nvPicPr>
            <p:cNvPr id="16" name="Picture 11" descr="AAAZZJO0.EPS 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518136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Vinklet forbindelse 2"/>
            <p:cNvCxnSpPr/>
            <p:nvPr/>
          </p:nvCxnSpPr>
          <p:spPr>
            <a:xfrm rot="10800000">
              <a:off x="3095836" y="5589240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tel 1"/>
            <p:cNvSpPr txBox="1">
              <a:spLocks/>
            </p:cNvSpPr>
            <p:nvPr/>
          </p:nvSpPr>
          <p:spPr>
            <a:xfrm>
              <a:off x="3408071" y="5973448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5075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576700" y="939428"/>
            <a:ext cx="5579476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kilde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576700" y="3531716"/>
            <a:ext cx="6155540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belastning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4499992" y="2282270"/>
            <a:ext cx="1654318" cy="486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Set fra R</a:t>
            </a:r>
            <a:r>
              <a:rPr lang="da-DK" sz="2400" i="1" baseline="-25000" dirty="0"/>
              <a:t>L</a:t>
            </a:r>
            <a:endParaRPr lang="da-DK" sz="2400" b="1" i="1" baseline="-25000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4932040" y="4886311"/>
            <a:ext cx="1573838" cy="486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Set fra v</a:t>
            </a:r>
            <a:r>
              <a:rPr lang="da-DK" sz="2400" i="1" baseline="-25000" dirty="0"/>
              <a:t>s</a:t>
            </a:r>
            <a:endParaRPr lang="da-DK" sz="2400" b="1" i="1" baseline="-25000" dirty="0"/>
          </a:p>
        </p:txBody>
      </p:sp>
      <p:cxnSp>
        <p:nvCxnSpPr>
          <p:cNvPr id="12" name="Lige pilforbindelse 11"/>
          <p:cNvCxnSpPr/>
          <p:nvPr/>
        </p:nvCxnSpPr>
        <p:spPr>
          <a:xfrm flipV="1">
            <a:off x="5327151" y="1412776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/>
          <p:cNvCxnSpPr/>
          <p:nvPr/>
        </p:nvCxnSpPr>
        <p:spPr>
          <a:xfrm flipV="1">
            <a:off x="5718959" y="3941631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 txBox="1">
            <a:spLocks/>
          </p:cNvSpPr>
          <p:nvPr/>
        </p:nvSpPr>
        <p:spPr>
          <a:xfrm>
            <a:off x="35496" y="44624"/>
            <a:ext cx="5760640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Baggrund for valg af feedback type</a:t>
            </a:r>
            <a:endParaRPr lang="da-DK" sz="2800" b="1" i="1" baseline="-25000" dirty="0"/>
          </a:p>
        </p:txBody>
      </p:sp>
      <p:grpSp>
        <p:nvGrpSpPr>
          <p:cNvPr id="22" name="Gruppe 21"/>
          <p:cNvGrpSpPr/>
          <p:nvPr/>
        </p:nvGrpSpPr>
        <p:grpSpPr>
          <a:xfrm>
            <a:off x="820699" y="1700808"/>
            <a:ext cx="3391261" cy="1271976"/>
            <a:chOff x="820699" y="5181360"/>
            <a:chExt cx="3391261" cy="1271976"/>
          </a:xfrm>
        </p:grpSpPr>
        <p:pic>
          <p:nvPicPr>
            <p:cNvPr id="16" name="Picture 11" descr="AAAZZJO0.EPS 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518136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Vinklet forbindelse 2"/>
            <p:cNvCxnSpPr/>
            <p:nvPr/>
          </p:nvCxnSpPr>
          <p:spPr>
            <a:xfrm rot="10800000">
              <a:off x="3095836" y="5589240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tel 1"/>
            <p:cNvSpPr txBox="1">
              <a:spLocks/>
            </p:cNvSpPr>
            <p:nvPr/>
          </p:nvSpPr>
          <p:spPr>
            <a:xfrm>
              <a:off x="3408071" y="5973448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uppe 20"/>
          <p:cNvGrpSpPr/>
          <p:nvPr/>
        </p:nvGrpSpPr>
        <p:grpSpPr>
          <a:xfrm>
            <a:off x="820699" y="4302002"/>
            <a:ext cx="3391261" cy="1215230"/>
            <a:chOff x="820699" y="2573810"/>
            <a:chExt cx="3391261" cy="1215230"/>
          </a:xfrm>
        </p:grpSpPr>
        <p:pic>
          <p:nvPicPr>
            <p:cNvPr id="15" name="Picture 11" descr="AAAZZJO0.EPS 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257381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Vinklet forbindelse 16"/>
            <p:cNvCxnSpPr/>
            <p:nvPr/>
          </p:nvCxnSpPr>
          <p:spPr>
            <a:xfrm rot="10800000" flipH="1">
              <a:off x="1475656" y="2924944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itel 1"/>
            <p:cNvSpPr txBox="1">
              <a:spLocks/>
            </p:cNvSpPr>
            <p:nvPr/>
          </p:nvSpPr>
          <p:spPr>
            <a:xfrm>
              <a:off x="1278682" y="3309152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33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576700" y="939428"/>
            <a:ext cx="5579476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kilde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576700" y="3531716"/>
            <a:ext cx="6155540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belastning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4499992" y="2282270"/>
            <a:ext cx="1654318" cy="486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Set fra R</a:t>
            </a:r>
            <a:r>
              <a:rPr lang="da-DK" sz="2400" i="1" baseline="-25000" dirty="0"/>
              <a:t>L</a:t>
            </a:r>
            <a:endParaRPr lang="da-DK" sz="2400" b="1" i="1" baseline="-25000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4932040" y="4886311"/>
            <a:ext cx="1573838" cy="486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Set fra v</a:t>
            </a:r>
            <a:r>
              <a:rPr lang="da-DK" sz="2400" i="1" baseline="-25000" dirty="0"/>
              <a:t>s</a:t>
            </a:r>
            <a:endParaRPr lang="da-DK" sz="2400" b="1" i="1" baseline="-25000" dirty="0"/>
          </a:p>
        </p:txBody>
      </p:sp>
      <p:cxnSp>
        <p:nvCxnSpPr>
          <p:cNvPr id="12" name="Lige pilforbindelse 11"/>
          <p:cNvCxnSpPr/>
          <p:nvPr/>
        </p:nvCxnSpPr>
        <p:spPr>
          <a:xfrm flipV="1">
            <a:off x="5327151" y="1412776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/>
          <p:cNvCxnSpPr/>
          <p:nvPr/>
        </p:nvCxnSpPr>
        <p:spPr>
          <a:xfrm flipV="1">
            <a:off x="5718959" y="3941631"/>
            <a:ext cx="0" cy="64807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 txBox="1">
            <a:spLocks/>
          </p:cNvSpPr>
          <p:nvPr/>
        </p:nvSpPr>
        <p:spPr>
          <a:xfrm>
            <a:off x="35496" y="44624"/>
            <a:ext cx="5760640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Baggrund for valg af feedback type</a:t>
            </a:r>
            <a:endParaRPr lang="da-DK" sz="2800" b="1" i="1" baseline="-25000" dirty="0"/>
          </a:p>
        </p:txBody>
      </p:sp>
      <p:grpSp>
        <p:nvGrpSpPr>
          <p:cNvPr id="22" name="Gruppe 21"/>
          <p:cNvGrpSpPr/>
          <p:nvPr/>
        </p:nvGrpSpPr>
        <p:grpSpPr>
          <a:xfrm>
            <a:off x="820699" y="1700808"/>
            <a:ext cx="3391261" cy="1271976"/>
            <a:chOff x="820699" y="5181360"/>
            <a:chExt cx="3391261" cy="1271976"/>
          </a:xfrm>
        </p:grpSpPr>
        <p:pic>
          <p:nvPicPr>
            <p:cNvPr id="16" name="Picture 11" descr="AAAZZJO0.EPS 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518136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Vinklet forbindelse 2"/>
            <p:cNvCxnSpPr/>
            <p:nvPr/>
          </p:nvCxnSpPr>
          <p:spPr>
            <a:xfrm rot="10800000">
              <a:off x="3095836" y="5589240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tel 1"/>
            <p:cNvSpPr txBox="1">
              <a:spLocks/>
            </p:cNvSpPr>
            <p:nvPr/>
          </p:nvSpPr>
          <p:spPr>
            <a:xfrm>
              <a:off x="3408071" y="5973448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uppe 20"/>
          <p:cNvGrpSpPr/>
          <p:nvPr/>
        </p:nvGrpSpPr>
        <p:grpSpPr>
          <a:xfrm>
            <a:off x="820699" y="4302002"/>
            <a:ext cx="3391261" cy="1215230"/>
            <a:chOff x="820699" y="2573810"/>
            <a:chExt cx="3391261" cy="1215230"/>
          </a:xfrm>
        </p:grpSpPr>
        <p:pic>
          <p:nvPicPr>
            <p:cNvPr id="15" name="Picture 11" descr="AAAZZJO0.EPS 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257381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Vinklet forbindelse 16"/>
            <p:cNvCxnSpPr/>
            <p:nvPr/>
          </p:nvCxnSpPr>
          <p:spPr>
            <a:xfrm rot="10800000" flipH="1">
              <a:off x="1475656" y="2924944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itel 1"/>
            <p:cNvSpPr txBox="1">
              <a:spLocks/>
            </p:cNvSpPr>
            <p:nvPr/>
          </p:nvSpPr>
          <p:spPr>
            <a:xfrm>
              <a:off x="1278682" y="3309152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Titel 1">
            <a:extLst>
              <a:ext uri="{FF2B5EF4-FFF2-40B4-BE49-F238E27FC236}">
                <a16:creationId xmlns:a16="http://schemas.microsoft.com/office/drawing/2014/main" id="{CD0A2108-D950-49D7-BE4A-5AB18C97C128}"/>
              </a:ext>
            </a:extLst>
          </p:cNvPr>
          <p:cNvSpPr txBox="1">
            <a:spLocks/>
          </p:cNvSpPr>
          <p:nvPr/>
        </p:nvSpPr>
        <p:spPr>
          <a:xfrm>
            <a:off x="2123728" y="6309320"/>
            <a:ext cx="5616624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2400" i="1" dirty="0" err="1">
                <a:solidFill>
                  <a:srgbClr val="FF0000"/>
                </a:solidFill>
              </a:rPr>
              <a:t>Thevenin</a:t>
            </a:r>
            <a:r>
              <a:rPr lang="da-DK" sz="2400" i="1" dirty="0">
                <a:solidFill>
                  <a:srgbClr val="FF0000"/>
                </a:solidFill>
              </a:rPr>
              <a:t> og Norton betragtninger</a:t>
            </a:r>
            <a:endParaRPr lang="da-DK" sz="2400" i="1" baseline="-25000" dirty="0">
              <a:solidFill>
                <a:srgbClr val="FF0000"/>
              </a:solidFill>
            </a:endParaRPr>
          </a:p>
        </p:txBody>
      </p: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D24CBCE2-FE18-463C-959C-BDDD67B6ABB7}"/>
              </a:ext>
            </a:extLst>
          </p:cNvPr>
          <p:cNvCxnSpPr>
            <a:cxnSpLocks/>
          </p:cNvCxnSpPr>
          <p:nvPr/>
        </p:nvCxnSpPr>
        <p:spPr>
          <a:xfrm>
            <a:off x="7812360" y="6525344"/>
            <a:ext cx="864096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325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A5512108-1FB0-43D6-BC94-89A0B78588CC}"/>
              </a:ext>
            </a:extLst>
          </p:cNvPr>
          <p:cNvSpPr txBox="1">
            <a:spLocks/>
          </p:cNvSpPr>
          <p:nvPr/>
        </p:nvSpPr>
        <p:spPr>
          <a:xfrm>
            <a:off x="683568" y="5949280"/>
            <a:ext cx="7776864" cy="504056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>
                <a:solidFill>
                  <a:srgbClr val="FF0000"/>
                </a:solidFill>
              </a:rPr>
              <a:t>Vær opmærksom på type af forstærkeren i reguleringssløjfen!</a:t>
            </a:r>
          </a:p>
        </p:txBody>
      </p:sp>
    </p:spTree>
    <p:extLst>
      <p:ext uri="{BB962C8B-B14F-4D97-AF65-F5344CB8AC3E}">
        <p14:creationId xmlns:p14="http://schemas.microsoft.com/office/powerpoint/2010/main" val="2986650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3995936" y="2187612"/>
            <a:ext cx="1224136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679773" y="2187612"/>
            <a:ext cx="550186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6908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3995936" y="2187612"/>
            <a:ext cx="1224136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5203722" y="404664"/>
                <a:ext cx="1475021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2400" i="1" baseline="-25000" dirty="0" err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→ ∞</m:t>
                      </m:r>
                    </m:oMath>
                  </m:oMathPara>
                </a14:m>
                <a:endParaRPr lang="da-DK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22" y="404664"/>
                <a:ext cx="1475021" cy="504056"/>
              </a:xfrm>
              <a:prstGeom prst="rect">
                <a:avLst/>
              </a:prstGeom>
              <a:blipFill>
                <a:blip r:embed="rId3"/>
                <a:stretch>
                  <a:fillRect b="-12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Lige pilforbindelse 7"/>
          <p:cNvCxnSpPr/>
          <p:nvPr/>
        </p:nvCxnSpPr>
        <p:spPr>
          <a:xfrm flipH="1">
            <a:off x="4574028" y="980728"/>
            <a:ext cx="790060" cy="113487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ktangel 6"/>
          <p:cNvSpPr/>
          <p:nvPr/>
        </p:nvSpPr>
        <p:spPr>
          <a:xfrm>
            <a:off x="679773" y="2187612"/>
            <a:ext cx="550186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5088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3952806" y="3230228"/>
            <a:ext cx="936104" cy="593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697502" y="3339740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7884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3952806" y="3230228"/>
            <a:ext cx="936104" cy="593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5203722" y="404664"/>
                <a:ext cx="1475021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2400" i="1" baseline="-25000" dirty="0" err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m:rPr>
                          <m:nor/>
                        </m:rPr>
                        <a:rPr lang="da-DK" sz="2400" b="0" i="1" dirty="0" smtClean="0">
                          <a:latin typeface="+mn-lt"/>
                        </a:rPr>
                        <m:t>0 </m:t>
                      </m:r>
                      <m:r>
                        <m:rPr>
                          <m:nor/>
                        </m:rPr>
                        <a:rPr lang="el-GR" sz="2400" b="0" i="1" dirty="0" smtClean="0">
                          <a:latin typeface="+mn-lt"/>
                        </a:rPr>
                        <m:t>Ω</m:t>
                      </m:r>
                    </m:oMath>
                  </m:oMathPara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22" y="404664"/>
                <a:ext cx="1475021" cy="504056"/>
              </a:xfrm>
              <a:prstGeom prst="rect">
                <a:avLst/>
              </a:prstGeom>
              <a:blipFill rotWithShape="0">
                <a:blip r:embed="rId3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 6"/>
          <p:cNvSpPr/>
          <p:nvPr/>
        </p:nvSpPr>
        <p:spPr>
          <a:xfrm>
            <a:off x="697502" y="3339740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C27CFBF6-A312-4087-8C71-489B8171E2C5}"/>
              </a:ext>
            </a:extLst>
          </p:cNvPr>
          <p:cNvCxnSpPr>
            <a:cxnSpLocks/>
          </p:cNvCxnSpPr>
          <p:nvPr/>
        </p:nvCxnSpPr>
        <p:spPr>
          <a:xfrm flipH="1">
            <a:off x="4644008" y="980728"/>
            <a:ext cx="720080" cy="216024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923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5430470" y="2086726"/>
            <a:ext cx="1045196" cy="603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1181770" y="2187612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84300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5430470" y="2086726"/>
            <a:ext cx="1045196" cy="603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2400" b="0" i="1" baseline="-25000" dirty="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a-DK" sz="2400" i="1" baseline="-25000" dirty="0" err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m:rPr>
                          <m:nor/>
                        </m:rPr>
                        <a:rPr lang="da-DK" sz="2400" i="1" dirty="0">
                          <a:latin typeface="+mn-lt"/>
                        </a:rPr>
                        <m:t>0 </m:t>
                      </m:r>
                      <m:r>
                        <m:rPr>
                          <m:nor/>
                        </m:rPr>
                        <a:rPr lang="el-GR" sz="2400" i="1" dirty="0">
                          <a:latin typeface="+mn-lt"/>
                        </a:rPr>
                        <m:t>Ω</m:t>
                      </m:r>
                    </m:oMath>
                  </m:oMathPara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  <a:blipFill rotWithShape="0">
                <a:blip r:embed="rId3"/>
                <a:stretch>
                  <a:fillRect b="-120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 6"/>
          <p:cNvSpPr/>
          <p:nvPr/>
        </p:nvSpPr>
        <p:spPr>
          <a:xfrm>
            <a:off x="1181770" y="2187612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D6354D2D-E57C-4798-B1E6-7057F0AC7973}"/>
              </a:ext>
            </a:extLst>
          </p:cNvPr>
          <p:cNvCxnSpPr>
            <a:cxnSpLocks/>
          </p:cNvCxnSpPr>
          <p:nvPr/>
        </p:nvCxnSpPr>
        <p:spPr>
          <a:xfrm>
            <a:off x="5580112" y="980728"/>
            <a:ext cx="216024" cy="100811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222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5430470" y="2086726"/>
            <a:ext cx="1045196" cy="603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/>
              <p:cNvSpPr txBox="1">
                <a:spLocks/>
              </p:cNvSpPr>
              <p:nvPr/>
            </p:nvSpPr>
            <p:spPr>
              <a:xfrm>
                <a:off x="5932121" y="958839"/>
                <a:ext cx="2386083" cy="38325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000" b="0" i="1" dirty="0" smtClean="0">
                        <a:solidFill>
                          <a:srgbClr val="FF0000"/>
                        </a:solidFill>
                        <a:latin typeface="+mn-lt"/>
                      </a:rPr>
                      <m:t>Ideel</m:t>
                    </m:r>
                  </m:oMath>
                </a14:m>
                <a:r>
                  <a:rPr lang="da-DK" sz="2000" i="1" dirty="0">
                    <a:solidFill>
                      <a:srgbClr val="FF0000"/>
                    </a:solidFill>
                    <a:latin typeface="+mn-lt"/>
                  </a:rPr>
                  <a:t> spændingskilde</a:t>
                </a:r>
              </a:p>
            </p:txBody>
          </p:sp>
        </mc:Choice>
        <mc:Fallback xmlns="">
          <p:sp>
            <p:nvSpPr>
              <p:cNvPr id="7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121" y="958839"/>
                <a:ext cx="2386083" cy="383259"/>
              </a:xfrm>
              <a:prstGeom prst="rect">
                <a:avLst/>
              </a:prstGeom>
              <a:blipFill>
                <a:blip r:embed="rId3"/>
                <a:stretch>
                  <a:fillRect t="-14286" r="-510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ktangel 8"/>
          <p:cNvSpPr/>
          <p:nvPr/>
        </p:nvSpPr>
        <p:spPr>
          <a:xfrm>
            <a:off x="1181770" y="2187612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/>
              <p:cNvSpPr txBox="1">
                <a:spLocks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2400" b="0" i="1" baseline="-25000" dirty="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a-DK" sz="2400" i="1" baseline="-25000" dirty="0" err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m:rPr>
                          <m:nor/>
                        </m:rPr>
                        <a:rPr lang="da-DK" sz="2400" i="1" dirty="0">
                          <a:latin typeface="+mn-lt"/>
                        </a:rPr>
                        <m:t>0 </m:t>
                      </m:r>
                      <m:r>
                        <m:rPr>
                          <m:nor/>
                        </m:rPr>
                        <a:rPr lang="el-GR" sz="2400" i="1" dirty="0">
                          <a:latin typeface="+mn-lt"/>
                        </a:rPr>
                        <m:t>Ω</m:t>
                      </m:r>
                    </m:oMath>
                  </m:oMathPara>
                </a14:m>
                <a:endParaRPr lang="da-DK" sz="24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  <a:blipFill rotWithShape="0">
                <a:blip r:embed="rId5"/>
                <a:stretch>
                  <a:fillRect b="-120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B5563A10-15BD-4A96-8EEA-5100D0309458}"/>
              </a:ext>
            </a:extLst>
          </p:cNvPr>
          <p:cNvCxnSpPr>
            <a:cxnSpLocks/>
          </p:cNvCxnSpPr>
          <p:nvPr/>
        </p:nvCxnSpPr>
        <p:spPr>
          <a:xfrm>
            <a:off x="5580112" y="980728"/>
            <a:ext cx="216024" cy="100811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422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5499898" y="2772302"/>
            <a:ext cx="1134456" cy="3240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1162223" y="2772302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1799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5499898" y="2772302"/>
            <a:ext cx="1134456" cy="3240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2400" b="0" i="1" baseline="-25000" dirty="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a-DK" sz="2400" i="1" baseline="-25000" dirty="0" err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sz="2400" i="1" dirty="0">
                          <a:latin typeface="Cambria Math" panose="02040503050406030204" pitchFamily="18" charset="0"/>
                        </a:rPr>
                        <m:t> →∞</m:t>
                      </m:r>
                    </m:oMath>
                  </m:oMathPara>
                </a14:m>
                <a:endParaRPr lang="da-DK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  <a:blipFill rotWithShape="0">
                <a:blip r:embed="rId3"/>
                <a:stretch>
                  <a:fillRect b="-120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 6"/>
          <p:cNvSpPr/>
          <p:nvPr/>
        </p:nvSpPr>
        <p:spPr>
          <a:xfrm>
            <a:off x="1162223" y="2772302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41596D56-CBA1-4D1C-8651-D89C14F6AC5D}"/>
              </a:ext>
            </a:extLst>
          </p:cNvPr>
          <p:cNvCxnSpPr>
            <a:cxnSpLocks/>
          </p:cNvCxnSpPr>
          <p:nvPr/>
        </p:nvCxnSpPr>
        <p:spPr>
          <a:xfrm>
            <a:off x="5580112" y="943660"/>
            <a:ext cx="216024" cy="172819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2180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212967" cy="460851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5499898" y="2772302"/>
            <a:ext cx="1134456" cy="3240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/>
              <p:cNvSpPr txBox="1">
                <a:spLocks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2400" b="0" i="1" baseline="-25000" dirty="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a-DK" sz="2400" i="1" baseline="-25000" dirty="0" err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sz="2400" i="1" dirty="0">
                          <a:latin typeface="Cambria Math" panose="02040503050406030204" pitchFamily="18" charset="0"/>
                        </a:rPr>
                        <m:t> →∞</m:t>
                      </m:r>
                    </m:oMath>
                  </m:oMathPara>
                </a14:m>
                <a:endParaRPr lang="da-DK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itel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22" y="404664"/>
                <a:ext cx="1600526" cy="504056"/>
              </a:xfrm>
              <a:prstGeom prst="rect">
                <a:avLst/>
              </a:prstGeom>
              <a:blipFill>
                <a:blip r:embed="rId3"/>
                <a:stretch>
                  <a:fillRect b="-120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ktangel 8"/>
          <p:cNvSpPr/>
          <p:nvPr/>
        </p:nvSpPr>
        <p:spPr>
          <a:xfrm>
            <a:off x="1162223" y="2772302"/>
            <a:ext cx="6120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F056B447-434E-4744-A28E-2E0EEF8E91A7}"/>
              </a:ext>
            </a:extLst>
          </p:cNvPr>
          <p:cNvCxnSpPr>
            <a:cxnSpLocks/>
          </p:cNvCxnSpPr>
          <p:nvPr/>
        </p:nvCxnSpPr>
        <p:spPr>
          <a:xfrm>
            <a:off x="5580112" y="943660"/>
            <a:ext cx="216024" cy="172819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B06E029E-C180-48F7-9BEF-E1BC3CF8AE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32121" y="958839"/>
                <a:ext cx="2024255" cy="38325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000" b="0" i="1" dirty="0" smtClean="0">
                        <a:solidFill>
                          <a:srgbClr val="FF0000"/>
                        </a:solidFill>
                        <a:latin typeface="+mn-lt"/>
                      </a:rPr>
                      <m:t>Ideel</m:t>
                    </m:r>
                  </m:oMath>
                </a14:m>
                <a:r>
                  <a:rPr lang="da-DK" sz="2000" i="1" dirty="0">
                    <a:solidFill>
                      <a:srgbClr val="FF0000"/>
                    </a:solidFill>
                    <a:latin typeface="+mn-lt"/>
                  </a:rPr>
                  <a:t> strømkilde</a:t>
                </a:r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B06E029E-C180-48F7-9BEF-E1BC3CF8A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121" y="958839"/>
                <a:ext cx="2024255" cy="383259"/>
              </a:xfrm>
              <a:prstGeom prst="rect">
                <a:avLst/>
              </a:prstGeom>
              <a:blipFill>
                <a:blip r:embed="rId4"/>
                <a:stretch>
                  <a:fillRect t="-14286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920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/>
        </p:nvSpPr>
        <p:spPr>
          <a:xfrm>
            <a:off x="107504" y="98526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5 fra forberedelsen:</a:t>
            </a:r>
          </a:p>
        </p:txBody>
      </p:sp>
      <p:sp>
        <p:nvSpPr>
          <p:cNvPr id="3" name="Rektangel 2"/>
          <p:cNvSpPr/>
          <p:nvPr/>
        </p:nvSpPr>
        <p:spPr>
          <a:xfrm>
            <a:off x="107504" y="530574"/>
            <a:ext cx="87129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/>
              <a:t>En ikke-inverterende forstærker som på figur 2.11 er bygget med R</a:t>
            </a:r>
            <a:r>
              <a:rPr lang="da-DK" baseline="-25000" dirty="0"/>
              <a:t>1</a:t>
            </a:r>
            <a:r>
              <a:rPr lang="da-DK" dirty="0"/>
              <a:t> = 10 kΩ og R</a:t>
            </a:r>
            <a:r>
              <a:rPr lang="da-DK" baseline="-25000" dirty="0"/>
              <a:t>2</a:t>
            </a:r>
            <a:r>
              <a:rPr lang="da-DK" dirty="0"/>
              <a:t> = 90 kΩ.</a:t>
            </a:r>
          </a:p>
          <a:p>
            <a:r>
              <a:rPr lang="da-DK" dirty="0"/>
              <a:t>Forstærkeren kan regnes ideel bortset fra en indgangsmodstand på R</a:t>
            </a:r>
            <a:r>
              <a:rPr lang="da-DK" baseline="-25000" dirty="0"/>
              <a:t>in</a:t>
            </a:r>
            <a:r>
              <a:rPr lang="da-DK" dirty="0"/>
              <a:t> = 1 MΩ samt en endelig åbensløjfeforstærkning på A</a:t>
            </a:r>
            <a:r>
              <a:rPr lang="da-DK" baseline="-25000" dirty="0"/>
              <a:t>OL</a:t>
            </a:r>
            <a:r>
              <a:rPr lang="da-DK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ktangel 6"/>
              <p:cNvSpPr/>
              <p:nvPr/>
            </p:nvSpPr>
            <p:spPr>
              <a:xfrm>
                <a:off x="251520" y="5634138"/>
                <a:ext cx="8712968" cy="8912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dirty="0"/>
                  <a:t>Find bogstavudtryk og talværdi for α, β samt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lang="da-DK" dirty="0"/>
                  <a:t>. Hvad bliver kravet til A</a:t>
                </a:r>
                <a:r>
                  <a:rPr lang="da-DK" baseline="-25000" dirty="0"/>
                  <a:t>OL</a:t>
                </a:r>
                <a:r>
                  <a:rPr lang="da-DK" dirty="0"/>
                  <a:t> såfremt fejlen på </a:t>
                </a:r>
                <a:r>
                  <a:rPr lang="da-DK" dirty="0" err="1"/>
                  <a:t>lukketsløjfe</a:t>
                </a:r>
                <a:r>
                  <a:rPr lang="da-DK" dirty="0"/>
                  <a:t> forstærkningen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a-DK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dirty="0"/>
                  <a:t> ikke må overstige 100 </a:t>
                </a:r>
                <a:r>
                  <a:rPr lang="da-DK" dirty="0" err="1"/>
                  <a:t>ppm</a:t>
                </a:r>
                <a:r>
                  <a:rPr lang="da-DK" dirty="0"/>
                  <a:t>?</a:t>
                </a:r>
              </a:p>
            </p:txBody>
          </p:sp>
        </mc:Choice>
        <mc:Fallback xmlns="">
          <p:sp>
            <p:nvSpPr>
              <p:cNvPr id="7" name="Rektange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634138"/>
                <a:ext cx="8712968" cy="891206"/>
              </a:xfrm>
              <a:prstGeom prst="rect">
                <a:avLst/>
              </a:prstGeom>
              <a:blipFill rotWithShape="0">
                <a:blip r:embed="rId2"/>
                <a:stretch>
                  <a:fillRect l="-55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4" descr="AAAZYQD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00808"/>
            <a:ext cx="5938498" cy="37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492210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3790</TotalTime>
  <Words>1083</Words>
  <Application>Microsoft Office PowerPoint</Application>
  <PresentationFormat>On-screen Show (4:3)</PresentationFormat>
  <Paragraphs>292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Kontortema</vt:lpstr>
      <vt:lpstr>ELE-plan for i dag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ELE2</dc:title>
  <dc:creator>Jan Petersen</dc:creator>
  <cp:lastModifiedBy>Jan Petersen</cp:lastModifiedBy>
  <cp:revision>188</cp:revision>
  <cp:lastPrinted>2017-02-09T08:56:15Z</cp:lastPrinted>
  <dcterms:created xsi:type="dcterms:W3CDTF">2013-01-28T12:22:54Z</dcterms:created>
  <dcterms:modified xsi:type="dcterms:W3CDTF">2026-02-06T14:35:18Z</dcterms:modified>
</cp:coreProperties>
</file>
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417" r:id="rId2"/>
    <p:sldId id="460" r:id="rId3"/>
    <p:sldId id="462" r:id="rId4"/>
    <p:sldId id="464" r:id="rId5"/>
    <p:sldId id="463" r:id="rId6"/>
    <p:sldId id="468" r:id="rId7"/>
    <p:sldId id="490" r:id="rId8"/>
    <p:sldId id="471" r:id="rId9"/>
    <p:sldId id="472" r:id="rId10"/>
    <p:sldId id="497" r:id="rId11"/>
    <p:sldId id="474" r:id="rId12"/>
    <p:sldId id="477" r:id="rId13"/>
    <p:sldId id="457" r:id="rId14"/>
    <p:sldId id="478" r:id="rId15"/>
    <p:sldId id="479" r:id="rId16"/>
    <p:sldId id="480" r:id="rId17"/>
    <p:sldId id="493" r:id="rId18"/>
    <p:sldId id="445" r:id="rId19"/>
    <p:sldId id="482" r:id="rId20"/>
    <p:sldId id="373" r:id="rId21"/>
    <p:sldId id="501" r:id="rId22"/>
    <p:sldId id="439" r:id="rId23"/>
    <p:sldId id="483" r:id="rId24"/>
    <p:sldId id="440" r:id="rId25"/>
    <p:sldId id="380" r:id="rId26"/>
    <p:sldId id="491" r:id="rId27"/>
    <p:sldId id="386" r:id="rId28"/>
    <p:sldId id="385" r:id="rId29"/>
    <p:sldId id="387" r:id="rId30"/>
    <p:sldId id="435" r:id="rId31"/>
    <p:sldId id="481" r:id="rId32"/>
    <p:sldId id="494" r:id="rId33"/>
    <p:sldId id="335" r:id="rId34"/>
    <p:sldId id="502" r:id="rId35"/>
    <p:sldId id="326" r:id="rId36"/>
    <p:sldId id="327" r:id="rId37"/>
    <p:sldId id="451" r:id="rId38"/>
    <p:sldId id="488" r:id="rId39"/>
    <p:sldId id="496" r:id="rId40"/>
    <p:sldId id="498" r:id="rId41"/>
    <p:sldId id="402" r:id="rId42"/>
    <p:sldId id="405" r:id="rId43"/>
    <p:sldId id="404" r:id="rId44"/>
    <p:sldId id="406" r:id="rId45"/>
    <p:sldId id="408" r:id="rId46"/>
    <p:sldId id="503" r:id="rId47"/>
    <p:sldId id="504" r:id="rId48"/>
    <p:sldId id="509" r:id="rId49"/>
    <p:sldId id="510" r:id="rId50"/>
    <p:sldId id="511" r:id="rId51"/>
    <p:sldId id="489" r:id="rId52"/>
    <p:sldId id="342" r:id="rId53"/>
    <p:sldId id="343" r:id="rId54"/>
    <p:sldId id="411" r:id="rId55"/>
    <p:sldId id="412" r:id="rId56"/>
    <p:sldId id="298" r:id="rId57"/>
    <p:sldId id="507" r:id="rId58"/>
    <p:sldId id="508" r:id="rId59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694E0-D51E-4CA0-BFBF-25DD17A62192}" v="1" dt="2026-03-02T12:22:23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6" autoAdjust="0"/>
    <p:restoredTop sz="94639" autoAdjust="0"/>
  </p:normalViewPr>
  <p:slideViewPr>
    <p:cSldViewPr>
      <p:cViewPr varScale="1">
        <p:scale>
          <a:sx n="158" d="100"/>
          <a:sy n="158" d="100"/>
        </p:scale>
        <p:origin x="1888" y="1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øj Lorenzen" userId="bBWxxBQ7lkasMs2MbwWOgVQi6AWwF9tq+T+K2+XYcig=" providerId="None" clId="Web-{5AA694E0-D51E-4CA0-BFBF-25DD17A62192}"/>
    <pc:docChg chg="delSld">
      <pc:chgData name="Kasper Høj Lorenzen" userId="bBWxxBQ7lkasMs2MbwWOgVQi6AWwF9tq+T+K2+XYcig=" providerId="None" clId="Web-{5AA694E0-D51E-4CA0-BFBF-25DD17A62192}" dt="2026-03-02T12:22:23.484" v="0"/>
      <pc:docMkLst>
        <pc:docMk/>
      </pc:docMkLst>
      <pc:sldChg chg="del">
        <pc:chgData name="Kasper Høj Lorenzen" userId="bBWxxBQ7lkasMs2MbwWOgVQi6AWwF9tq+T+K2+XYcig=" providerId="None" clId="Web-{5AA694E0-D51E-4CA0-BFBF-25DD17A62192}" dt="2026-03-02T12:22:23.484" v="0"/>
        <pc:sldMkLst>
          <pc:docMk/>
          <pc:sldMk cId="787738084" sldId="4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22EA1-B6F2-4814-AC42-8F7C3E4077CB}" type="datetimeFigureOut">
              <a:rPr lang="da-DK" smtClean="0"/>
              <a:t>02-03-2026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0D978-FBB8-4DAF-B59F-1D9066427F3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37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829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BE26-1705-03EF-3EAD-9F8C4116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>
            <a:extLst>
              <a:ext uri="{FF2B5EF4-FFF2-40B4-BE49-F238E27FC236}">
                <a16:creationId xmlns:a16="http://schemas.microsoft.com/office/drawing/2014/main" id="{F6BA6F9F-5AF1-EEBD-2BBD-80D37E03A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51847CD-9FEC-5786-43EA-106AA0B24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>
            <a:extLst>
              <a:ext uri="{FF2B5EF4-FFF2-40B4-BE49-F238E27FC236}">
                <a16:creationId xmlns:a16="http://schemas.microsoft.com/office/drawing/2014/main" id="{F776329D-1D84-CDE7-C29D-3A39BE809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3009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8295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58295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6401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39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7155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40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5893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71869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0580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43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2950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0701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45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663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69F93-6C2D-4057-A374-6E7A79E43643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C8386-5091-4037-AFAF-34A50B1CF956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6CE0-421A-4A85-8A99-0BAED9B1FB7B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1BE7-2F0E-4F09-9805-86A01BC13B17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448D-512F-4AA2-9FE2-E9DD0FBF908D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0721F-D6C6-4419-9743-6576FA0BEB37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F3C6-8D9A-4924-A034-3A01896C65DB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0BBD-E4B0-4D37-BE0E-BF1A727C7050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23677-CB51-40C2-A0C3-E41BE6B2660B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2B396-9CC1-4505-8B43-E2DD9CDDC815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F939-9926-4983-8CF9-9B1BDE546459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E9C46-633F-4F47-9380-F15E24209935}" type="datetime2">
              <a:rPr lang="da-DK" smtClean="0"/>
              <a:t>2. marts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7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34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496" y="-18749"/>
            <a:ext cx="2880320" cy="504055"/>
          </a:xfrm>
        </p:spPr>
        <p:txBody>
          <a:bodyPr anchor="ctr" anchorCtr="0">
            <a:noAutofit/>
          </a:bodyPr>
          <a:lstStyle/>
          <a:p>
            <a:pPr algn="l"/>
            <a:r>
              <a:rPr lang="da-DK" sz="2800" b="1" i="1" dirty="0"/>
              <a:t>ELE-plan for </a:t>
            </a:r>
            <a:r>
              <a:rPr lang="da-DK" sz="2800" b="1" i="1"/>
              <a:t>i dag</a:t>
            </a:r>
            <a:endParaRPr lang="da-DK" sz="2800" b="1" i="1" dirty="0"/>
          </a:p>
        </p:txBody>
      </p:sp>
      <p:sp>
        <p:nvSpPr>
          <p:cNvPr id="12" name="Titel 1"/>
          <p:cNvSpPr txBox="1">
            <a:spLocks/>
          </p:cNvSpPr>
          <p:nvPr/>
        </p:nvSpPr>
        <p:spPr>
          <a:xfrm>
            <a:off x="251520" y="1665751"/>
            <a:ext cx="7667708" cy="153352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Offsetspændingen </a:t>
            </a:r>
            <a:r>
              <a:rPr lang="da-DK" sz="2400" b="1" i="1" dirty="0" err="1"/>
              <a:t>V</a:t>
            </a:r>
            <a:r>
              <a:rPr lang="da-DK" sz="2400" b="1" i="1" baseline="-25000" dirty="0" err="1"/>
              <a:t>off</a:t>
            </a:r>
            <a:r>
              <a:rPr lang="da-DK" sz="2400" b="1" i="1" dirty="0"/>
              <a:t> 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Årsag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Placering i ækvivalentdiagram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Datablad for µA741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251520" y="3419869"/>
            <a:ext cx="5544616" cy="14401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 err="1"/>
              <a:t>Biasstrøm</a:t>
            </a:r>
            <a:r>
              <a:rPr lang="da-DK" sz="2400" b="1" i="1" dirty="0"/>
              <a:t> I</a:t>
            </a:r>
            <a:r>
              <a:rPr lang="da-DK" sz="2400" b="1" i="1" baseline="-25000" dirty="0"/>
              <a:t>B</a:t>
            </a:r>
            <a:r>
              <a:rPr lang="da-DK" sz="2400" b="1" i="1" dirty="0"/>
              <a:t> og Offsetstrøm </a:t>
            </a:r>
            <a:r>
              <a:rPr lang="da-DK" sz="2400" b="1" i="1" dirty="0" err="1"/>
              <a:t>I</a:t>
            </a:r>
            <a:r>
              <a:rPr lang="da-DK" sz="2400" b="1" i="1" baseline="-25000" dirty="0" err="1"/>
              <a:t>off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Årsag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Placering i ækvivalentdiagram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Hvordan opgives disse i datablade?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251520" y="5080618"/>
            <a:ext cx="3437810" cy="7920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Offsetjustering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Intern/ekstern justering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51520" y="986929"/>
            <a:ext cx="1440160" cy="4582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DC Bias</a:t>
            </a:r>
            <a:endParaRPr lang="da-DK" sz="2400" i="1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8388424" y="4620609"/>
            <a:ext cx="504056" cy="39256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D5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0F8062D2-C379-4901-BDFB-8D297C1DD45F}"/>
              </a:ext>
            </a:extLst>
          </p:cNvPr>
          <p:cNvSpPr txBox="1">
            <a:spLocks/>
          </p:cNvSpPr>
          <p:nvPr/>
        </p:nvSpPr>
        <p:spPr>
          <a:xfrm rot="19202457">
            <a:off x="6176855" y="3122122"/>
            <a:ext cx="2655912" cy="4582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Midtvejsdiskussion</a:t>
            </a:r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09AA9B3F-1CF3-D4FB-05F4-75805E85D6DB}"/>
              </a:ext>
            </a:extLst>
          </p:cNvPr>
          <p:cNvGrpSpPr/>
          <p:nvPr/>
        </p:nvGrpSpPr>
        <p:grpSpPr>
          <a:xfrm>
            <a:off x="2771800" y="53258"/>
            <a:ext cx="3816424" cy="864096"/>
            <a:chOff x="2771800" y="53258"/>
            <a:chExt cx="3816424" cy="864096"/>
          </a:xfrm>
        </p:grpSpPr>
        <p:grpSp>
          <p:nvGrpSpPr>
            <p:cNvPr id="5" name="Gruppe 4">
              <a:extLst>
                <a:ext uri="{FF2B5EF4-FFF2-40B4-BE49-F238E27FC236}">
                  <a16:creationId xmlns:a16="http://schemas.microsoft.com/office/drawing/2014/main" id="{D90EA215-386F-498C-BFC7-B30B240F47F4}"/>
                </a:ext>
              </a:extLst>
            </p:cNvPr>
            <p:cNvGrpSpPr/>
            <p:nvPr/>
          </p:nvGrpSpPr>
          <p:grpSpPr>
            <a:xfrm>
              <a:off x="2771800" y="375447"/>
              <a:ext cx="2880321" cy="359177"/>
              <a:chOff x="2771800" y="375447"/>
              <a:chExt cx="2880321" cy="359177"/>
            </a:xfrm>
          </p:grpSpPr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72545D36-D3E1-4A2C-827A-F18117C2E9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67945" y="375447"/>
                <a:ext cx="1584176" cy="35917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1600" i="1" dirty="0">
                    <a:solidFill>
                      <a:srgbClr val="FF0000"/>
                    </a:solidFill>
                  </a:rPr>
                  <a:t>Lidt repetition ?</a:t>
                </a:r>
              </a:p>
            </p:txBody>
          </p:sp>
          <p:cxnSp>
            <p:nvCxnSpPr>
              <p:cNvPr id="4" name="Lige pilforbindelse 3">
                <a:extLst>
                  <a:ext uri="{FF2B5EF4-FFF2-40B4-BE49-F238E27FC236}">
                    <a16:creationId xmlns:a16="http://schemas.microsoft.com/office/drawing/2014/main" id="{14BEB674-561F-4E73-BF8F-5544312096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71800" y="555035"/>
                <a:ext cx="122413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" name="Billede 14">
              <a:extLst>
                <a:ext uri="{FF2B5EF4-FFF2-40B4-BE49-F238E27FC236}">
                  <a16:creationId xmlns:a16="http://schemas.microsoft.com/office/drawing/2014/main" id="{782808F5-4F69-AAE0-90D1-B0C42774C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4128" y="53258"/>
              <a:ext cx="864096" cy="864096"/>
            </a:xfrm>
            <a:prstGeom prst="rect">
              <a:avLst/>
            </a:prstGeom>
          </p:spPr>
        </p:pic>
      </p:grpSp>
      <p:grpSp>
        <p:nvGrpSpPr>
          <p:cNvPr id="3" name="Gruppe 2">
            <a:extLst>
              <a:ext uri="{FF2B5EF4-FFF2-40B4-BE49-F238E27FC236}">
                <a16:creationId xmlns:a16="http://schemas.microsoft.com/office/drawing/2014/main" id="{A3CE32BE-1805-A003-7704-E723628E7C77}"/>
              </a:ext>
            </a:extLst>
          </p:cNvPr>
          <p:cNvGrpSpPr/>
          <p:nvPr/>
        </p:nvGrpSpPr>
        <p:grpSpPr>
          <a:xfrm>
            <a:off x="3915544" y="3140297"/>
            <a:ext cx="2160240" cy="338554"/>
            <a:chOff x="5076056" y="1926957"/>
            <a:chExt cx="2160240" cy="338554"/>
          </a:xfrm>
        </p:grpSpPr>
        <p:cxnSp>
          <p:nvCxnSpPr>
            <p:cNvPr id="17" name="Lige pilforbindelse 16">
              <a:extLst>
                <a:ext uri="{FF2B5EF4-FFF2-40B4-BE49-F238E27FC236}">
                  <a16:creationId xmlns:a16="http://schemas.microsoft.com/office/drawing/2014/main" id="{D03C11DE-58CD-4116-D094-5E01222DD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6056" y="2092911"/>
              <a:ext cx="864096" cy="6646"/>
            </a:xfrm>
            <a:prstGeom prst="straightConnector1">
              <a:avLst/>
            </a:prstGeom>
            <a:ln w="9525">
              <a:solidFill>
                <a:srgbClr val="FF0000"/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ktangel 20">
              <a:extLst>
                <a:ext uri="{FF2B5EF4-FFF2-40B4-BE49-F238E27FC236}">
                  <a16:creationId xmlns:a16="http://schemas.microsoft.com/office/drawing/2014/main" id="{EEE8EEF6-A921-77DA-A69C-36B285047784}"/>
                </a:ext>
              </a:extLst>
            </p:cNvPr>
            <p:cNvSpPr/>
            <p:nvPr/>
          </p:nvSpPr>
          <p:spPr>
            <a:xfrm>
              <a:off x="5940152" y="1926957"/>
              <a:ext cx="1296144" cy="338554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r>
                <a:rPr lang="da-DK" sz="1600" i="1" dirty="0">
                  <a:solidFill>
                    <a:srgbClr val="FF0000"/>
                  </a:solidFill>
                </a:rPr>
                <a:t>Små opgaver</a:t>
              </a:r>
            </a:p>
          </p:txBody>
        </p:sp>
      </p:grpSp>
      <p:sp>
        <p:nvSpPr>
          <p:cNvPr id="9" name="Titel 1">
            <a:extLst>
              <a:ext uri="{FF2B5EF4-FFF2-40B4-BE49-F238E27FC236}">
                <a16:creationId xmlns:a16="http://schemas.microsoft.com/office/drawing/2014/main" id="{53CA2D3C-596B-23B9-17EA-5037F8222F9C}"/>
              </a:ext>
            </a:extLst>
          </p:cNvPr>
          <p:cNvSpPr txBox="1">
            <a:spLocks/>
          </p:cNvSpPr>
          <p:nvPr/>
        </p:nvSpPr>
        <p:spPr>
          <a:xfrm>
            <a:off x="251520" y="6093296"/>
            <a:ext cx="5824264" cy="4582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Potentiometre </a:t>
            </a:r>
            <a:r>
              <a:rPr lang="da-DK" sz="2400" i="1" dirty="0"/>
              <a:t>og</a:t>
            </a:r>
            <a:r>
              <a:rPr lang="da-DK" sz="2400" b="1" i="1" dirty="0"/>
              <a:t> Fysisk placering af AD590</a:t>
            </a:r>
            <a:endParaRPr lang="da-DK" sz="2400" i="1" dirty="0"/>
          </a:p>
        </p:txBody>
      </p:sp>
    </p:spTree>
    <p:extLst>
      <p:ext uri="{BB962C8B-B14F-4D97-AF65-F5344CB8AC3E}">
        <p14:creationId xmlns:p14="http://schemas.microsoft.com/office/powerpoint/2010/main" val="23032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ktangel 17">
                <a:extLst>
                  <a:ext uri="{FF2B5EF4-FFF2-40B4-BE49-F238E27FC236}">
                    <a16:creationId xmlns:a16="http://schemas.microsoft.com/office/drawing/2014/main" id="{7517E36B-08DF-4B9A-8911-E2D733E679A0}"/>
                  </a:ext>
                </a:extLst>
              </p:cNvPr>
              <p:cNvSpPr/>
              <p:nvPr/>
            </p:nvSpPr>
            <p:spPr>
              <a:xfrm>
                <a:off x="7524328" y="2356864"/>
                <a:ext cx="1080120" cy="523028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i="1" dirty="0"/>
                  <a:t>A</a:t>
                </a:r>
                <a:r>
                  <a:rPr lang="da-DK" i="1" baseline="-25000" dirty="0"/>
                  <a:t>CL</a:t>
                </a:r>
                <a:r>
                  <a:rPr lang="da-DK" i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i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da-DK" i="1" baseline="-2500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o</m:t>
                        </m:r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i="1"/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i="1" baseline="-25000"/>
                              <m:t>in</m:t>
                            </m:r>
                          </m:sub>
                        </m:sSub>
                      </m:den>
                    </m:f>
                  </m:oMath>
                </a14:m>
                <a:endParaRPr lang="da-DK" i="1" baseline="-25000" dirty="0"/>
              </a:p>
            </p:txBody>
          </p:sp>
        </mc:Choice>
        <mc:Fallback xmlns="">
          <p:sp>
            <p:nvSpPr>
              <p:cNvPr id="18" name="Rektangel 17">
                <a:extLst>
                  <a:ext uri="{FF2B5EF4-FFF2-40B4-BE49-F238E27FC236}">
                    <a16:creationId xmlns:a16="http://schemas.microsoft.com/office/drawing/2014/main" id="{7517E36B-08DF-4B9A-8911-E2D733E67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328" y="2356864"/>
                <a:ext cx="1080120" cy="523028"/>
              </a:xfrm>
              <a:prstGeom prst="rect">
                <a:avLst/>
              </a:prstGeom>
              <a:blipFill>
                <a:blip r:embed="rId3"/>
                <a:stretch>
                  <a:fillRect l="-452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ktangel 18">
                <a:extLst>
                  <a:ext uri="{FF2B5EF4-FFF2-40B4-BE49-F238E27FC236}">
                    <a16:creationId xmlns:a16="http://schemas.microsoft.com/office/drawing/2014/main" id="{6FD048D5-4CFA-4E1C-BDEE-AC4010442222}"/>
                  </a:ext>
                </a:extLst>
              </p:cNvPr>
              <p:cNvSpPr/>
              <p:nvPr/>
            </p:nvSpPr>
            <p:spPr>
              <a:xfrm>
                <a:off x="6084168" y="1983774"/>
                <a:ext cx="1080120" cy="528671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r>
                  <a:rPr lang="da-DK" i="1" dirty="0"/>
                  <a:t>A</a:t>
                </a:r>
                <a:r>
                  <a:rPr lang="da-DK" i="1" baseline="-25000" dirty="0"/>
                  <a:t>OL</a:t>
                </a:r>
                <a:r>
                  <a:rPr lang="da-DK" i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i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da-DK" i="1" baseline="-25000" smtClean="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m:t>o</m:t>
                        </m:r>
                      </m:num>
                      <m:den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i="1"/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a-DK" i="1" baseline="-25000"/>
                              <m:t>i</m:t>
                            </m:r>
                            <m:r>
                              <m:rPr>
                                <m:nor/>
                              </m:rPr>
                              <a:rPr lang="da-DK" b="0" i="1" baseline="-25000" smtClean="0"/>
                              <m:t>d</m:t>
                            </m:r>
                          </m:sub>
                        </m:sSub>
                      </m:den>
                    </m:f>
                  </m:oMath>
                </a14:m>
                <a:endParaRPr lang="da-DK" i="1" baseline="-25000" dirty="0"/>
              </a:p>
            </p:txBody>
          </p:sp>
        </mc:Choice>
        <mc:Fallback xmlns="">
          <p:sp>
            <p:nvSpPr>
              <p:cNvPr id="19" name="Rektangel 18">
                <a:extLst>
                  <a:ext uri="{FF2B5EF4-FFF2-40B4-BE49-F238E27FC236}">
                    <a16:creationId xmlns:a16="http://schemas.microsoft.com/office/drawing/2014/main" id="{6FD048D5-4CFA-4E1C-BDEE-AC4010442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1983774"/>
                <a:ext cx="1080120" cy="528671"/>
              </a:xfrm>
              <a:prstGeom prst="rect">
                <a:avLst/>
              </a:prstGeom>
              <a:blipFill>
                <a:blip r:embed="rId4"/>
                <a:stretch>
                  <a:fillRect l="-4520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23781A68-3937-4F3F-B12A-282E77350C59}"/>
              </a:ext>
            </a:extLst>
          </p:cNvPr>
          <p:cNvCxnSpPr>
            <a:cxnSpLocks/>
          </p:cNvCxnSpPr>
          <p:nvPr/>
        </p:nvCxnSpPr>
        <p:spPr>
          <a:xfrm rot="5400000" flipV="1">
            <a:off x="5504584" y="1956558"/>
            <a:ext cx="0" cy="58310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5816F7CF-1463-4B79-A586-BD4AFD68B9EE}"/>
              </a:ext>
            </a:extLst>
          </p:cNvPr>
          <p:cNvCxnSpPr>
            <a:cxnSpLocks/>
          </p:cNvCxnSpPr>
          <p:nvPr/>
        </p:nvCxnSpPr>
        <p:spPr>
          <a:xfrm>
            <a:off x="5213032" y="2618378"/>
            <a:ext cx="2167280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el 1">
            <a:extLst>
              <a:ext uri="{FF2B5EF4-FFF2-40B4-BE49-F238E27FC236}">
                <a16:creationId xmlns:a16="http://schemas.microsoft.com/office/drawing/2014/main" id="{C5B5A18B-9EB4-483A-AE26-93C72B7345B4}"/>
              </a:ext>
            </a:extLst>
          </p:cNvPr>
          <p:cNvSpPr txBox="1">
            <a:spLocks/>
          </p:cNvSpPr>
          <p:nvPr/>
        </p:nvSpPr>
        <p:spPr>
          <a:xfrm>
            <a:off x="395536" y="1999967"/>
            <a:ext cx="5057990" cy="13681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715963" algn="l"/>
              </a:tabLst>
            </a:pPr>
            <a:r>
              <a:rPr lang="da-DK" sz="2400" i="1" dirty="0">
                <a:solidFill>
                  <a:srgbClr val="FF0000"/>
                </a:solidFill>
              </a:rPr>
              <a:t>A</a:t>
            </a:r>
            <a:r>
              <a:rPr lang="da-DK" sz="2400" i="1" baseline="-25000" dirty="0">
                <a:solidFill>
                  <a:srgbClr val="FF0000"/>
                </a:solidFill>
              </a:rPr>
              <a:t>OL </a:t>
            </a:r>
            <a:r>
              <a:rPr lang="da-DK" sz="2400" i="1" dirty="0">
                <a:solidFill>
                  <a:srgbClr val="FF0000"/>
                </a:solidFill>
              </a:rPr>
              <a:t>:	</a:t>
            </a:r>
            <a:r>
              <a:rPr lang="da-DK" sz="2400" b="1" i="1" dirty="0"/>
              <a:t>Åben</a:t>
            </a:r>
            <a:r>
              <a:rPr lang="da-DK" sz="2400" i="1" dirty="0"/>
              <a:t>sløjfeforstærkningen (A)</a:t>
            </a:r>
          </a:p>
          <a:p>
            <a:pPr algn="l">
              <a:tabLst>
                <a:tab pos="715963" algn="l"/>
              </a:tabLst>
            </a:pPr>
            <a:r>
              <a:rPr lang="da-DK" sz="2400" i="1" dirty="0">
                <a:solidFill>
                  <a:srgbClr val="92D050"/>
                </a:solidFill>
              </a:rPr>
              <a:t>A</a:t>
            </a:r>
            <a:r>
              <a:rPr lang="da-DK" sz="2400" i="1" baseline="-25000" dirty="0">
                <a:solidFill>
                  <a:srgbClr val="92D050"/>
                </a:solidFill>
              </a:rPr>
              <a:t>CL</a:t>
            </a:r>
            <a:r>
              <a:rPr lang="da-DK" sz="2400" i="1" dirty="0">
                <a:solidFill>
                  <a:srgbClr val="92D050"/>
                </a:solidFill>
              </a:rPr>
              <a:t>:	</a:t>
            </a:r>
            <a:r>
              <a:rPr lang="da-DK" sz="2400" b="1" i="1" dirty="0"/>
              <a:t>Lukket</a:t>
            </a:r>
            <a:r>
              <a:rPr lang="da-DK" sz="2400" i="1" dirty="0"/>
              <a:t>sløjfeforstærkningen (A</a:t>
            </a:r>
            <a:r>
              <a:rPr lang="da-DK" sz="2400" i="1" baseline="-25000" dirty="0"/>
              <a:t>f</a:t>
            </a:r>
            <a:r>
              <a:rPr lang="da-DK" sz="2400" i="1" dirty="0"/>
              <a:t>)</a:t>
            </a:r>
          </a:p>
          <a:p>
            <a:pPr algn="l">
              <a:tabLst>
                <a:tab pos="715963" algn="l"/>
              </a:tabLst>
            </a:pPr>
            <a:r>
              <a:rPr lang="el-GR" sz="2400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da-DK" sz="2400" i="1" dirty="0">
                <a:solidFill>
                  <a:srgbClr val="00B0F0"/>
                </a:solidFill>
              </a:rPr>
              <a:t>A</a:t>
            </a:r>
            <a:r>
              <a:rPr lang="da-DK" sz="2400" i="1" baseline="-25000" dirty="0">
                <a:solidFill>
                  <a:srgbClr val="00B0F0"/>
                </a:solidFill>
              </a:rPr>
              <a:t>OL</a:t>
            </a:r>
            <a:r>
              <a:rPr lang="da-DK" sz="2400" i="1" dirty="0">
                <a:solidFill>
                  <a:srgbClr val="00B0F0"/>
                </a:solidFill>
              </a:rPr>
              <a:t>:	</a:t>
            </a:r>
            <a:r>
              <a:rPr lang="da-DK" sz="2400" b="1" i="1" dirty="0"/>
              <a:t>Sløjfe</a:t>
            </a:r>
            <a:r>
              <a:rPr lang="da-DK" sz="2400" i="1" dirty="0"/>
              <a:t>forstærkningen</a:t>
            </a:r>
          </a:p>
        </p:txBody>
      </p:sp>
      <p:grpSp>
        <p:nvGrpSpPr>
          <p:cNvPr id="7" name="Gruppe 6">
            <a:extLst>
              <a:ext uri="{FF2B5EF4-FFF2-40B4-BE49-F238E27FC236}">
                <a16:creationId xmlns:a16="http://schemas.microsoft.com/office/drawing/2014/main" id="{A76DA570-CC81-0925-2571-8F0375C0FAA4}"/>
              </a:ext>
            </a:extLst>
          </p:cNvPr>
          <p:cNvGrpSpPr/>
          <p:nvPr/>
        </p:nvGrpSpPr>
        <p:grpSpPr>
          <a:xfrm>
            <a:off x="4980073" y="188640"/>
            <a:ext cx="3912407" cy="1728192"/>
            <a:chOff x="4980073" y="188640"/>
            <a:chExt cx="3912407" cy="1728192"/>
          </a:xfrm>
        </p:grpSpPr>
        <p:pic>
          <p:nvPicPr>
            <p:cNvPr id="8" name="Billede 7">
              <a:extLst>
                <a:ext uri="{FF2B5EF4-FFF2-40B4-BE49-F238E27FC236}">
                  <a16:creationId xmlns:a16="http://schemas.microsoft.com/office/drawing/2014/main" id="{7983BB86-E724-48CC-9A0C-7FB43229D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73" y="188640"/>
              <a:ext cx="3912407" cy="1728192"/>
            </a:xfrm>
            <a:prstGeom prst="rect">
              <a:avLst/>
            </a:prstGeom>
          </p:spPr>
        </p:pic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254CE979-4DAB-A706-5762-14FE666948AB}"/>
                </a:ext>
              </a:extLst>
            </p:cNvPr>
            <p:cNvSpPr/>
            <p:nvPr/>
          </p:nvSpPr>
          <p:spPr>
            <a:xfrm>
              <a:off x="8496436" y="591527"/>
              <a:ext cx="216024" cy="218189"/>
            </a:xfrm>
            <a:prstGeom prst="ellipse">
              <a:avLst/>
            </a:prstGeom>
            <a:noFill/>
            <a:ln w="127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C05241F6-2E89-BD72-8C08-C313A9705FB4}"/>
                </a:ext>
              </a:extLst>
            </p:cNvPr>
            <p:cNvSpPr/>
            <p:nvPr/>
          </p:nvSpPr>
          <p:spPr>
            <a:xfrm>
              <a:off x="5045240" y="631276"/>
              <a:ext cx="216024" cy="218189"/>
            </a:xfrm>
            <a:prstGeom prst="ellipse">
              <a:avLst/>
            </a:prstGeom>
            <a:noFill/>
            <a:ln w="12700">
              <a:solidFill>
                <a:srgbClr val="92D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Kombinationstegning: figur 4">
            <a:extLst>
              <a:ext uri="{FF2B5EF4-FFF2-40B4-BE49-F238E27FC236}">
                <a16:creationId xmlns:a16="http://schemas.microsoft.com/office/drawing/2014/main" id="{1F13C009-72D0-96F9-E0D7-5BD92C3FC770}"/>
              </a:ext>
            </a:extLst>
          </p:cNvPr>
          <p:cNvSpPr/>
          <p:nvPr/>
        </p:nvSpPr>
        <p:spPr>
          <a:xfrm>
            <a:off x="5251736" y="228984"/>
            <a:ext cx="3240360" cy="360040"/>
          </a:xfrm>
          <a:custGeom>
            <a:avLst/>
            <a:gdLst>
              <a:gd name="connsiteX0" fmla="*/ 0 w 1833563"/>
              <a:gd name="connsiteY0" fmla="*/ 204788 h 204788"/>
              <a:gd name="connsiteX1" fmla="*/ 928688 w 1833563"/>
              <a:gd name="connsiteY1" fmla="*/ 0 h 204788"/>
              <a:gd name="connsiteX2" fmla="*/ 1833563 w 1833563"/>
              <a:gd name="connsiteY2" fmla="*/ 204788 h 204788"/>
              <a:gd name="connsiteX3" fmla="*/ 1833563 w 1833563"/>
              <a:gd name="connsiteY3" fmla="*/ 204788 h 20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33563" h="204788">
                <a:moveTo>
                  <a:pt x="0" y="204788"/>
                </a:moveTo>
                <a:cubicBezTo>
                  <a:pt x="311547" y="102394"/>
                  <a:pt x="623094" y="0"/>
                  <a:pt x="928688" y="0"/>
                </a:cubicBezTo>
                <a:cubicBezTo>
                  <a:pt x="1234282" y="0"/>
                  <a:pt x="1833563" y="204788"/>
                  <a:pt x="1833563" y="204788"/>
                </a:cubicBezTo>
                <a:lnTo>
                  <a:pt x="1833563" y="204788"/>
                </a:lnTo>
              </a:path>
            </a:pathLst>
          </a:custGeom>
          <a:noFill/>
          <a:ln w="9525">
            <a:solidFill>
              <a:srgbClr val="92D050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1C69EF7-1B3E-7529-2151-8F8A8D677996}"/>
              </a:ext>
            </a:extLst>
          </p:cNvPr>
          <p:cNvSpPr/>
          <p:nvPr/>
        </p:nvSpPr>
        <p:spPr>
          <a:xfrm>
            <a:off x="7380312" y="562290"/>
            <a:ext cx="335131" cy="33849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Kombinationstegning: figur 1">
            <a:extLst>
              <a:ext uri="{FF2B5EF4-FFF2-40B4-BE49-F238E27FC236}">
                <a16:creationId xmlns:a16="http://schemas.microsoft.com/office/drawing/2014/main" id="{98E4EEF6-6F64-72AB-C15C-0D3CF056D4FA}"/>
              </a:ext>
            </a:extLst>
          </p:cNvPr>
          <p:cNvSpPr/>
          <p:nvPr/>
        </p:nvSpPr>
        <p:spPr>
          <a:xfrm>
            <a:off x="6977951" y="795438"/>
            <a:ext cx="1139851" cy="601464"/>
          </a:xfrm>
          <a:custGeom>
            <a:avLst/>
            <a:gdLst>
              <a:gd name="connsiteX0" fmla="*/ 183032 w 1492850"/>
              <a:gd name="connsiteY0" fmla="*/ 93538 h 1302150"/>
              <a:gd name="connsiteX1" fmla="*/ 1335557 w 1492850"/>
              <a:gd name="connsiteY1" fmla="*/ 103063 h 1302150"/>
              <a:gd name="connsiteX2" fmla="*/ 1359370 w 1492850"/>
              <a:gd name="connsiteY2" fmla="*/ 1141288 h 1302150"/>
              <a:gd name="connsiteX3" fmla="*/ 192557 w 1492850"/>
              <a:gd name="connsiteY3" fmla="*/ 1222250 h 1302150"/>
              <a:gd name="connsiteX4" fmla="*/ 2057 w 1492850"/>
              <a:gd name="connsiteY4" fmla="*/ 384050 h 1302150"/>
              <a:gd name="connsiteX5" fmla="*/ 2057 w 1492850"/>
              <a:gd name="connsiteY5" fmla="*/ 384050 h 130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2850" h="1302150">
                <a:moveTo>
                  <a:pt x="183032" y="93538"/>
                </a:moveTo>
                <a:cubicBezTo>
                  <a:pt x="661266" y="10988"/>
                  <a:pt x="1139501" y="-71562"/>
                  <a:pt x="1335557" y="103063"/>
                </a:cubicBezTo>
                <a:cubicBezTo>
                  <a:pt x="1531613" y="277688"/>
                  <a:pt x="1549870" y="954757"/>
                  <a:pt x="1359370" y="1141288"/>
                </a:cubicBezTo>
                <a:cubicBezTo>
                  <a:pt x="1168870" y="1327819"/>
                  <a:pt x="418776" y="1348456"/>
                  <a:pt x="192557" y="1222250"/>
                </a:cubicBezTo>
                <a:cubicBezTo>
                  <a:pt x="-33662" y="1096044"/>
                  <a:pt x="2057" y="384050"/>
                  <a:pt x="2057" y="384050"/>
                </a:cubicBezTo>
                <a:lnTo>
                  <a:pt x="2057" y="384050"/>
                </a:lnTo>
              </a:path>
            </a:pathLst>
          </a:custGeom>
          <a:noFill/>
          <a:ln w="9525">
            <a:solidFill>
              <a:srgbClr val="00B0F0"/>
            </a:solidFill>
            <a:prstDash val="lg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0089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983BB86-E724-48CC-9A0C-7FB43229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073" y="191245"/>
            <a:ext cx="3912407" cy="1722982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3456384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Tilbagekoblingen </a:t>
            </a:r>
            <a:r>
              <a:rPr lang="el-GR" sz="28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da-DK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76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983BB86-E724-48CC-9A0C-7FB43229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073" y="191245"/>
            <a:ext cx="3912407" cy="1722982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3456384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Tilbagekoblingen </a:t>
            </a:r>
            <a:r>
              <a:rPr lang="el-GR" sz="2800" i="1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da-DK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F8D8FB-AD4C-4790-90BE-225440C78064}"/>
              </a:ext>
            </a:extLst>
          </p:cNvPr>
          <p:cNvSpPr txBox="1">
            <a:spLocks/>
          </p:cNvSpPr>
          <p:nvPr/>
        </p:nvSpPr>
        <p:spPr>
          <a:xfrm>
            <a:off x="576700" y="1587500"/>
            <a:ext cx="5579476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kilde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449181CD-8BFA-473A-AF8F-BC9A5C6BB01F}"/>
              </a:ext>
            </a:extLst>
          </p:cNvPr>
          <p:cNvSpPr txBox="1">
            <a:spLocks/>
          </p:cNvSpPr>
          <p:nvPr/>
        </p:nvSpPr>
        <p:spPr>
          <a:xfrm>
            <a:off x="576700" y="4179788"/>
            <a:ext cx="6155540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Hvordan skal kredsløbet se ud som </a:t>
            </a:r>
            <a:r>
              <a:rPr lang="da-DK" sz="2400" b="1" i="1" dirty="0"/>
              <a:t>belastning</a:t>
            </a:r>
            <a:r>
              <a:rPr lang="da-DK" sz="2400" i="1" dirty="0"/>
              <a:t>?</a:t>
            </a:r>
            <a:endParaRPr lang="da-DK" sz="2400" b="1" i="1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B50585F9-3865-477B-B8A7-A746CB0589D4}"/>
              </a:ext>
            </a:extLst>
          </p:cNvPr>
          <p:cNvSpPr txBox="1">
            <a:spLocks/>
          </p:cNvSpPr>
          <p:nvPr/>
        </p:nvSpPr>
        <p:spPr>
          <a:xfrm>
            <a:off x="4705694" y="2972594"/>
            <a:ext cx="1242914" cy="402401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000" i="1" dirty="0"/>
              <a:t>Set fra R</a:t>
            </a:r>
            <a:r>
              <a:rPr lang="da-DK" sz="2000" i="1" baseline="-25000" dirty="0"/>
              <a:t>L</a:t>
            </a:r>
            <a:endParaRPr lang="da-DK" sz="2000" b="1" i="1" baseline="-2500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0F003C0-DE2D-40AF-8D71-80C29D826B65}"/>
              </a:ext>
            </a:extLst>
          </p:cNvPr>
          <p:cNvSpPr txBox="1">
            <a:spLocks/>
          </p:cNvSpPr>
          <p:nvPr/>
        </p:nvSpPr>
        <p:spPr>
          <a:xfrm>
            <a:off x="5127735" y="5576635"/>
            <a:ext cx="1182448" cy="402401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000" i="1" dirty="0"/>
              <a:t>Set fra v</a:t>
            </a:r>
            <a:r>
              <a:rPr lang="da-DK" sz="2000" i="1" baseline="-25000" dirty="0"/>
              <a:t>s</a:t>
            </a:r>
            <a:endParaRPr lang="da-DK" sz="2000" b="1" i="1" baseline="-25000" dirty="0"/>
          </a:p>
        </p:txBody>
      </p: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71C6D827-9FF4-4B66-8A6D-DFC2D3B95E23}"/>
              </a:ext>
            </a:extLst>
          </p:cNvPr>
          <p:cNvCxnSpPr/>
          <p:nvPr/>
        </p:nvCxnSpPr>
        <p:spPr>
          <a:xfrm flipV="1">
            <a:off x="5327151" y="2060848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559F3873-4BF7-4FFB-82E6-17D5036CF41A}"/>
              </a:ext>
            </a:extLst>
          </p:cNvPr>
          <p:cNvCxnSpPr/>
          <p:nvPr/>
        </p:nvCxnSpPr>
        <p:spPr>
          <a:xfrm flipV="1">
            <a:off x="5718959" y="4589703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" name="Gruppe 16">
            <a:extLst>
              <a:ext uri="{FF2B5EF4-FFF2-40B4-BE49-F238E27FC236}">
                <a16:creationId xmlns:a16="http://schemas.microsoft.com/office/drawing/2014/main" id="{D5C07679-66A2-4926-AA16-37AA610BAC90}"/>
              </a:ext>
            </a:extLst>
          </p:cNvPr>
          <p:cNvGrpSpPr/>
          <p:nvPr/>
        </p:nvGrpSpPr>
        <p:grpSpPr>
          <a:xfrm>
            <a:off x="820699" y="2348880"/>
            <a:ext cx="3391261" cy="1271976"/>
            <a:chOff x="820699" y="5181360"/>
            <a:chExt cx="3391261" cy="1271976"/>
          </a:xfrm>
        </p:grpSpPr>
        <p:pic>
          <p:nvPicPr>
            <p:cNvPr id="20" name="Picture 11" descr="AAAZZJO0.EPS                                                   0003078BMacintosh HD                   B3377F2F:">
              <a:extLst>
                <a:ext uri="{FF2B5EF4-FFF2-40B4-BE49-F238E27FC236}">
                  <a16:creationId xmlns:a16="http://schemas.microsoft.com/office/drawing/2014/main" id="{A8F0CEC2-1CD0-426A-84F2-C7A9093C16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518136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3" name="Vinklet forbindelse 2">
              <a:extLst>
                <a:ext uri="{FF2B5EF4-FFF2-40B4-BE49-F238E27FC236}">
                  <a16:creationId xmlns:a16="http://schemas.microsoft.com/office/drawing/2014/main" id="{0EEE1380-3DF3-498A-ABBD-B40756569315}"/>
                </a:ext>
              </a:extLst>
            </p:cNvPr>
            <p:cNvCxnSpPr/>
            <p:nvPr/>
          </p:nvCxnSpPr>
          <p:spPr>
            <a:xfrm rot="10800000">
              <a:off x="3095836" y="5589240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itel 1">
              <a:extLst>
                <a:ext uri="{FF2B5EF4-FFF2-40B4-BE49-F238E27FC236}">
                  <a16:creationId xmlns:a16="http://schemas.microsoft.com/office/drawing/2014/main" id="{0E2B01A0-4E69-4F68-B35B-32C6E87E59A2}"/>
                </a:ext>
              </a:extLst>
            </p:cNvPr>
            <p:cNvSpPr txBox="1">
              <a:spLocks/>
            </p:cNvSpPr>
            <p:nvPr/>
          </p:nvSpPr>
          <p:spPr>
            <a:xfrm>
              <a:off x="3408071" y="5973448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uppe 24">
            <a:extLst>
              <a:ext uri="{FF2B5EF4-FFF2-40B4-BE49-F238E27FC236}">
                <a16:creationId xmlns:a16="http://schemas.microsoft.com/office/drawing/2014/main" id="{4D606615-2FA4-41E2-925F-06B0DDAEB402}"/>
              </a:ext>
            </a:extLst>
          </p:cNvPr>
          <p:cNvGrpSpPr/>
          <p:nvPr/>
        </p:nvGrpSpPr>
        <p:grpSpPr>
          <a:xfrm>
            <a:off x="820699" y="4950074"/>
            <a:ext cx="3391261" cy="1215230"/>
            <a:chOff x="820699" y="2573810"/>
            <a:chExt cx="3391261" cy="1215230"/>
          </a:xfrm>
        </p:grpSpPr>
        <p:pic>
          <p:nvPicPr>
            <p:cNvPr id="26" name="Picture 11" descr="AAAZZJO0.EPS                                                   0003078BMacintosh HD                   B3377F2F:">
              <a:extLst>
                <a:ext uri="{FF2B5EF4-FFF2-40B4-BE49-F238E27FC236}">
                  <a16:creationId xmlns:a16="http://schemas.microsoft.com/office/drawing/2014/main" id="{9848416F-0338-408F-9D13-DF4610944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699" y="2573810"/>
              <a:ext cx="3391261" cy="911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Vinklet forbindelse 16">
              <a:extLst>
                <a:ext uri="{FF2B5EF4-FFF2-40B4-BE49-F238E27FC236}">
                  <a16:creationId xmlns:a16="http://schemas.microsoft.com/office/drawing/2014/main" id="{FA2A62B1-DB44-41B7-A47B-C36DB2A69667}"/>
                </a:ext>
              </a:extLst>
            </p:cNvPr>
            <p:cNvCxnSpPr/>
            <p:nvPr/>
          </p:nvCxnSpPr>
          <p:spPr>
            <a:xfrm rot="10800000" flipH="1">
              <a:off x="1475656" y="2924944"/>
              <a:ext cx="504056" cy="360040"/>
            </a:xfrm>
            <a:prstGeom prst="bentConnector3">
              <a:avLst>
                <a:gd name="adj1" fmla="val -391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itel 1">
              <a:extLst>
                <a:ext uri="{FF2B5EF4-FFF2-40B4-BE49-F238E27FC236}">
                  <a16:creationId xmlns:a16="http://schemas.microsoft.com/office/drawing/2014/main" id="{DA23B77E-AD39-421F-86B6-29FB4309BEF9}"/>
                </a:ext>
              </a:extLst>
            </p:cNvPr>
            <p:cNvSpPr txBox="1">
              <a:spLocks/>
            </p:cNvSpPr>
            <p:nvPr/>
          </p:nvSpPr>
          <p:spPr>
            <a:xfrm>
              <a:off x="1278682" y="3309152"/>
              <a:ext cx="386517" cy="479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?</a:t>
              </a:r>
              <a:endParaRPr lang="da-DK" sz="2400" b="1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Titel 1">
            <a:extLst>
              <a:ext uri="{FF2B5EF4-FFF2-40B4-BE49-F238E27FC236}">
                <a16:creationId xmlns:a16="http://schemas.microsoft.com/office/drawing/2014/main" id="{20E5ADED-41FF-460F-A85C-6C65CB4DB762}"/>
              </a:ext>
            </a:extLst>
          </p:cNvPr>
          <p:cNvSpPr txBox="1">
            <a:spLocks/>
          </p:cNvSpPr>
          <p:nvPr/>
        </p:nvSpPr>
        <p:spPr>
          <a:xfrm>
            <a:off x="7269501" y="2348880"/>
            <a:ext cx="790219" cy="48690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600" i="1" baseline="-25000" dirty="0"/>
              <a:t>Strøm</a:t>
            </a:r>
          </a:p>
          <a:p>
            <a:pPr algn="l"/>
            <a:r>
              <a:rPr lang="da-DK" sz="1600" i="1" baseline="-25000" dirty="0"/>
              <a:t>Spænding</a:t>
            </a:r>
          </a:p>
        </p:txBody>
      </p:sp>
      <p:sp>
        <p:nvSpPr>
          <p:cNvPr id="31" name="Titel 1">
            <a:extLst>
              <a:ext uri="{FF2B5EF4-FFF2-40B4-BE49-F238E27FC236}">
                <a16:creationId xmlns:a16="http://schemas.microsoft.com/office/drawing/2014/main" id="{30C79662-7620-4725-9733-129E9DDFA328}"/>
              </a:ext>
            </a:extLst>
          </p:cNvPr>
          <p:cNvSpPr txBox="1">
            <a:spLocks/>
          </p:cNvSpPr>
          <p:nvPr/>
        </p:nvSpPr>
        <p:spPr>
          <a:xfrm>
            <a:off x="7269501" y="4886311"/>
            <a:ext cx="790219" cy="486905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600" i="1" baseline="-25000" dirty="0"/>
              <a:t>Serie-</a:t>
            </a:r>
          </a:p>
          <a:p>
            <a:pPr algn="l"/>
            <a:r>
              <a:rPr lang="da-DK" sz="1600" i="1" baseline="-25000" dirty="0"/>
              <a:t>Parallelt-</a:t>
            </a:r>
          </a:p>
        </p:txBody>
      </p:sp>
    </p:spTree>
    <p:extLst>
      <p:ext uri="{BB962C8B-B14F-4D97-AF65-F5344CB8AC3E}">
        <p14:creationId xmlns:p14="http://schemas.microsoft.com/office/powerpoint/2010/main" val="310730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983BB86-E724-48CC-9A0C-7FB43229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074" y="191245"/>
            <a:ext cx="3912405" cy="1722982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464496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Åbensløjfeforstærkningen A</a:t>
            </a:r>
            <a:r>
              <a:rPr lang="da-DK" sz="2800" i="1" baseline="-25000" dirty="0"/>
              <a:t>OL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11E7C3DF-C0E1-A639-4311-58E149E6D7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3267" y="2060848"/>
                <a:ext cx="1151940" cy="576064"/>
              </a:xfrm>
              <a:prstGeom prst="rect">
                <a:avLst/>
              </a:prstGeom>
              <a:ln w="63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12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12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12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12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12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12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1200" b="0" i="1"/>
                          <m:t>1+</m:t>
                        </m:r>
                        <m:r>
                          <m:rPr>
                            <m:nor/>
                          </m:rPr>
                          <a:rPr lang="da-DK" sz="12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1200" b="0" i="1" smtClean="0"/>
                          <m:t> </m:t>
                        </m:r>
                        <m:f>
                          <m:fPr>
                            <m:ctrlPr>
                              <a:rPr lang="da-DK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12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12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12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12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1200" i="1" dirty="0"/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11E7C3DF-C0E1-A639-4311-58E149E6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7" y="2060848"/>
                <a:ext cx="1151940" cy="576064"/>
              </a:xfrm>
              <a:prstGeom prst="rect">
                <a:avLst/>
              </a:prstGeom>
              <a:blipFill>
                <a:blip r:embed="rId3"/>
                <a:stretch>
                  <a:fillRect b="-1042"/>
                </a:stretch>
              </a:blipFill>
              <a:ln w="6350"/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6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983BB86-E724-48CC-9A0C-7FB43229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074" y="191245"/>
            <a:ext cx="3912405" cy="1722982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464496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Åbensløjfeforstærkningen A</a:t>
            </a:r>
            <a:r>
              <a:rPr lang="da-DK" sz="2800" i="1" baseline="-25000" dirty="0"/>
              <a:t>OL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37E0D0D-26A1-452F-B976-61D4AFD7C170}"/>
              </a:ext>
            </a:extLst>
          </p:cNvPr>
          <p:cNvSpPr txBox="1">
            <a:spLocks/>
          </p:cNvSpPr>
          <p:nvPr/>
        </p:nvSpPr>
        <p:spPr>
          <a:xfrm>
            <a:off x="683569" y="2142724"/>
            <a:ext cx="3168352" cy="715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OL</a:t>
            </a:r>
            <a:r>
              <a:rPr lang="da-DK" sz="2400" i="1" dirty="0"/>
              <a:t> frekvensafhængig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4A6D92CE-F6FC-4BD9-98D8-1C08CCBFD3B0}"/>
              </a:ext>
            </a:extLst>
          </p:cNvPr>
          <p:cNvSpPr txBox="1">
            <a:spLocks/>
          </p:cNvSpPr>
          <p:nvPr/>
        </p:nvSpPr>
        <p:spPr>
          <a:xfrm>
            <a:off x="683569" y="3655687"/>
            <a:ext cx="2952328" cy="7153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K</a:t>
            </a:r>
            <a:r>
              <a:rPr lang="da-DK" sz="2400" b="1" i="1" baseline="-25000" dirty="0"/>
              <a:t>f</a:t>
            </a:r>
            <a:r>
              <a:rPr lang="da-DK" sz="2400" i="1" dirty="0"/>
              <a:t> frekvensafhængig: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8700E50-441B-42BE-A72C-DF69BDF96FD1}"/>
              </a:ext>
            </a:extLst>
          </p:cNvPr>
          <p:cNvSpPr txBox="1">
            <a:spLocks/>
          </p:cNvSpPr>
          <p:nvPr/>
        </p:nvSpPr>
        <p:spPr>
          <a:xfrm>
            <a:off x="683568" y="5332217"/>
            <a:ext cx="3096344" cy="591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A</a:t>
            </a:r>
            <a:r>
              <a:rPr lang="da-DK" sz="2400" b="1" i="1" baseline="-25000" dirty="0"/>
              <a:t>CL</a:t>
            </a:r>
            <a:r>
              <a:rPr lang="da-DK" sz="2400" i="1" dirty="0"/>
              <a:t> frekvensafhængig: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65C49FB3-D063-4637-99CB-0EEFCAF1C2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5680" y="5234369"/>
                <a:ext cx="1524655" cy="78691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CL</m:t>
                        </m:r>
                      </m:sub>
                    </m:sSub>
                  </m:oMath>
                </a14:m>
                <a:r>
                  <a:rPr lang="da-DK" sz="2400" i="1" dirty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α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  <m:r>
                      <m:rPr>
                        <m:nor/>
                      </m:rPr>
                      <a:rPr lang="da-DK" sz="2400" i="1">
                        <a:latin typeface="Calibri" panose="020F0502020204030204" pitchFamily="34" charset="0"/>
                      </a:rPr>
                      <m:t> ∙ </m:t>
                    </m:r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f</m:t>
                        </m:r>
                      </m:sub>
                    </m:sSub>
                  </m:oMath>
                </a14:m>
                <a:endParaRPr lang="da-DK" sz="24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65C49FB3-D063-4637-99CB-0EEFCAF1C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680" y="5234369"/>
                <a:ext cx="1524655" cy="7869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454B2F11-6D93-4197-9D4C-6E0A9086F8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5680" y="3585873"/>
                <a:ext cx="2016480" cy="11770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K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2400" i="1" baseline="-25000">
                            <a:latin typeface="Calibri" panose="020F0502020204030204" pitchFamily="34" charset="0"/>
                          </a:rPr>
                          <m:t>f</m:t>
                        </m:r>
                      </m:sub>
                    </m:sSub>
                    <m:r>
                      <m:rPr>
                        <m:nor/>
                      </m:rPr>
                      <a:rPr lang="da-DK" sz="2400" i="1">
                        <a:latin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a-DK" sz="2400" i="1" dirty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2400" i="1">
                            <a:latin typeface="Calibri" panose="020F0502020204030204" pitchFamily="34" charset="0"/>
                          </a:rPr>
                          <m:t>1+ </m:t>
                        </m:r>
                        <m:f>
                          <m:fPr>
                            <m:ctrlPr>
                              <a:rPr lang="da-DK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2400" i="1">
                                <a:latin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da-DK" sz="2400" i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β</m:t>
                            </m:r>
                            <m:r>
                              <m:rPr>
                                <m:nor/>
                              </m:rPr>
                              <a:rPr lang="da-DK" sz="2400" i="1">
                                <a:latin typeface="Calibri" panose="020F0502020204030204" pitchFamily="34" charset="0"/>
                              </a:rPr>
                              <m:t> ∙ </m:t>
                            </m:r>
                            <m:sSub>
                              <m:sSubPr>
                                <m:ctrlPr>
                                  <a:rPr lang="da-DK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400" i="1">
                                    <a:latin typeface="Calibri" panose="020F0502020204030204" pitchFamily="34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2400" i="1" baseline="-25000">
                                    <a:latin typeface="Calibri" panose="020F0502020204030204" pitchFamily="34" charset="0"/>
                                  </a:rPr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24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454B2F11-6D93-4197-9D4C-6E0A9086F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680" y="3585873"/>
                <a:ext cx="2016480" cy="11770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Billede 12">
            <a:extLst>
              <a:ext uri="{FF2B5EF4-FFF2-40B4-BE49-F238E27FC236}">
                <a16:creationId xmlns:a16="http://schemas.microsoft.com/office/drawing/2014/main" id="{1986A5C2-E190-4CDB-B7D9-F11A678393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030" y="4437112"/>
            <a:ext cx="1833449" cy="1991408"/>
          </a:xfrm>
          <a:prstGeom prst="rect">
            <a:avLst/>
          </a:prstGeom>
        </p:spPr>
      </p:pic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38DB0C29-9A0C-4FB1-823F-BBC2E557D286}"/>
              </a:ext>
            </a:extLst>
          </p:cNvPr>
          <p:cNvCxnSpPr>
            <a:cxnSpLocks/>
          </p:cNvCxnSpPr>
          <p:nvPr/>
        </p:nvCxnSpPr>
        <p:spPr>
          <a:xfrm>
            <a:off x="2123728" y="2937801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33EDB8E9-FE36-422D-8D42-58B8A4431B53}"/>
              </a:ext>
            </a:extLst>
          </p:cNvPr>
          <p:cNvCxnSpPr>
            <a:cxnSpLocks/>
          </p:cNvCxnSpPr>
          <p:nvPr/>
        </p:nvCxnSpPr>
        <p:spPr>
          <a:xfrm>
            <a:off x="2123728" y="4514289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E7A15518-3F72-43DF-BA9A-A15C4C142017}"/>
              </a:ext>
            </a:extLst>
          </p:cNvPr>
          <p:cNvSpPr txBox="1">
            <a:spLocks/>
          </p:cNvSpPr>
          <p:nvPr/>
        </p:nvSpPr>
        <p:spPr>
          <a:xfrm>
            <a:off x="185498" y="6472732"/>
            <a:ext cx="4092483" cy="322664"/>
          </a:xfrm>
          <a:prstGeom prst="rect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/>
              <a:t>(Andre fejl på A</a:t>
            </a:r>
            <a:r>
              <a:rPr lang="da-DK" sz="1200" i="1" baseline="-25000" dirty="0"/>
              <a:t>OL</a:t>
            </a:r>
            <a:r>
              <a:rPr lang="da-DK" sz="1200" i="1" dirty="0"/>
              <a:t> afspejler sig ligeledes i det samlede respons)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7A1FD2A-D1F1-37B6-F6E1-30CCE40210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3267" y="2060848"/>
                <a:ext cx="1151940" cy="576064"/>
              </a:xfrm>
              <a:prstGeom prst="rect">
                <a:avLst/>
              </a:prstGeom>
              <a:ln w="63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12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12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12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12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12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12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1200" b="0" i="1"/>
                          <m:t>1+</m:t>
                        </m:r>
                        <m:r>
                          <m:rPr>
                            <m:nor/>
                          </m:rPr>
                          <a:rPr lang="da-DK" sz="12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1200" b="0" i="1" smtClean="0"/>
                          <m:t> </m:t>
                        </m:r>
                        <m:f>
                          <m:fPr>
                            <m:ctrlPr>
                              <a:rPr lang="da-DK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12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12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12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12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1200" i="1" dirty="0"/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7A1FD2A-D1F1-37B6-F6E1-30CCE4021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7" y="2060848"/>
                <a:ext cx="1151940" cy="576064"/>
              </a:xfrm>
              <a:prstGeom prst="rect">
                <a:avLst/>
              </a:prstGeom>
              <a:blipFill>
                <a:blip r:embed="rId6"/>
                <a:stretch>
                  <a:fillRect b="-1042"/>
                </a:stretch>
              </a:blipFill>
              <a:ln w="6350"/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393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7983BB86-E724-48CC-9A0C-7FB43229D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074" y="191245"/>
            <a:ext cx="3912405" cy="1722982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464496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Åbensløjfeforstærkningen A</a:t>
            </a:r>
            <a:r>
              <a:rPr lang="da-DK" sz="2800" i="1" baseline="-25000" dirty="0"/>
              <a:t>OL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 descr="AAAZYQR0.EPS                                                   00056AF1Hard Drive-Seat One            B36702C6:">
            <a:extLst>
              <a:ext uri="{FF2B5EF4-FFF2-40B4-BE49-F238E27FC236}">
                <a16:creationId xmlns:a16="http://schemas.microsoft.com/office/drawing/2014/main" id="{47F5999D-7A05-43CB-B68A-C2176975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28800"/>
            <a:ext cx="4632052" cy="342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DD671637-B384-4A31-9C5D-6C1C922A0052}"/>
              </a:ext>
            </a:extLst>
          </p:cNvPr>
          <p:cNvSpPr txBox="1">
            <a:spLocks/>
          </p:cNvSpPr>
          <p:nvPr/>
        </p:nvSpPr>
        <p:spPr>
          <a:xfrm>
            <a:off x="2016098" y="5589240"/>
            <a:ext cx="1152128" cy="288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Typisk 5 - 10 Hz</a:t>
            </a:r>
          </a:p>
        </p:txBody>
      </p:sp>
      <p:cxnSp>
        <p:nvCxnSpPr>
          <p:cNvPr id="6" name="Lige pilforbindelse 5">
            <a:extLst>
              <a:ext uri="{FF2B5EF4-FFF2-40B4-BE49-F238E27FC236}">
                <a16:creationId xmlns:a16="http://schemas.microsoft.com/office/drawing/2014/main" id="{5E50D5CB-91A2-49EB-8C75-24E72263BD3E}"/>
              </a:ext>
            </a:extLst>
          </p:cNvPr>
          <p:cNvCxnSpPr>
            <a:cxnSpLocks/>
          </p:cNvCxnSpPr>
          <p:nvPr/>
        </p:nvCxnSpPr>
        <p:spPr>
          <a:xfrm flipV="1">
            <a:off x="2592162" y="5013176"/>
            <a:ext cx="0" cy="504056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31A91B18-9A8F-4BF6-92DF-ACB9FE5997D3}"/>
              </a:ext>
            </a:extLst>
          </p:cNvPr>
          <p:cNvCxnSpPr>
            <a:cxnSpLocks/>
          </p:cNvCxnSpPr>
          <p:nvPr/>
        </p:nvCxnSpPr>
        <p:spPr>
          <a:xfrm flipV="1">
            <a:off x="5251736" y="5013176"/>
            <a:ext cx="0" cy="504056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" name="Gruppe 11">
            <a:extLst>
              <a:ext uri="{FF2B5EF4-FFF2-40B4-BE49-F238E27FC236}">
                <a16:creationId xmlns:a16="http://schemas.microsoft.com/office/drawing/2014/main" id="{CCC82C12-E20F-4E4A-B8B8-3393A925BC33}"/>
              </a:ext>
            </a:extLst>
          </p:cNvPr>
          <p:cNvGrpSpPr/>
          <p:nvPr/>
        </p:nvGrpSpPr>
        <p:grpSpPr>
          <a:xfrm>
            <a:off x="5636051" y="6237312"/>
            <a:ext cx="3328437" cy="504056"/>
            <a:chOff x="1171556" y="5111368"/>
            <a:chExt cx="3328437" cy="720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itel 1">
                  <a:extLst>
                    <a:ext uri="{FF2B5EF4-FFF2-40B4-BE49-F238E27FC236}">
                      <a16:creationId xmlns:a16="http://schemas.microsoft.com/office/drawing/2014/main" id="{24744B71-57AE-4B81-959C-9195D6E93AB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55777" y="5111368"/>
                  <a:ext cx="1944216" cy="72008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ctr" defTabSz="914400" rtl="0" eaLnBrk="1" latinLnBrk="0" hangingPunct="1"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/>
                  <a:r>
                    <a:rPr lang="da-DK" sz="2000" i="1" dirty="0"/>
                    <a:t>f &gt;&gt; </a:t>
                  </a:r>
                  <a:r>
                    <a:rPr lang="da-DK" sz="2000" i="1" dirty="0" err="1"/>
                    <a:t>f</a:t>
                  </a:r>
                  <a:r>
                    <a:rPr lang="da-DK" sz="2000" i="1" baseline="-25000" dirty="0" err="1"/>
                    <a:t>BOL</a:t>
                  </a:r>
                  <a:r>
                    <a:rPr lang="da-DK" sz="2000" i="1" dirty="0"/>
                    <a:t> </a:t>
                  </a:r>
                  <a14:m>
                    <m:oMath xmlns:m="http://schemas.openxmlformats.org/officeDocument/2006/math">
                      <m:r>
                        <a:rPr lang="da-DK" sz="2000" i="1" smtClean="0">
                          <a:latin typeface="Cambria Math"/>
                          <a:ea typeface="Cambria Math"/>
                        </a:rPr>
                        <m:t>⇒</m:t>
                      </m:r>
                    </m:oMath>
                  </a14:m>
                  <a:r>
                    <a:rPr lang="da-DK" sz="2000" i="1" dirty="0">
                      <a:ea typeface="Cambria Math"/>
                    </a:rPr>
                    <a:t> -90˚</a:t>
                  </a:r>
                </a:p>
              </p:txBody>
            </p:sp>
          </mc:Choice>
          <mc:Fallback xmlns="">
            <p:sp>
              <p:nvSpPr>
                <p:cNvPr id="13" name="Titel 1">
                  <a:extLst>
                    <a:ext uri="{FF2B5EF4-FFF2-40B4-BE49-F238E27FC236}">
                      <a16:creationId xmlns:a16="http://schemas.microsoft.com/office/drawing/2014/main" id="{24744B71-57AE-4B81-959C-9195D6E93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5777" y="5111368"/>
                  <a:ext cx="1944216" cy="720080"/>
                </a:xfrm>
                <a:prstGeom prst="rect">
                  <a:avLst/>
                </a:prstGeom>
                <a:blipFill>
                  <a:blip r:embed="rId4"/>
                  <a:stretch>
                    <a:fillRect l="-3448" b="-10843"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2069DA82-EC71-44C8-81EA-4819EBF58700}"/>
                </a:ext>
              </a:extLst>
            </p:cNvPr>
            <p:cNvSpPr txBox="1">
              <a:spLocks/>
            </p:cNvSpPr>
            <p:nvPr/>
          </p:nvSpPr>
          <p:spPr>
            <a:xfrm>
              <a:off x="1171556" y="5183376"/>
              <a:ext cx="1456228" cy="57606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/>
                <a:t>Konklusion: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614D983-913E-FF2F-9B52-5C9E242F5D9B}"/>
              </a:ext>
            </a:extLst>
          </p:cNvPr>
          <p:cNvSpPr txBox="1">
            <a:spLocks/>
          </p:cNvSpPr>
          <p:nvPr/>
        </p:nvSpPr>
        <p:spPr>
          <a:xfrm>
            <a:off x="4486445" y="5585780"/>
            <a:ext cx="1530582" cy="288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Typisk 1 - 10 MHz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4AA8A61-AD18-D8B1-B77F-F847F619C9FA}"/>
              </a:ext>
            </a:extLst>
          </p:cNvPr>
          <p:cNvSpPr txBox="1">
            <a:spLocks/>
          </p:cNvSpPr>
          <p:nvPr/>
        </p:nvSpPr>
        <p:spPr>
          <a:xfrm>
            <a:off x="363787" y="1986235"/>
            <a:ext cx="1440159" cy="288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a-DK" sz="1200" i="1" dirty="0"/>
              <a:t>Typisk 100 - 120 dB</a:t>
            </a:r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338AF6DE-1777-F63D-89B7-E175D6F8A202}"/>
              </a:ext>
            </a:extLst>
          </p:cNvPr>
          <p:cNvCxnSpPr>
            <a:cxnSpLocks/>
          </p:cNvCxnSpPr>
          <p:nvPr/>
        </p:nvCxnSpPr>
        <p:spPr>
          <a:xfrm>
            <a:off x="1763688" y="2126504"/>
            <a:ext cx="216024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ktangel 14">
            <a:extLst>
              <a:ext uri="{FF2B5EF4-FFF2-40B4-BE49-F238E27FC236}">
                <a16:creationId xmlns:a16="http://schemas.microsoft.com/office/drawing/2014/main" id="{848DBDBF-90F0-397C-942E-1143251B9C16}"/>
              </a:ext>
            </a:extLst>
          </p:cNvPr>
          <p:cNvSpPr/>
          <p:nvPr/>
        </p:nvSpPr>
        <p:spPr>
          <a:xfrm>
            <a:off x="3843521" y="2074330"/>
            <a:ext cx="584463" cy="20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200" i="1" dirty="0">
                <a:solidFill>
                  <a:srgbClr val="FF0000"/>
                </a:solidFill>
              </a:rPr>
              <a:t>- 3 dB</a:t>
            </a:r>
          </a:p>
        </p:txBody>
      </p: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F4B000DD-FD88-6616-A763-1FA2452FB710}"/>
              </a:ext>
            </a:extLst>
          </p:cNvPr>
          <p:cNvCxnSpPr/>
          <p:nvPr/>
        </p:nvCxnSpPr>
        <p:spPr>
          <a:xfrm flipH="1">
            <a:off x="2599435" y="2220771"/>
            <a:ext cx="129614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AD3A2009-A595-157B-4A0C-F36A40901762}"/>
              </a:ext>
            </a:extLst>
          </p:cNvPr>
          <p:cNvCxnSpPr>
            <a:cxnSpLocks/>
          </p:cNvCxnSpPr>
          <p:nvPr/>
        </p:nvCxnSpPr>
        <p:spPr>
          <a:xfrm flipV="1">
            <a:off x="2588090" y="2127221"/>
            <a:ext cx="0" cy="2669931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ktangel 17">
            <a:extLst>
              <a:ext uri="{FF2B5EF4-FFF2-40B4-BE49-F238E27FC236}">
                <a16:creationId xmlns:a16="http://schemas.microsoft.com/office/drawing/2014/main" id="{CA3C3241-E8AF-17B0-E513-FAB48074058B}"/>
              </a:ext>
            </a:extLst>
          </p:cNvPr>
          <p:cNvSpPr/>
          <p:nvPr/>
        </p:nvSpPr>
        <p:spPr>
          <a:xfrm>
            <a:off x="6012160" y="4345460"/>
            <a:ext cx="16561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200" i="1" dirty="0">
                <a:solidFill>
                  <a:srgbClr val="FF0000"/>
                </a:solidFill>
              </a:rPr>
              <a:t>(</a:t>
            </a:r>
            <a:r>
              <a:rPr lang="da-DK" sz="1200" i="1" dirty="0" err="1">
                <a:solidFill>
                  <a:srgbClr val="FF0000"/>
                </a:solidFill>
              </a:rPr>
              <a:t>Unity</a:t>
            </a:r>
            <a:r>
              <a:rPr lang="da-DK" sz="1200" i="1" dirty="0">
                <a:solidFill>
                  <a:srgbClr val="FF0000"/>
                </a:solidFill>
              </a:rPr>
              <a:t> </a:t>
            </a:r>
            <a:r>
              <a:rPr lang="da-DK" sz="1200" i="1" dirty="0" err="1">
                <a:solidFill>
                  <a:srgbClr val="FF0000"/>
                </a:solidFill>
              </a:rPr>
              <a:t>Gain</a:t>
            </a:r>
            <a:r>
              <a:rPr lang="da-DK" sz="1200" i="1" dirty="0">
                <a:solidFill>
                  <a:srgbClr val="FF0000"/>
                </a:solidFill>
              </a:rPr>
              <a:t> </a:t>
            </a:r>
            <a:r>
              <a:rPr lang="da-DK" sz="1200" i="1" dirty="0" err="1">
                <a:solidFill>
                  <a:srgbClr val="FF0000"/>
                </a:solidFill>
              </a:rPr>
              <a:t>Frequency</a:t>
            </a:r>
            <a:r>
              <a:rPr lang="da-DK" sz="1200" i="1" dirty="0">
                <a:solidFill>
                  <a:srgbClr val="FF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13D2BDBD-10D7-E4FF-A0F9-CBB2C80C04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3267" y="2060848"/>
                <a:ext cx="1151940" cy="576064"/>
              </a:xfrm>
              <a:prstGeom prst="rect">
                <a:avLst/>
              </a:prstGeom>
              <a:ln w="63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a-DK" sz="1200" b="0" i="1"/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a-DK" sz="1200" b="0" i="1" baseline="-25000"/>
                          <m:t>OL</m:t>
                        </m:r>
                      </m:sub>
                    </m:sSub>
                  </m:oMath>
                </a14:m>
                <a:r>
                  <a:rPr lang="da-DK" sz="1200" i="1" dirty="0"/>
                  <a:t>(f)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1200" b="0" i="1" smtClean="0"/>
                          <m:t>A</m:t>
                        </m:r>
                        <m:r>
                          <m:rPr>
                            <m:nor/>
                          </m:rPr>
                          <a:rPr lang="da-DK" sz="1200" b="0" i="1" baseline="-25000" smtClean="0"/>
                          <m:t>0</m:t>
                        </m:r>
                        <m:r>
                          <m:rPr>
                            <m:nor/>
                          </m:rPr>
                          <a:rPr lang="da-DK" sz="1200" b="0" i="1" baseline="-25000" smtClean="0"/>
                          <m:t>OL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1200" b="0" i="1"/>
                          <m:t>1+</m:t>
                        </m:r>
                        <m:r>
                          <m:rPr>
                            <m:nor/>
                          </m:rPr>
                          <a:rPr lang="da-DK" sz="1200" b="0" i="1" smtClean="0"/>
                          <m:t>j</m:t>
                        </m:r>
                        <m:r>
                          <m:rPr>
                            <m:nor/>
                          </m:rPr>
                          <a:rPr lang="da-DK" sz="1200" b="0" i="1" smtClean="0"/>
                          <m:t> </m:t>
                        </m:r>
                        <m:f>
                          <m:fPr>
                            <m:ctrlPr>
                              <a:rPr lang="da-DK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da-DK" sz="1200" b="0" i="1" smtClean="0"/>
                              <m:t>f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1200" b="0" i="1" smtClean="0"/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a-DK" sz="1200" b="0" i="1" baseline="-25000" smtClean="0"/>
                                  <m:t>B</m:t>
                                </m:r>
                                <m:r>
                                  <m:rPr>
                                    <m:nor/>
                                  </m:rPr>
                                  <a:rPr lang="da-DK" sz="1200" b="0" i="1" baseline="-25000"/>
                                  <m:t>OL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da-DK" sz="1200" i="1" dirty="0"/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13D2BDBD-10D7-E4FF-A0F9-CBB2C80C0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7" y="2060848"/>
                <a:ext cx="1151940" cy="576064"/>
              </a:xfrm>
              <a:prstGeom prst="rect">
                <a:avLst/>
              </a:prstGeom>
              <a:blipFill>
                <a:blip r:embed="rId5"/>
                <a:stretch>
                  <a:fillRect b="-1042"/>
                </a:stretch>
              </a:blipFill>
              <a:ln w="6350"/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456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752528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Lukketsløjfeforstærkningen A</a:t>
            </a:r>
            <a:r>
              <a:rPr lang="da-DK" sz="2800" i="1" baseline="-25000" dirty="0"/>
              <a:t>CL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 descr="AAAZYQR0.EPS                                                   00056AF1Hard Drive-Seat One            B36702C6:">
            <a:extLst>
              <a:ext uri="{FF2B5EF4-FFF2-40B4-BE49-F238E27FC236}">
                <a16:creationId xmlns:a16="http://schemas.microsoft.com/office/drawing/2014/main" id="{47F5999D-7A05-43CB-B68A-C2176975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28800"/>
            <a:ext cx="4632052" cy="342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E24A0234-4CA0-40FC-A907-56A53D3AE29B}"/>
              </a:ext>
            </a:extLst>
          </p:cNvPr>
          <p:cNvCxnSpPr/>
          <p:nvPr/>
        </p:nvCxnSpPr>
        <p:spPr>
          <a:xfrm>
            <a:off x="1403648" y="3717032"/>
            <a:ext cx="525658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F401E62-248F-4D14-B090-0534AE9114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3843" y="3083561"/>
                <a:ext cx="276309" cy="6334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600" b="0" i="1" smtClean="0">
                              <a:latin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60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</m:oMath>
                  </m:oMathPara>
                </a14:m>
                <a:endParaRPr lang="da-DK" sz="16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F401E62-248F-4D14-B090-0534AE911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843" y="3083561"/>
                <a:ext cx="276309" cy="6334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pe 15">
            <a:extLst>
              <a:ext uri="{FF2B5EF4-FFF2-40B4-BE49-F238E27FC236}">
                <a16:creationId xmlns:a16="http://schemas.microsoft.com/office/drawing/2014/main" id="{73278ED3-B4A2-7C4D-BC25-EC1A04F1CC7B}"/>
              </a:ext>
            </a:extLst>
          </p:cNvPr>
          <p:cNvGrpSpPr/>
          <p:nvPr/>
        </p:nvGrpSpPr>
        <p:grpSpPr>
          <a:xfrm>
            <a:off x="4980073" y="188640"/>
            <a:ext cx="3912407" cy="1728192"/>
            <a:chOff x="4980073" y="188640"/>
            <a:chExt cx="3912407" cy="1728192"/>
          </a:xfrm>
        </p:grpSpPr>
        <p:pic>
          <p:nvPicPr>
            <p:cNvPr id="10" name="Billede 9">
              <a:extLst>
                <a:ext uri="{FF2B5EF4-FFF2-40B4-BE49-F238E27FC236}">
                  <a16:creationId xmlns:a16="http://schemas.microsoft.com/office/drawing/2014/main" id="{8A5EDC56-DA78-4DA8-8D8F-A4D5CA54B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73" y="188640"/>
              <a:ext cx="3912407" cy="1728192"/>
            </a:xfrm>
            <a:prstGeom prst="rect">
              <a:avLst/>
            </a:prstGeom>
          </p:spPr>
        </p:pic>
        <p:grpSp>
          <p:nvGrpSpPr>
            <p:cNvPr id="11" name="Gruppe 10">
              <a:extLst>
                <a:ext uri="{FF2B5EF4-FFF2-40B4-BE49-F238E27FC236}">
                  <a16:creationId xmlns:a16="http://schemas.microsoft.com/office/drawing/2014/main" id="{8495DB95-7A77-AAE7-FE53-F9CCF45033C5}"/>
                </a:ext>
              </a:extLst>
            </p:cNvPr>
            <p:cNvGrpSpPr/>
            <p:nvPr/>
          </p:nvGrpSpPr>
          <p:grpSpPr>
            <a:xfrm>
              <a:off x="5045240" y="228984"/>
              <a:ext cx="3667220" cy="620481"/>
              <a:chOff x="5045240" y="228984"/>
              <a:chExt cx="3667220" cy="620481"/>
            </a:xfrm>
          </p:grpSpPr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FAF68A42-69BC-E398-642C-CB56FB390ECD}"/>
                  </a:ext>
                </a:extLst>
              </p:cNvPr>
              <p:cNvSpPr/>
              <p:nvPr/>
            </p:nvSpPr>
            <p:spPr>
              <a:xfrm>
                <a:off x="8496436" y="591527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F8DD76F2-72F5-8033-0CAD-083ACB67AC22}"/>
                  </a:ext>
                </a:extLst>
              </p:cNvPr>
              <p:cNvSpPr/>
              <p:nvPr/>
            </p:nvSpPr>
            <p:spPr>
              <a:xfrm>
                <a:off x="5045240" y="631276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" name="Kombinationstegning: figur 14">
                <a:extLst>
                  <a:ext uri="{FF2B5EF4-FFF2-40B4-BE49-F238E27FC236}">
                    <a16:creationId xmlns:a16="http://schemas.microsoft.com/office/drawing/2014/main" id="{6B13FEE5-E04E-682B-58B5-0B894ECDB2BC}"/>
                  </a:ext>
                </a:extLst>
              </p:cNvPr>
              <p:cNvSpPr/>
              <p:nvPr/>
            </p:nvSpPr>
            <p:spPr>
              <a:xfrm>
                <a:off x="5251736" y="228984"/>
                <a:ext cx="3240360" cy="360040"/>
              </a:xfrm>
              <a:custGeom>
                <a:avLst/>
                <a:gdLst>
                  <a:gd name="connsiteX0" fmla="*/ 0 w 1833563"/>
                  <a:gd name="connsiteY0" fmla="*/ 204788 h 204788"/>
                  <a:gd name="connsiteX1" fmla="*/ 928688 w 1833563"/>
                  <a:gd name="connsiteY1" fmla="*/ 0 h 204788"/>
                  <a:gd name="connsiteX2" fmla="*/ 1833563 w 1833563"/>
                  <a:gd name="connsiteY2" fmla="*/ 204788 h 204788"/>
                  <a:gd name="connsiteX3" fmla="*/ 1833563 w 1833563"/>
                  <a:gd name="connsiteY3" fmla="*/ 204788 h 20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3563" h="204788">
                    <a:moveTo>
                      <a:pt x="0" y="204788"/>
                    </a:moveTo>
                    <a:cubicBezTo>
                      <a:pt x="311547" y="102394"/>
                      <a:pt x="623094" y="0"/>
                      <a:pt x="928688" y="0"/>
                    </a:cubicBezTo>
                    <a:cubicBezTo>
                      <a:pt x="1234282" y="0"/>
                      <a:pt x="1833563" y="204788"/>
                      <a:pt x="1833563" y="204788"/>
                    </a:cubicBezTo>
                    <a:lnTo>
                      <a:pt x="1833563" y="204788"/>
                    </a:lnTo>
                  </a:path>
                </a:pathLst>
              </a:custGeom>
              <a:noFill/>
              <a:ln w="9525">
                <a:solidFill>
                  <a:srgbClr val="92D050"/>
                </a:solidFill>
                <a:prstDash val="lg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684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752528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Lukketsløjfeforstærkningen A</a:t>
            </a:r>
            <a:r>
              <a:rPr lang="da-DK" sz="2800" i="1" baseline="-25000" dirty="0"/>
              <a:t>CL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 descr="AAAZYQR0.EPS                                                   00056AF1Hard Drive-Seat One            B36702C6:">
            <a:extLst>
              <a:ext uri="{FF2B5EF4-FFF2-40B4-BE49-F238E27FC236}">
                <a16:creationId xmlns:a16="http://schemas.microsoft.com/office/drawing/2014/main" id="{47F5999D-7A05-43CB-B68A-C2176975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28800"/>
            <a:ext cx="4632052" cy="342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F401E62-248F-4D14-B090-0534AE9114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3843" y="3083561"/>
                <a:ext cx="276309" cy="6334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600" b="0" i="1" smtClean="0">
                              <a:latin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60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</m:oMath>
                  </m:oMathPara>
                </a14:m>
                <a:endParaRPr lang="da-DK" sz="16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F401E62-248F-4D14-B090-0534AE911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843" y="3083561"/>
                <a:ext cx="276309" cy="6334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6A930995-A494-44F4-B9B2-E70020BCE7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0625" y="5271305"/>
                <a:ext cx="2439941" cy="49182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 err="1"/>
                  <a:t>f</a:t>
                </a:r>
                <a:r>
                  <a:rPr lang="da-DK" sz="2000" i="1" baseline="-25000" dirty="0" err="1"/>
                  <a:t>BCL</a:t>
                </a:r>
                <a:r>
                  <a:rPr lang="da-DK" sz="2000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180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β</m:t>
                    </m:r>
                    <m:r>
                      <m:rPr>
                        <m:nor/>
                      </m:rPr>
                      <a:rPr lang="da-DK" sz="1800" i="1" smtClean="0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2000" i="1" dirty="0" err="1"/>
                  <a:t>f</a:t>
                </a:r>
                <a:r>
                  <a:rPr lang="da-DK" sz="2000" i="1" baseline="-25000" dirty="0" err="1"/>
                  <a:t>t</a:t>
                </a:r>
                <a:r>
                  <a:rPr lang="da-DK" sz="2000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180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β</m:t>
                    </m:r>
                    <m:r>
                      <m:rPr>
                        <m:nor/>
                      </m:rPr>
                      <a:rPr lang="da-DK" sz="1800" i="1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2000" i="1" dirty="0"/>
                  <a:t>A</a:t>
                </a:r>
                <a:r>
                  <a:rPr lang="da-DK" sz="2000" i="1" baseline="-25000" dirty="0"/>
                  <a:t>0OL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000" i="1" smtClean="0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2000" i="1" dirty="0" err="1"/>
                  <a:t>f</a:t>
                </a:r>
                <a:r>
                  <a:rPr lang="da-DK" sz="2000" i="1" baseline="-25000" dirty="0" err="1"/>
                  <a:t>BOL</a:t>
                </a:r>
                <a:endParaRPr lang="da-DK" sz="2000" i="1" baseline="-25000" dirty="0">
                  <a:ea typeface="Cambria Math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6A930995-A494-44F4-B9B2-E70020BCE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625" y="5271305"/>
                <a:ext cx="2439941" cy="491824"/>
              </a:xfrm>
              <a:prstGeom prst="rect">
                <a:avLst/>
              </a:prstGeom>
              <a:blipFill>
                <a:blip r:embed="rId5"/>
                <a:stretch>
                  <a:fillRect l="-2500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7F136DCF-3EF1-4AA5-BD1C-C702BF94EF79}"/>
              </a:ext>
            </a:extLst>
          </p:cNvPr>
          <p:cNvCxnSpPr>
            <a:cxnSpLocks/>
          </p:cNvCxnSpPr>
          <p:nvPr/>
        </p:nvCxnSpPr>
        <p:spPr>
          <a:xfrm flipV="1">
            <a:off x="4176245" y="3789040"/>
            <a:ext cx="0" cy="158093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E23B03AA-3310-4E2E-AEC4-F7EBD88908A2}"/>
              </a:ext>
            </a:extLst>
          </p:cNvPr>
          <p:cNvCxnSpPr/>
          <p:nvPr/>
        </p:nvCxnSpPr>
        <p:spPr>
          <a:xfrm>
            <a:off x="1403648" y="3717032"/>
            <a:ext cx="525658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Lige pilforbindelse 1">
            <a:extLst>
              <a:ext uri="{FF2B5EF4-FFF2-40B4-BE49-F238E27FC236}">
                <a16:creationId xmlns:a16="http://schemas.microsoft.com/office/drawing/2014/main" id="{267DC715-671E-F6D4-FB89-C09D963C86C9}"/>
              </a:ext>
            </a:extLst>
          </p:cNvPr>
          <p:cNvCxnSpPr>
            <a:cxnSpLocks/>
          </p:cNvCxnSpPr>
          <p:nvPr/>
        </p:nvCxnSpPr>
        <p:spPr>
          <a:xfrm flipH="1">
            <a:off x="6372200" y="5540980"/>
            <a:ext cx="504056" cy="0"/>
          </a:xfrm>
          <a:prstGeom prst="straightConnector1">
            <a:avLst/>
          </a:prstGeom>
          <a:ln w="127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Rektangel 2">
            <a:extLst>
              <a:ext uri="{FF2B5EF4-FFF2-40B4-BE49-F238E27FC236}">
                <a16:creationId xmlns:a16="http://schemas.microsoft.com/office/drawing/2014/main" id="{F33B47CC-145E-1715-CF9F-F37D352EE209}"/>
              </a:ext>
            </a:extLst>
          </p:cNvPr>
          <p:cNvSpPr/>
          <p:nvPr/>
        </p:nvSpPr>
        <p:spPr>
          <a:xfrm>
            <a:off x="6948267" y="5222469"/>
            <a:ext cx="1872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200" i="1" dirty="0">
                <a:solidFill>
                  <a:srgbClr val="92D050"/>
                </a:solidFill>
              </a:rPr>
              <a:t>Dette er 3dB- båndbredden/f</a:t>
            </a:r>
            <a:r>
              <a:rPr lang="da-DK" sz="1200" i="1" baseline="-25000" dirty="0">
                <a:solidFill>
                  <a:srgbClr val="92D050"/>
                </a:solidFill>
              </a:rPr>
              <a:t>3dB</a:t>
            </a:r>
            <a:r>
              <a:rPr lang="da-DK" sz="1200" i="1" dirty="0">
                <a:solidFill>
                  <a:srgbClr val="92D050"/>
                </a:solidFill>
              </a:rPr>
              <a:t> for lukketsløjfeforstærkningen</a:t>
            </a:r>
          </a:p>
        </p:txBody>
      </p: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526A38E4-495E-485B-549A-86133CEA6BA6}"/>
              </a:ext>
            </a:extLst>
          </p:cNvPr>
          <p:cNvGrpSpPr/>
          <p:nvPr/>
        </p:nvGrpSpPr>
        <p:grpSpPr>
          <a:xfrm>
            <a:off x="4980073" y="188640"/>
            <a:ext cx="3912407" cy="1728192"/>
            <a:chOff x="4980073" y="188640"/>
            <a:chExt cx="3912407" cy="1728192"/>
          </a:xfrm>
        </p:grpSpPr>
        <p:pic>
          <p:nvPicPr>
            <p:cNvPr id="10" name="Billede 9">
              <a:extLst>
                <a:ext uri="{FF2B5EF4-FFF2-40B4-BE49-F238E27FC236}">
                  <a16:creationId xmlns:a16="http://schemas.microsoft.com/office/drawing/2014/main" id="{8A5EDC56-DA78-4DA8-8D8F-A4D5CA54B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73" y="188640"/>
              <a:ext cx="3912407" cy="1728192"/>
            </a:xfrm>
            <a:prstGeom prst="rect">
              <a:avLst/>
            </a:prstGeom>
          </p:spPr>
        </p:pic>
        <p:grpSp>
          <p:nvGrpSpPr>
            <p:cNvPr id="5" name="Gruppe 4">
              <a:extLst>
                <a:ext uri="{FF2B5EF4-FFF2-40B4-BE49-F238E27FC236}">
                  <a16:creationId xmlns:a16="http://schemas.microsoft.com/office/drawing/2014/main" id="{0A943095-554A-EDD3-F0C2-B966598801D6}"/>
                </a:ext>
              </a:extLst>
            </p:cNvPr>
            <p:cNvGrpSpPr/>
            <p:nvPr/>
          </p:nvGrpSpPr>
          <p:grpSpPr>
            <a:xfrm>
              <a:off x="5045240" y="228984"/>
              <a:ext cx="3667220" cy="620481"/>
              <a:chOff x="5045240" y="228984"/>
              <a:chExt cx="3667220" cy="620481"/>
            </a:xfrm>
          </p:grpSpPr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98714956-5B27-37B8-9F78-2A4E0D6B03FA}"/>
                  </a:ext>
                </a:extLst>
              </p:cNvPr>
              <p:cNvSpPr/>
              <p:nvPr/>
            </p:nvSpPr>
            <p:spPr>
              <a:xfrm>
                <a:off x="8496436" y="591527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EE44E807-AB66-F67D-EB81-6EAB334AE4D3}"/>
                  </a:ext>
                </a:extLst>
              </p:cNvPr>
              <p:cNvSpPr/>
              <p:nvPr/>
            </p:nvSpPr>
            <p:spPr>
              <a:xfrm>
                <a:off x="5045240" y="631276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Kombinationstegning: figur 7">
                <a:extLst>
                  <a:ext uri="{FF2B5EF4-FFF2-40B4-BE49-F238E27FC236}">
                    <a16:creationId xmlns:a16="http://schemas.microsoft.com/office/drawing/2014/main" id="{F8005E33-7D0B-CAB9-355A-DFA0ED385697}"/>
                  </a:ext>
                </a:extLst>
              </p:cNvPr>
              <p:cNvSpPr/>
              <p:nvPr/>
            </p:nvSpPr>
            <p:spPr>
              <a:xfrm>
                <a:off x="5251736" y="228984"/>
                <a:ext cx="3240360" cy="360040"/>
              </a:xfrm>
              <a:custGeom>
                <a:avLst/>
                <a:gdLst>
                  <a:gd name="connsiteX0" fmla="*/ 0 w 1833563"/>
                  <a:gd name="connsiteY0" fmla="*/ 204788 h 204788"/>
                  <a:gd name="connsiteX1" fmla="*/ 928688 w 1833563"/>
                  <a:gd name="connsiteY1" fmla="*/ 0 h 204788"/>
                  <a:gd name="connsiteX2" fmla="*/ 1833563 w 1833563"/>
                  <a:gd name="connsiteY2" fmla="*/ 204788 h 204788"/>
                  <a:gd name="connsiteX3" fmla="*/ 1833563 w 1833563"/>
                  <a:gd name="connsiteY3" fmla="*/ 204788 h 20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3563" h="204788">
                    <a:moveTo>
                      <a:pt x="0" y="204788"/>
                    </a:moveTo>
                    <a:cubicBezTo>
                      <a:pt x="311547" y="102394"/>
                      <a:pt x="623094" y="0"/>
                      <a:pt x="928688" y="0"/>
                    </a:cubicBezTo>
                    <a:cubicBezTo>
                      <a:pt x="1234282" y="0"/>
                      <a:pt x="1833563" y="204788"/>
                      <a:pt x="1833563" y="204788"/>
                    </a:cubicBezTo>
                    <a:lnTo>
                      <a:pt x="1833563" y="204788"/>
                    </a:lnTo>
                  </a:path>
                </a:pathLst>
              </a:custGeom>
              <a:noFill/>
              <a:ln w="9525">
                <a:solidFill>
                  <a:srgbClr val="92D050"/>
                </a:solidFill>
                <a:prstDash val="lg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49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752528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Lukketsløjfeforstærkningen A</a:t>
            </a:r>
            <a:r>
              <a:rPr lang="da-DK" sz="2800" i="1" baseline="-25000" dirty="0"/>
              <a:t>CL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5" descr="AAAZYQR0.EPS                                                   00056AF1Hard Drive-Seat One            B36702C6:">
            <a:extLst>
              <a:ext uri="{FF2B5EF4-FFF2-40B4-BE49-F238E27FC236}">
                <a16:creationId xmlns:a16="http://schemas.microsoft.com/office/drawing/2014/main" id="{47F5999D-7A05-43CB-B68A-C2176975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28800"/>
            <a:ext cx="4632052" cy="342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F401E62-248F-4D14-B090-0534AE9114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3843" y="3083561"/>
                <a:ext cx="276309" cy="63345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a-DK" sz="1600" b="0" i="1" smtClean="0">
                              <a:latin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da-DK" sz="1600" i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β</m:t>
                          </m:r>
                        </m:den>
                      </m:f>
                    </m:oMath>
                  </m:oMathPara>
                </a14:m>
                <a:endParaRPr lang="da-DK" sz="1600" i="1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F401E62-248F-4D14-B090-0534AE911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843" y="3083561"/>
                <a:ext cx="276309" cy="6334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6A930995-A494-44F4-B9B2-E70020BCE7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0625" y="5271305"/>
                <a:ext cx="2439941" cy="49182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000" i="1" dirty="0" err="1"/>
                  <a:t>f</a:t>
                </a:r>
                <a:r>
                  <a:rPr lang="da-DK" sz="2000" i="1" baseline="-25000" dirty="0" err="1"/>
                  <a:t>BCL</a:t>
                </a:r>
                <a:r>
                  <a:rPr lang="da-DK" sz="2000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180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β</m:t>
                    </m:r>
                    <m:r>
                      <m:rPr>
                        <m:nor/>
                      </m:rPr>
                      <a:rPr lang="da-DK" sz="1800" i="1" smtClean="0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2000" i="1" dirty="0" err="1"/>
                  <a:t>f</a:t>
                </a:r>
                <a:r>
                  <a:rPr lang="da-DK" sz="2000" i="1" baseline="-25000" dirty="0" err="1"/>
                  <a:t>t</a:t>
                </a:r>
                <a:r>
                  <a:rPr lang="da-DK" sz="2000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180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β</m:t>
                    </m:r>
                    <m:r>
                      <m:rPr>
                        <m:nor/>
                      </m:rPr>
                      <a:rPr lang="da-DK" sz="1800" i="1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2000" i="1" dirty="0"/>
                  <a:t>A</a:t>
                </a:r>
                <a:r>
                  <a:rPr lang="da-DK" sz="2000" i="1" baseline="-25000" dirty="0"/>
                  <a:t>0OL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2000" i="1" smtClean="0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2000" i="1" dirty="0" err="1"/>
                  <a:t>f</a:t>
                </a:r>
                <a:r>
                  <a:rPr lang="da-DK" sz="2000" i="1" baseline="-25000" dirty="0" err="1"/>
                  <a:t>BOL</a:t>
                </a:r>
                <a:endParaRPr lang="da-DK" sz="2000" i="1" baseline="-25000" dirty="0">
                  <a:ea typeface="Cambria Math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6A930995-A494-44F4-B9B2-E70020BCE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625" y="5271305"/>
                <a:ext cx="2439941" cy="491824"/>
              </a:xfrm>
              <a:prstGeom prst="rect">
                <a:avLst/>
              </a:prstGeom>
              <a:blipFill>
                <a:blip r:embed="rId4"/>
                <a:stretch>
                  <a:fillRect l="-2500" b="-137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7F136DCF-3EF1-4AA5-BD1C-C702BF94EF79}"/>
              </a:ext>
            </a:extLst>
          </p:cNvPr>
          <p:cNvCxnSpPr>
            <a:cxnSpLocks/>
          </p:cNvCxnSpPr>
          <p:nvPr/>
        </p:nvCxnSpPr>
        <p:spPr>
          <a:xfrm flipV="1">
            <a:off x="4176245" y="3789040"/>
            <a:ext cx="0" cy="158093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E23B03AA-3310-4E2E-AEC4-F7EBD88908A2}"/>
              </a:ext>
            </a:extLst>
          </p:cNvPr>
          <p:cNvCxnSpPr/>
          <p:nvPr/>
        </p:nvCxnSpPr>
        <p:spPr>
          <a:xfrm>
            <a:off x="1403648" y="3717032"/>
            <a:ext cx="525658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Lige pilforbindelse 1">
            <a:extLst>
              <a:ext uri="{FF2B5EF4-FFF2-40B4-BE49-F238E27FC236}">
                <a16:creationId xmlns:a16="http://schemas.microsoft.com/office/drawing/2014/main" id="{267DC715-671E-F6D4-FB89-C09D963C86C9}"/>
              </a:ext>
            </a:extLst>
          </p:cNvPr>
          <p:cNvCxnSpPr>
            <a:cxnSpLocks/>
          </p:cNvCxnSpPr>
          <p:nvPr/>
        </p:nvCxnSpPr>
        <p:spPr>
          <a:xfrm flipH="1">
            <a:off x="6372200" y="5540980"/>
            <a:ext cx="504056" cy="0"/>
          </a:xfrm>
          <a:prstGeom prst="straightConnector1">
            <a:avLst/>
          </a:prstGeom>
          <a:ln w="12700">
            <a:solidFill>
              <a:srgbClr val="92D05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Rektangel 2">
            <a:extLst>
              <a:ext uri="{FF2B5EF4-FFF2-40B4-BE49-F238E27FC236}">
                <a16:creationId xmlns:a16="http://schemas.microsoft.com/office/drawing/2014/main" id="{F33B47CC-145E-1715-CF9F-F37D352EE209}"/>
              </a:ext>
            </a:extLst>
          </p:cNvPr>
          <p:cNvSpPr/>
          <p:nvPr/>
        </p:nvSpPr>
        <p:spPr>
          <a:xfrm>
            <a:off x="6948267" y="5222469"/>
            <a:ext cx="18722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200" i="1" dirty="0">
                <a:solidFill>
                  <a:srgbClr val="92D050"/>
                </a:solidFill>
              </a:rPr>
              <a:t>Dette er 3dB- båndbredden/f</a:t>
            </a:r>
            <a:r>
              <a:rPr lang="da-DK" sz="1200" i="1" baseline="-25000" dirty="0">
                <a:solidFill>
                  <a:srgbClr val="92D050"/>
                </a:solidFill>
              </a:rPr>
              <a:t>3dB</a:t>
            </a:r>
            <a:r>
              <a:rPr lang="da-DK" sz="1200" i="1" dirty="0">
                <a:solidFill>
                  <a:srgbClr val="92D050"/>
                </a:solidFill>
              </a:rPr>
              <a:t> for lukketsløjfeforstærkningen</a:t>
            </a:r>
          </a:p>
        </p:txBody>
      </p: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526A38E4-495E-485B-549A-86133CEA6BA6}"/>
              </a:ext>
            </a:extLst>
          </p:cNvPr>
          <p:cNvGrpSpPr/>
          <p:nvPr/>
        </p:nvGrpSpPr>
        <p:grpSpPr>
          <a:xfrm>
            <a:off x="4980073" y="188640"/>
            <a:ext cx="3912407" cy="1728192"/>
            <a:chOff x="4980073" y="188640"/>
            <a:chExt cx="3912407" cy="1728192"/>
          </a:xfrm>
        </p:grpSpPr>
        <p:pic>
          <p:nvPicPr>
            <p:cNvPr id="10" name="Billede 9">
              <a:extLst>
                <a:ext uri="{FF2B5EF4-FFF2-40B4-BE49-F238E27FC236}">
                  <a16:creationId xmlns:a16="http://schemas.microsoft.com/office/drawing/2014/main" id="{8A5EDC56-DA78-4DA8-8D8F-A4D5CA54B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73" y="188640"/>
              <a:ext cx="3912407" cy="1728192"/>
            </a:xfrm>
            <a:prstGeom prst="rect">
              <a:avLst/>
            </a:prstGeom>
          </p:spPr>
        </p:pic>
        <p:grpSp>
          <p:nvGrpSpPr>
            <p:cNvPr id="5" name="Gruppe 4">
              <a:extLst>
                <a:ext uri="{FF2B5EF4-FFF2-40B4-BE49-F238E27FC236}">
                  <a16:creationId xmlns:a16="http://schemas.microsoft.com/office/drawing/2014/main" id="{0A943095-554A-EDD3-F0C2-B966598801D6}"/>
                </a:ext>
              </a:extLst>
            </p:cNvPr>
            <p:cNvGrpSpPr/>
            <p:nvPr/>
          </p:nvGrpSpPr>
          <p:grpSpPr>
            <a:xfrm>
              <a:off x="5045240" y="228984"/>
              <a:ext cx="3667220" cy="620481"/>
              <a:chOff x="5045240" y="228984"/>
              <a:chExt cx="3667220" cy="620481"/>
            </a:xfrm>
          </p:grpSpPr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98714956-5B27-37B8-9F78-2A4E0D6B03FA}"/>
                  </a:ext>
                </a:extLst>
              </p:cNvPr>
              <p:cNvSpPr/>
              <p:nvPr/>
            </p:nvSpPr>
            <p:spPr>
              <a:xfrm>
                <a:off x="8496436" y="591527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EE44E807-AB66-F67D-EB81-6EAB334AE4D3}"/>
                  </a:ext>
                </a:extLst>
              </p:cNvPr>
              <p:cNvSpPr/>
              <p:nvPr/>
            </p:nvSpPr>
            <p:spPr>
              <a:xfrm>
                <a:off x="5045240" y="631276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Kombinationstegning: figur 7">
                <a:extLst>
                  <a:ext uri="{FF2B5EF4-FFF2-40B4-BE49-F238E27FC236}">
                    <a16:creationId xmlns:a16="http://schemas.microsoft.com/office/drawing/2014/main" id="{F8005E33-7D0B-CAB9-355A-DFA0ED385697}"/>
                  </a:ext>
                </a:extLst>
              </p:cNvPr>
              <p:cNvSpPr/>
              <p:nvPr/>
            </p:nvSpPr>
            <p:spPr>
              <a:xfrm>
                <a:off x="5251736" y="228984"/>
                <a:ext cx="3240360" cy="360040"/>
              </a:xfrm>
              <a:custGeom>
                <a:avLst/>
                <a:gdLst>
                  <a:gd name="connsiteX0" fmla="*/ 0 w 1833563"/>
                  <a:gd name="connsiteY0" fmla="*/ 204788 h 204788"/>
                  <a:gd name="connsiteX1" fmla="*/ 928688 w 1833563"/>
                  <a:gd name="connsiteY1" fmla="*/ 0 h 204788"/>
                  <a:gd name="connsiteX2" fmla="*/ 1833563 w 1833563"/>
                  <a:gd name="connsiteY2" fmla="*/ 204788 h 204788"/>
                  <a:gd name="connsiteX3" fmla="*/ 1833563 w 1833563"/>
                  <a:gd name="connsiteY3" fmla="*/ 204788 h 20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3563" h="204788">
                    <a:moveTo>
                      <a:pt x="0" y="204788"/>
                    </a:moveTo>
                    <a:cubicBezTo>
                      <a:pt x="311547" y="102394"/>
                      <a:pt x="623094" y="0"/>
                      <a:pt x="928688" y="0"/>
                    </a:cubicBezTo>
                    <a:cubicBezTo>
                      <a:pt x="1234282" y="0"/>
                      <a:pt x="1833563" y="204788"/>
                      <a:pt x="1833563" y="204788"/>
                    </a:cubicBezTo>
                    <a:lnTo>
                      <a:pt x="1833563" y="204788"/>
                    </a:lnTo>
                  </a:path>
                </a:pathLst>
              </a:custGeom>
              <a:noFill/>
              <a:ln w="9525">
                <a:solidFill>
                  <a:srgbClr val="92D050"/>
                </a:solidFill>
                <a:prstDash val="lg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  <p:sp>
        <p:nvSpPr>
          <p:cNvPr id="16" name="Rektangel 15">
            <a:extLst>
              <a:ext uri="{FF2B5EF4-FFF2-40B4-BE49-F238E27FC236}">
                <a16:creationId xmlns:a16="http://schemas.microsoft.com/office/drawing/2014/main" id="{930A6091-05E5-7347-3E12-76517CCD1233}"/>
              </a:ext>
            </a:extLst>
          </p:cNvPr>
          <p:cNvSpPr/>
          <p:nvPr/>
        </p:nvSpPr>
        <p:spPr>
          <a:xfrm>
            <a:off x="323528" y="6237312"/>
            <a:ext cx="41044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i="1" dirty="0"/>
              <a:t>Hvorfor indgår </a:t>
            </a:r>
            <a:r>
              <a:rPr lang="el-GR" i="1" dirty="0"/>
              <a:t>α</a:t>
            </a:r>
            <a:r>
              <a:rPr lang="da-DK" i="1" dirty="0"/>
              <a:t> ikke i udtrykket for </a:t>
            </a:r>
            <a:r>
              <a:rPr lang="da-DK" i="1" dirty="0" err="1"/>
              <a:t>f</a:t>
            </a:r>
            <a:r>
              <a:rPr lang="da-DK" i="1" baseline="-25000" dirty="0" err="1"/>
              <a:t>BCL</a:t>
            </a:r>
            <a:r>
              <a:rPr lang="da-DK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4898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>
            <a:extLst>
              <a:ext uri="{FF2B5EF4-FFF2-40B4-BE49-F238E27FC236}">
                <a16:creationId xmlns:a16="http://schemas.microsoft.com/office/drawing/2014/main" id="{CBA63725-E116-A070-E020-F29B7A1DF4B4}"/>
              </a:ext>
            </a:extLst>
          </p:cNvPr>
          <p:cNvGrpSpPr/>
          <p:nvPr/>
        </p:nvGrpSpPr>
        <p:grpSpPr>
          <a:xfrm>
            <a:off x="4980073" y="188640"/>
            <a:ext cx="3912407" cy="1728192"/>
            <a:chOff x="4980073" y="188640"/>
            <a:chExt cx="3912407" cy="1728192"/>
          </a:xfrm>
        </p:grpSpPr>
        <p:pic>
          <p:nvPicPr>
            <p:cNvPr id="4" name="Billede 3">
              <a:extLst>
                <a:ext uri="{FF2B5EF4-FFF2-40B4-BE49-F238E27FC236}">
                  <a16:creationId xmlns:a16="http://schemas.microsoft.com/office/drawing/2014/main" id="{1EBE468A-691F-2251-9833-A87326E07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73" y="188640"/>
              <a:ext cx="3912407" cy="1728192"/>
            </a:xfrm>
            <a:prstGeom prst="rect">
              <a:avLst/>
            </a:prstGeom>
          </p:spPr>
        </p:pic>
        <p:grpSp>
          <p:nvGrpSpPr>
            <p:cNvPr id="5" name="Gruppe 4">
              <a:extLst>
                <a:ext uri="{FF2B5EF4-FFF2-40B4-BE49-F238E27FC236}">
                  <a16:creationId xmlns:a16="http://schemas.microsoft.com/office/drawing/2014/main" id="{CC6AFB8E-1278-E97A-3385-CEC70A8402F8}"/>
                </a:ext>
              </a:extLst>
            </p:cNvPr>
            <p:cNvGrpSpPr/>
            <p:nvPr/>
          </p:nvGrpSpPr>
          <p:grpSpPr>
            <a:xfrm>
              <a:off x="5045240" y="228984"/>
              <a:ext cx="3667220" cy="620481"/>
              <a:chOff x="5045240" y="228984"/>
              <a:chExt cx="3667220" cy="620481"/>
            </a:xfrm>
          </p:grpSpPr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C90EAB35-950B-AAFF-1FB4-977534A45CF2}"/>
                  </a:ext>
                </a:extLst>
              </p:cNvPr>
              <p:cNvSpPr/>
              <p:nvPr/>
            </p:nvSpPr>
            <p:spPr>
              <a:xfrm>
                <a:off x="8496436" y="591527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9EF20D8C-87B1-48E2-9AE6-E7050FB45030}"/>
                  </a:ext>
                </a:extLst>
              </p:cNvPr>
              <p:cNvSpPr/>
              <p:nvPr/>
            </p:nvSpPr>
            <p:spPr>
              <a:xfrm>
                <a:off x="5045240" y="631276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Kombinationstegning: figur 7">
                <a:extLst>
                  <a:ext uri="{FF2B5EF4-FFF2-40B4-BE49-F238E27FC236}">
                    <a16:creationId xmlns:a16="http://schemas.microsoft.com/office/drawing/2014/main" id="{709B8B7D-3D68-DB72-D3FC-971E05B96AA5}"/>
                  </a:ext>
                </a:extLst>
              </p:cNvPr>
              <p:cNvSpPr/>
              <p:nvPr/>
            </p:nvSpPr>
            <p:spPr>
              <a:xfrm>
                <a:off x="5251736" y="228984"/>
                <a:ext cx="3240360" cy="360040"/>
              </a:xfrm>
              <a:custGeom>
                <a:avLst/>
                <a:gdLst>
                  <a:gd name="connsiteX0" fmla="*/ 0 w 1833563"/>
                  <a:gd name="connsiteY0" fmla="*/ 204788 h 204788"/>
                  <a:gd name="connsiteX1" fmla="*/ 928688 w 1833563"/>
                  <a:gd name="connsiteY1" fmla="*/ 0 h 204788"/>
                  <a:gd name="connsiteX2" fmla="*/ 1833563 w 1833563"/>
                  <a:gd name="connsiteY2" fmla="*/ 204788 h 204788"/>
                  <a:gd name="connsiteX3" fmla="*/ 1833563 w 1833563"/>
                  <a:gd name="connsiteY3" fmla="*/ 204788 h 20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3563" h="204788">
                    <a:moveTo>
                      <a:pt x="0" y="204788"/>
                    </a:moveTo>
                    <a:cubicBezTo>
                      <a:pt x="311547" y="102394"/>
                      <a:pt x="623094" y="0"/>
                      <a:pt x="928688" y="0"/>
                    </a:cubicBezTo>
                    <a:cubicBezTo>
                      <a:pt x="1234282" y="0"/>
                      <a:pt x="1833563" y="204788"/>
                      <a:pt x="1833563" y="204788"/>
                    </a:cubicBezTo>
                    <a:lnTo>
                      <a:pt x="1833563" y="204788"/>
                    </a:lnTo>
                  </a:path>
                </a:pathLst>
              </a:custGeom>
              <a:noFill/>
              <a:ln w="9525">
                <a:solidFill>
                  <a:srgbClr val="92D050"/>
                </a:solidFill>
                <a:prstDash val="lg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752528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Lukketsløjfeforstærkningen A</a:t>
            </a:r>
            <a:r>
              <a:rPr lang="da-DK" sz="2800" i="1" baseline="-25000" dirty="0"/>
              <a:t>CL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C874B54C-8F4D-4B1E-8057-7D150234D9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93" y="1052736"/>
            <a:ext cx="2262111" cy="2457000"/>
          </a:xfrm>
          <a:prstGeom prst="rect">
            <a:avLst/>
          </a:prstGeom>
        </p:spPr>
      </p:pic>
      <p:sp>
        <p:nvSpPr>
          <p:cNvPr id="17" name="Titel 1">
            <a:extLst>
              <a:ext uri="{FF2B5EF4-FFF2-40B4-BE49-F238E27FC236}">
                <a16:creationId xmlns:a16="http://schemas.microsoft.com/office/drawing/2014/main" id="{DE0A512A-7E13-43D1-8876-28F78B5D80DD}"/>
              </a:ext>
            </a:extLst>
          </p:cNvPr>
          <p:cNvSpPr txBox="1">
            <a:spLocks/>
          </p:cNvSpPr>
          <p:nvPr/>
        </p:nvSpPr>
        <p:spPr>
          <a:xfrm>
            <a:off x="2051720" y="3954884"/>
            <a:ext cx="3254651" cy="412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>
                <a:latin typeface="+mn-lt"/>
              </a:rPr>
              <a:t>Interne kapaciteter (parasitiske)</a:t>
            </a:r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DE5B35ED-206C-49DB-BBF6-2A36D1B7C29B}"/>
              </a:ext>
            </a:extLst>
          </p:cNvPr>
          <p:cNvGrpSpPr/>
          <p:nvPr/>
        </p:nvGrpSpPr>
        <p:grpSpPr>
          <a:xfrm>
            <a:off x="2941507" y="1063650"/>
            <a:ext cx="3040644" cy="2376264"/>
            <a:chOff x="3639352" y="2467292"/>
            <a:chExt cx="3593488" cy="2808312"/>
          </a:xfrm>
        </p:grpSpPr>
        <p:pic>
          <p:nvPicPr>
            <p:cNvPr id="21" name="Billede 20">
              <a:extLst>
                <a:ext uri="{FF2B5EF4-FFF2-40B4-BE49-F238E27FC236}">
                  <a16:creationId xmlns:a16="http://schemas.microsoft.com/office/drawing/2014/main" id="{BB77E95E-4306-4F5A-B8E4-093D0A81A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39352" y="2467292"/>
              <a:ext cx="3593488" cy="2808312"/>
            </a:xfrm>
            <a:prstGeom prst="rect">
              <a:avLst/>
            </a:prstGeom>
          </p:spPr>
        </p:pic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6CA7E3E6-6335-440E-BD2B-82DA7E5FC113}"/>
                </a:ext>
              </a:extLst>
            </p:cNvPr>
            <p:cNvSpPr/>
            <p:nvPr/>
          </p:nvSpPr>
          <p:spPr>
            <a:xfrm>
              <a:off x="5544438" y="3226403"/>
              <a:ext cx="343494" cy="34467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</p:grp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92A9A64C-C18B-4816-9C0E-AA6C62915388}"/>
              </a:ext>
            </a:extLst>
          </p:cNvPr>
          <p:cNvCxnSpPr>
            <a:cxnSpLocks/>
          </p:cNvCxnSpPr>
          <p:nvPr/>
        </p:nvCxnSpPr>
        <p:spPr>
          <a:xfrm>
            <a:off x="3125595" y="1063650"/>
            <a:ext cx="1336234" cy="72250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AB71C09C-7B67-4F19-B0C9-C4FB7EB25FF6}"/>
              </a:ext>
            </a:extLst>
          </p:cNvPr>
          <p:cNvCxnSpPr>
            <a:cxnSpLocks/>
          </p:cNvCxnSpPr>
          <p:nvPr/>
        </p:nvCxnSpPr>
        <p:spPr>
          <a:xfrm flipH="1">
            <a:off x="1043608" y="1003644"/>
            <a:ext cx="1750324" cy="575775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13D56405-05BB-4F24-A814-D8A609FB539B}"/>
              </a:ext>
            </a:extLst>
          </p:cNvPr>
          <p:cNvCxnSpPr>
            <a:cxnSpLocks/>
          </p:cNvCxnSpPr>
          <p:nvPr/>
        </p:nvCxnSpPr>
        <p:spPr>
          <a:xfrm flipV="1">
            <a:off x="2339752" y="3212976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66130F2F-06C6-4F91-908D-45E667751865}"/>
              </a:ext>
            </a:extLst>
          </p:cNvPr>
          <p:cNvSpPr txBox="1">
            <a:spLocks/>
          </p:cNvSpPr>
          <p:nvPr/>
        </p:nvSpPr>
        <p:spPr>
          <a:xfrm>
            <a:off x="2721720" y="706515"/>
            <a:ext cx="416575" cy="447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>
                <a:latin typeface="+mn-lt"/>
              </a:rPr>
              <a:t>C</a:t>
            </a:r>
            <a:r>
              <a:rPr lang="da-DK" sz="1800" i="1" baseline="-25000" dirty="0">
                <a:latin typeface="+mn-lt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224940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>
            <a:extLst>
              <a:ext uri="{FF2B5EF4-FFF2-40B4-BE49-F238E27FC236}">
                <a16:creationId xmlns:a16="http://schemas.microsoft.com/office/drawing/2014/main" id="{4B897E2E-58AC-96D3-A7DD-EA27BA335914}"/>
              </a:ext>
            </a:extLst>
          </p:cNvPr>
          <p:cNvGrpSpPr/>
          <p:nvPr/>
        </p:nvGrpSpPr>
        <p:grpSpPr>
          <a:xfrm>
            <a:off x="4980073" y="188640"/>
            <a:ext cx="3912407" cy="1728192"/>
            <a:chOff x="4980073" y="188640"/>
            <a:chExt cx="3912407" cy="1728192"/>
          </a:xfrm>
        </p:grpSpPr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84288CCC-FFFE-0D0D-AA43-B1B888056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0073" y="188640"/>
              <a:ext cx="3912407" cy="1728192"/>
            </a:xfrm>
            <a:prstGeom prst="rect">
              <a:avLst/>
            </a:prstGeom>
          </p:spPr>
        </p:pic>
        <p:grpSp>
          <p:nvGrpSpPr>
            <p:cNvPr id="4" name="Gruppe 3">
              <a:extLst>
                <a:ext uri="{FF2B5EF4-FFF2-40B4-BE49-F238E27FC236}">
                  <a16:creationId xmlns:a16="http://schemas.microsoft.com/office/drawing/2014/main" id="{2DECA171-871A-470F-63CB-D67C4C542766}"/>
                </a:ext>
              </a:extLst>
            </p:cNvPr>
            <p:cNvGrpSpPr/>
            <p:nvPr/>
          </p:nvGrpSpPr>
          <p:grpSpPr>
            <a:xfrm>
              <a:off x="5045240" y="228984"/>
              <a:ext cx="3667220" cy="620481"/>
              <a:chOff x="5045240" y="228984"/>
              <a:chExt cx="3667220" cy="620481"/>
            </a:xfrm>
          </p:grpSpPr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208E4921-5674-8C0D-2938-C9A26241E0B8}"/>
                  </a:ext>
                </a:extLst>
              </p:cNvPr>
              <p:cNvSpPr/>
              <p:nvPr/>
            </p:nvSpPr>
            <p:spPr>
              <a:xfrm>
                <a:off x="8496436" y="591527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E909C212-0360-4774-3A4C-D84112EAA898}"/>
                  </a:ext>
                </a:extLst>
              </p:cNvPr>
              <p:cNvSpPr/>
              <p:nvPr/>
            </p:nvSpPr>
            <p:spPr>
              <a:xfrm>
                <a:off x="5045240" y="631276"/>
                <a:ext cx="216024" cy="218189"/>
              </a:xfrm>
              <a:prstGeom prst="ellipse">
                <a:avLst/>
              </a:prstGeom>
              <a:noFill/>
              <a:ln w="12700">
                <a:solidFill>
                  <a:srgbClr val="92D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Kombinationstegning: figur 6">
                <a:extLst>
                  <a:ext uri="{FF2B5EF4-FFF2-40B4-BE49-F238E27FC236}">
                    <a16:creationId xmlns:a16="http://schemas.microsoft.com/office/drawing/2014/main" id="{F7225736-775E-0466-896B-6F009D04B75F}"/>
                  </a:ext>
                </a:extLst>
              </p:cNvPr>
              <p:cNvSpPr/>
              <p:nvPr/>
            </p:nvSpPr>
            <p:spPr>
              <a:xfrm>
                <a:off x="5251736" y="228984"/>
                <a:ext cx="3240360" cy="360040"/>
              </a:xfrm>
              <a:custGeom>
                <a:avLst/>
                <a:gdLst>
                  <a:gd name="connsiteX0" fmla="*/ 0 w 1833563"/>
                  <a:gd name="connsiteY0" fmla="*/ 204788 h 204788"/>
                  <a:gd name="connsiteX1" fmla="*/ 928688 w 1833563"/>
                  <a:gd name="connsiteY1" fmla="*/ 0 h 204788"/>
                  <a:gd name="connsiteX2" fmla="*/ 1833563 w 1833563"/>
                  <a:gd name="connsiteY2" fmla="*/ 204788 h 204788"/>
                  <a:gd name="connsiteX3" fmla="*/ 1833563 w 1833563"/>
                  <a:gd name="connsiteY3" fmla="*/ 204788 h 20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3563" h="204788">
                    <a:moveTo>
                      <a:pt x="0" y="204788"/>
                    </a:moveTo>
                    <a:cubicBezTo>
                      <a:pt x="311547" y="102394"/>
                      <a:pt x="623094" y="0"/>
                      <a:pt x="928688" y="0"/>
                    </a:cubicBezTo>
                    <a:cubicBezTo>
                      <a:pt x="1234282" y="0"/>
                      <a:pt x="1833563" y="204788"/>
                      <a:pt x="1833563" y="204788"/>
                    </a:cubicBezTo>
                    <a:lnTo>
                      <a:pt x="1833563" y="204788"/>
                    </a:lnTo>
                  </a:path>
                </a:pathLst>
              </a:custGeom>
              <a:noFill/>
              <a:ln w="9525">
                <a:solidFill>
                  <a:srgbClr val="92D050"/>
                </a:solidFill>
                <a:prstDash val="lgDash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</p:grpSp>
      </p:grpSp>
      <p:grpSp>
        <p:nvGrpSpPr>
          <p:cNvPr id="23" name="Gruppe 22">
            <a:extLst>
              <a:ext uri="{FF2B5EF4-FFF2-40B4-BE49-F238E27FC236}">
                <a16:creationId xmlns:a16="http://schemas.microsoft.com/office/drawing/2014/main" id="{83F66665-E6B9-43B3-9E71-CCB74F24A547}"/>
              </a:ext>
            </a:extLst>
          </p:cNvPr>
          <p:cNvGrpSpPr/>
          <p:nvPr/>
        </p:nvGrpSpPr>
        <p:grpSpPr>
          <a:xfrm>
            <a:off x="2941507" y="1063650"/>
            <a:ext cx="3040644" cy="2376264"/>
            <a:chOff x="3639352" y="2467292"/>
            <a:chExt cx="3593488" cy="2808312"/>
          </a:xfrm>
        </p:grpSpPr>
        <p:pic>
          <p:nvPicPr>
            <p:cNvPr id="27" name="Billede 26">
              <a:extLst>
                <a:ext uri="{FF2B5EF4-FFF2-40B4-BE49-F238E27FC236}">
                  <a16:creationId xmlns:a16="http://schemas.microsoft.com/office/drawing/2014/main" id="{7011477A-A42D-420A-9804-65C5D6013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39352" y="2467292"/>
              <a:ext cx="3593488" cy="2808312"/>
            </a:xfrm>
            <a:prstGeom prst="rect">
              <a:avLst/>
            </a:prstGeom>
          </p:spPr>
        </p:pic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CB5813C1-7465-4226-A576-015676475B02}"/>
                </a:ext>
              </a:extLst>
            </p:cNvPr>
            <p:cNvSpPr/>
            <p:nvPr/>
          </p:nvSpPr>
          <p:spPr>
            <a:xfrm>
              <a:off x="5544438" y="3226403"/>
              <a:ext cx="343494" cy="34467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/>
            </a:p>
          </p:txBody>
        </p:sp>
      </p:grpSp>
      <p:sp>
        <p:nvSpPr>
          <p:cNvPr id="9" name="Titel 1">
            <a:extLst>
              <a:ext uri="{FF2B5EF4-FFF2-40B4-BE49-F238E27FC236}">
                <a16:creationId xmlns:a16="http://schemas.microsoft.com/office/drawing/2014/main" id="{F0C2C9F0-4961-4A3A-80B9-B1AF30DB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4752528" cy="504056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Lukketsløjfeforstærkningen A</a:t>
            </a:r>
            <a:r>
              <a:rPr lang="da-DK" sz="2800" i="1" baseline="-25000" dirty="0"/>
              <a:t>CL</a:t>
            </a:r>
            <a:endParaRPr lang="da-DK" sz="2800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C874B54C-8F4D-4B1E-8057-7D150234D9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93" y="1052736"/>
            <a:ext cx="2262111" cy="2457000"/>
          </a:xfrm>
          <a:prstGeom prst="rect">
            <a:avLst/>
          </a:prstGeom>
        </p:spPr>
      </p:pic>
      <p:sp>
        <p:nvSpPr>
          <p:cNvPr id="17" name="Titel 1">
            <a:extLst>
              <a:ext uri="{FF2B5EF4-FFF2-40B4-BE49-F238E27FC236}">
                <a16:creationId xmlns:a16="http://schemas.microsoft.com/office/drawing/2014/main" id="{DE0A512A-7E13-43D1-8876-28F78B5D80DD}"/>
              </a:ext>
            </a:extLst>
          </p:cNvPr>
          <p:cNvSpPr txBox="1">
            <a:spLocks/>
          </p:cNvSpPr>
          <p:nvPr/>
        </p:nvSpPr>
        <p:spPr>
          <a:xfrm>
            <a:off x="2051720" y="3954884"/>
            <a:ext cx="3254651" cy="412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>
                <a:latin typeface="+mn-lt"/>
              </a:rPr>
              <a:t>Interne kapaciteter (parasitiske)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92A9A64C-C18B-4816-9C0E-AA6C62915388}"/>
              </a:ext>
            </a:extLst>
          </p:cNvPr>
          <p:cNvCxnSpPr>
            <a:cxnSpLocks/>
          </p:cNvCxnSpPr>
          <p:nvPr/>
        </p:nvCxnSpPr>
        <p:spPr>
          <a:xfrm>
            <a:off x="3125595" y="1063650"/>
            <a:ext cx="1336234" cy="72250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AB71C09C-7B67-4F19-B0C9-C4FB7EB25FF6}"/>
              </a:ext>
            </a:extLst>
          </p:cNvPr>
          <p:cNvCxnSpPr>
            <a:cxnSpLocks/>
          </p:cNvCxnSpPr>
          <p:nvPr/>
        </p:nvCxnSpPr>
        <p:spPr>
          <a:xfrm flipH="1">
            <a:off x="1043608" y="1003644"/>
            <a:ext cx="1750324" cy="575775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itel 1">
            <a:extLst>
              <a:ext uri="{FF2B5EF4-FFF2-40B4-BE49-F238E27FC236}">
                <a16:creationId xmlns:a16="http://schemas.microsoft.com/office/drawing/2014/main" id="{754D3A6E-A919-44BE-96FB-86DFC191B30A}"/>
              </a:ext>
            </a:extLst>
          </p:cNvPr>
          <p:cNvSpPr txBox="1">
            <a:spLocks/>
          </p:cNvSpPr>
          <p:nvPr/>
        </p:nvSpPr>
        <p:spPr>
          <a:xfrm>
            <a:off x="359532" y="4693936"/>
            <a:ext cx="9716124" cy="428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>
                <a:latin typeface="+mn-lt"/>
              </a:rPr>
              <a:t>C</a:t>
            </a:r>
            <a:r>
              <a:rPr lang="da-DK" sz="1800" i="1" baseline="-25000" dirty="0">
                <a:latin typeface="+mn-lt"/>
              </a:rPr>
              <a:t>f</a:t>
            </a:r>
            <a:r>
              <a:rPr lang="da-DK" sz="1800" i="1" dirty="0">
                <a:latin typeface="+mn-lt"/>
              </a:rPr>
              <a:t> kan evt. placeres eksternt for større båndbredde ved højere forstærkninger</a:t>
            </a:r>
          </a:p>
        </p:txBody>
      </p: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13D56405-05BB-4F24-A814-D8A609FB539B}"/>
              </a:ext>
            </a:extLst>
          </p:cNvPr>
          <p:cNvCxnSpPr>
            <a:cxnSpLocks/>
          </p:cNvCxnSpPr>
          <p:nvPr/>
        </p:nvCxnSpPr>
        <p:spPr>
          <a:xfrm flipV="1">
            <a:off x="2339752" y="3212976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66130F2F-06C6-4F91-908D-45E667751865}"/>
              </a:ext>
            </a:extLst>
          </p:cNvPr>
          <p:cNvSpPr txBox="1">
            <a:spLocks/>
          </p:cNvSpPr>
          <p:nvPr/>
        </p:nvSpPr>
        <p:spPr>
          <a:xfrm>
            <a:off x="2721720" y="706515"/>
            <a:ext cx="416575" cy="447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>
                <a:latin typeface="+mn-lt"/>
              </a:rPr>
              <a:t>C</a:t>
            </a:r>
            <a:r>
              <a:rPr lang="da-DK" sz="1800" i="1" baseline="-25000" dirty="0">
                <a:latin typeface="+mn-lt"/>
              </a:rPr>
              <a:t>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itel 1">
                <a:extLst>
                  <a:ext uri="{FF2B5EF4-FFF2-40B4-BE49-F238E27FC236}">
                    <a16:creationId xmlns:a16="http://schemas.microsoft.com/office/drawing/2014/main" id="{75226FB3-A4DB-4859-AA86-7064FCCABF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8557" y="6072548"/>
                <a:ext cx="4887814" cy="56560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l">
                  <a:spcBef>
                    <a:spcPts val="0"/>
                  </a:spcBef>
                </a:pPr>
                <a:r>
                  <a:rPr lang="da-DK" sz="1800" i="1" dirty="0">
                    <a:latin typeface="+mn-lt"/>
                  </a:rPr>
                  <a:t>Maksimal båndbredde ved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1800" i="1">
                            <a:solidFill>
                              <a:prstClr val="black"/>
                            </a:solidFill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1800" i="1">
                            <a:solidFill>
                              <a:prstClr val="black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lang="da-DK" sz="1800" i="1" dirty="0">
                    <a:solidFill>
                      <a:prstClr val="black"/>
                    </a:solidFill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  <a:r>
                  <a:rPr lang="da-DK" sz="1800" i="1" dirty="0">
                    <a:latin typeface="+mn-lt"/>
                  </a:rPr>
                  <a:t>&gt; 1:	</a:t>
                </a:r>
                <a:r>
                  <a:rPr lang="da-DK" sz="1800" i="1" dirty="0"/>
                  <a:t>C</a:t>
                </a:r>
                <a:r>
                  <a:rPr lang="da-DK" sz="1800" i="1" baseline="-25000" dirty="0"/>
                  <a:t>f</a:t>
                </a:r>
                <a:r>
                  <a:rPr lang="da-DK" sz="1800" i="1" dirty="0"/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a-DK" sz="1800" i="1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β</m:t>
                    </m:r>
                    <m:r>
                      <m:rPr>
                        <m:nor/>
                      </m:rPr>
                      <a:rPr lang="da-DK" sz="1800" i="1">
                        <a:latin typeface="Calibri" panose="020F0502020204030204" pitchFamily="34" charset="0"/>
                      </a:rPr>
                      <m:t>∙</m:t>
                    </m:r>
                  </m:oMath>
                </a14:m>
                <a:r>
                  <a:rPr lang="da-DK" sz="1800" i="1" dirty="0"/>
                  <a:t>C</a:t>
                </a:r>
                <a:r>
                  <a:rPr lang="da-DK" sz="1800" i="1" baseline="-25000" dirty="0"/>
                  <a:t>1</a:t>
                </a:r>
                <a:endParaRPr lang="da-DK" sz="1800" i="1" baseline="-25000" dirty="0">
                  <a:ea typeface="Cambria Math"/>
                </a:endParaRPr>
              </a:p>
            </p:txBody>
          </p:sp>
        </mc:Choice>
        <mc:Fallback xmlns="">
          <p:sp>
            <p:nvSpPr>
              <p:cNvPr id="33" name="Titel 1">
                <a:extLst>
                  <a:ext uri="{FF2B5EF4-FFF2-40B4-BE49-F238E27FC236}">
                    <a16:creationId xmlns:a16="http://schemas.microsoft.com/office/drawing/2014/main" id="{75226FB3-A4DB-4859-AA86-7064FCCAB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57" y="6072548"/>
                <a:ext cx="4887814" cy="565603"/>
              </a:xfrm>
              <a:prstGeom prst="rect">
                <a:avLst/>
              </a:prstGeom>
              <a:blipFill>
                <a:blip r:embed="rId5"/>
                <a:stretch>
                  <a:fillRect l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el 1">
            <a:extLst>
              <a:ext uri="{FF2B5EF4-FFF2-40B4-BE49-F238E27FC236}">
                <a16:creationId xmlns:a16="http://schemas.microsoft.com/office/drawing/2014/main" id="{92F22F1F-348E-46F7-B1A6-DBB4B41EAF7A}"/>
              </a:ext>
            </a:extLst>
          </p:cNvPr>
          <p:cNvSpPr txBox="1">
            <a:spLocks/>
          </p:cNvSpPr>
          <p:nvPr/>
        </p:nvSpPr>
        <p:spPr>
          <a:xfrm>
            <a:off x="418557" y="5373216"/>
            <a:ext cx="6311408" cy="428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>
                <a:latin typeface="+mn-lt"/>
              </a:rPr>
              <a:t>C</a:t>
            </a:r>
            <a:r>
              <a:rPr lang="da-DK" sz="1800" i="1" baseline="-25000" dirty="0">
                <a:latin typeface="+mn-lt"/>
              </a:rPr>
              <a:t>f</a:t>
            </a:r>
            <a:r>
              <a:rPr lang="da-DK" sz="1800" i="1" dirty="0">
                <a:latin typeface="+mn-lt"/>
              </a:rPr>
              <a:t> = C</a:t>
            </a:r>
            <a:r>
              <a:rPr lang="da-DK" sz="1800" i="1" baseline="-25000" dirty="0">
                <a:latin typeface="+mn-lt"/>
              </a:rPr>
              <a:t>1</a:t>
            </a:r>
            <a:r>
              <a:rPr lang="da-DK" sz="1800" i="1" dirty="0">
                <a:latin typeface="+mn-lt"/>
              </a:rPr>
              <a:t> (”</a:t>
            </a:r>
            <a:r>
              <a:rPr lang="da-DK" sz="1800" i="1" dirty="0" err="1">
                <a:latin typeface="+mn-lt"/>
              </a:rPr>
              <a:t>Unity</a:t>
            </a:r>
            <a:r>
              <a:rPr lang="da-DK" sz="1800" i="1" dirty="0">
                <a:latin typeface="+mn-lt"/>
              </a:rPr>
              <a:t> </a:t>
            </a:r>
            <a:r>
              <a:rPr lang="da-DK" sz="1800" i="1" dirty="0" err="1">
                <a:latin typeface="+mn-lt"/>
              </a:rPr>
              <a:t>Gain</a:t>
            </a:r>
            <a:r>
              <a:rPr lang="da-DK" sz="1800" i="1" dirty="0">
                <a:latin typeface="+mn-lt"/>
              </a:rPr>
              <a:t>” stabil) - databladsoplysning</a:t>
            </a:r>
          </a:p>
        </p:txBody>
      </p: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6EFA154E-2F3D-FA52-26F2-A2E2E0C33332}"/>
              </a:ext>
            </a:extLst>
          </p:cNvPr>
          <p:cNvCxnSpPr>
            <a:cxnSpLocks/>
          </p:cNvCxnSpPr>
          <p:nvPr/>
        </p:nvCxnSpPr>
        <p:spPr>
          <a:xfrm flipH="1">
            <a:off x="5088137" y="6351695"/>
            <a:ext cx="504056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ktangel 10">
                <a:extLst>
                  <a:ext uri="{FF2B5EF4-FFF2-40B4-BE49-F238E27FC236}">
                    <a16:creationId xmlns:a16="http://schemas.microsoft.com/office/drawing/2014/main" id="{49D7BCD9-E0F0-6EF7-C662-2CB8A9FC4E90}"/>
                  </a:ext>
                </a:extLst>
              </p:cNvPr>
              <p:cNvSpPr/>
              <p:nvPr/>
            </p:nvSpPr>
            <p:spPr>
              <a:xfrm>
                <a:off x="5652120" y="6049296"/>
                <a:ext cx="2160240" cy="6014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1200" i="1" dirty="0">
                    <a:solidFill>
                      <a:srgbClr val="FF0000"/>
                    </a:solidFill>
                  </a:rPr>
                  <a:t>Dette giver samme båndbredde som for C</a:t>
                </a:r>
                <a:r>
                  <a:rPr lang="da-DK" sz="1200" i="1" baseline="-25000" dirty="0">
                    <a:solidFill>
                      <a:srgbClr val="FF0000"/>
                    </a:solidFill>
                  </a:rPr>
                  <a:t>f</a:t>
                </a:r>
                <a:r>
                  <a:rPr lang="da-DK" sz="1200" i="1" dirty="0">
                    <a:solidFill>
                      <a:srgbClr val="FF0000"/>
                    </a:solidFill>
                  </a:rPr>
                  <a:t> = C</a:t>
                </a:r>
                <a:r>
                  <a:rPr lang="da-DK" sz="1200" i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da-DK" sz="1200" i="1" dirty="0">
                    <a:solidFill>
                      <a:srgbClr val="FF0000"/>
                    </a:solidFill>
                  </a:rPr>
                  <a:t> ved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a-DK" sz="1200" i="1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a-DK" sz="1200" i="1">
                            <a:solidFill>
                              <a:srgbClr val="FF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lang="da-DK" sz="1200" i="1" dirty="0">
                    <a:solidFill>
                      <a:srgbClr val="FF0000"/>
                    </a:solidFill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  <a:r>
                  <a:rPr lang="da-DK" sz="1200" i="1" dirty="0">
                    <a:solidFill>
                      <a:srgbClr val="FF0000"/>
                    </a:solidFill>
                    <a:latin typeface="+mn-lt"/>
                  </a:rPr>
                  <a:t>= 1</a:t>
                </a:r>
                <a:endParaRPr lang="da-DK" sz="1200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ktangel 10">
                <a:extLst>
                  <a:ext uri="{FF2B5EF4-FFF2-40B4-BE49-F238E27FC236}">
                    <a16:creationId xmlns:a16="http://schemas.microsoft.com/office/drawing/2014/main" id="{49D7BCD9-E0F0-6EF7-C662-2CB8A9FC4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6049296"/>
                <a:ext cx="2160240" cy="601447"/>
              </a:xfrm>
              <a:prstGeom prst="rect">
                <a:avLst/>
              </a:prstGeom>
              <a:blipFill>
                <a:blip r:embed="rId6"/>
                <a:stretch>
                  <a:fillRect r="-282" b="-404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93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23528" y="618405"/>
            <a:ext cx="81369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 praksis skal alle (aktive) kredsløb have en forsyningsspænding.</a:t>
            </a:r>
            <a:endParaRPr lang="da-DK" sz="2400" i="1" baseline="-25000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7" y="44624"/>
            <a:ext cx="1512168" cy="416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DC Bias</a:t>
            </a:r>
          </a:p>
        </p:txBody>
      </p:sp>
    </p:spTree>
    <p:extLst>
      <p:ext uri="{BB962C8B-B14F-4D97-AF65-F5344CB8AC3E}">
        <p14:creationId xmlns:p14="http://schemas.microsoft.com/office/powerpoint/2010/main" val="141821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23528" y="618405"/>
            <a:ext cx="81369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 praksis skal alle (aktive) kredsløb have en forsyningsspænding.</a:t>
            </a:r>
            <a:endParaRPr lang="da-DK" sz="2400" i="1" baseline="-25000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7" y="44624"/>
            <a:ext cx="1512168" cy="416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DC Bias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4929858-2B30-425A-B561-48AC03554919}"/>
              </a:ext>
            </a:extLst>
          </p:cNvPr>
          <p:cNvSpPr txBox="1">
            <a:spLocks/>
          </p:cNvSpPr>
          <p:nvPr/>
        </p:nvSpPr>
        <p:spPr>
          <a:xfrm>
            <a:off x="2483768" y="1770533"/>
            <a:ext cx="34840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DC offset og muligvis drift</a:t>
            </a:r>
            <a:endParaRPr lang="da-DK" sz="2400" i="1" baseline="-25000" dirty="0"/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CD5FD7F0-6380-4D97-BF51-F8EE38B570EE}"/>
              </a:ext>
            </a:extLst>
          </p:cNvPr>
          <p:cNvCxnSpPr>
            <a:cxnSpLocks/>
          </p:cNvCxnSpPr>
          <p:nvPr/>
        </p:nvCxnSpPr>
        <p:spPr>
          <a:xfrm>
            <a:off x="3995936" y="1181574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3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23528" y="618405"/>
            <a:ext cx="81369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 praksis skal alle (aktive) kredsløb have en forsyningsspænding.</a:t>
            </a:r>
            <a:endParaRPr lang="da-DK" sz="2400" i="1" baseline="-25000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7" y="44624"/>
            <a:ext cx="1512168" cy="416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DC Bias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4929858-2B30-425A-B561-48AC03554919}"/>
              </a:ext>
            </a:extLst>
          </p:cNvPr>
          <p:cNvSpPr txBox="1">
            <a:spLocks/>
          </p:cNvSpPr>
          <p:nvPr/>
        </p:nvSpPr>
        <p:spPr>
          <a:xfrm>
            <a:off x="2483768" y="1770533"/>
            <a:ext cx="34840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DC offset og muligvis drift</a:t>
            </a:r>
            <a:endParaRPr lang="da-DK" sz="2400" i="1" baseline="-25000" dirty="0"/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CD5FD7F0-6380-4D97-BF51-F8EE38B570EE}"/>
              </a:ext>
            </a:extLst>
          </p:cNvPr>
          <p:cNvCxnSpPr>
            <a:cxnSpLocks/>
          </p:cNvCxnSpPr>
          <p:nvPr/>
        </p:nvCxnSpPr>
        <p:spPr>
          <a:xfrm>
            <a:off x="3995936" y="1181574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itel 1">
            <a:extLst>
              <a:ext uri="{FF2B5EF4-FFF2-40B4-BE49-F238E27FC236}">
                <a16:creationId xmlns:a16="http://schemas.microsoft.com/office/drawing/2014/main" id="{88608DBD-334C-453E-BD5C-111DB74DB8F9}"/>
              </a:ext>
            </a:extLst>
          </p:cNvPr>
          <p:cNvSpPr txBox="1">
            <a:spLocks/>
          </p:cNvSpPr>
          <p:nvPr/>
        </p:nvSpPr>
        <p:spPr>
          <a:xfrm>
            <a:off x="323528" y="3151580"/>
            <a:ext cx="8532948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 sig selv en fejl hvis signalet man måler/regulerer på er lavfrekvent.</a:t>
            </a:r>
            <a:endParaRPr lang="da-DK" sz="2400" i="1" baseline="-25000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CB8FAF0-1FE1-4C4B-9E9C-BDA95F131AD3}"/>
              </a:ext>
            </a:extLst>
          </p:cNvPr>
          <p:cNvSpPr txBox="1">
            <a:spLocks/>
          </p:cNvSpPr>
          <p:nvPr/>
        </p:nvSpPr>
        <p:spPr>
          <a:xfrm>
            <a:off x="7620000" y="3715163"/>
            <a:ext cx="1188132" cy="216024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Eks. temperatur</a:t>
            </a:r>
          </a:p>
        </p:txBody>
      </p:sp>
    </p:spTree>
    <p:extLst>
      <p:ext uri="{BB962C8B-B14F-4D97-AF65-F5344CB8AC3E}">
        <p14:creationId xmlns:p14="http://schemas.microsoft.com/office/powerpoint/2010/main" val="343415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23528" y="618405"/>
            <a:ext cx="81369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 praksis skal alle (aktive) kredsløb have en forsyningsspænding.</a:t>
            </a:r>
            <a:endParaRPr lang="da-DK" sz="2400" i="1" baseline="-25000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7" y="44624"/>
            <a:ext cx="1512168" cy="416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DC Bias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4929858-2B30-425A-B561-48AC03554919}"/>
              </a:ext>
            </a:extLst>
          </p:cNvPr>
          <p:cNvSpPr txBox="1">
            <a:spLocks/>
          </p:cNvSpPr>
          <p:nvPr/>
        </p:nvSpPr>
        <p:spPr>
          <a:xfrm>
            <a:off x="2483768" y="1770533"/>
            <a:ext cx="3484004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i="1" dirty="0"/>
              <a:t>DC offset og muligvis drift</a:t>
            </a:r>
            <a:endParaRPr lang="da-DK" sz="2400" i="1" baseline="-25000" dirty="0"/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CD5FD7F0-6380-4D97-BF51-F8EE38B570EE}"/>
              </a:ext>
            </a:extLst>
          </p:cNvPr>
          <p:cNvCxnSpPr>
            <a:cxnSpLocks/>
          </p:cNvCxnSpPr>
          <p:nvPr/>
        </p:nvCxnSpPr>
        <p:spPr>
          <a:xfrm>
            <a:off x="3995936" y="1181574"/>
            <a:ext cx="0" cy="648072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itel 1">
            <a:extLst>
              <a:ext uri="{FF2B5EF4-FFF2-40B4-BE49-F238E27FC236}">
                <a16:creationId xmlns:a16="http://schemas.microsoft.com/office/drawing/2014/main" id="{88608DBD-334C-453E-BD5C-111DB74DB8F9}"/>
              </a:ext>
            </a:extLst>
          </p:cNvPr>
          <p:cNvSpPr txBox="1">
            <a:spLocks/>
          </p:cNvSpPr>
          <p:nvPr/>
        </p:nvSpPr>
        <p:spPr>
          <a:xfrm>
            <a:off x="323528" y="3151580"/>
            <a:ext cx="8532948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 sig selv en fejl hvis signalet man måler/regulerer på er lavfrekvent.</a:t>
            </a:r>
            <a:endParaRPr lang="da-DK" sz="2400" i="1" baseline="-250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915AE324-8208-4BC1-9AA3-67D7C70E59C3}"/>
              </a:ext>
            </a:extLst>
          </p:cNvPr>
          <p:cNvSpPr txBox="1">
            <a:spLocks/>
          </p:cNvSpPr>
          <p:nvPr/>
        </p:nvSpPr>
        <p:spPr>
          <a:xfrm>
            <a:off x="323528" y="3858765"/>
            <a:ext cx="7272808" cy="563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Indflydelse på signalbehandling i hele frekvensområdet:</a:t>
            </a:r>
            <a:endParaRPr lang="da-DK" sz="2400" i="1" baseline="-25000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855C2503-3B6C-446A-901D-F02670386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9653" y="4725144"/>
            <a:ext cx="3640698" cy="1714769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25E79F8D-49A2-299F-0F1B-C9190DDFC6F6}"/>
              </a:ext>
            </a:extLst>
          </p:cNvPr>
          <p:cNvSpPr txBox="1">
            <a:spLocks/>
          </p:cNvSpPr>
          <p:nvPr/>
        </p:nvSpPr>
        <p:spPr>
          <a:xfrm>
            <a:off x="7620000" y="3715163"/>
            <a:ext cx="1188132" cy="216024"/>
          </a:xfrm>
          <a:prstGeom prst="rect">
            <a:avLst/>
          </a:prstGeom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/>
              <a:t>Eks. temperatur</a:t>
            </a:r>
          </a:p>
        </p:txBody>
      </p:sp>
    </p:spTree>
    <p:extLst>
      <p:ext uri="{BB962C8B-B14F-4D97-AF65-F5344CB8AC3E}">
        <p14:creationId xmlns:p14="http://schemas.microsoft.com/office/powerpoint/2010/main" val="1609766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9DA7-EE27-DB25-F029-09D45760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8ABE109-E399-6CDD-DCB9-9A56959084B2}"/>
              </a:ext>
            </a:extLst>
          </p:cNvPr>
          <p:cNvSpPr txBox="1">
            <a:spLocks/>
          </p:cNvSpPr>
          <p:nvPr/>
        </p:nvSpPr>
        <p:spPr>
          <a:xfrm>
            <a:off x="1907704" y="2204864"/>
            <a:ext cx="3960440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Offsetspænding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off</a:t>
            </a:r>
            <a:endParaRPr lang="da-DK" sz="2400" i="1" dirty="0"/>
          </a:p>
          <a:p>
            <a:pPr algn="l"/>
            <a:r>
              <a:rPr lang="da-DK" sz="2400" i="1" dirty="0" err="1"/>
              <a:t>Biasstrøm</a:t>
            </a:r>
            <a:r>
              <a:rPr lang="da-DK" sz="2400" i="1" dirty="0"/>
              <a:t> I</a:t>
            </a:r>
            <a:r>
              <a:rPr lang="da-DK" sz="2400" i="1" baseline="-25000" dirty="0"/>
              <a:t>B</a:t>
            </a:r>
            <a:endParaRPr lang="da-DK" sz="2400" i="1" dirty="0"/>
          </a:p>
          <a:p>
            <a:pPr algn="l"/>
            <a:r>
              <a:rPr lang="da-DK" sz="2400" i="1" dirty="0"/>
              <a:t>Offsetstrøm </a:t>
            </a:r>
            <a:r>
              <a:rPr lang="da-DK" sz="2400" i="1" dirty="0" err="1"/>
              <a:t>I</a:t>
            </a:r>
            <a:r>
              <a:rPr lang="da-DK" sz="2400" i="1" baseline="-25000" dirty="0" err="1"/>
              <a:t>off</a:t>
            </a:r>
            <a:endParaRPr lang="da-DK" sz="2400" i="1" baseline="-2500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A39D1F8-2FD2-6E29-6D04-43A00792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44624"/>
            <a:ext cx="3037409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Offset- og </a:t>
            </a:r>
            <a:r>
              <a:rPr lang="da-DK" sz="2800" i="1" dirty="0" err="1"/>
              <a:t>biasfejl</a:t>
            </a:r>
            <a:endParaRPr lang="da-DK" sz="2800" i="1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24142FDB-BA8B-3F7E-ACE3-ADDB0C0325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891" y="2492896"/>
            <a:ext cx="360040" cy="731601"/>
          </a:xfrm>
          <a:prstGeom prst="rect">
            <a:avLst/>
          </a:prstGeom>
        </p:spPr>
      </p:pic>
      <p:grpSp>
        <p:nvGrpSpPr>
          <p:cNvPr id="8" name="Gruppe 7">
            <a:extLst>
              <a:ext uri="{FF2B5EF4-FFF2-40B4-BE49-F238E27FC236}">
                <a16:creationId xmlns:a16="http://schemas.microsoft.com/office/drawing/2014/main" id="{2CF49480-9258-4899-566A-D7AA2952120E}"/>
              </a:ext>
            </a:extLst>
          </p:cNvPr>
          <p:cNvGrpSpPr/>
          <p:nvPr/>
        </p:nvGrpSpPr>
        <p:grpSpPr>
          <a:xfrm>
            <a:off x="5148064" y="1772816"/>
            <a:ext cx="3127660" cy="648072"/>
            <a:chOff x="5220072" y="3717032"/>
            <a:chExt cx="3127660" cy="648072"/>
          </a:xfrm>
        </p:grpSpPr>
        <p:sp>
          <p:nvSpPr>
            <p:cNvPr id="7" name="Taleboble: oval 6">
              <a:extLst>
                <a:ext uri="{FF2B5EF4-FFF2-40B4-BE49-F238E27FC236}">
                  <a16:creationId xmlns:a16="http://schemas.microsoft.com/office/drawing/2014/main" id="{81DCB21D-1D66-BC9B-1D3D-E5ADDC4B4DA5}"/>
                </a:ext>
              </a:extLst>
            </p:cNvPr>
            <p:cNvSpPr/>
            <p:nvPr/>
          </p:nvSpPr>
          <p:spPr>
            <a:xfrm>
              <a:off x="5220072" y="3717032"/>
              <a:ext cx="3024336" cy="648072"/>
            </a:xfrm>
            <a:prstGeom prst="wedgeEllipseCallout">
              <a:avLst>
                <a:gd name="adj1" fmla="val -57061"/>
                <a:gd name="adj2" fmla="val 67535"/>
              </a:avLst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Titel 1">
              <a:extLst>
                <a:ext uri="{FF2B5EF4-FFF2-40B4-BE49-F238E27FC236}">
                  <a16:creationId xmlns:a16="http://schemas.microsoft.com/office/drawing/2014/main" id="{48D648D5-152D-F48D-49F0-F63A441D349D}"/>
                </a:ext>
              </a:extLst>
            </p:cNvPr>
            <p:cNvSpPr txBox="1">
              <a:spLocks/>
            </p:cNvSpPr>
            <p:nvPr/>
          </p:nvSpPr>
          <p:spPr>
            <a:xfrm>
              <a:off x="5364088" y="3897052"/>
              <a:ext cx="2983644" cy="2880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200" i="1" dirty="0"/>
                <a:t>Betegnes ofte også V</a:t>
              </a:r>
              <a:r>
                <a:rPr lang="da-DK" sz="1200" i="1" baseline="-25000" dirty="0"/>
                <a:t>os</a:t>
              </a:r>
              <a:r>
                <a:rPr lang="da-DK" sz="1200" i="1" dirty="0"/>
                <a:t> eller </a:t>
              </a:r>
              <a:r>
                <a:rPr lang="da-DK" sz="1200" i="1" dirty="0" err="1"/>
                <a:t>V</a:t>
              </a:r>
              <a:r>
                <a:rPr lang="da-DK" sz="1200" i="1" baseline="-25000" dirty="0" err="1"/>
                <a:t>io</a:t>
              </a:r>
              <a:r>
                <a:rPr lang="da-DK" sz="1200" i="1" dirty="0"/>
                <a:t> i databladet</a:t>
              </a:r>
              <a:endParaRPr lang="da-DK" sz="1200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887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/>
          <p:cNvSpPr/>
          <p:nvPr/>
        </p:nvSpPr>
        <p:spPr>
          <a:xfrm>
            <a:off x="3927945" y="3885035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 err="1">
                <a:solidFill>
                  <a:srgbClr val="FF0000"/>
                </a:solidFill>
              </a:rPr>
              <a:t>v</a:t>
            </a:r>
            <a:r>
              <a:rPr lang="da-DK" sz="2400" i="1" baseline="-25000" dirty="0" err="1">
                <a:solidFill>
                  <a:srgbClr val="FF0000"/>
                </a:solidFill>
              </a:rPr>
              <a:t>o</a:t>
            </a:r>
            <a:r>
              <a:rPr lang="da-DK" sz="2400" i="1" baseline="-25000" dirty="0">
                <a:solidFill>
                  <a:srgbClr val="FF0000"/>
                </a:solidFill>
              </a:rPr>
              <a:t> ideel</a:t>
            </a:r>
            <a:r>
              <a:rPr lang="da-DK" sz="2400" i="1" dirty="0">
                <a:solidFill>
                  <a:srgbClr val="FF0000"/>
                </a:solidFill>
              </a:rPr>
              <a:t> = 0 V</a:t>
            </a: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352123"/>
            <a:ext cx="2778593" cy="1589045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2051720" y="2564904"/>
            <a:ext cx="1872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Ideel Op Amp</a:t>
            </a:r>
          </a:p>
        </p:txBody>
      </p:sp>
      <p:cxnSp>
        <p:nvCxnSpPr>
          <p:cNvPr id="8" name="Lige pilforbindelse 7"/>
          <p:cNvCxnSpPr/>
          <p:nvPr/>
        </p:nvCxnSpPr>
        <p:spPr>
          <a:xfrm flipH="1">
            <a:off x="2245281" y="2985990"/>
            <a:ext cx="231229" cy="5713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35496" y="39444"/>
            <a:ext cx="6075102" cy="3570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Kortslutning af de to indgangsterminaler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155466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A179702F-D1CD-4B9A-8495-3ECC3D82B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552" y="277642"/>
            <a:ext cx="8064895" cy="630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13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03851"/>
            <a:ext cx="2778593" cy="1589045"/>
          </a:xfrm>
          <a:prstGeom prst="rect">
            <a:avLst/>
          </a:prstGeom>
        </p:spPr>
      </p:pic>
      <p:sp>
        <p:nvSpPr>
          <p:cNvPr id="10" name="Rektangel 9"/>
          <p:cNvSpPr/>
          <p:nvPr/>
        </p:nvSpPr>
        <p:spPr>
          <a:xfrm>
            <a:off x="539552" y="3694657"/>
            <a:ext cx="28603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/>
              <a:t>Mismatch </a:t>
            </a:r>
            <a:r>
              <a:rPr lang="el-GR" sz="1600" i="1" dirty="0"/>
              <a:t>Δ</a:t>
            </a:r>
            <a:r>
              <a:rPr lang="en-US" sz="1600" i="1" dirty="0"/>
              <a:t>V</a:t>
            </a:r>
            <a:r>
              <a:rPr lang="da-DK" sz="1600" i="1" dirty="0"/>
              <a:t> i indgangstrinet</a:t>
            </a:r>
          </a:p>
        </p:txBody>
      </p:sp>
      <p:sp>
        <p:nvSpPr>
          <p:cNvPr id="12" name="Rektangel 11"/>
          <p:cNvSpPr/>
          <p:nvPr/>
        </p:nvSpPr>
        <p:spPr>
          <a:xfrm>
            <a:off x="539553" y="4099014"/>
            <a:ext cx="30243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/>
              <a:t>Meget stor A</a:t>
            </a:r>
            <a:r>
              <a:rPr lang="da-DK" sz="1600" i="1" baseline="-25000" dirty="0"/>
              <a:t>OL</a:t>
            </a:r>
            <a:r>
              <a:rPr lang="da-DK" sz="1600" i="1" dirty="0"/>
              <a:t> (uden modkobling)</a:t>
            </a:r>
            <a:endParaRPr lang="da-DK" sz="1600" i="1" baseline="-25000" dirty="0"/>
          </a:p>
        </p:txBody>
      </p:sp>
      <p:sp>
        <p:nvSpPr>
          <p:cNvPr id="15" name="Rektangel 14"/>
          <p:cNvSpPr/>
          <p:nvPr/>
        </p:nvSpPr>
        <p:spPr>
          <a:xfrm>
            <a:off x="1259632" y="116632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Praktisk Op Amp</a:t>
            </a:r>
          </a:p>
        </p:txBody>
      </p:sp>
      <p:cxnSp>
        <p:nvCxnSpPr>
          <p:cNvPr id="4" name="Lige pilforbindelse 3"/>
          <p:cNvCxnSpPr/>
          <p:nvPr/>
        </p:nvCxnSpPr>
        <p:spPr>
          <a:xfrm flipH="1">
            <a:off x="1453193" y="537718"/>
            <a:ext cx="231229" cy="5713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led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2"/>
          <a:stretch/>
        </p:blipFill>
        <p:spPr>
          <a:xfrm>
            <a:off x="4737190" y="404664"/>
            <a:ext cx="4371314" cy="2580992"/>
          </a:xfrm>
          <a:prstGeom prst="rect">
            <a:avLst/>
          </a:prstGeom>
        </p:spPr>
      </p:pic>
      <p:grpSp>
        <p:nvGrpSpPr>
          <p:cNvPr id="27" name="Gruppe 26">
            <a:extLst>
              <a:ext uri="{FF2B5EF4-FFF2-40B4-BE49-F238E27FC236}">
                <a16:creationId xmlns:a16="http://schemas.microsoft.com/office/drawing/2014/main" id="{E03D7299-D875-AC3B-49DE-7084BA8169CE}"/>
              </a:ext>
            </a:extLst>
          </p:cNvPr>
          <p:cNvGrpSpPr/>
          <p:nvPr/>
        </p:nvGrpSpPr>
        <p:grpSpPr>
          <a:xfrm>
            <a:off x="4572000" y="3356992"/>
            <a:ext cx="3285520" cy="2818281"/>
            <a:chOff x="5648944" y="3356992"/>
            <a:chExt cx="3285520" cy="2818281"/>
          </a:xfrm>
        </p:grpSpPr>
        <p:grpSp>
          <p:nvGrpSpPr>
            <p:cNvPr id="13" name="Gruppe 12">
              <a:extLst>
                <a:ext uri="{FF2B5EF4-FFF2-40B4-BE49-F238E27FC236}">
                  <a16:creationId xmlns:a16="http://schemas.microsoft.com/office/drawing/2014/main" id="{F0E8DC10-EC23-6E4C-652E-7B5230A5B0BE}"/>
                </a:ext>
              </a:extLst>
            </p:cNvPr>
            <p:cNvGrpSpPr/>
            <p:nvPr/>
          </p:nvGrpSpPr>
          <p:grpSpPr>
            <a:xfrm>
              <a:off x="5652120" y="3356992"/>
              <a:ext cx="3282344" cy="2818281"/>
              <a:chOff x="5525340" y="3356992"/>
              <a:chExt cx="3282344" cy="2818281"/>
            </a:xfrm>
          </p:grpSpPr>
          <p:pic>
            <p:nvPicPr>
              <p:cNvPr id="8" name="Billede 7">
                <a:extLst>
                  <a:ext uri="{FF2B5EF4-FFF2-40B4-BE49-F238E27FC236}">
                    <a16:creationId xmlns:a16="http://schemas.microsoft.com/office/drawing/2014/main" id="{7BB6264E-2B47-0A7E-CCC1-58BD12623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525340" y="3501008"/>
                <a:ext cx="3282344" cy="2674265"/>
              </a:xfrm>
              <a:prstGeom prst="rect">
                <a:avLst/>
              </a:prstGeom>
            </p:spPr>
          </p:pic>
          <p:sp>
            <p:nvSpPr>
              <p:cNvPr id="9" name="Rektangel 8">
                <a:extLst>
                  <a:ext uri="{FF2B5EF4-FFF2-40B4-BE49-F238E27FC236}">
                    <a16:creationId xmlns:a16="http://schemas.microsoft.com/office/drawing/2014/main" id="{A38C6216-8B65-713D-318D-1519D3A8E1CD}"/>
                  </a:ext>
                </a:extLst>
              </p:cNvPr>
              <p:cNvSpPr/>
              <p:nvPr/>
            </p:nvSpPr>
            <p:spPr>
              <a:xfrm>
                <a:off x="7225180" y="3356992"/>
                <a:ext cx="368966" cy="27699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l-GR" sz="1200" i="1" dirty="0"/>
                  <a:t>Δ</a:t>
                </a:r>
                <a:r>
                  <a:rPr lang="en-US" sz="1200" i="1" dirty="0"/>
                  <a:t>V</a:t>
                </a:r>
                <a:endParaRPr lang="da-DK" sz="1200" i="1" dirty="0"/>
              </a:p>
            </p:txBody>
          </p:sp>
        </p:grpSp>
        <p:cxnSp>
          <p:nvCxnSpPr>
            <p:cNvPr id="22" name="Lige forbindelse 21">
              <a:extLst>
                <a:ext uri="{FF2B5EF4-FFF2-40B4-BE49-F238E27FC236}">
                  <a16:creationId xmlns:a16="http://schemas.microsoft.com/office/drawing/2014/main" id="{D31E395E-EA72-C803-4BAF-88C87150BB42}"/>
                </a:ext>
              </a:extLst>
            </p:cNvPr>
            <p:cNvCxnSpPr/>
            <p:nvPr/>
          </p:nvCxnSpPr>
          <p:spPr>
            <a:xfrm flipH="1">
              <a:off x="5648944" y="3750380"/>
              <a:ext cx="648072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ge forbindelse 22">
              <a:extLst>
                <a:ext uri="{FF2B5EF4-FFF2-40B4-BE49-F238E27FC236}">
                  <a16:creationId xmlns:a16="http://schemas.microsoft.com/office/drawing/2014/main" id="{C3039547-FD08-C4BC-7E3C-93C6376AEA55}"/>
                </a:ext>
              </a:extLst>
            </p:cNvPr>
            <p:cNvCxnSpPr/>
            <p:nvPr/>
          </p:nvCxnSpPr>
          <p:spPr>
            <a:xfrm flipH="1">
              <a:off x="5648944" y="4784448"/>
              <a:ext cx="648072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Lige forbindelse 23">
              <a:extLst>
                <a:ext uri="{FF2B5EF4-FFF2-40B4-BE49-F238E27FC236}">
                  <a16:creationId xmlns:a16="http://schemas.microsoft.com/office/drawing/2014/main" id="{4DBADC4D-DC7B-F628-09D3-0AFB92848E61}"/>
                </a:ext>
              </a:extLst>
            </p:cNvPr>
            <p:cNvCxnSpPr>
              <a:cxnSpLocks/>
            </p:cNvCxnSpPr>
            <p:nvPr/>
          </p:nvCxnSpPr>
          <p:spPr>
            <a:xfrm>
              <a:off x="5652120" y="3769984"/>
              <a:ext cx="0" cy="995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Billede 1">
            <a:extLst>
              <a:ext uri="{FF2B5EF4-FFF2-40B4-BE49-F238E27FC236}">
                <a16:creationId xmlns:a16="http://schemas.microsoft.com/office/drawing/2014/main" id="{4AB5A799-6E81-A126-67CA-35636A132F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336" y="3998081"/>
            <a:ext cx="449165" cy="53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0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19E7B-E3B5-D5D3-E028-74376B50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EC5A318F-E62D-B7A8-1967-12FA7668E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03851"/>
            <a:ext cx="2778593" cy="1589045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92B32B6F-3C2D-5631-1FA3-AB4085193529}"/>
              </a:ext>
            </a:extLst>
          </p:cNvPr>
          <p:cNvSpPr/>
          <p:nvPr/>
        </p:nvSpPr>
        <p:spPr>
          <a:xfrm>
            <a:off x="539552" y="3694657"/>
            <a:ext cx="28603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/>
              <a:t>Mismatch </a:t>
            </a:r>
            <a:r>
              <a:rPr lang="el-GR" sz="1600" i="1" dirty="0"/>
              <a:t>Δ</a:t>
            </a:r>
            <a:r>
              <a:rPr lang="en-US" sz="1600" i="1" dirty="0"/>
              <a:t>V</a:t>
            </a:r>
            <a:r>
              <a:rPr lang="da-DK" sz="1600" i="1" dirty="0"/>
              <a:t> i indgangstrinet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B79710B4-DD9E-9E2D-4F95-94EB8DBD2886}"/>
              </a:ext>
            </a:extLst>
          </p:cNvPr>
          <p:cNvSpPr/>
          <p:nvPr/>
        </p:nvSpPr>
        <p:spPr>
          <a:xfrm>
            <a:off x="539553" y="4099014"/>
            <a:ext cx="30243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i="1" dirty="0"/>
              <a:t>Meget stor A</a:t>
            </a:r>
            <a:r>
              <a:rPr lang="da-DK" sz="1600" i="1" baseline="-25000" dirty="0"/>
              <a:t>OL</a:t>
            </a:r>
            <a:r>
              <a:rPr lang="da-DK" sz="1600" i="1" dirty="0"/>
              <a:t> (uden modkobling)</a:t>
            </a:r>
            <a:endParaRPr lang="da-DK" sz="1600" i="1" baseline="-25000" dirty="0"/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10ADC197-8F96-CC1D-8160-796461422BF7}"/>
              </a:ext>
            </a:extLst>
          </p:cNvPr>
          <p:cNvSpPr/>
          <p:nvPr/>
        </p:nvSpPr>
        <p:spPr>
          <a:xfrm rot="21237641">
            <a:off x="3807371" y="1249424"/>
            <a:ext cx="6480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200" i="1" dirty="0" err="1">
                <a:solidFill>
                  <a:srgbClr val="FF0000"/>
                </a:solidFill>
              </a:rPr>
              <a:t>V</a:t>
            </a:r>
            <a:r>
              <a:rPr lang="da-DK" sz="1200" i="1" baseline="-25000" dirty="0" err="1">
                <a:solidFill>
                  <a:srgbClr val="FF0000"/>
                </a:solidFill>
              </a:rPr>
              <a:t>o</a:t>
            </a:r>
            <a:r>
              <a:rPr lang="da-DK" sz="1200" i="1" baseline="30000" dirty="0" err="1">
                <a:solidFill>
                  <a:srgbClr val="FF0000"/>
                </a:solidFill>
              </a:rPr>
              <a:t>+</a:t>
            </a:r>
            <a:r>
              <a:rPr lang="da-DK" sz="1200" i="1" baseline="-25000" dirty="0" err="1">
                <a:solidFill>
                  <a:srgbClr val="FF0000"/>
                </a:solidFill>
              </a:rPr>
              <a:t>SAT</a:t>
            </a:r>
            <a:endParaRPr lang="da-DK" sz="1200" i="1" dirty="0">
              <a:solidFill>
                <a:srgbClr val="FF0000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E43986C9-6E34-8BE3-3F0C-79F58D412F71}"/>
              </a:ext>
            </a:extLst>
          </p:cNvPr>
          <p:cNvSpPr/>
          <p:nvPr/>
        </p:nvSpPr>
        <p:spPr>
          <a:xfrm rot="998560">
            <a:off x="3768341" y="1808638"/>
            <a:ext cx="6480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200" i="1" dirty="0">
                <a:solidFill>
                  <a:srgbClr val="FF0000"/>
                </a:solidFill>
              </a:rPr>
              <a:t>V</a:t>
            </a:r>
            <a:r>
              <a:rPr lang="da-DK" sz="1200" i="1" baseline="-25000" dirty="0">
                <a:solidFill>
                  <a:srgbClr val="FF0000"/>
                </a:solidFill>
              </a:rPr>
              <a:t>o</a:t>
            </a:r>
            <a:r>
              <a:rPr lang="da-DK" sz="1200" i="1" baseline="30000" dirty="0">
                <a:solidFill>
                  <a:srgbClr val="FF0000"/>
                </a:solidFill>
              </a:rPr>
              <a:t>-</a:t>
            </a:r>
            <a:r>
              <a:rPr lang="da-DK" sz="1200" i="1" baseline="-25000" dirty="0">
                <a:solidFill>
                  <a:srgbClr val="FF0000"/>
                </a:solidFill>
              </a:rPr>
              <a:t>SAT</a:t>
            </a:r>
            <a:endParaRPr lang="da-DK" sz="1200" i="1" dirty="0">
              <a:solidFill>
                <a:srgbClr val="FF0000"/>
              </a:solidFill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3CB65B32-E4A2-50C8-1447-3621E94F58E6}"/>
              </a:ext>
            </a:extLst>
          </p:cNvPr>
          <p:cNvSpPr/>
          <p:nvPr/>
        </p:nvSpPr>
        <p:spPr>
          <a:xfrm>
            <a:off x="1259632" y="116632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Praktisk Op Amp</a:t>
            </a:r>
          </a:p>
        </p:txBody>
      </p:sp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E33666AE-B665-1E3F-1822-EBA3B6AAA532}"/>
              </a:ext>
            </a:extLst>
          </p:cNvPr>
          <p:cNvCxnSpPr/>
          <p:nvPr/>
        </p:nvCxnSpPr>
        <p:spPr>
          <a:xfrm flipH="1">
            <a:off x="1453193" y="537718"/>
            <a:ext cx="231229" cy="5713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lede 13">
            <a:extLst>
              <a:ext uri="{FF2B5EF4-FFF2-40B4-BE49-F238E27FC236}">
                <a16:creationId xmlns:a16="http://schemas.microsoft.com/office/drawing/2014/main" id="{31114BD8-C07C-7B99-ED01-DCBE616987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2"/>
          <a:stretch/>
        </p:blipFill>
        <p:spPr>
          <a:xfrm>
            <a:off x="4737190" y="404664"/>
            <a:ext cx="4371314" cy="2580992"/>
          </a:xfrm>
          <a:prstGeom prst="rect">
            <a:avLst/>
          </a:prstGeom>
        </p:spPr>
      </p:pic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82F5C8FA-C0AA-2494-0B61-110AF4C4840A}"/>
              </a:ext>
            </a:extLst>
          </p:cNvPr>
          <p:cNvCxnSpPr>
            <a:cxnSpLocks/>
          </p:cNvCxnSpPr>
          <p:nvPr/>
        </p:nvCxnSpPr>
        <p:spPr>
          <a:xfrm flipV="1">
            <a:off x="3059832" y="1252791"/>
            <a:ext cx="4106681" cy="376009"/>
          </a:xfrm>
          <a:prstGeom prst="straightConnector1">
            <a:avLst/>
          </a:prstGeom>
          <a:ln w="952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F994D3BF-8EAB-91F6-6BC7-EA89B969FFD6}"/>
              </a:ext>
            </a:extLst>
          </p:cNvPr>
          <p:cNvCxnSpPr>
            <a:cxnSpLocks/>
          </p:cNvCxnSpPr>
          <p:nvPr/>
        </p:nvCxnSpPr>
        <p:spPr>
          <a:xfrm>
            <a:off x="3059832" y="1772816"/>
            <a:ext cx="2088232" cy="648072"/>
          </a:xfrm>
          <a:prstGeom prst="straightConnector1">
            <a:avLst/>
          </a:prstGeom>
          <a:ln w="9525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pe 26">
            <a:extLst>
              <a:ext uri="{FF2B5EF4-FFF2-40B4-BE49-F238E27FC236}">
                <a16:creationId xmlns:a16="http://schemas.microsoft.com/office/drawing/2014/main" id="{CAEDC801-D918-24F5-9CC7-801CD671B8C6}"/>
              </a:ext>
            </a:extLst>
          </p:cNvPr>
          <p:cNvGrpSpPr/>
          <p:nvPr/>
        </p:nvGrpSpPr>
        <p:grpSpPr>
          <a:xfrm>
            <a:off x="4572000" y="3356992"/>
            <a:ext cx="3285520" cy="2818281"/>
            <a:chOff x="5648944" y="3356992"/>
            <a:chExt cx="3285520" cy="2818281"/>
          </a:xfrm>
        </p:grpSpPr>
        <p:grpSp>
          <p:nvGrpSpPr>
            <p:cNvPr id="13" name="Gruppe 12">
              <a:extLst>
                <a:ext uri="{FF2B5EF4-FFF2-40B4-BE49-F238E27FC236}">
                  <a16:creationId xmlns:a16="http://schemas.microsoft.com/office/drawing/2014/main" id="{D1A3B653-637B-51AC-16F1-985FCEB68C16}"/>
                </a:ext>
              </a:extLst>
            </p:cNvPr>
            <p:cNvGrpSpPr/>
            <p:nvPr/>
          </p:nvGrpSpPr>
          <p:grpSpPr>
            <a:xfrm>
              <a:off x="5652120" y="3356992"/>
              <a:ext cx="3282344" cy="2818281"/>
              <a:chOff x="5525340" y="3356992"/>
              <a:chExt cx="3282344" cy="2818281"/>
            </a:xfrm>
          </p:grpSpPr>
          <p:pic>
            <p:nvPicPr>
              <p:cNvPr id="8" name="Billede 7">
                <a:extLst>
                  <a:ext uri="{FF2B5EF4-FFF2-40B4-BE49-F238E27FC236}">
                    <a16:creationId xmlns:a16="http://schemas.microsoft.com/office/drawing/2014/main" id="{07A1AB2A-B0C9-FEBB-0F7E-8C6DB7F24A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525340" y="3501008"/>
                <a:ext cx="3282344" cy="2674265"/>
              </a:xfrm>
              <a:prstGeom prst="rect">
                <a:avLst/>
              </a:prstGeom>
            </p:spPr>
          </p:pic>
          <p:sp>
            <p:nvSpPr>
              <p:cNvPr id="9" name="Rektangel 8">
                <a:extLst>
                  <a:ext uri="{FF2B5EF4-FFF2-40B4-BE49-F238E27FC236}">
                    <a16:creationId xmlns:a16="http://schemas.microsoft.com/office/drawing/2014/main" id="{F222FF92-63F8-FF6C-5E1F-EEE8BF88EB06}"/>
                  </a:ext>
                </a:extLst>
              </p:cNvPr>
              <p:cNvSpPr/>
              <p:nvPr/>
            </p:nvSpPr>
            <p:spPr>
              <a:xfrm>
                <a:off x="7225180" y="3356992"/>
                <a:ext cx="368966" cy="276999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l-GR" sz="1200" i="1" dirty="0"/>
                  <a:t>Δ</a:t>
                </a:r>
                <a:r>
                  <a:rPr lang="en-US" sz="1200" i="1" dirty="0"/>
                  <a:t>V</a:t>
                </a:r>
                <a:endParaRPr lang="da-DK" sz="1200" i="1" dirty="0"/>
              </a:p>
            </p:txBody>
          </p:sp>
        </p:grpSp>
        <p:cxnSp>
          <p:nvCxnSpPr>
            <p:cNvPr id="22" name="Lige forbindelse 21">
              <a:extLst>
                <a:ext uri="{FF2B5EF4-FFF2-40B4-BE49-F238E27FC236}">
                  <a16:creationId xmlns:a16="http://schemas.microsoft.com/office/drawing/2014/main" id="{E21F96D0-85E3-7F7A-3F99-8434A3A513E6}"/>
                </a:ext>
              </a:extLst>
            </p:cNvPr>
            <p:cNvCxnSpPr/>
            <p:nvPr/>
          </p:nvCxnSpPr>
          <p:spPr>
            <a:xfrm flipH="1">
              <a:off x="5648944" y="3750380"/>
              <a:ext cx="648072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ge forbindelse 22">
              <a:extLst>
                <a:ext uri="{FF2B5EF4-FFF2-40B4-BE49-F238E27FC236}">
                  <a16:creationId xmlns:a16="http://schemas.microsoft.com/office/drawing/2014/main" id="{65BB155C-BC9F-65E9-EB1F-D81D6F53229E}"/>
                </a:ext>
              </a:extLst>
            </p:cNvPr>
            <p:cNvCxnSpPr/>
            <p:nvPr/>
          </p:nvCxnSpPr>
          <p:spPr>
            <a:xfrm flipH="1">
              <a:off x="5648944" y="4784448"/>
              <a:ext cx="648072" cy="0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Lige forbindelse 23">
              <a:extLst>
                <a:ext uri="{FF2B5EF4-FFF2-40B4-BE49-F238E27FC236}">
                  <a16:creationId xmlns:a16="http://schemas.microsoft.com/office/drawing/2014/main" id="{EA96658F-521D-9CDB-7DA3-58855716D5F2}"/>
                </a:ext>
              </a:extLst>
            </p:cNvPr>
            <p:cNvCxnSpPr>
              <a:cxnSpLocks/>
            </p:cNvCxnSpPr>
            <p:nvPr/>
          </p:nvCxnSpPr>
          <p:spPr>
            <a:xfrm>
              <a:off x="5652120" y="3769984"/>
              <a:ext cx="0" cy="995408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1776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 txBox="1">
            <a:spLocks/>
          </p:cNvSpPr>
          <p:nvPr/>
        </p:nvSpPr>
        <p:spPr>
          <a:xfrm>
            <a:off x="251520" y="1268760"/>
            <a:ext cx="8496944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Hvad er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off</a:t>
            </a:r>
            <a:r>
              <a:rPr lang="da-DK" sz="2400" i="1" dirty="0"/>
              <a:t> for en størrelse – hvordan skal man tolke denne?</a:t>
            </a:r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35496" y="38528"/>
            <a:ext cx="3547120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Offsetspændingen </a:t>
            </a:r>
            <a:r>
              <a:rPr lang="da-DK" sz="2800" i="1" dirty="0" err="1"/>
              <a:t>V</a:t>
            </a:r>
            <a:r>
              <a:rPr lang="da-DK" sz="2800" i="1" baseline="-25000" dirty="0" err="1"/>
              <a:t>off</a:t>
            </a:r>
            <a:endParaRPr lang="da-DK" sz="2800" i="1" dirty="0"/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F34C625F-D26A-F8D9-B901-DB9EEFBCCCE9}"/>
              </a:ext>
            </a:extLst>
          </p:cNvPr>
          <p:cNvCxnSpPr>
            <a:cxnSpLocks/>
          </p:cNvCxnSpPr>
          <p:nvPr/>
        </p:nvCxnSpPr>
        <p:spPr>
          <a:xfrm>
            <a:off x="8100392" y="6634679"/>
            <a:ext cx="864096" cy="664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ktangel 3">
            <a:extLst>
              <a:ext uri="{FF2B5EF4-FFF2-40B4-BE49-F238E27FC236}">
                <a16:creationId xmlns:a16="http://schemas.microsoft.com/office/drawing/2014/main" id="{399184C4-5065-5D2D-0208-AFADCF9C3168}"/>
              </a:ext>
            </a:extLst>
          </p:cNvPr>
          <p:cNvSpPr/>
          <p:nvPr/>
        </p:nvSpPr>
        <p:spPr>
          <a:xfrm>
            <a:off x="7020272" y="6453336"/>
            <a:ext cx="1152128" cy="369332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Datablad</a:t>
            </a:r>
          </a:p>
        </p:txBody>
      </p:sp>
    </p:spTree>
    <p:extLst>
      <p:ext uri="{BB962C8B-B14F-4D97-AF65-F5344CB8AC3E}">
        <p14:creationId xmlns:p14="http://schemas.microsoft.com/office/powerpoint/2010/main" val="2519730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4113F517-3995-2009-7AC5-89702853CFB3}"/>
              </a:ext>
            </a:extLst>
          </p:cNvPr>
          <p:cNvGrpSpPr/>
          <p:nvPr/>
        </p:nvGrpSpPr>
        <p:grpSpPr>
          <a:xfrm>
            <a:off x="1802320" y="404664"/>
            <a:ext cx="5539360" cy="6093296"/>
            <a:chOff x="1802320" y="404664"/>
            <a:chExt cx="5539360" cy="6093296"/>
          </a:xfrm>
        </p:grpSpPr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DAA8C124-77AB-4473-8244-86E245CC9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2320" y="404664"/>
              <a:ext cx="5539360" cy="6093296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661615B2-F39E-48A7-D98E-6F53021CF734}"/>
                </a:ext>
              </a:extLst>
            </p:cNvPr>
            <p:cNvSpPr/>
            <p:nvPr/>
          </p:nvSpPr>
          <p:spPr>
            <a:xfrm>
              <a:off x="1835696" y="1685623"/>
              <a:ext cx="5472608" cy="45823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107101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>
            <a:extLst>
              <a:ext uri="{FF2B5EF4-FFF2-40B4-BE49-F238E27FC236}">
                <a16:creationId xmlns:a16="http://schemas.microsoft.com/office/drawing/2014/main" id="{9BC7DED8-D3A1-40CD-8B77-CC8BB1982258}"/>
              </a:ext>
            </a:extLst>
          </p:cNvPr>
          <p:cNvGrpSpPr/>
          <p:nvPr/>
        </p:nvGrpSpPr>
        <p:grpSpPr>
          <a:xfrm>
            <a:off x="1979712" y="2420888"/>
            <a:ext cx="4536504" cy="2681752"/>
            <a:chOff x="971600" y="2754045"/>
            <a:chExt cx="4536504" cy="2681752"/>
          </a:xfrm>
        </p:grpSpPr>
        <p:pic>
          <p:nvPicPr>
            <p:cNvPr id="4" name="Billede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600" y="3500312"/>
              <a:ext cx="3384376" cy="1935485"/>
            </a:xfrm>
            <a:prstGeom prst="rect">
              <a:avLst/>
            </a:prstGeom>
          </p:spPr>
        </p:pic>
        <p:sp>
          <p:nvSpPr>
            <p:cNvPr id="5" name="Rektangel 4"/>
            <p:cNvSpPr/>
            <p:nvPr/>
          </p:nvSpPr>
          <p:spPr>
            <a:xfrm>
              <a:off x="3027587" y="2754045"/>
              <a:ext cx="15841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1600" i="1" dirty="0"/>
                <a:t>Praktisk Op Amp</a:t>
              </a:r>
            </a:p>
          </p:txBody>
        </p:sp>
        <p:cxnSp>
          <p:nvCxnSpPr>
            <p:cNvPr id="6" name="Lige pilforbindelse 5"/>
            <p:cNvCxnSpPr>
              <a:cxnSpLocks/>
            </p:cNvCxnSpPr>
            <p:nvPr/>
          </p:nvCxnSpPr>
          <p:spPr>
            <a:xfrm flipH="1">
              <a:off x="2578463" y="3038995"/>
              <a:ext cx="481369" cy="6035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/>
            <p:cNvSpPr/>
            <p:nvPr/>
          </p:nvSpPr>
          <p:spPr>
            <a:xfrm>
              <a:off x="1656627" y="3728343"/>
              <a:ext cx="358138" cy="3581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400"/>
            </a:p>
          </p:txBody>
        </p:sp>
        <p:sp>
          <p:nvSpPr>
            <p:cNvPr id="11" name="Rektangel 10"/>
            <p:cNvSpPr/>
            <p:nvPr/>
          </p:nvSpPr>
          <p:spPr>
            <a:xfrm>
              <a:off x="1475656" y="3149029"/>
              <a:ext cx="792088" cy="461665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da-DK" sz="2400" i="1" dirty="0" err="1"/>
                <a:t>V</a:t>
              </a:r>
              <a:r>
                <a:rPr lang="da-DK" sz="2400" i="1" baseline="-25000" dirty="0" err="1"/>
                <a:t>off</a:t>
              </a:r>
              <a:endParaRPr lang="da-DK" sz="2400" i="1" dirty="0"/>
            </a:p>
          </p:txBody>
        </p:sp>
        <p:cxnSp>
          <p:nvCxnSpPr>
            <p:cNvPr id="12" name="Lige pilforbindelse 11"/>
            <p:cNvCxnSpPr/>
            <p:nvPr/>
          </p:nvCxnSpPr>
          <p:spPr>
            <a:xfrm>
              <a:off x="1543851" y="3646612"/>
              <a:ext cx="574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ktangel 12"/>
            <p:cNvSpPr/>
            <p:nvPr/>
          </p:nvSpPr>
          <p:spPr>
            <a:xfrm>
              <a:off x="4211960" y="4468054"/>
              <a:ext cx="1296144" cy="461665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da-DK" sz="2400" i="1" dirty="0">
                  <a:solidFill>
                    <a:srgbClr val="FF0000"/>
                  </a:solidFill>
                </a:rPr>
                <a:t>V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o</a:t>
              </a:r>
              <a:r>
                <a:rPr lang="da-DK" sz="2400" i="1" dirty="0">
                  <a:solidFill>
                    <a:srgbClr val="FF0000"/>
                  </a:solidFill>
                </a:rPr>
                <a:t> = 0 V</a:t>
              </a:r>
            </a:p>
          </p:txBody>
        </p:sp>
      </p:grpSp>
      <p:sp>
        <p:nvSpPr>
          <p:cNvPr id="14" name="Titel 1"/>
          <p:cNvSpPr txBox="1">
            <a:spLocks/>
          </p:cNvSpPr>
          <p:nvPr/>
        </p:nvSpPr>
        <p:spPr>
          <a:xfrm>
            <a:off x="179512" y="5939698"/>
            <a:ext cx="7560840" cy="657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 err="1">
                <a:solidFill>
                  <a:srgbClr val="FF0000"/>
                </a:solidFill>
              </a:rPr>
              <a:t>V</a:t>
            </a:r>
            <a:r>
              <a:rPr lang="da-DK" sz="2400" i="1" baseline="-25000" dirty="0" err="1">
                <a:solidFill>
                  <a:srgbClr val="FF0000"/>
                </a:solidFill>
              </a:rPr>
              <a:t>off</a:t>
            </a:r>
            <a:r>
              <a:rPr lang="da-DK" sz="2400" i="1" dirty="0">
                <a:solidFill>
                  <a:srgbClr val="FF0000"/>
                </a:solidFill>
              </a:rPr>
              <a:t> ”ophæver” Op </a:t>
            </a:r>
            <a:r>
              <a:rPr lang="da-DK" sz="2400" i="1" dirty="0" err="1">
                <a:solidFill>
                  <a:srgbClr val="FF0000"/>
                </a:solidFill>
              </a:rPr>
              <a:t>Amp’ens</a:t>
            </a:r>
            <a:r>
              <a:rPr lang="da-DK" sz="2400" i="1" dirty="0">
                <a:solidFill>
                  <a:srgbClr val="FF0000"/>
                </a:solidFill>
              </a:rPr>
              <a:t> egen indgangsoffsetspænding</a:t>
            </a:r>
            <a:endParaRPr lang="da-DK" sz="2400" baseline="-25000" dirty="0">
              <a:solidFill>
                <a:srgbClr val="FF0000"/>
              </a:solidFill>
            </a:endParaRPr>
          </a:p>
        </p:txBody>
      </p:sp>
      <p:sp>
        <p:nvSpPr>
          <p:cNvPr id="15" name="Titel 1"/>
          <p:cNvSpPr txBox="1">
            <a:spLocks/>
          </p:cNvSpPr>
          <p:nvPr/>
        </p:nvSpPr>
        <p:spPr>
          <a:xfrm>
            <a:off x="251520" y="1268760"/>
            <a:ext cx="8496944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Hvad er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off</a:t>
            </a:r>
            <a:r>
              <a:rPr lang="da-DK" sz="2400" i="1" dirty="0"/>
              <a:t> for en størrelse – hvordan skal man tolke denne?</a:t>
            </a:r>
          </a:p>
        </p:txBody>
      </p:sp>
      <p:sp>
        <p:nvSpPr>
          <p:cNvPr id="17" name="Titel 1"/>
          <p:cNvSpPr txBox="1">
            <a:spLocks/>
          </p:cNvSpPr>
          <p:nvPr/>
        </p:nvSpPr>
        <p:spPr>
          <a:xfrm>
            <a:off x="35496" y="38528"/>
            <a:ext cx="3547120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Offsetspændingen </a:t>
            </a:r>
            <a:r>
              <a:rPr lang="da-DK" sz="2800" i="1" dirty="0" err="1"/>
              <a:t>V</a:t>
            </a:r>
            <a:r>
              <a:rPr lang="da-DK" sz="2800" i="1" baseline="-25000" dirty="0" err="1"/>
              <a:t>off</a:t>
            </a:r>
            <a:endParaRPr lang="da-DK" sz="2800" i="1" dirty="0"/>
          </a:p>
        </p:txBody>
      </p:sp>
    </p:spTree>
    <p:extLst>
      <p:ext uri="{BB962C8B-B14F-4D97-AF65-F5344CB8AC3E}">
        <p14:creationId xmlns:p14="http://schemas.microsoft.com/office/powerpoint/2010/main" val="3366748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539552" y="1988840"/>
            <a:ext cx="482453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431925" algn="l"/>
              </a:tabLst>
            </a:pPr>
            <a:r>
              <a:rPr lang="da-DK" sz="2400" b="1" i="1" dirty="0"/>
              <a:t>Singulær:	</a:t>
            </a:r>
            <a:r>
              <a:rPr lang="da-DK" sz="2400" i="1" dirty="0"/>
              <a:t>Kan </a:t>
            </a:r>
            <a:r>
              <a:rPr lang="da-DK" sz="2400" b="1" i="1" dirty="0"/>
              <a:t>ikke</a:t>
            </a:r>
            <a:r>
              <a:rPr lang="da-DK" sz="2400" i="1" dirty="0"/>
              <a:t> skifte fortegn</a:t>
            </a:r>
            <a:endParaRPr lang="da-DK" sz="2400" dirty="0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539552" y="5301208"/>
            <a:ext cx="208823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076325" algn="l"/>
              </a:tabLst>
            </a:pPr>
            <a:r>
              <a:rPr lang="da-DK" sz="2400" b="1" i="1" dirty="0" err="1"/>
              <a:t>V</a:t>
            </a:r>
            <a:r>
              <a:rPr lang="da-DK" sz="2400" b="1" i="1" baseline="-25000" dirty="0" err="1"/>
              <a:t>off</a:t>
            </a:r>
            <a:r>
              <a:rPr lang="da-DK" sz="2400" b="1" i="1" dirty="0"/>
              <a:t> :	Dual</a:t>
            </a:r>
            <a:endParaRPr lang="da-DK" sz="2400" b="1" dirty="0"/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539552" y="1196752"/>
            <a:ext cx="6264696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431925" algn="l"/>
              </a:tabLst>
            </a:pPr>
            <a:r>
              <a:rPr lang="da-DK" sz="2400" b="1" i="1" dirty="0"/>
              <a:t>Dual:	</a:t>
            </a:r>
            <a:r>
              <a:rPr lang="da-DK" sz="2400" i="1" dirty="0"/>
              <a:t>Kan være </a:t>
            </a:r>
            <a:r>
              <a:rPr lang="da-DK" sz="2400" b="1" i="1" dirty="0"/>
              <a:t>enten</a:t>
            </a:r>
            <a:r>
              <a:rPr lang="da-DK" sz="2400" i="1" dirty="0"/>
              <a:t> positiv eller negativ</a:t>
            </a:r>
            <a:endParaRPr lang="da-DK" sz="2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4805328-E642-472C-A084-B214134EF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38528"/>
            <a:ext cx="6005175" cy="432805"/>
          </a:xfrm>
        </p:spPr>
        <p:txBody>
          <a:bodyPr>
            <a:noAutofit/>
          </a:bodyPr>
          <a:lstStyle/>
          <a:p>
            <a:pPr algn="l"/>
            <a:r>
              <a:rPr lang="da-DK" sz="2800" b="1" i="1" dirty="0"/>
              <a:t>Dual </a:t>
            </a:r>
            <a:r>
              <a:rPr lang="da-DK" sz="2800" i="1" dirty="0"/>
              <a:t>henholdsvis </a:t>
            </a:r>
            <a:r>
              <a:rPr lang="da-DK" sz="2800" b="1" i="1" dirty="0"/>
              <a:t>singulær </a:t>
            </a:r>
            <a:r>
              <a:rPr lang="da-DK" sz="2800" i="1" dirty="0"/>
              <a:t>størrelse?</a:t>
            </a:r>
            <a:endParaRPr lang="da-DK" sz="2800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9140F31F-AD76-E8D6-9C3D-D8C675AC6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1920" y="2780928"/>
            <a:ext cx="4680519" cy="365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34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C98EE615-0B92-44EB-4323-F365EBFB8863}"/>
              </a:ext>
            </a:extLst>
          </p:cNvPr>
          <p:cNvGrpSpPr/>
          <p:nvPr/>
        </p:nvGrpSpPr>
        <p:grpSpPr>
          <a:xfrm>
            <a:off x="1454727" y="288032"/>
            <a:ext cx="6234546" cy="3645024"/>
            <a:chOff x="1454727" y="288032"/>
            <a:chExt cx="6234546" cy="3645024"/>
          </a:xfrm>
        </p:grpSpPr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DAA8C124-77AB-4473-8244-86E245CC99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6850"/>
            <a:stretch/>
          </p:blipFill>
          <p:spPr>
            <a:xfrm>
              <a:off x="1454727" y="288032"/>
              <a:ext cx="6234546" cy="3645024"/>
            </a:xfrm>
            <a:prstGeom prst="rect">
              <a:avLst/>
            </a:prstGeom>
          </p:spPr>
        </p:pic>
        <p:sp>
          <p:nvSpPr>
            <p:cNvPr id="2" name="Rektangel 1">
              <a:extLst>
                <a:ext uri="{FF2B5EF4-FFF2-40B4-BE49-F238E27FC236}">
                  <a16:creationId xmlns:a16="http://schemas.microsoft.com/office/drawing/2014/main" id="{661615B2-F39E-48A7-D98E-6F53021CF734}"/>
                </a:ext>
              </a:extLst>
            </p:cNvPr>
            <p:cNvSpPr/>
            <p:nvPr/>
          </p:nvSpPr>
          <p:spPr>
            <a:xfrm>
              <a:off x="1475656" y="1760542"/>
              <a:ext cx="6192688" cy="4320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7" name="Titel 1">
            <a:extLst>
              <a:ext uri="{FF2B5EF4-FFF2-40B4-BE49-F238E27FC236}">
                <a16:creationId xmlns:a16="http://schemas.microsoft.com/office/drawing/2014/main" id="{9D798839-9E84-39AA-D4C3-5E2282390435}"/>
              </a:ext>
            </a:extLst>
          </p:cNvPr>
          <p:cNvSpPr txBox="1">
            <a:spLocks/>
          </p:cNvSpPr>
          <p:nvPr/>
        </p:nvSpPr>
        <p:spPr>
          <a:xfrm>
            <a:off x="4283968" y="5072091"/>
            <a:ext cx="864096" cy="324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± 6,0 mV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FA3880C-33EC-D050-5F72-D8A857CD7D34}"/>
              </a:ext>
            </a:extLst>
          </p:cNvPr>
          <p:cNvSpPr txBox="1">
            <a:spLocks/>
          </p:cNvSpPr>
          <p:nvPr/>
        </p:nvSpPr>
        <p:spPr>
          <a:xfrm>
            <a:off x="1006955" y="5013176"/>
            <a:ext cx="2592289" cy="4418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Max værdi for </a:t>
            </a:r>
            <a:r>
              <a:rPr lang="da-DK" sz="1400" i="1" dirty="0" err="1"/>
              <a:t>V</a:t>
            </a:r>
            <a:r>
              <a:rPr lang="da-DK" sz="1400" i="1" baseline="-25000" dirty="0" err="1"/>
              <a:t>off</a:t>
            </a:r>
            <a:r>
              <a:rPr lang="da-DK" sz="1400" i="1" dirty="0"/>
              <a:t> for en </a:t>
            </a:r>
            <a:r>
              <a:rPr lang="el-GR" sz="1400" i="1" dirty="0"/>
              <a:t>μ</a:t>
            </a:r>
            <a:r>
              <a:rPr lang="da-DK" sz="1400" i="1" dirty="0"/>
              <a:t>A741C:</a:t>
            </a:r>
            <a:endParaRPr lang="da-DK" sz="1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E15FE60-7BFE-2E9F-EEC9-697E482DA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955" y="4370013"/>
            <a:ext cx="2736304" cy="458233"/>
          </a:xfrm>
        </p:spPr>
        <p:txBody>
          <a:bodyPr>
            <a:noAutofit/>
          </a:bodyPr>
          <a:lstStyle/>
          <a:p>
            <a:pPr algn="l"/>
            <a:r>
              <a:rPr lang="da-DK" sz="1400" i="1" dirty="0"/>
              <a:t>Typisk værdi for </a:t>
            </a:r>
            <a:r>
              <a:rPr lang="da-DK" sz="1400" i="1" dirty="0" err="1"/>
              <a:t>V</a:t>
            </a:r>
            <a:r>
              <a:rPr lang="da-DK" sz="1400" i="1" baseline="-25000" dirty="0" err="1"/>
              <a:t>off</a:t>
            </a:r>
            <a:r>
              <a:rPr lang="da-DK" sz="1400" i="1" dirty="0"/>
              <a:t> for en </a:t>
            </a:r>
            <a:r>
              <a:rPr lang="el-GR" sz="1400" i="1" dirty="0"/>
              <a:t>μ</a:t>
            </a:r>
            <a:r>
              <a:rPr lang="da-DK" sz="1400" i="1" dirty="0"/>
              <a:t>A741C:</a:t>
            </a:r>
            <a:endParaRPr lang="da-DK" sz="1400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0FC33FDC-4C3C-7BB2-28DF-E3B0E3A0C6BB}"/>
              </a:ext>
            </a:extLst>
          </p:cNvPr>
          <p:cNvSpPr txBox="1">
            <a:spLocks/>
          </p:cNvSpPr>
          <p:nvPr/>
        </p:nvSpPr>
        <p:spPr>
          <a:xfrm>
            <a:off x="4283968" y="4437111"/>
            <a:ext cx="864096" cy="324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± 2,0 mV</a:t>
            </a:r>
          </a:p>
        </p:txBody>
      </p:sp>
    </p:spTree>
    <p:extLst>
      <p:ext uri="{BB962C8B-B14F-4D97-AF65-F5344CB8AC3E}">
        <p14:creationId xmlns:p14="http://schemas.microsoft.com/office/powerpoint/2010/main" val="2574819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t="3970" r="1429" b="4744"/>
          <a:stretch/>
        </p:blipFill>
        <p:spPr>
          <a:xfrm>
            <a:off x="1979711" y="1196753"/>
            <a:ext cx="4752529" cy="3312368"/>
          </a:xfrm>
          <a:prstGeom prst="rect">
            <a:avLst/>
          </a:prstGeom>
        </p:spPr>
      </p:pic>
      <p:sp>
        <p:nvSpPr>
          <p:cNvPr id="5" name="Rektangel 4"/>
          <p:cNvSpPr/>
          <p:nvPr/>
        </p:nvSpPr>
        <p:spPr>
          <a:xfrm>
            <a:off x="107504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5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251520" y="559004"/>
            <a:ext cx="84249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/>
              <a:t>Betragt følgende ideelle Op Amp med de to påtrykte spændinger V</a:t>
            </a:r>
            <a:r>
              <a:rPr lang="da-DK" sz="1600" baseline="-25000" dirty="0"/>
              <a:t>f1</a:t>
            </a:r>
            <a:r>
              <a:rPr lang="da-DK" sz="1600" dirty="0"/>
              <a:t> og V</a:t>
            </a:r>
            <a:r>
              <a:rPr lang="da-DK" sz="1600" baseline="-25000" dirty="0"/>
              <a:t>f2</a:t>
            </a:r>
            <a:endParaRPr lang="da-DK" sz="1700" dirty="0"/>
          </a:p>
        </p:txBody>
      </p:sp>
    </p:spTree>
    <p:extLst>
      <p:ext uri="{BB962C8B-B14F-4D97-AF65-F5344CB8AC3E}">
        <p14:creationId xmlns:p14="http://schemas.microsoft.com/office/powerpoint/2010/main" val="492509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t="3970" r="1429" b="4744"/>
          <a:stretch/>
        </p:blipFill>
        <p:spPr>
          <a:xfrm>
            <a:off x="1979711" y="1196753"/>
            <a:ext cx="4752529" cy="3312368"/>
          </a:xfrm>
          <a:prstGeom prst="rect">
            <a:avLst/>
          </a:prstGeom>
        </p:spPr>
      </p:pic>
      <p:sp>
        <p:nvSpPr>
          <p:cNvPr id="5" name="Rektangel 4"/>
          <p:cNvSpPr/>
          <p:nvPr/>
        </p:nvSpPr>
        <p:spPr>
          <a:xfrm>
            <a:off x="107504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5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251520" y="559004"/>
            <a:ext cx="84249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/>
              <a:t>Betragt følgende ideelle Op Amp med de to påtrykte spændinger V</a:t>
            </a:r>
            <a:r>
              <a:rPr lang="da-DK" sz="1600" baseline="-25000" dirty="0"/>
              <a:t>f1</a:t>
            </a:r>
            <a:r>
              <a:rPr lang="da-DK" sz="1600" dirty="0"/>
              <a:t> og V</a:t>
            </a:r>
            <a:r>
              <a:rPr lang="da-DK" sz="1600" baseline="-25000" dirty="0"/>
              <a:t>f2</a:t>
            </a:r>
            <a:endParaRPr lang="da-DK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ktangel 6"/>
              <p:cNvSpPr/>
              <p:nvPr/>
            </p:nvSpPr>
            <p:spPr>
              <a:xfrm>
                <a:off x="2699789" y="4581128"/>
                <a:ext cx="3312372" cy="5397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da-DK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2000" i="0" smtClean="0"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da-DK" sz="200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a:rPr lang="da-DK" sz="2000" i="0" smtClean="0">
                        <a:latin typeface="Cambria Math" panose="02040503050406030204" pitchFamily="18" charset="0"/>
                      </a:rPr>
                      <m:t> ∙ </m:t>
                    </m:r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da-DK" sz="20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sz="2000" i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2000" i="0" smtClean="0"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da-DK" sz="200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a:rPr lang="da-DK" sz="2000" i="0" smtClean="0">
                        <a:latin typeface="Cambria Math" panose="02040503050406030204" pitchFamily="18" charset="0"/>
                      </a:rPr>
                      <m:t> ∙ </m:t>
                    </m:r>
                    <m:sSub>
                      <m:sSubPr>
                        <m:ctrlPr>
                          <a:rPr lang="da-DK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2000" i="0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da-DK" sz="200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a-DK" sz="2000" dirty="0"/>
              </a:p>
            </p:txBody>
          </p:sp>
        </mc:Choice>
        <mc:Fallback xmlns="">
          <p:sp>
            <p:nvSpPr>
              <p:cNvPr id="7" name="Rektange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89" y="4581128"/>
                <a:ext cx="3312372" cy="539763"/>
              </a:xfrm>
              <a:prstGeom prst="rect">
                <a:avLst/>
              </a:prstGeom>
              <a:blipFill rotWithShape="0">
                <a:blip r:embed="rId3"/>
                <a:stretch>
                  <a:fillRect b="-786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ktangel 9"/>
          <p:cNvSpPr/>
          <p:nvPr/>
        </p:nvSpPr>
        <p:spPr>
          <a:xfrm>
            <a:off x="251520" y="5754742"/>
            <a:ext cx="84249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1600" dirty="0"/>
              <a:t>Find α</a:t>
            </a:r>
            <a:r>
              <a:rPr lang="da-DK" sz="1600" baseline="-25000" dirty="0"/>
              <a:t>1</a:t>
            </a:r>
            <a:r>
              <a:rPr lang="da-DK" sz="1600" dirty="0"/>
              <a:t> og α</a:t>
            </a:r>
            <a:r>
              <a:rPr lang="da-DK" sz="1600" baseline="-25000" dirty="0"/>
              <a:t>2</a:t>
            </a:r>
            <a:r>
              <a:rPr lang="da-DK" sz="1600" dirty="0"/>
              <a:t> og vurdér herefter forstærkningen af de to spændinger til udgangen.</a:t>
            </a:r>
            <a:endParaRPr lang="da-DK" sz="1700" dirty="0"/>
          </a:p>
        </p:txBody>
      </p:sp>
      <p:cxnSp>
        <p:nvCxnSpPr>
          <p:cNvPr id="12" name="Lige pilforbindelse 11"/>
          <p:cNvCxnSpPr>
            <a:cxnSpLocks/>
          </p:cNvCxnSpPr>
          <p:nvPr/>
        </p:nvCxnSpPr>
        <p:spPr>
          <a:xfrm>
            <a:off x="5931768" y="4871743"/>
            <a:ext cx="2600672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6012160" y="4549401"/>
            <a:ext cx="2448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400" i="1" dirty="0">
                <a:solidFill>
                  <a:srgbClr val="FF0000"/>
                </a:solidFill>
              </a:rPr>
              <a:t>Feedback system på tavle</a:t>
            </a:r>
          </a:p>
        </p:txBody>
      </p:sp>
    </p:spTree>
    <p:extLst>
      <p:ext uri="{BB962C8B-B14F-4D97-AF65-F5344CB8AC3E}">
        <p14:creationId xmlns:p14="http://schemas.microsoft.com/office/powerpoint/2010/main" val="2260256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/>
          <p:cNvGrpSpPr/>
          <p:nvPr/>
        </p:nvGrpSpPr>
        <p:grpSpPr>
          <a:xfrm>
            <a:off x="1475656" y="1556792"/>
            <a:ext cx="2279091" cy="2101138"/>
            <a:chOff x="1475656" y="1870225"/>
            <a:chExt cx="2279091" cy="2101138"/>
          </a:xfrm>
        </p:grpSpPr>
        <p:pic>
          <p:nvPicPr>
            <p:cNvPr id="3" name="Billed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656" y="2170146"/>
              <a:ext cx="2279091" cy="1801217"/>
            </a:xfrm>
            <a:prstGeom prst="rect">
              <a:avLst/>
            </a:prstGeom>
          </p:spPr>
        </p:pic>
        <p:cxnSp>
          <p:nvCxnSpPr>
            <p:cNvPr id="11" name="Lige pilforbindelse 10"/>
            <p:cNvCxnSpPr/>
            <p:nvPr/>
          </p:nvCxnSpPr>
          <p:spPr>
            <a:xfrm>
              <a:off x="1907704" y="2492896"/>
              <a:ext cx="28803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itel 1"/>
            <p:cNvSpPr txBox="1">
              <a:spLocks/>
            </p:cNvSpPr>
            <p:nvPr/>
          </p:nvSpPr>
          <p:spPr>
            <a:xfrm>
              <a:off x="1719217" y="1870225"/>
              <a:ext cx="648072" cy="7200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000" b="1" i="1" dirty="0" err="1"/>
                <a:t>V</a:t>
              </a:r>
              <a:r>
                <a:rPr lang="da-DK" sz="2000" b="1" i="1" baseline="-25000" dirty="0" err="1"/>
                <a:t>off</a:t>
              </a:r>
              <a:endParaRPr lang="da-DK" sz="2000" dirty="0"/>
            </a:p>
          </p:txBody>
        </p:sp>
      </p:grpSp>
      <p:grpSp>
        <p:nvGrpSpPr>
          <p:cNvPr id="8" name="Gruppe 7"/>
          <p:cNvGrpSpPr/>
          <p:nvPr/>
        </p:nvGrpSpPr>
        <p:grpSpPr>
          <a:xfrm>
            <a:off x="5148064" y="1556792"/>
            <a:ext cx="2279091" cy="2101137"/>
            <a:chOff x="5148064" y="1870225"/>
            <a:chExt cx="2279091" cy="2101137"/>
          </a:xfrm>
        </p:grpSpPr>
        <p:pic>
          <p:nvPicPr>
            <p:cNvPr id="6" name="Billed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064" y="2170145"/>
              <a:ext cx="2279091" cy="1801217"/>
            </a:xfrm>
            <a:prstGeom prst="rect">
              <a:avLst/>
            </a:prstGeom>
          </p:spPr>
        </p:pic>
        <p:cxnSp>
          <p:nvCxnSpPr>
            <p:cNvPr id="15" name="Lige pilforbindelse 14"/>
            <p:cNvCxnSpPr/>
            <p:nvPr/>
          </p:nvCxnSpPr>
          <p:spPr>
            <a:xfrm flipH="1">
              <a:off x="5537777" y="2492896"/>
              <a:ext cx="28803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itel 1"/>
            <p:cNvSpPr txBox="1">
              <a:spLocks/>
            </p:cNvSpPr>
            <p:nvPr/>
          </p:nvSpPr>
          <p:spPr>
            <a:xfrm>
              <a:off x="5328084" y="1870225"/>
              <a:ext cx="648072" cy="7200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000" b="1" i="1" dirty="0" err="1"/>
                <a:t>V</a:t>
              </a:r>
              <a:r>
                <a:rPr lang="da-DK" sz="2000" b="1" i="1" baseline="-25000" dirty="0" err="1"/>
                <a:t>off</a:t>
              </a:r>
              <a:endParaRPr lang="da-DK" sz="2000" dirty="0"/>
            </a:p>
          </p:txBody>
        </p:sp>
      </p:grpSp>
      <p:grpSp>
        <p:nvGrpSpPr>
          <p:cNvPr id="12" name="Gruppe 11"/>
          <p:cNvGrpSpPr/>
          <p:nvPr/>
        </p:nvGrpSpPr>
        <p:grpSpPr>
          <a:xfrm>
            <a:off x="5148064" y="4293096"/>
            <a:ext cx="2222347" cy="2016225"/>
            <a:chOff x="5148064" y="4437111"/>
            <a:chExt cx="2222347" cy="2016225"/>
          </a:xfrm>
        </p:grpSpPr>
        <p:pic>
          <p:nvPicPr>
            <p:cNvPr id="7" name="Billed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8064" y="4437111"/>
              <a:ext cx="2222347" cy="1801217"/>
            </a:xfrm>
            <a:prstGeom prst="rect">
              <a:avLst/>
            </a:prstGeom>
          </p:spPr>
        </p:pic>
        <p:cxnSp>
          <p:nvCxnSpPr>
            <p:cNvPr id="14" name="Lige pilforbindelse 13"/>
            <p:cNvCxnSpPr/>
            <p:nvPr/>
          </p:nvCxnSpPr>
          <p:spPr>
            <a:xfrm flipH="1">
              <a:off x="5508104" y="5889104"/>
              <a:ext cx="28803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itel 1"/>
            <p:cNvSpPr txBox="1">
              <a:spLocks/>
            </p:cNvSpPr>
            <p:nvPr/>
          </p:nvSpPr>
          <p:spPr>
            <a:xfrm>
              <a:off x="5357757" y="5733256"/>
              <a:ext cx="648072" cy="7200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000" b="1" i="1" dirty="0" err="1"/>
                <a:t>V</a:t>
              </a:r>
              <a:r>
                <a:rPr lang="da-DK" sz="2000" b="1" i="1" baseline="-25000" dirty="0" err="1"/>
                <a:t>off</a:t>
              </a:r>
              <a:endParaRPr lang="da-DK" sz="2000" dirty="0"/>
            </a:p>
          </p:txBody>
        </p:sp>
      </p:grpSp>
      <p:grpSp>
        <p:nvGrpSpPr>
          <p:cNvPr id="10" name="Gruppe 9"/>
          <p:cNvGrpSpPr/>
          <p:nvPr/>
        </p:nvGrpSpPr>
        <p:grpSpPr>
          <a:xfrm>
            <a:off x="1532400" y="4293097"/>
            <a:ext cx="2222347" cy="2016224"/>
            <a:chOff x="1532400" y="4437112"/>
            <a:chExt cx="2222347" cy="2016224"/>
          </a:xfrm>
        </p:grpSpPr>
        <p:pic>
          <p:nvPicPr>
            <p:cNvPr id="5" name="Billed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2400" y="4437112"/>
              <a:ext cx="2222347" cy="1801217"/>
            </a:xfrm>
            <a:prstGeom prst="rect">
              <a:avLst/>
            </a:prstGeom>
          </p:spPr>
        </p:pic>
        <p:cxnSp>
          <p:nvCxnSpPr>
            <p:cNvPr id="9" name="Lige pilforbindelse 8"/>
            <p:cNvCxnSpPr/>
            <p:nvPr/>
          </p:nvCxnSpPr>
          <p:spPr>
            <a:xfrm>
              <a:off x="1907704" y="5877272"/>
              <a:ext cx="28803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itel 1"/>
            <p:cNvSpPr txBox="1">
              <a:spLocks/>
            </p:cNvSpPr>
            <p:nvPr/>
          </p:nvSpPr>
          <p:spPr>
            <a:xfrm>
              <a:off x="1719217" y="5733256"/>
              <a:ext cx="648072" cy="7200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000" b="1" i="1" dirty="0" err="1"/>
                <a:t>V</a:t>
              </a:r>
              <a:r>
                <a:rPr lang="da-DK" sz="2000" b="1" i="1" baseline="-25000" dirty="0" err="1"/>
                <a:t>off</a:t>
              </a:r>
              <a:endParaRPr lang="da-DK" sz="2000" dirty="0"/>
            </a:p>
          </p:txBody>
        </p:sp>
      </p:grpSp>
      <p:sp>
        <p:nvSpPr>
          <p:cNvPr id="20" name="Titel 1"/>
          <p:cNvSpPr txBox="1">
            <a:spLocks/>
          </p:cNvSpPr>
          <p:nvPr/>
        </p:nvSpPr>
        <p:spPr>
          <a:xfrm>
            <a:off x="35497" y="32432"/>
            <a:ext cx="561662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Placering af </a:t>
            </a:r>
            <a:r>
              <a:rPr lang="da-DK" sz="2800" i="1" dirty="0" err="1"/>
              <a:t>V</a:t>
            </a:r>
            <a:r>
              <a:rPr lang="da-DK" sz="2800" i="1" baseline="-25000" dirty="0" err="1"/>
              <a:t>off</a:t>
            </a:r>
            <a:r>
              <a:rPr lang="da-DK" sz="2800" i="1" dirty="0"/>
              <a:t> i ækvivalent diagram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2126283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5496" y="44624"/>
            <a:ext cx="2002258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Eksempel:</a:t>
            </a:r>
            <a:endParaRPr lang="da-DK" sz="2800" i="1" baseline="-25000" dirty="0"/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825833D5-0C2F-4029-8134-6968C8CAA60F}"/>
              </a:ext>
            </a:extLst>
          </p:cNvPr>
          <p:cNvGrpSpPr/>
          <p:nvPr/>
        </p:nvGrpSpPr>
        <p:grpSpPr>
          <a:xfrm>
            <a:off x="7164288" y="332656"/>
            <a:ext cx="1703625" cy="1813654"/>
            <a:chOff x="6156176" y="1168086"/>
            <a:chExt cx="1703625" cy="1813654"/>
          </a:xfrm>
        </p:grpSpPr>
        <p:sp>
          <p:nvSpPr>
            <p:cNvPr id="4" name="Undertitel 2">
              <a:extLst>
                <a:ext uri="{FF2B5EF4-FFF2-40B4-BE49-F238E27FC236}">
                  <a16:creationId xmlns:a16="http://schemas.microsoft.com/office/drawing/2014/main" id="{706993D8-D83B-184C-B00F-BC327F4531B6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1661389"/>
              <a:ext cx="1703625" cy="388966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/>
                <a:t>R</a:t>
              </a:r>
              <a:r>
                <a:rPr lang="da-DK" sz="2000" i="1" baseline="-25000" dirty="0"/>
                <a:t>1</a:t>
              </a:r>
              <a:r>
                <a:rPr lang="da-DK" sz="2000" i="1" dirty="0"/>
                <a:t> = 1 kΩ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" name="Undertitel 2">
              <a:extLst>
                <a:ext uri="{FF2B5EF4-FFF2-40B4-BE49-F238E27FC236}">
                  <a16:creationId xmlns:a16="http://schemas.microsoft.com/office/drawing/2014/main" id="{67B3E84F-1B6D-EF10-ED90-A07CEB1ACF08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2127082"/>
              <a:ext cx="1703625" cy="388966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/>
                <a:t>R</a:t>
              </a:r>
              <a:r>
                <a:rPr lang="da-DK" sz="2000" i="1" baseline="-25000" dirty="0"/>
                <a:t>2</a:t>
              </a:r>
              <a:r>
                <a:rPr lang="da-DK" sz="2000" i="1" dirty="0"/>
                <a:t> = 100 kΩ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6" name="Undertitel 2">
              <a:extLst>
                <a:ext uri="{FF2B5EF4-FFF2-40B4-BE49-F238E27FC236}">
                  <a16:creationId xmlns:a16="http://schemas.microsoft.com/office/drawing/2014/main" id="{D43F7D25-3EFB-FABC-605F-3091AFB5DB4B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1168086"/>
              <a:ext cx="1703625" cy="416576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 err="1"/>
                <a:t>V</a:t>
              </a:r>
              <a:r>
                <a:rPr lang="da-DK" sz="2000" i="1" baseline="-25000" dirty="0" err="1"/>
                <a:t>off</a:t>
              </a:r>
              <a:r>
                <a:rPr lang="da-DK" sz="2000" i="1" dirty="0"/>
                <a:t> = ±2 mV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8" name="Undertitel 2">
              <a:extLst>
                <a:ext uri="{FF2B5EF4-FFF2-40B4-BE49-F238E27FC236}">
                  <a16:creationId xmlns:a16="http://schemas.microsoft.com/office/drawing/2014/main" id="{28AD0D1B-7622-5709-F89D-451D0509AAA7}"/>
                </a:ext>
              </a:extLst>
            </p:cNvPr>
            <p:cNvSpPr txBox="1">
              <a:spLocks/>
            </p:cNvSpPr>
            <p:nvPr/>
          </p:nvSpPr>
          <p:spPr>
            <a:xfrm>
              <a:off x="6156176" y="2592774"/>
              <a:ext cx="1703625" cy="388966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2000" i="1" dirty="0"/>
                <a:t>R</a:t>
              </a:r>
              <a:r>
                <a:rPr lang="da-DK" sz="2000" i="1" baseline="-25000" dirty="0"/>
                <a:t>L</a:t>
              </a:r>
              <a:r>
                <a:rPr lang="da-DK" sz="2000" i="1" dirty="0"/>
                <a:t> = 2 kΩ</a:t>
              </a:r>
              <a:endParaRPr lang="da-DK" sz="2000" b="1" i="1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uppe 21">
            <a:extLst>
              <a:ext uri="{FF2B5EF4-FFF2-40B4-BE49-F238E27FC236}">
                <a16:creationId xmlns:a16="http://schemas.microsoft.com/office/drawing/2014/main" id="{01CA7330-B9D0-4A67-9271-7F5B21B362E7}"/>
              </a:ext>
            </a:extLst>
          </p:cNvPr>
          <p:cNvGrpSpPr/>
          <p:nvPr/>
        </p:nvGrpSpPr>
        <p:grpSpPr>
          <a:xfrm>
            <a:off x="1036625" y="725484"/>
            <a:ext cx="5670461" cy="3264108"/>
            <a:chOff x="1036625" y="725484"/>
            <a:chExt cx="5670461" cy="3264108"/>
          </a:xfrm>
        </p:grpSpPr>
        <p:grpSp>
          <p:nvGrpSpPr>
            <p:cNvPr id="20" name="Gruppe 19">
              <a:extLst>
                <a:ext uri="{FF2B5EF4-FFF2-40B4-BE49-F238E27FC236}">
                  <a16:creationId xmlns:a16="http://schemas.microsoft.com/office/drawing/2014/main" id="{611C5940-FAB5-6A2D-2CCC-0D10148446DE}"/>
                </a:ext>
              </a:extLst>
            </p:cNvPr>
            <p:cNvGrpSpPr/>
            <p:nvPr/>
          </p:nvGrpSpPr>
          <p:grpSpPr>
            <a:xfrm>
              <a:off x="1036625" y="725484"/>
              <a:ext cx="5670461" cy="3264108"/>
              <a:chOff x="1036625" y="725484"/>
              <a:chExt cx="5670461" cy="3264108"/>
            </a:xfrm>
          </p:grpSpPr>
          <p:pic>
            <p:nvPicPr>
              <p:cNvPr id="17" name="Billede 16" descr="Et billede, der indeholder diagram, linje/række, skitse, Teknisk tegning&#10;&#10;Automatisk genereret beskrivelse">
                <a:extLst>
                  <a:ext uri="{FF2B5EF4-FFF2-40B4-BE49-F238E27FC236}">
                    <a16:creationId xmlns:a16="http://schemas.microsoft.com/office/drawing/2014/main" id="{0090B9B1-ABAC-CCB5-2797-3BD1FB851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6625" y="792240"/>
                <a:ext cx="5556504" cy="3197352"/>
              </a:xfrm>
              <a:prstGeom prst="rect">
                <a:avLst/>
              </a:prstGeom>
            </p:spPr>
          </p:pic>
          <p:sp>
            <p:nvSpPr>
              <p:cNvPr id="11" name="Undertitel 2">
                <a:extLst>
                  <a:ext uri="{FF2B5EF4-FFF2-40B4-BE49-F238E27FC236}">
                    <a16:creationId xmlns:a16="http://schemas.microsoft.com/office/drawing/2014/main" id="{2C253280-970C-FD56-39D1-AB7080BED7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14281" y="1539778"/>
                <a:ext cx="473997" cy="4954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000" i="1" dirty="0"/>
                  <a:t>R</a:t>
                </a:r>
                <a:r>
                  <a:rPr lang="da-DK" sz="2000" i="1" baseline="-25000" dirty="0"/>
                  <a:t>1</a:t>
                </a:r>
                <a:endParaRPr lang="da-DK" sz="20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Undertitel 2">
                <a:extLst>
                  <a:ext uri="{FF2B5EF4-FFF2-40B4-BE49-F238E27FC236}">
                    <a16:creationId xmlns:a16="http://schemas.microsoft.com/office/drawing/2014/main" id="{3C4DF5C7-7425-9ACB-A4CB-89FD02037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2908" y="725484"/>
                <a:ext cx="473997" cy="4954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000" i="1" dirty="0"/>
                  <a:t>R</a:t>
                </a:r>
                <a:r>
                  <a:rPr lang="da-DK" sz="2000" i="1" baseline="-25000" dirty="0"/>
                  <a:t>2</a:t>
                </a:r>
                <a:endParaRPr lang="da-DK" sz="20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Undertitel 2">
                <a:extLst>
                  <a:ext uri="{FF2B5EF4-FFF2-40B4-BE49-F238E27FC236}">
                    <a16:creationId xmlns:a16="http://schemas.microsoft.com/office/drawing/2014/main" id="{5F3B7C98-0334-4AE4-A4B8-EB2AC97FAF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3089" y="2585032"/>
                <a:ext cx="473997" cy="4954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000" i="1" dirty="0"/>
                  <a:t>R</a:t>
                </a:r>
                <a:r>
                  <a:rPr lang="da-DK" sz="2000" i="1" baseline="-25000" dirty="0"/>
                  <a:t>L</a:t>
                </a:r>
                <a:endParaRPr lang="da-DK" sz="2000" b="1" i="1" baseline="-25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4" name="Undertitel 2">
                <a:extLst>
                  <a:ext uri="{FF2B5EF4-FFF2-40B4-BE49-F238E27FC236}">
                    <a16:creationId xmlns:a16="http://schemas.microsoft.com/office/drawing/2014/main" id="{D914CF16-6215-DE0D-8314-165E45D46A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5816" y="2782744"/>
                <a:ext cx="473997" cy="4954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000" i="1" dirty="0"/>
                  <a:t>v</a:t>
                </a:r>
                <a:r>
                  <a:rPr lang="da-DK" sz="2000" i="1" baseline="-25000" dirty="0"/>
                  <a:t>in</a:t>
                </a:r>
                <a:endParaRPr lang="da-DK" sz="20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5" name="Lige pilforbindelse 14">
                <a:extLst>
                  <a:ext uri="{FF2B5EF4-FFF2-40B4-BE49-F238E27FC236}">
                    <a16:creationId xmlns:a16="http://schemas.microsoft.com/office/drawing/2014/main" id="{87845A42-9D28-A778-AB97-4B61B459B2D1}"/>
                  </a:ext>
                </a:extLst>
              </p:cNvPr>
              <p:cNvCxnSpPr/>
              <p:nvPr/>
            </p:nvCxnSpPr>
            <p:spPr>
              <a:xfrm flipV="1">
                <a:off x="5873049" y="2515145"/>
                <a:ext cx="0" cy="68235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Undertitel 2">
                <a:extLst>
                  <a:ext uri="{FF2B5EF4-FFF2-40B4-BE49-F238E27FC236}">
                    <a16:creationId xmlns:a16="http://schemas.microsoft.com/office/drawing/2014/main" id="{A0B091A2-11B2-6036-02D9-9D3591C56E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0821" y="2597085"/>
                <a:ext cx="407290" cy="46569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617663" algn="l"/>
                  </a:tabLst>
                </a:pPr>
                <a:r>
                  <a:rPr lang="da-DK" sz="2000" i="1" dirty="0" err="1"/>
                  <a:t>v</a:t>
                </a:r>
                <a:r>
                  <a:rPr lang="da-DK" sz="2000" i="1" baseline="-25000" dirty="0" err="1"/>
                  <a:t>o</a:t>
                </a:r>
                <a:endParaRPr lang="da-DK" sz="2000" b="1" i="1" baseline="-25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3" name="Lige pilforbindelse 22">
                <a:extLst>
                  <a:ext uri="{FF2B5EF4-FFF2-40B4-BE49-F238E27FC236}">
                    <a16:creationId xmlns:a16="http://schemas.microsoft.com/office/drawing/2014/main" id="{45950DE1-009C-6648-C7C7-C481BF8698D8}"/>
                  </a:ext>
                </a:extLst>
              </p:cNvPr>
              <p:cNvCxnSpPr/>
              <p:nvPr/>
            </p:nvCxnSpPr>
            <p:spPr>
              <a:xfrm flipV="1">
                <a:off x="3324116" y="2667545"/>
                <a:ext cx="0" cy="68235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2CFD06D4-35B7-E1B8-841E-E9DA7ED793B8}"/>
                </a:ext>
              </a:extLst>
            </p:cNvPr>
            <p:cNvSpPr/>
            <p:nvPr/>
          </p:nvSpPr>
          <p:spPr>
            <a:xfrm>
              <a:off x="3419571" y="2814434"/>
              <a:ext cx="432047" cy="4320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7" name="Titel 1">
            <a:extLst>
              <a:ext uri="{FF2B5EF4-FFF2-40B4-BE49-F238E27FC236}">
                <a16:creationId xmlns:a16="http://schemas.microsoft.com/office/drawing/2014/main" id="{87F9F3FC-20BD-19CC-D541-8D804BD895DF}"/>
              </a:ext>
            </a:extLst>
          </p:cNvPr>
          <p:cNvSpPr txBox="1">
            <a:spLocks/>
          </p:cNvSpPr>
          <p:nvPr/>
        </p:nvSpPr>
        <p:spPr>
          <a:xfrm>
            <a:off x="1182719" y="4633277"/>
            <a:ext cx="5333497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1431925" algn="l"/>
              </a:tabLst>
            </a:pPr>
            <a:r>
              <a:rPr lang="da-DK" sz="2000" i="1" dirty="0"/>
              <a:t>Beregn fejlbidrag på udgangen hidrørende fra </a:t>
            </a:r>
            <a:r>
              <a:rPr lang="da-DK" sz="2000" i="1" dirty="0" err="1"/>
              <a:t>V</a:t>
            </a:r>
            <a:r>
              <a:rPr lang="da-DK" sz="2000" i="1" baseline="-25000" dirty="0" err="1"/>
              <a:t>off</a:t>
            </a:r>
            <a:endParaRPr lang="da-DK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30834646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ctrTitle"/>
          </p:nvPr>
        </p:nvSpPr>
        <p:spPr>
          <a:xfrm>
            <a:off x="2051720" y="2996952"/>
            <a:ext cx="5040560" cy="936104"/>
          </a:xfrm>
        </p:spPr>
        <p:txBody>
          <a:bodyPr>
            <a:noAutofit/>
          </a:bodyPr>
          <a:lstStyle/>
          <a:p>
            <a:r>
              <a:rPr lang="da-DK" sz="4000" i="1" dirty="0"/>
              <a:t>Midtvejsdiskussion</a:t>
            </a:r>
            <a:endParaRPr lang="da-DK" sz="4000" dirty="0"/>
          </a:p>
        </p:txBody>
      </p:sp>
    </p:spTree>
    <p:extLst>
      <p:ext uri="{BB962C8B-B14F-4D97-AF65-F5344CB8AC3E}">
        <p14:creationId xmlns:p14="http://schemas.microsoft.com/office/powerpoint/2010/main" val="968701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2931-554F-B7BF-3D77-2279CB4E9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C99ECC35-3028-8499-647D-2CF9F99986A3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002258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 err="1"/>
              <a:t>Biasstrøm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614A8D9-0EA0-2E79-C2A3-D704F3AA5C37}"/>
              </a:ext>
            </a:extLst>
          </p:cNvPr>
          <p:cNvSpPr txBox="1">
            <a:spLocks/>
          </p:cNvSpPr>
          <p:nvPr/>
        </p:nvSpPr>
        <p:spPr>
          <a:xfrm>
            <a:off x="539552" y="1181900"/>
            <a:ext cx="3888432" cy="590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Strøm ind i </a:t>
            </a:r>
            <a:r>
              <a:rPr lang="da-DK" sz="2400" b="1" i="1" dirty="0"/>
              <a:t>ideel</a:t>
            </a:r>
            <a:r>
              <a:rPr lang="da-DK" sz="2400" i="1" dirty="0"/>
              <a:t> Op Amp: 0 A</a:t>
            </a:r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56442D59-D037-A87E-890E-E0A12F113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536" y="2492896"/>
            <a:ext cx="4392488" cy="3432730"/>
          </a:xfrm>
          <a:prstGeom prst="rect">
            <a:avLst/>
          </a:prstGeom>
        </p:spPr>
      </p:pic>
      <p:grpSp>
        <p:nvGrpSpPr>
          <p:cNvPr id="13" name="Gruppe 12">
            <a:extLst>
              <a:ext uri="{FF2B5EF4-FFF2-40B4-BE49-F238E27FC236}">
                <a16:creationId xmlns:a16="http://schemas.microsoft.com/office/drawing/2014/main" id="{2A36A2DE-B4A1-322B-0265-DD5137F11AE7}"/>
              </a:ext>
            </a:extLst>
          </p:cNvPr>
          <p:cNvGrpSpPr/>
          <p:nvPr/>
        </p:nvGrpSpPr>
        <p:grpSpPr>
          <a:xfrm>
            <a:off x="6366374" y="2504935"/>
            <a:ext cx="1878034" cy="3318705"/>
            <a:chOff x="6294366" y="2132856"/>
            <a:chExt cx="1878034" cy="3318705"/>
          </a:xfrm>
        </p:grpSpPr>
        <p:grpSp>
          <p:nvGrpSpPr>
            <p:cNvPr id="6" name="Gruppe 5">
              <a:extLst>
                <a:ext uri="{FF2B5EF4-FFF2-40B4-BE49-F238E27FC236}">
                  <a16:creationId xmlns:a16="http://schemas.microsoft.com/office/drawing/2014/main" id="{89D79260-E7B6-2855-6B55-E35C9D22D8C0}"/>
                </a:ext>
              </a:extLst>
            </p:cNvPr>
            <p:cNvGrpSpPr/>
            <p:nvPr/>
          </p:nvGrpSpPr>
          <p:grpSpPr>
            <a:xfrm>
              <a:off x="6294366" y="4149080"/>
              <a:ext cx="1878034" cy="1302481"/>
              <a:chOff x="4206134" y="3854711"/>
              <a:chExt cx="1878034" cy="1302481"/>
            </a:xfrm>
          </p:grpSpPr>
          <p:pic>
            <p:nvPicPr>
              <p:cNvPr id="8" name="Billede 7">
                <a:extLst>
                  <a:ext uri="{FF2B5EF4-FFF2-40B4-BE49-F238E27FC236}">
                    <a16:creationId xmlns:a16="http://schemas.microsoft.com/office/drawing/2014/main" id="{4291C105-F889-59BE-618C-3FF9FBA8AB9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677" b="14226"/>
              <a:stretch/>
            </p:blipFill>
            <p:spPr>
              <a:xfrm>
                <a:off x="4206134" y="3854711"/>
                <a:ext cx="1085946" cy="1302481"/>
              </a:xfrm>
              <a:prstGeom prst="rect">
                <a:avLst/>
              </a:prstGeom>
            </p:spPr>
          </p:pic>
          <p:pic>
            <p:nvPicPr>
              <p:cNvPr id="9" name="Billede 8">
                <a:extLst>
                  <a:ext uri="{FF2B5EF4-FFF2-40B4-BE49-F238E27FC236}">
                    <a16:creationId xmlns:a16="http://schemas.microsoft.com/office/drawing/2014/main" id="{B0CFB292-518B-A8B1-D080-6AB04E4F0D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870" t="18968" b="9484"/>
              <a:stretch/>
            </p:blipFill>
            <p:spPr>
              <a:xfrm>
                <a:off x="5178621" y="3861048"/>
                <a:ext cx="905547" cy="1086457"/>
              </a:xfrm>
              <a:prstGeom prst="rect">
                <a:avLst/>
              </a:prstGeom>
            </p:spPr>
          </p:pic>
        </p:grpSp>
        <p:grpSp>
          <p:nvGrpSpPr>
            <p:cNvPr id="10" name="Gruppe 9">
              <a:extLst>
                <a:ext uri="{FF2B5EF4-FFF2-40B4-BE49-F238E27FC236}">
                  <a16:creationId xmlns:a16="http://schemas.microsoft.com/office/drawing/2014/main" id="{9D38768C-0831-9A42-1125-EC694996B928}"/>
                </a:ext>
              </a:extLst>
            </p:cNvPr>
            <p:cNvGrpSpPr/>
            <p:nvPr/>
          </p:nvGrpSpPr>
          <p:grpSpPr>
            <a:xfrm>
              <a:off x="6369024" y="2132856"/>
              <a:ext cx="1624520" cy="1446497"/>
              <a:chOff x="1259632" y="4224257"/>
              <a:chExt cx="1624520" cy="1446497"/>
            </a:xfrm>
          </p:grpSpPr>
          <p:pic>
            <p:nvPicPr>
              <p:cNvPr id="11" name="Picture 2" descr="ch13fig01.jpg">
                <a:extLst>
                  <a:ext uri="{FF2B5EF4-FFF2-40B4-BE49-F238E27FC236}">
                    <a16:creationId xmlns:a16="http://schemas.microsoft.com/office/drawing/2014/main" id="{98953ABF-381E-DA55-5EDB-685A8E291D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235" t="22273" b="10514"/>
              <a:stretch/>
            </p:blipFill>
            <p:spPr bwMode="auto">
              <a:xfrm>
                <a:off x="2183851" y="4404276"/>
                <a:ext cx="700301" cy="10864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2" descr="ch13fig01.jpg">
                <a:extLst>
                  <a:ext uri="{FF2B5EF4-FFF2-40B4-BE49-F238E27FC236}">
                    <a16:creationId xmlns:a16="http://schemas.microsoft.com/office/drawing/2014/main" id="{FCCB4E2A-2AF2-D272-8325-40C6A186BE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368" b="10514"/>
              <a:stretch/>
            </p:blipFill>
            <p:spPr bwMode="auto">
              <a:xfrm>
                <a:off x="1259632" y="4224257"/>
                <a:ext cx="792088" cy="14464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643834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ge pilforbindelse 3"/>
          <p:cNvCxnSpPr/>
          <p:nvPr/>
        </p:nvCxnSpPr>
        <p:spPr>
          <a:xfrm>
            <a:off x="755576" y="249289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/>
          <p:cNvCxnSpPr/>
          <p:nvPr/>
        </p:nvCxnSpPr>
        <p:spPr>
          <a:xfrm>
            <a:off x="89959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8100392" y="227687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[A]</a:t>
            </a:r>
            <a:endParaRPr lang="da-DK" sz="1800" i="1" baseline="30000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755576" y="249289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grpSp>
        <p:nvGrpSpPr>
          <p:cNvPr id="20" name="Gruppe 19"/>
          <p:cNvGrpSpPr/>
          <p:nvPr/>
        </p:nvGrpSpPr>
        <p:grpSpPr>
          <a:xfrm>
            <a:off x="4329081" y="3315588"/>
            <a:ext cx="4131351" cy="2694418"/>
            <a:chOff x="2843808" y="3315588"/>
            <a:chExt cx="4131351" cy="2694418"/>
          </a:xfrm>
        </p:grpSpPr>
        <p:pic>
          <p:nvPicPr>
            <p:cNvPr id="11" name="Billed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3808" y="3356992"/>
              <a:ext cx="4131351" cy="2653014"/>
            </a:xfrm>
            <a:prstGeom prst="rect">
              <a:avLst/>
            </a:prstGeom>
          </p:spPr>
        </p:pic>
        <p:cxnSp>
          <p:nvCxnSpPr>
            <p:cNvPr id="13" name="Lige pilforbindelse 12"/>
            <p:cNvCxnSpPr/>
            <p:nvPr/>
          </p:nvCxnSpPr>
          <p:spPr>
            <a:xfrm>
              <a:off x="3327708" y="3861048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pilforbindelse 13"/>
            <p:cNvCxnSpPr/>
            <p:nvPr/>
          </p:nvCxnSpPr>
          <p:spPr>
            <a:xfrm>
              <a:off x="3327708" y="5301208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itel 1"/>
            <p:cNvSpPr txBox="1">
              <a:spLocks/>
            </p:cNvSpPr>
            <p:nvPr/>
          </p:nvSpPr>
          <p:spPr>
            <a:xfrm>
              <a:off x="3347864" y="3315588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I</a:t>
              </a:r>
              <a:r>
                <a:rPr lang="da-DK" sz="1800" i="1" baseline="-25000" dirty="0"/>
                <a:t>B</a:t>
              </a:r>
              <a:r>
                <a:rPr lang="da-DK" sz="1800" i="1" baseline="30000" dirty="0"/>
                <a:t>-</a:t>
              </a:r>
            </a:p>
          </p:txBody>
        </p:sp>
        <p:sp>
          <p:nvSpPr>
            <p:cNvPr id="17" name="Titel 1"/>
            <p:cNvSpPr txBox="1">
              <a:spLocks/>
            </p:cNvSpPr>
            <p:nvPr/>
          </p:nvSpPr>
          <p:spPr>
            <a:xfrm>
              <a:off x="3419872" y="518779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I</a:t>
              </a:r>
              <a:r>
                <a:rPr lang="da-DK" sz="1800" i="1" baseline="-25000" dirty="0"/>
                <a:t>B</a:t>
              </a:r>
              <a:r>
                <a:rPr lang="da-DK" sz="1800" i="1" baseline="30000" dirty="0"/>
                <a:t>+</a:t>
              </a:r>
            </a:p>
          </p:txBody>
        </p:sp>
      </p:grpSp>
      <p:sp>
        <p:nvSpPr>
          <p:cNvPr id="18" name="Titel 1"/>
          <p:cNvSpPr txBox="1">
            <a:spLocks/>
          </p:cNvSpPr>
          <p:nvPr/>
        </p:nvSpPr>
        <p:spPr>
          <a:xfrm>
            <a:off x="1727684" y="3645024"/>
            <a:ext cx="2088232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Ideelt: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-</a:t>
            </a:r>
            <a:r>
              <a:rPr lang="da-DK" sz="2000" i="1" dirty="0"/>
              <a:t> =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+</a:t>
            </a:r>
            <a:r>
              <a:rPr lang="da-DK" sz="2000" i="1" dirty="0"/>
              <a:t> = 0</a:t>
            </a:r>
            <a:endParaRPr lang="da-DK" sz="2000" i="1" baseline="30000" dirty="0"/>
          </a:p>
        </p:txBody>
      </p:sp>
      <p:cxnSp>
        <p:nvCxnSpPr>
          <p:cNvPr id="15" name="Lige forbindelse 14"/>
          <p:cNvCxnSpPr/>
          <p:nvPr/>
        </p:nvCxnSpPr>
        <p:spPr>
          <a:xfrm>
            <a:off x="5004048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/>
          <p:cNvCxnSpPr/>
          <p:nvPr/>
        </p:nvCxnSpPr>
        <p:spPr>
          <a:xfrm>
            <a:off x="594015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el 1"/>
          <p:cNvSpPr txBox="1">
            <a:spLocks/>
          </p:cNvSpPr>
          <p:nvPr/>
        </p:nvSpPr>
        <p:spPr>
          <a:xfrm>
            <a:off x="6012160" y="980728"/>
            <a:ext cx="2304256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Praksis: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-</a:t>
            </a:r>
            <a:r>
              <a:rPr lang="da-DK" sz="2000" i="1" dirty="0"/>
              <a:t> ≠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+</a:t>
            </a:r>
            <a:r>
              <a:rPr lang="da-DK" sz="2000" i="1" dirty="0"/>
              <a:t> ≠ 0</a:t>
            </a:r>
            <a:endParaRPr lang="da-DK" sz="2000" i="1" baseline="30000" dirty="0"/>
          </a:p>
        </p:txBody>
      </p:sp>
      <p:cxnSp>
        <p:nvCxnSpPr>
          <p:cNvPr id="23" name="Lige pilforbindelse 22"/>
          <p:cNvCxnSpPr/>
          <p:nvPr/>
        </p:nvCxnSpPr>
        <p:spPr>
          <a:xfrm flipH="1">
            <a:off x="5686660" y="1473344"/>
            <a:ext cx="332885" cy="659512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tel 1"/>
          <p:cNvSpPr txBox="1">
            <a:spLocks/>
          </p:cNvSpPr>
          <p:nvPr/>
        </p:nvSpPr>
        <p:spPr>
          <a:xfrm>
            <a:off x="4860032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-</a:t>
            </a:r>
          </a:p>
        </p:txBody>
      </p:sp>
      <p:sp>
        <p:nvSpPr>
          <p:cNvPr id="25" name="Titel 1"/>
          <p:cNvSpPr txBox="1">
            <a:spLocks/>
          </p:cNvSpPr>
          <p:nvPr/>
        </p:nvSpPr>
        <p:spPr>
          <a:xfrm>
            <a:off x="5796136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+</a:t>
            </a:r>
          </a:p>
        </p:txBody>
      </p:sp>
      <p:sp>
        <p:nvSpPr>
          <p:cNvPr id="27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927710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 err="1"/>
              <a:t>Biasstrømmene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-</a:t>
            </a:r>
            <a:r>
              <a:rPr lang="da-DK" sz="2800" i="1" dirty="0"/>
              <a:t> og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+</a:t>
            </a:r>
          </a:p>
        </p:txBody>
      </p: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012BC021-3CD3-4CD5-AF37-BD6F9277E338}"/>
              </a:ext>
            </a:extLst>
          </p:cNvPr>
          <p:cNvCxnSpPr/>
          <p:nvPr/>
        </p:nvCxnSpPr>
        <p:spPr>
          <a:xfrm flipH="1" flipV="1">
            <a:off x="1115616" y="2744924"/>
            <a:ext cx="792088" cy="97210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061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03B7-98D5-1798-10BF-5E513870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CE912832-2A4E-4BD1-4A53-063025EF0FB5}"/>
              </a:ext>
            </a:extLst>
          </p:cNvPr>
          <p:cNvCxnSpPr/>
          <p:nvPr/>
        </p:nvCxnSpPr>
        <p:spPr>
          <a:xfrm>
            <a:off x="755576" y="249289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CCB1AF63-7079-990F-063A-7E872A3A18B3}"/>
              </a:ext>
            </a:extLst>
          </p:cNvPr>
          <p:cNvCxnSpPr/>
          <p:nvPr/>
        </p:nvCxnSpPr>
        <p:spPr>
          <a:xfrm>
            <a:off x="89959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>
            <a:extLst>
              <a:ext uri="{FF2B5EF4-FFF2-40B4-BE49-F238E27FC236}">
                <a16:creationId xmlns:a16="http://schemas.microsoft.com/office/drawing/2014/main" id="{E076CAA2-4673-E856-DB8B-8FB8174E5C4F}"/>
              </a:ext>
            </a:extLst>
          </p:cNvPr>
          <p:cNvSpPr txBox="1">
            <a:spLocks/>
          </p:cNvSpPr>
          <p:nvPr/>
        </p:nvSpPr>
        <p:spPr>
          <a:xfrm>
            <a:off x="8100392" y="227687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[A]</a:t>
            </a:r>
            <a:endParaRPr lang="da-DK" sz="1800" i="1" baseline="30000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E7D006E-013C-ACD5-01C1-81C1260AB44B}"/>
              </a:ext>
            </a:extLst>
          </p:cNvPr>
          <p:cNvSpPr txBox="1">
            <a:spLocks/>
          </p:cNvSpPr>
          <p:nvPr/>
        </p:nvSpPr>
        <p:spPr>
          <a:xfrm>
            <a:off x="755576" y="249289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grpSp>
        <p:nvGrpSpPr>
          <p:cNvPr id="20" name="Gruppe 19">
            <a:extLst>
              <a:ext uri="{FF2B5EF4-FFF2-40B4-BE49-F238E27FC236}">
                <a16:creationId xmlns:a16="http://schemas.microsoft.com/office/drawing/2014/main" id="{3DD0A574-8905-D151-7A6B-3C5AB773EC9E}"/>
              </a:ext>
            </a:extLst>
          </p:cNvPr>
          <p:cNvGrpSpPr/>
          <p:nvPr/>
        </p:nvGrpSpPr>
        <p:grpSpPr>
          <a:xfrm>
            <a:off x="4329081" y="3315588"/>
            <a:ext cx="4131351" cy="2694418"/>
            <a:chOff x="2843808" y="3315588"/>
            <a:chExt cx="4131351" cy="2694418"/>
          </a:xfrm>
        </p:grpSpPr>
        <p:pic>
          <p:nvPicPr>
            <p:cNvPr id="11" name="Billede 10">
              <a:extLst>
                <a:ext uri="{FF2B5EF4-FFF2-40B4-BE49-F238E27FC236}">
                  <a16:creationId xmlns:a16="http://schemas.microsoft.com/office/drawing/2014/main" id="{8FB91263-60FC-C786-6D8D-A421FEC21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3808" y="3356992"/>
              <a:ext cx="4131351" cy="2653014"/>
            </a:xfrm>
            <a:prstGeom prst="rect">
              <a:avLst/>
            </a:prstGeom>
          </p:spPr>
        </p:pic>
        <p:cxnSp>
          <p:nvCxnSpPr>
            <p:cNvPr id="13" name="Lige pilforbindelse 12">
              <a:extLst>
                <a:ext uri="{FF2B5EF4-FFF2-40B4-BE49-F238E27FC236}">
                  <a16:creationId xmlns:a16="http://schemas.microsoft.com/office/drawing/2014/main" id="{4883EE70-9047-6FA6-0980-FF6D2C6303CC}"/>
                </a:ext>
              </a:extLst>
            </p:cNvPr>
            <p:cNvCxnSpPr/>
            <p:nvPr/>
          </p:nvCxnSpPr>
          <p:spPr>
            <a:xfrm>
              <a:off x="3327708" y="3861048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pilforbindelse 13">
              <a:extLst>
                <a:ext uri="{FF2B5EF4-FFF2-40B4-BE49-F238E27FC236}">
                  <a16:creationId xmlns:a16="http://schemas.microsoft.com/office/drawing/2014/main" id="{CB346425-C92D-A7E2-83D0-0D6D45289CB5}"/>
                </a:ext>
              </a:extLst>
            </p:cNvPr>
            <p:cNvCxnSpPr/>
            <p:nvPr/>
          </p:nvCxnSpPr>
          <p:spPr>
            <a:xfrm>
              <a:off x="3327708" y="5301208"/>
              <a:ext cx="43204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itel 1">
              <a:extLst>
                <a:ext uri="{FF2B5EF4-FFF2-40B4-BE49-F238E27FC236}">
                  <a16:creationId xmlns:a16="http://schemas.microsoft.com/office/drawing/2014/main" id="{C42A2E19-08C4-368F-8282-E1D3584C21E9}"/>
                </a:ext>
              </a:extLst>
            </p:cNvPr>
            <p:cNvSpPr txBox="1">
              <a:spLocks/>
            </p:cNvSpPr>
            <p:nvPr/>
          </p:nvSpPr>
          <p:spPr>
            <a:xfrm>
              <a:off x="3347864" y="3315588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I</a:t>
              </a:r>
              <a:r>
                <a:rPr lang="da-DK" sz="1800" i="1" baseline="-25000" dirty="0"/>
                <a:t>B</a:t>
              </a:r>
              <a:r>
                <a:rPr lang="da-DK" sz="1800" i="1" baseline="30000" dirty="0"/>
                <a:t>-</a:t>
              </a:r>
            </a:p>
          </p:txBody>
        </p:sp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4F121AFE-124C-2BDE-FBAF-C2A260100BBB}"/>
                </a:ext>
              </a:extLst>
            </p:cNvPr>
            <p:cNvSpPr txBox="1">
              <a:spLocks/>
            </p:cNvSpPr>
            <p:nvPr/>
          </p:nvSpPr>
          <p:spPr>
            <a:xfrm>
              <a:off x="3419872" y="5187796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I</a:t>
              </a:r>
              <a:r>
                <a:rPr lang="da-DK" sz="1800" i="1" baseline="-25000" dirty="0"/>
                <a:t>B</a:t>
              </a:r>
              <a:r>
                <a:rPr lang="da-DK" sz="1800" i="1" baseline="30000" dirty="0"/>
                <a:t>+</a:t>
              </a:r>
            </a:p>
          </p:txBody>
        </p:sp>
      </p:grpSp>
      <p:sp>
        <p:nvSpPr>
          <p:cNvPr id="18" name="Titel 1">
            <a:extLst>
              <a:ext uri="{FF2B5EF4-FFF2-40B4-BE49-F238E27FC236}">
                <a16:creationId xmlns:a16="http://schemas.microsoft.com/office/drawing/2014/main" id="{CEEE097D-4A12-2778-FD0C-15A22B4BE682}"/>
              </a:ext>
            </a:extLst>
          </p:cNvPr>
          <p:cNvSpPr txBox="1">
            <a:spLocks/>
          </p:cNvSpPr>
          <p:nvPr/>
        </p:nvSpPr>
        <p:spPr>
          <a:xfrm>
            <a:off x="1727684" y="3645024"/>
            <a:ext cx="2088232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Ideelt: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-</a:t>
            </a:r>
            <a:r>
              <a:rPr lang="da-DK" sz="2000" i="1" dirty="0"/>
              <a:t> =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+</a:t>
            </a:r>
            <a:r>
              <a:rPr lang="da-DK" sz="2000" i="1" dirty="0"/>
              <a:t> = 0</a:t>
            </a:r>
            <a:endParaRPr lang="da-DK" sz="2000" i="1" baseline="30000" dirty="0"/>
          </a:p>
        </p:txBody>
      </p: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70C28946-562E-7CBA-DE56-3EBA5F3F1D04}"/>
              </a:ext>
            </a:extLst>
          </p:cNvPr>
          <p:cNvCxnSpPr/>
          <p:nvPr/>
        </p:nvCxnSpPr>
        <p:spPr>
          <a:xfrm>
            <a:off x="5004048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D1CE1F37-ABCC-BAFF-725A-2A350CBD9767}"/>
              </a:ext>
            </a:extLst>
          </p:cNvPr>
          <p:cNvCxnSpPr/>
          <p:nvPr/>
        </p:nvCxnSpPr>
        <p:spPr>
          <a:xfrm>
            <a:off x="594015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B5E1C306-4D26-C5B5-970C-BB9B6EB07CD3}"/>
              </a:ext>
            </a:extLst>
          </p:cNvPr>
          <p:cNvSpPr txBox="1">
            <a:spLocks/>
          </p:cNvSpPr>
          <p:nvPr/>
        </p:nvSpPr>
        <p:spPr>
          <a:xfrm>
            <a:off x="6012160" y="980728"/>
            <a:ext cx="2304256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/>
              <a:t>Praksis: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-</a:t>
            </a:r>
            <a:r>
              <a:rPr lang="da-DK" sz="2000" i="1" dirty="0"/>
              <a:t> ≠ I</a:t>
            </a:r>
            <a:r>
              <a:rPr lang="da-DK" sz="2000" i="1" baseline="-25000" dirty="0"/>
              <a:t>B</a:t>
            </a:r>
            <a:r>
              <a:rPr lang="da-DK" sz="2000" i="1" baseline="30000" dirty="0"/>
              <a:t>+</a:t>
            </a:r>
            <a:r>
              <a:rPr lang="da-DK" sz="2000" i="1" dirty="0"/>
              <a:t> ≠ 0</a:t>
            </a:r>
            <a:endParaRPr lang="da-DK" sz="2000" i="1" baseline="30000" dirty="0"/>
          </a:p>
        </p:txBody>
      </p: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B805C54D-2E88-25E1-A1C3-F1356B0DF7F6}"/>
              </a:ext>
            </a:extLst>
          </p:cNvPr>
          <p:cNvCxnSpPr/>
          <p:nvPr/>
        </p:nvCxnSpPr>
        <p:spPr>
          <a:xfrm flipH="1">
            <a:off x="5686660" y="1473344"/>
            <a:ext cx="332885" cy="659512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tel 1">
            <a:extLst>
              <a:ext uri="{FF2B5EF4-FFF2-40B4-BE49-F238E27FC236}">
                <a16:creationId xmlns:a16="http://schemas.microsoft.com/office/drawing/2014/main" id="{FC185379-82C1-4AC4-644C-CA17DA106533}"/>
              </a:ext>
            </a:extLst>
          </p:cNvPr>
          <p:cNvSpPr txBox="1">
            <a:spLocks/>
          </p:cNvSpPr>
          <p:nvPr/>
        </p:nvSpPr>
        <p:spPr>
          <a:xfrm>
            <a:off x="4860032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-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691F9B87-9D3D-0C6E-DD1C-EF408CFFA2D1}"/>
              </a:ext>
            </a:extLst>
          </p:cNvPr>
          <p:cNvSpPr txBox="1">
            <a:spLocks/>
          </p:cNvSpPr>
          <p:nvPr/>
        </p:nvSpPr>
        <p:spPr>
          <a:xfrm>
            <a:off x="5796136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+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F09A5504-69A9-FB91-1DB6-275867B3C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44624"/>
            <a:ext cx="3927710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 err="1"/>
              <a:t>Biasstrømmene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-</a:t>
            </a:r>
            <a:r>
              <a:rPr lang="da-DK" sz="2800" i="1" dirty="0"/>
              <a:t> og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+</a:t>
            </a:r>
          </a:p>
        </p:txBody>
      </p: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65A117DD-68EC-1CFD-9E96-3686D0D2BBC4}"/>
              </a:ext>
            </a:extLst>
          </p:cNvPr>
          <p:cNvCxnSpPr/>
          <p:nvPr/>
        </p:nvCxnSpPr>
        <p:spPr>
          <a:xfrm flipH="1" flipV="1">
            <a:off x="1115616" y="2744924"/>
            <a:ext cx="792088" cy="97210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ktangel 1">
            <a:extLst>
              <a:ext uri="{FF2B5EF4-FFF2-40B4-BE49-F238E27FC236}">
                <a16:creationId xmlns:a16="http://schemas.microsoft.com/office/drawing/2014/main" id="{3C9FE352-B80D-65E7-68FA-85EDCC3C5C51}"/>
              </a:ext>
            </a:extLst>
          </p:cNvPr>
          <p:cNvSpPr/>
          <p:nvPr/>
        </p:nvSpPr>
        <p:spPr>
          <a:xfrm>
            <a:off x="4559513" y="6341258"/>
            <a:ext cx="46085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>
                <a:solidFill>
                  <a:srgbClr val="FF0000"/>
                </a:solidFill>
              </a:rPr>
              <a:t>Man får IKKE oplyst I</a:t>
            </a:r>
            <a:r>
              <a:rPr lang="da-DK" sz="2000" i="1" baseline="-25000" dirty="0">
                <a:solidFill>
                  <a:srgbClr val="FF0000"/>
                </a:solidFill>
              </a:rPr>
              <a:t>B</a:t>
            </a:r>
            <a:r>
              <a:rPr lang="da-DK" sz="2000" i="1" baseline="30000" dirty="0">
                <a:solidFill>
                  <a:srgbClr val="FF0000"/>
                </a:solidFill>
              </a:rPr>
              <a:t>-</a:t>
            </a:r>
            <a:r>
              <a:rPr lang="da-DK" sz="2000" i="1" dirty="0">
                <a:solidFill>
                  <a:srgbClr val="FF0000"/>
                </a:solidFill>
              </a:rPr>
              <a:t> og I</a:t>
            </a:r>
            <a:r>
              <a:rPr lang="da-DK" sz="2000" i="1" baseline="-25000" dirty="0">
                <a:solidFill>
                  <a:srgbClr val="FF0000"/>
                </a:solidFill>
              </a:rPr>
              <a:t>B</a:t>
            </a:r>
            <a:r>
              <a:rPr lang="da-DK" sz="2000" i="1" baseline="30000" dirty="0">
                <a:solidFill>
                  <a:srgbClr val="FF0000"/>
                </a:solidFill>
              </a:rPr>
              <a:t>+</a:t>
            </a:r>
            <a:r>
              <a:rPr lang="da-DK" sz="2000" i="1" dirty="0">
                <a:solidFill>
                  <a:srgbClr val="FF0000"/>
                </a:solidFill>
              </a:rPr>
              <a:t> i databladet!</a:t>
            </a:r>
          </a:p>
        </p:txBody>
      </p:sp>
    </p:spTree>
    <p:extLst>
      <p:ext uri="{BB962C8B-B14F-4D97-AF65-F5344CB8AC3E}">
        <p14:creationId xmlns:p14="http://schemas.microsoft.com/office/powerpoint/2010/main" val="3997116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ge pilforbindelse 3"/>
          <p:cNvCxnSpPr/>
          <p:nvPr/>
        </p:nvCxnSpPr>
        <p:spPr>
          <a:xfrm>
            <a:off x="755576" y="249289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/>
          <p:cNvCxnSpPr/>
          <p:nvPr/>
        </p:nvCxnSpPr>
        <p:spPr>
          <a:xfrm>
            <a:off x="89959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8100392" y="227687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[A]</a:t>
            </a:r>
            <a:endParaRPr lang="da-DK" sz="1800" i="1" baseline="30000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755576" y="249289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cxnSp>
        <p:nvCxnSpPr>
          <p:cNvPr id="7" name="Lige forbindelse 6"/>
          <p:cNvCxnSpPr/>
          <p:nvPr/>
        </p:nvCxnSpPr>
        <p:spPr>
          <a:xfrm>
            <a:off x="5004048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/>
          <p:cNvCxnSpPr/>
          <p:nvPr/>
        </p:nvCxnSpPr>
        <p:spPr>
          <a:xfrm>
            <a:off x="594015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/>
          <p:cNvSpPr txBox="1">
            <a:spLocks/>
          </p:cNvSpPr>
          <p:nvPr/>
        </p:nvSpPr>
        <p:spPr>
          <a:xfrm>
            <a:off x="4860032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-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5796136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+</a:t>
            </a:r>
          </a:p>
        </p:txBody>
      </p:sp>
      <p:cxnSp>
        <p:nvCxnSpPr>
          <p:cNvPr id="16" name="Lige pilforbindelse 15"/>
          <p:cNvCxnSpPr/>
          <p:nvPr/>
        </p:nvCxnSpPr>
        <p:spPr>
          <a:xfrm flipV="1">
            <a:off x="5490102" y="2760226"/>
            <a:ext cx="0" cy="954106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forbindelse 13"/>
          <p:cNvCxnSpPr/>
          <p:nvPr/>
        </p:nvCxnSpPr>
        <p:spPr>
          <a:xfrm>
            <a:off x="549010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ktangel 18"/>
              <p:cNvSpPr/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i="1"/>
                            <m:t>I</m:t>
                          </m:r>
                        </m:e>
                        <m:sub>
                          <m:r>
                            <a:rPr lang="da-DK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da-DK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da-DK" i="1">
                              <a:latin typeface="Cambria Math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da-DK" i="1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19" name="Rektange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/>
          <p:cNvSpPr txBox="1">
            <a:spLocks/>
          </p:cNvSpPr>
          <p:nvPr/>
        </p:nvSpPr>
        <p:spPr>
          <a:xfrm>
            <a:off x="35496" y="44624"/>
            <a:ext cx="3927710" cy="416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/>
              <a:t>Biasstrømmene I</a:t>
            </a:r>
            <a:r>
              <a:rPr lang="da-DK" sz="2800" i="1" baseline="-25000"/>
              <a:t>B</a:t>
            </a:r>
            <a:r>
              <a:rPr lang="da-DK" sz="2800" i="1" baseline="30000"/>
              <a:t>-</a:t>
            </a:r>
            <a:r>
              <a:rPr lang="da-DK" sz="2800" i="1"/>
              <a:t> og I</a:t>
            </a:r>
            <a:r>
              <a:rPr lang="da-DK" sz="2800" i="1" baseline="-25000"/>
              <a:t>B</a:t>
            </a:r>
            <a:r>
              <a:rPr lang="da-DK" sz="2800" i="1" baseline="30000"/>
              <a:t>+</a:t>
            </a:r>
            <a:endParaRPr lang="da-DK" sz="2800" i="1" baseline="30000" dirty="0"/>
          </a:p>
        </p:txBody>
      </p:sp>
    </p:spTree>
    <p:extLst>
      <p:ext uri="{BB962C8B-B14F-4D97-AF65-F5344CB8AC3E}">
        <p14:creationId xmlns:p14="http://schemas.microsoft.com/office/powerpoint/2010/main" val="3744238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/>
          <p:cNvGrpSpPr/>
          <p:nvPr/>
        </p:nvGrpSpPr>
        <p:grpSpPr>
          <a:xfrm>
            <a:off x="755576" y="1484784"/>
            <a:ext cx="7920880" cy="2891339"/>
            <a:chOff x="755576" y="1484784"/>
            <a:chExt cx="7920880" cy="2891339"/>
          </a:xfrm>
        </p:grpSpPr>
        <p:cxnSp>
          <p:nvCxnSpPr>
            <p:cNvPr id="4" name="Lige pilforbindelse 3"/>
            <p:cNvCxnSpPr/>
            <p:nvPr/>
          </p:nvCxnSpPr>
          <p:spPr>
            <a:xfrm>
              <a:off x="755576" y="2492896"/>
              <a:ext cx="7344816" cy="0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ge forbindelse 7"/>
            <p:cNvCxnSpPr/>
            <p:nvPr/>
          </p:nvCxnSpPr>
          <p:spPr>
            <a:xfrm>
              <a:off x="899592" y="2348880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itel 1"/>
            <p:cNvSpPr txBox="1">
              <a:spLocks/>
            </p:cNvSpPr>
            <p:nvPr/>
          </p:nvSpPr>
          <p:spPr>
            <a:xfrm>
              <a:off x="8100392" y="2276872"/>
              <a:ext cx="576064" cy="7920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[A]</a:t>
              </a:r>
              <a:endParaRPr lang="da-DK" sz="1800" i="1" baseline="300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755576" y="2492896"/>
              <a:ext cx="360040" cy="70928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1800" i="1" dirty="0"/>
                <a:t>0</a:t>
              </a:r>
              <a:endParaRPr lang="da-DK" sz="1800" i="1" baseline="30000" dirty="0"/>
            </a:p>
          </p:txBody>
        </p:sp>
        <p:cxnSp>
          <p:nvCxnSpPr>
            <p:cNvPr id="7" name="Lige forbindelse 6"/>
            <p:cNvCxnSpPr/>
            <p:nvPr/>
          </p:nvCxnSpPr>
          <p:spPr>
            <a:xfrm>
              <a:off x="5004048" y="2348880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Lige forbindelse 10"/>
            <p:cNvCxnSpPr/>
            <p:nvPr/>
          </p:nvCxnSpPr>
          <p:spPr>
            <a:xfrm>
              <a:off x="5940152" y="2348880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itel 1"/>
            <p:cNvSpPr txBox="1">
              <a:spLocks/>
            </p:cNvSpPr>
            <p:nvPr/>
          </p:nvSpPr>
          <p:spPr>
            <a:xfrm>
              <a:off x="4860032" y="2451492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I</a:t>
              </a:r>
              <a:r>
                <a:rPr lang="da-DK" sz="1800" i="1" baseline="-25000" dirty="0"/>
                <a:t>B</a:t>
              </a:r>
              <a:r>
                <a:rPr lang="da-DK" sz="1800" i="1" baseline="30000" dirty="0"/>
                <a:t>-</a:t>
              </a:r>
            </a:p>
          </p:txBody>
        </p:sp>
        <p:sp>
          <p:nvSpPr>
            <p:cNvPr id="13" name="Titel 1"/>
            <p:cNvSpPr txBox="1">
              <a:spLocks/>
            </p:cNvSpPr>
            <p:nvPr/>
          </p:nvSpPr>
          <p:spPr>
            <a:xfrm>
              <a:off x="5796136" y="2451492"/>
              <a:ext cx="432048" cy="61746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I</a:t>
              </a:r>
              <a:r>
                <a:rPr lang="da-DK" sz="1800" i="1" baseline="-25000" dirty="0"/>
                <a:t>B</a:t>
              </a:r>
              <a:r>
                <a:rPr lang="da-DK" sz="1800" i="1" baseline="30000" dirty="0"/>
                <a:t>+</a:t>
              </a:r>
            </a:p>
          </p:txBody>
        </p:sp>
        <p:cxnSp>
          <p:nvCxnSpPr>
            <p:cNvPr id="14" name="Lige forbindelse 13"/>
            <p:cNvCxnSpPr/>
            <p:nvPr/>
          </p:nvCxnSpPr>
          <p:spPr>
            <a:xfrm>
              <a:off x="5490102" y="2348880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Højre klammeparentes 4"/>
            <p:cNvSpPr/>
            <p:nvPr/>
          </p:nvSpPr>
          <p:spPr>
            <a:xfrm rot="16200000">
              <a:off x="5436096" y="1628800"/>
              <a:ext cx="72008" cy="93610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 i="1"/>
            </a:p>
          </p:txBody>
        </p:sp>
        <p:sp>
          <p:nvSpPr>
            <p:cNvPr id="17" name="Titel 1"/>
            <p:cNvSpPr txBox="1">
              <a:spLocks/>
            </p:cNvSpPr>
            <p:nvPr/>
          </p:nvSpPr>
          <p:spPr>
            <a:xfrm>
              <a:off x="5364088" y="1484784"/>
              <a:ext cx="1512168" cy="64807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000" i="1" dirty="0" err="1">
                  <a:latin typeface="+mn-lt"/>
                </a:rPr>
                <a:t>I</a:t>
              </a:r>
              <a:r>
                <a:rPr lang="da-DK" sz="2000" i="1" baseline="-25000" dirty="0" err="1">
                  <a:latin typeface="+mn-lt"/>
                </a:rPr>
                <a:t>off</a:t>
              </a:r>
              <a:r>
                <a:rPr lang="da-DK" sz="2000" i="1" dirty="0">
                  <a:latin typeface="+mn-lt"/>
                </a:rPr>
                <a:t> = I</a:t>
              </a:r>
              <a:r>
                <a:rPr lang="da-DK" sz="2000" i="1" baseline="-25000" dirty="0">
                  <a:latin typeface="+mn-lt"/>
                </a:rPr>
                <a:t>B</a:t>
              </a:r>
              <a:r>
                <a:rPr lang="da-DK" sz="2000" i="1" baseline="30000" dirty="0">
                  <a:latin typeface="+mn-lt"/>
                </a:rPr>
                <a:t>+</a:t>
              </a:r>
              <a:r>
                <a:rPr lang="da-DK" sz="2000" i="1" dirty="0">
                  <a:latin typeface="+mn-lt"/>
                </a:rPr>
                <a:t> - I</a:t>
              </a:r>
              <a:r>
                <a:rPr lang="da-DK" sz="2000" i="1" baseline="-25000" dirty="0">
                  <a:latin typeface="+mn-lt"/>
                </a:rPr>
                <a:t>B</a:t>
              </a:r>
              <a:r>
                <a:rPr lang="da-DK" sz="2000" i="1" baseline="30000" dirty="0">
                  <a:latin typeface="+mn-lt"/>
                </a:rPr>
                <a:t>-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ktangel 20"/>
                <p:cNvSpPr/>
                <p:nvPr/>
              </p:nvSpPr>
              <p:spPr>
                <a:xfrm>
                  <a:off x="5076056" y="3717032"/>
                  <a:ext cx="1944216" cy="65909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a-DK" i="1"/>
                              <m:t>I</m:t>
                            </m:r>
                          </m:e>
                          <m:sub>
                            <m:r>
                              <a:rPr lang="da-DK" i="1">
                                <a:latin typeface="Cambria Math"/>
                              </a:rPr>
                              <m:t>𝐵</m:t>
                            </m:r>
                          </m:sub>
                        </m:sSub>
                        <m:r>
                          <a:rPr lang="da-DK" i="1">
                            <a:latin typeface="Cambria Math"/>
                          </a:rPr>
                          <m:t>= </m:t>
                        </m:r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nor/>
                                  </m:rPr>
                                  <a:rPr lang="da-DK" i="1"/>
                                  <m:t>I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da-DK" i="1">
                                    <a:latin typeface="Cambria Math"/>
                                  </a:rPr>
                                  <m:t>+</m:t>
                                </m:r>
                              </m:sup>
                            </m:sSubSup>
                            <m:r>
                              <a:rPr lang="da-DK" i="1">
                                <a:latin typeface="Cambria Math"/>
                              </a:rPr>
                              <m:t>+ </m:t>
                            </m:r>
                            <m:sSubSup>
                              <m:sSubSup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nor/>
                                  </m:rPr>
                                  <a:rPr lang="da-DK" i="1"/>
                                  <m:t>I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da-DK" i="1">
                                    <a:latin typeface="Cambria Math"/>
                                  </a:rPr>
                                  <m:t>−</m:t>
                                </m:r>
                              </m:sup>
                            </m:sSubSup>
                          </m:num>
                          <m:den>
                            <m:r>
                              <m:rPr>
                                <m:nor/>
                              </m:rPr>
                              <a:rPr lang="da-DK" i="1"/>
                              <m:t>2</m:t>
                            </m:r>
                          </m:den>
                        </m:f>
                      </m:oMath>
                    </m:oMathPara>
                  </a14:m>
                  <a:endParaRPr lang="da-DK" i="1" dirty="0"/>
                </a:p>
              </p:txBody>
            </p:sp>
          </mc:Choice>
          <mc:Fallback xmlns="">
            <p:sp>
              <p:nvSpPr>
                <p:cNvPr id="21" name="Rektange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6056" y="3717032"/>
                  <a:ext cx="1944216" cy="6590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927710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 err="1"/>
              <a:t>Biasstrømmene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-</a:t>
            </a:r>
            <a:r>
              <a:rPr lang="da-DK" sz="2800" i="1" dirty="0"/>
              <a:t> og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+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949AF522-D5C2-40D1-950D-A3DBC4AEC0AF}"/>
              </a:ext>
            </a:extLst>
          </p:cNvPr>
          <p:cNvCxnSpPr/>
          <p:nvPr/>
        </p:nvCxnSpPr>
        <p:spPr>
          <a:xfrm flipV="1">
            <a:off x="5490102" y="2760226"/>
            <a:ext cx="0" cy="954106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8776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ge pilforbindelse 3"/>
          <p:cNvCxnSpPr/>
          <p:nvPr/>
        </p:nvCxnSpPr>
        <p:spPr>
          <a:xfrm>
            <a:off x="755576" y="249289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/>
          <p:cNvCxnSpPr/>
          <p:nvPr/>
        </p:nvCxnSpPr>
        <p:spPr>
          <a:xfrm>
            <a:off x="89959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8100392" y="227687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[A]</a:t>
            </a:r>
            <a:endParaRPr lang="da-DK" sz="1800" i="1" baseline="30000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755576" y="249289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cxnSp>
        <p:nvCxnSpPr>
          <p:cNvPr id="7" name="Lige forbindelse 6"/>
          <p:cNvCxnSpPr/>
          <p:nvPr/>
        </p:nvCxnSpPr>
        <p:spPr>
          <a:xfrm>
            <a:off x="5004048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/>
          <p:cNvCxnSpPr/>
          <p:nvPr/>
        </p:nvCxnSpPr>
        <p:spPr>
          <a:xfrm>
            <a:off x="594015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/>
          <p:cNvSpPr txBox="1">
            <a:spLocks/>
          </p:cNvSpPr>
          <p:nvPr/>
        </p:nvSpPr>
        <p:spPr>
          <a:xfrm>
            <a:off x="4860032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-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5796136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+</a:t>
            </a:r>
          </a:p>
        </p:txBody>
      </p:sp>
      <p:cxnSp>
        <p:nvCxnSpPr>
          <p:cNvPr id="14" name="Lige forbindelse 13"/>
          <p:cNvCxnSpPr/>
          <p:nvPr/>
        </p:nvCxnSpPr>
        <p:spPr>
          <a:xfrm>
            <a:off x="549010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øjre klammeparentes 4"/>
          <p:cNvSpPr/>
          <p:nvPr/>
        </p:nvSpPr>
        <p:spPr>
          <a:xfrm rot="16200000">
            <a:off x="5436096" y="1628800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17" name="Titel 1"/>
          <p:cNvSpPr txBox="1">
            <a:spLocks/>
          </p:cNvSpPr>
          <p:nvPr/>
        </p:nvSpPr>
        <p:spPr>
          <a:xfrm>
            <a:off x="5364088" y="1484784"/>
            <a:ext cx="151216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>
                <a:latin typeface="+mn-lt"/>
              </a:rPr>
              <a:t>I</a:t>
            </a:r>
            <a:r>
              <a:rPr lang="da-DK" sz="2000" i="1" baseline="-25000" dirty="0" err="1">
                <a:latin typeface="+mn-lt"/>
              </a:rPr>
              <a:t>off</a:t>
            </a:r>
            <a:r>
              <a:rPr lang="da-DK" sz="2000" i="1" dirty="0">
                <a:latin typeface="+mn-lt"/>
              </a:rPr>
              <a:t> = I</a:t>
            </a:r>
            <a:r>
              <a:rPr lang="da-DK" sz="2000" i="1" baseline="-25000" dirty="0">
                <a:latin typeface="+mn-lt"/>
              </a:rPr>
              <a:t>B</a:t>
            </a:r>
            <a:r>
              <a:rPr lang="da-DK" sz="2000" i="1" baseline="30000" dirty="0">
                <a:latin typeface="+mn-lt"/>
              </a:rPr>
              <a:t>+</a:t>
            </a:r>
            <a:r>
              <a:rPr lang="da-DK" sz="2000" i="1" dirty="0">
                <a:latin typeface="+mn-lt"/>
              </a:rPr>
              <a:t> - I</a:t>
            </a:r>
            <a:r>
              <a:rPr lang="da-DK" sz="2000" i="1" baseline="-25000" dirty="0">
                <a:latin typeface="+mn-lt"/>
              </a:rPr>
              <a:t>B</a:t>
            </a:r>
            <a:r>
              <a:rPr lang="da-DK" sz="2000" i="1" baseline="30000" dirty="0">
                <a:latin typeface="+mn-lt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ktangel 20"/>
              <p:cNvSpPr/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i="1"/>
                            <m:t>I</m:t>
                          </m:r>
                        </m:e>
                        <m:sub>
                          <m:r>
                            <a:rPr lang="da-DK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da-DK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da-DK" i="1">
                              <a:latin typeface="Cambria Math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da-DK" i="1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21" name="Rektange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llipse 15"/>
          <p:cNvSpPr/>
          <p:nvPr/>
        </p:nvSpPr>
        <p:spPr>
          <a:xfrm>
            <a:off x="5285110" y="1566421"/>
            <a:ext cx="570348" cy="57606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Ellipse 17"/>
          <p:cNvSpPr/>
          <p:nvPr/>
        </p:nvSpPr>
        <p:spPr>
          <a:xfrm>
            <a:off x="5220072" y="3808296"/>
            <a:ext cx="570348" cy="57606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" name="Lige pilforbindelse 2"/>
          <p:cNvCxnSpPr/>
          <p:nvPr/>
        </p:nvCxnSpPr>
        <p:spPr>
          <a:xfrm flipH="1" flipV="1">
            <a:off x="5724128" y="4509120"/>
            <a:ext cx="504056" cy="1080120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pilforbindelse 21"/>
          <p:cNvCxnSpPr>
            <a:cxnSpLocks/>
          </p:cNvCxnSpPr>
          <p:nvPr/>
        </p:nvCxnSpPr>
        <p:spPr>
          <a:xfrm flipH="1" flipV="1">
            <a:off x="5724128" y="2240870"/>
            <a:ext cx="552345" cy="3348370"/>
          </a:xfrm>
          <a:prstGeom prst="straightConnector1">
            <a:avLst/>
          </a:prstGeom>
          <a:ln w="127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el 1"/>
          <p:cNvSpPr txBox="1">
            <a:spLocks/>
          </p:cNvSpPr>
          <p:nvPr/>
        </p:nvSpPr>
        <p:spPr>
          <a:xfrm>
            <a:off x="5970367" y="5475716"/>
            <a:ext cx="2172525" cy="731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600" i="1" dirty="0"/>
              <a:t>Det er disse to, man får oplyst i databladet</a:t>
            </a:r>
            <a:endParaRPr lang="da-DK" sz="1600" i="1" baseline="30000" dirty="0"/>
          </a:p>
        </p:txBody>
      </p:sp>
      <p:sp>
        <p:nvSpPr>
          <p:cNvPr id="24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927710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 err="1"/>
              <a:t>Biasstrømmene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-</a:t>
            </a:r>
            <a:r>
              <a:rPr lang="da-DK" sz="2800" i="1" dirty="0"/>
              <a:t> og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+</a:t>
            </a:r>
          </a:p>
        </p:txBody>
      </p: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8BC870C2-DFF7-4928-9F31-90F21A88F776}"/>
              </a:ext>
            </a:extLst>
          </p:cNvPr>
          <p:cNvCxnSpPr/>
          <p:nvPr/>
        </p:nvCxnSpPr>
        <p:spPr>
          <a:xfrm flipV="1">
            <a:off x="5490102" y="2760226"/>
            <a:ext cx="0" cy="954106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785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DAA8C124-77AB-4473-8244-86E245CC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7" y="0"/>
            <a:ext cx="6234546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0D5B0F9C-88A0-FE09-7C8D-DCDBFEBC3245}"/>
              </a:ext>
            </a:extLst>
          </p:cNvPr>
          <p:cNvSpPr/>
          <p:nvPr/>
        </p:nvSpPr>
        <p:spPr>
          <a:xfrm>
            <a:off x="1475656" y="1916832"/>
            <a:ext cx="6192688" cy="1512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187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ge pilforbindelse 3"/>
          <p:cNvCxnSpPr/>
          <p:nvPr/>
        </p:nvCxnSpPr>
        <p:spPr>
          <a:xfrm>
            <a:off x="755576" y="249289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/>
          <p:cNvCxnSpPr/>
          <p:nvPr/>
        </p:nvCxnSpPr>
        <p:spPr>
          <a:xfrm>
            <a:off x="89959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8100392" y="227687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[A]</a:t>
            </a:r>
            <a:endParaRPr lang="da-DK" sz="1800" i="1" baseline="30000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755576" y="249289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cxnSp>
        <p:nvCxnSpPr>
          <p:cNvPr id="7" name="Lige forbindelse 6"/>
          <p:cNvCxnSpPr/>
          <p:nvPr/>
        </p:nvCxnSpPr>
        <p:spPr>
          <a:xfrm>
            <a:off x="5004048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/>
          <p:cNvCxnSpPr/>
          <p:nvPr/>
        </p:nvCxnSpPr>
        <p:spPr>
          <a:xfrm>
            <a:off x="594015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/>
          <p:cNvSpPr txBox="1">
            <a:spLocks/>
          </p:cNvSpPr>
          <p:nvPr/>
        </p:nvSpPr>
        <p:spPr>
          <a:xfrm>
            <a:off x="4860032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-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5796136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+</a:t>
            </a:r>
          </a:p>
        </p:txBody>
      </p:sp>
      <p:cxnSp>
        <p:nvCxnSpPr>
          <p:cNvPr id="14" name="Lige forbindelse 13"/>
          <p:cNvCxnSpPr/>
          <p:nvPr/>
        </p:nvCxnSpPr>
        <p:spPr>
          <a:xfrm>
            <a:off x="549010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øjre klammeparentes 4"/>
          <p:cNvSpPr/>
          <p:nvPr/>
        </p:nvSpPr>
        <p:spPr>
          <a:xfrm rot="16200000">
            <a:off x="5436096" y="1628800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17" name="Titel 1"/>
          <p:cNvSpPr txBox="1">
            <a:spLocks/>
          </p:cNvSpPr>
          <p:nvPr/>
        </p:nvSpPr>
        <p:spPr>
          <a:xfrm>
            <a:off x="5364088" y="1484784"/>
            <a:ext cx="151216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>
                <a:latin typeface="+mn-lt"/>
              </a:rPr>
              <a:t>I</a:t>
            </a:r>
            <a:r>
              <a:rPr lang="da-DK" sz="2000" i="1" baseline="-25000" dirty="0" err="1">
                <a:latin typeface="+mn-lt"/>
              </a:rPr>
              <a:t>off</a:t>
            </a:r>
            <a:r>
              <a:rPr lang="da-DK" sz="2000" i="1" dirty="0">
                <a:latin typeface="+mn-lt"/>
              </a:rPr>
              <a:t> = I</a:t>
            </a:r>
            <a:r>
              <a:rPr lang="da-DK" sz="2000" i="1" baseline="-25000" dirty="0">
                <a:latin typeface="+mn-lt"/>
              </a:rPr>
              <a:t>B</a:t>
            </a:r>
            <a:r>
              <a:rPr lang="da-DK" sz="2000" i="1" baseline="30000" dirty="0">
                <a:latin typeface="+mn-lt"/>
              </a:rPr>
              <a:t>+</a:t>
            </a:r>
            <a:r>
              <a:rPr lang="da-DK" sz="2000" i="1" dirty="0">
                <a:latin typeface="+mn-lt"/>
              </a:rPr>
              <a:t> - I</a:t>
            </a:r>
            <a:r>
              <a:rPr lang="da-DK" sz="2000" i="1" baseline="-25000" dirty="0">
                <a:latin typeface="+mn-lt"/>
              </a:rPr>
              <a:t>B</a:t>
            </a:r>
            <a:r>
              <a:rPr lang="da-DK" sz="2000" i="1" baseline="30000" dirty="0">
                <a:latin typeface="+mn-lt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ktangel 20"/>
              <p:cNvSpPr/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i="1"/>
                            <m:t>I</m:t>
                          </m:r>
                        </m:e>
                        <m:sub>
                          <m:r>
                            <a:rPr lang="da-DK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da-DK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da-DK" i="1">
                              <a:latin typeface="Cambria Math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da-DK" i="1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21" name="Rektange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927710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 err="1"/>
              <a:t>Biasstrømmene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-</a:t>
            </a:r>
            <a:r>
              <a:rPr lang="da-DK" sz="2800" i="1" dirty="0"/>
              <a:t> og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+</a:t>
            </a:r>
          </a:p>
        </p:txBody>
      </p:sp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6195DD29-25C8-43DA-A156-CD84D20946F0}"/>
              </a:ext>
            </a:extLst>
          </p:cNvPr>
          <p:cNvCxnSpPr/>
          <p:nvPr/>
        </p:nvCxnSpPr>
        <p:spPr>
          <a:xfrm flipV="1">
            <a:off x="5490102" y="2760226"/>
            <a:ext cx="0" cy="954106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EA8589B8-9B9B-541A-6DC8-542D6D01CBE3}"/>
              </a:ext>
            </a:extLst>
          </p:cNvPr>
          <p:cNvSpPr txBox="1">
            <a:spLocks/>
          </p:cNvSpPr>
          <p:nvPr/>
        </p:nvSpPr>
        <p:spPr>
          <a:xfrm>
            <a:off x="5688123" y="1369037"/>
            <a:ext cx="648073" cy="2160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720725" algn="l"/>
              </a:tabLst>
            </a:pPr>
            <a:r>
              <a:rPr lang="da-DK" sz="1400" i="1" dirty="0">
                <a:solidFill>
                  <a:srgbClr val="FF0000"/>
                </a:solidFill>
              </a:rPr>
              <a:t>(Dual)</a:t>
            </a:r>
            <a:endParaRPr lang="da-DK" sz="1400" dirty="0">
              <a:solidFill>
                <a:srgbClr val="FF0000"/>
              </a:solidFill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0712845-B520-BF32-7A48-5A4B4137C99C}"/>
              </a:ext>
            </a:extLst>
          </p:cNvPr>
          <p:cNvSpPr txBox="1">
            <a:spLocks/>
          </p:cNvSpPr>
          <p:nvPr/>
        </p:nvSpPr>
        <p:spPr>
          <a:xfrm>
            <a:off x="5652119" y="4437114"/>
            <a:ext cx="936105" cy="2160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720725" algn="l"/>
              </a:tabLst>
            </a:pPr>
            <a:r>
              <a:rPr lang="da-DK" sz="1400" i="1" dirty="0">
                <a:solidFill>
                  <a:srgbClr val="FF0000"/>
                </a:solidFill>
              </a:rPr>
              <a:t>(Singulær)</a:t>
            </a:r>
            <a:endParaRPr lang="da-DK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019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Lige pilforbindelse 3"/>
          <p:cNvCxnSpPr/>
          <p:nvPr/>
        </p:nvCxnSpPr>
        <p:spPr>
          <a:xfrm>
            <a:off x="755576" y="2492896"/>
            <a:ext cx="734481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ge forbindelse 7"/>
          <p:cNvCxnSpPr/>
          <p:nvPr/>
        </p:nvCxnSpPr>
        <p:spPr>
          <a:xfrm>
            <a:off x="89959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8100392" y="2276872"/>
            <a:ext cx="576064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[A]</a:t>
            </a:r>
            <a:endParaRPr lang="da-DK" sz="1800" i="1" baseline="30000" dirty="0"/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755576" y="2492896"/>
            <a:ext cx="360040" cy="709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800" i="1" dirty="0"/>
              <a:t>0</a:t>
            </a:r>
            <a:endParaRPr lang="da-DK" sz="1800" i="1" baseline="30000" dirty="0"/>
          </a:p>
        </p:txBody>
      </p:sp>
      <p:cxnSp>
        <p:nvCxnSpPr>
          <p:cNvPr id="7" name="Lige forbindelse 6"/>
          <p:cNvCxnSpPr/>
          <p:nvPr/>
        </p:nvCxnSpPr>
        <p:spPr>
          <a:xfrm>
            <a:off x="5004048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/>
          <p:cNvCxnSpPr/>
          <p:nvPr/>
        </p:nvCxnSpPr>
        <p:spPr>
          <a:xfrm>
            <a:off x="594015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/>
          <p:cNvSpPr txBox="1">
            <a:spLocks/>
          </p:cNvSpPr>
          <p:nvPr/>
        </p:nvSpPr>
        <p:spPr>
          <a:xfrm>
            <a:off x="4860032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-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5796136" y="2451492"/>
            <a:ext cx="432048" cy="6174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800" i="1" dirty="0"/>
              <a:t>I</a:t>
            </a:r>
            <a:r>
              <a:rPr lang="da-DK" sz="1800" i="1" baseline="-25000" dirty="0"/>
              <a:t>B</a:t>
            </a:r>
            <a:r>
              <a:rPr lang="da-DK" sz="1800" i="1" baseline="30000" dirty="0"/>
              <a:t>+</a:t>
            </a:r>
          </a:p>
        </p:txBody>
      </p:sp>
      <p:cxnSp>
        <p:nvCxnSpPr>
          <p:cNvPr id="14" name="Lige forbindelse 13"/>
          <p:cNvCxnSpPr/>
          <p:nvPr/>
        </p:nvCxnSpPr>
        <p:spPr>
          <a:xfrm>
            <a:off x="5490102" y="234888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Højre klammeparentes 4"/>
          <p:cNvSpPr/>
          <p:nvPr/>
        </p:nvSpPr>
        <p:spPr>
          <a:xfrm rot="16200000">
            <a:off x="5436096" y="1628800"/>
            <a:ext cx="72008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i="1"/>
          </a:p>
        </p:txBody>
      </p:sp>
      <p:sp>
        <p:nvSpPr>
          <p:cNvPr id="17" name="Titel 1"/>
          <p:cNvSpPr txBox="1">
            <a:spLocks/>
          </p:cNvSpPr>
          <p:nvPr/>
        </p:nvSpPr>
        <p:spPr>
          <a:xfrm>
            <a:off x="5364088" y="1484784"/>
            <a:ext cx="151216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000" i="1" dirty="0" err="1">
                <a:latin typeface="+mn-lt"/>
              </a:rPr>
              <a:t>I</a:t>
            </a:r>
            <a:r>
              <a:rPr lang="da-DK" sz="2000" i="1" baseline="-25000" dirty="0" err="1">
                <a:latin typeface="+mn-lt"/>
              </a:rPr>
              <a:t>off</a:t>
            </a:r>
            <a:r>
              <a:rPr lang="da-DK" sz="2000" i="1" dirty="0">
                <a:latin typeface="+mn-lt"/>
              </a:rPr>
              <a:t> = I</a:t>
            </a:r>
            <a:r>
              <a:rPr lang="da-DK" sz="2000" i="1" baseline="-25000" dirty="0">
                <a:latin typeface="+mn-lt"/>
              </a:rPr>
              <a:t>B</a:t>
            </a:r>
            <a:r>
              <a:rPr lang="da-DK" sz="2000" i="1" baseline="30000" dirty="0">
                <a:latin typeface="+mn-lt"/>
              </a:rPr>
              <a:t>+</a:t>
            </a:r>
            <a:r>
              <a:rPr lang="da-DK" sz="2000" i="1" dirty="0">
                <a:latin typeface="+mn-lt"/>
              </a:rPr>
              <a:t> - I</a:t>
            </a:r>
            <a:r>
              <a:rPr lang="da-DK" sz="2000" i="1" baseline="-25000" dirty="0">
                <a:latin typeface="+mn-lt"/>
              </a:rPr>
              <a:t>B</a:t>
            </a:r>
            <a:r>
              <a:rPr lang="da-DK" sz="2000" i="1" baseline="30000" dirty="0">
                <a:latin typeface="+mn-lt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ktangel 17"/>
              <p:cNvSpPr/>
              <p:nvPr/>
            </p:nvSpPr>
            <p:spPr>
              <a:xfrm>
                <a:off x="1043608" y="4941168"/>
                <a:ext cx="2088232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a:rPr lang="da-DK" b="0" i="1" baseline="-25000" smtClean="0">
                          <a:latin typeface="Cambria Math"/>
                        </a:rPr>
                        <m:t>𝐵</m:t>
                      </m:r>
                      <m:r>
                        <a:rPr lang="da-DK" b="0" i="1" baseline="30000" smtClean="0">
                          <a:latin typeface="Cambria Math"/>
                        </a:rPr>
                        <m:t>+</m:t>
                      </m:r>
                      <m:r>
                        <a:rPr lang="da-DK" b="0" i="1" smtClean="0">
                          <a:latin typeface="Cambria Math"/>
                        </a:rPr>
                        <m:t> =</m:t>
                      </m:r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m:rPr>
                          <m:nor/>
                        </m:rPr>
                        <a:rPr lang="da-DK" i="1" baseline="-25000"/>
                        <m:t>B</m:t>
                      </m:r>
                      <m:r>
                        <a:rPr lang="da-DK" b="0" i="1" smtClean="0"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/>
                                </a:rPr>
                                <m:t>𝑜𝑓𝑓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da-DK" b="0" i="1" smtClean="0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18" name="Rektange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941168"/>
                <a:ext cx="2088232" cy="616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ktangel 18"/>
              <p:cNvSpPr/>
              <p:nvPr/>
            </p:nvSpPr>
            <p:spPr>
              <a:xfrm>
                <a:off x="1043608" y="5620348"/>
                <a:ext cx="2088232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a:rPr lang="da-DK" b="0" i="1" baseline="-25000" smtClean="0">
                          <a:latin typeface="Cambria Math"/>
                        </a:rPr>
                        <m:t>𝐵</m:t>
                      </m:r>
                      <m:r>
                        <a:rPr lang="da-DK" b="0" i="1" baseline="30000" smtClean="0">
                          <a:latin typeface="Cambria Math"/>
                        </a:rPr>
                        <m:t>−</m:t>
                      </m:r>
                      <m:r>
                        <a:rPr lang="da-DK" b="0" i="1" smtClean="0">
                          <a:latin typeface="Cambria Math"/>
                        </a:rPr>
                        <m:t> =</m:t>
                      </m:r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m:rPr>
                          <m:nor/>
                        </m:rPr>
                        <a:rPr lang="da-DK" i="1" baseline="-25000"/>
                        <m:t>B</m:t>
                      </m:r>
                      <m:r>
                        <a:rPr lang="da-DK" b="0" i="1" smtClean="0">
                          <a:latin typeface="Cambria Math"/>
                        </a:rPr>
                        <m:t>−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/>
                                </a:rPr>
                                <m:t>𝑜𝑓𝑓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da-DK" b="0" i="1" smtClean="0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19" name="Rektange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5620348"/>
                <a:ext cx="2088232" cy="616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ktangel 20"/>
              <p:cNvSpPr/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a-DK" i="1"/>
                            <m:t>I</m:t>
                          </m:r>
                        </m:e>
                        <m:sub>
                          <m:r>
                            <a:rPr lang="da-DK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da-DK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a:rPr lang="da-DK" i="1">
                              <a:latin typeface="Cambria Math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da-DK" i="1"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nor/>
                            </m:rPr>
                            <a:rPr lang="da-DK" i="1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21" name="Rektange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717032"/>
                <a:ext cx="1944216" cy="6590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3927710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 err="1"/>
              <a:t>Biasstrømmene</a:t>
            </a:r>
            <a:r>
              <a:rPr lang="da-DK" sz="2800" i="1" dirty="0"/>
              <a:t>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-</a:t>
            </a:r>
            <a:r>
              <a:rPr lang="da-DK" sz="2800" i="1" dirty="0"/>
              <a:t> og I</a:t>
            </a:r>
            <a:r>
              <a:rPr lang="da-DK" sz="2800" i="1" baseline="-25000" dirty="0"/>
              <a:t>B</a:t>
            </a:r>
            <a:r>
              <a:rPr lang="da-DK" sz="2800" i="1" baseline="30000" dirty="0"/>
              <a:t>+</a:t>
            </a:r>
          </a:p>
        </p:txBody>
      </p:sp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6195DD29-25C8-43DA-A156-CD84D20946F0}"/>
              </a:ext>
            </a:extLst>
          </p:cNvPr>
          <p:cNvCxnSpPr/>
          <p:nvPr/>
        </p:nvCxnSpPr>
        <p:spPr>
          <a:xfrm flipV="1">
            <a:off x="5490102" y="2760226"/>
            <a:ext cx="0" cy="954106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EA8589B8-9B9B-541A-6DC8-542D6D01CBE3}"/>
              </a:ext>
            </a:extLst>
          </p:cNvPr>
          <p:cNvSpPr txBox="1">
            <a:spLocks/>
          </p:cNvSpPr>
          <p:nvPr/>
        </p:nvSpPr>
        <p:spPr>
          <a:xfrm>
            <a:off x="5688123" y="1369037"/>
            <a:ext cx="648073" cy="2160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720725" algn="l"/>
              </a:tabLst>
            </a:pPr>
            <a:r>
              <a:rPr lang="da-DK" sz="1400" i="1" dirty="0">
                <a:solidFill>
                  <a:srgbClr val="FF0000"/>
                </a:solidFill>
              </a:rPr>
              <a:t>(Dual)</a:t>
            </a:r>
            <a:endParaRPr lang="da-DK" sz="1400" dirty="0">
              <a:solidFill>
                <a:srgbClr val="FF0000"/>
              </a:solidFill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0712845-B520-BF32-7A48-5A4B4137C99C}"/>
              </a:ext>
            </a:extLst>
          </p:cNvPr>
          <p:cNvSpPr txBox="1">
            <a:spLocks/>
          </p:cNvSpPr>
          <p:nvPr/>
        </p:nvSpPr>
        <p:spPr>
          <a:xfrm>
            <a:off x="5652119" y="4437114"/>
            <a:ext cx="936105" cy="2160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720725" algn="l"/>
              </a:tabLst>
            </a:pPr>
            <a:r>
              <a:rPr lang="da-DK" sz="1400" i="1" dirty="0">
                <a:solidFill>
                  <a:srgbClr val="FF0000"/>
                </a:solidFill>
              </a:rPr>
              <a:t>(Singulær)</a:t>
            </a:r>
            <a:endParaRPr lang="da-DK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127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29400" y="26336"/>
            <a:ext cx="6198784" cy="39277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Placering af </a:t>
            </a:r>
            <a:r>
              <a:rPr lang="da-DK" sz="2800" i="1" dirty="0" err="1"/>
              <a:t>biasstrømme</a:t>
            </a:r>
            <a:r>
              <a:rPr lang="da-DK" sz="2800" i="1" dirty="0"/>
              <a:t> i fejlækvivalent</a:t>
            </a:r>
            <a:endParaRPr lang="da-DK" sz="2800" b="1" dirty="0"/>
          </a:p>
        </p:txBody>
      </p:sp>
      <p:grpSp>
        <p:nvGrpSpPr>
          <p:cNvPr id="76" name="Gruppe 75"/>
          <p:cNvGrpSpPr/>
          <p:nvPr/>
        </p:nvGrpSpPr>
        <p:grpSpPr>
          <a:xfrm>
            <a:off x="268143" y="667661"/>
            <a:ext cx="3350538" cy="2185275"/>
            <a:chOff x="268143" y="667661"/>
            <a:chExt cx="3350538" cy="2185275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43" y="970534"/>
              <a:ext cx="2744026" cy="1882402"/>
            </a:xfrm>
            <a:prstGeom prst="rect">
              <a:avLst/>
            </a:prstGeom>
          </p:spPr>
        </p:pic>
        <p:sp>
          <p:nvSpPr>
            <p:cNvPr id="60" name="Rektangel 59"/>
            <p:cNvSpPr/>
            <p:nvPr/>
          </p:nvSpPr>
          <p:spPr>
            <a:xfrm>
              <a:off x="1661821" y="667661"/>
              <a:ext cx="19568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Praktisk Op Amp</a:t>
              </a:r>
            </a:p>
          </p:txBody>
        </p:sp>
        <p:cxnSp>
          <p:nvCxnSpPr>
            <p:cNvPr id="63" name="Lige pilforbindelse 62"/>
            <p:cNvCxnSpPr/>
            <p:nvPr/>
          </p:nvCxnSpPr>
          <p:spPr>
            <a:xfrm flipH="1">
              <a:off x="1907704" y="1007364"/>
              <a:ext cx="262262" cy="668647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3102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e 75"/>
          <p:cNvGrpSpPr/>
          <p:nvPr/>
        </p:nvGrpSpPr>
        <p:grpSpPr>
          <a:xfrm>
            <a:off x="268143" y="667661"/>
            <a:ext cx="3350538" cy="2185275"/>
            <a:chOff x="268143" y="667661"/>
            <a:chExt cx="3350538" cy="2185275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43" y="970534"/>
              <a:ext cx="2744026" cy="1882402"/>
            </a:xfrm>
            <a:prstGeom prst="rect">
              <a:avLst/>
            </a:prstGeom>
          </p:spPr>
        </p:pic>
        <p:sp>
          <p:nvSpPr>
            <p:cNvPr id="60" name="Rektangel 59"/>
            <p:cNvSpPr/>
            <p:nvPr/>
          </p:nvSpPr>
          <p:spPr>
            <a:xfrm>
              <a:off x="1661821" y="667661"/>
              <a:ext cx="19568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Praktisk Op Amp</a:t>
              </a:r>
            </a:p>
          </p:txBody>
        </p:sp>
      </p:grpSp>
      <p:pic>
        <p:nvPicPr>
          <p:cNvPr id="3" name="Billed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094" y="2661178"/>
            <a:ext cx="2744026" cy="1882402"/>
          </a:xfrm>
          <a:prstGeom prst="rect">
            <a:avLst/>
          </a:prstGeom>
        </p:spPr>
      </p:pic>
      <p:sp>
        <p:nvSpPr>
          <p:cNvPr id="61" name="Rektangel 60"/>
          <p:cNvSpPr/>
          <p:nvPr/>
        </p:nvSpPr>
        <p:spPr>
          <a:xfrm>
            <a:off x="4290188" y="2276872"/>
            <a:ext cx="15712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/>
              <a:t>Ideel Op Amp</a:t>
            </a:r>
          </a:p>
        </p:txBody>
      </p:sp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29400" y="26336"/>
            <a:ext cx="6198784" cy="39277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Placering af </a:t>
            </a:r>
            <a:r>
              <a:rPr lang="da-DK" sz="2800" i="1" dirty="0" err="1"/>
              <a:t>biasstrømme</a:t>
            </a:r>
            <a:r>
              <a:rPr lang="da-DK" sz="2800" i="1" dirty="0"/>
              <a:t> i fejlækvivalent</a:t>
            </a:r>
            <a:endParaRPr lang="da-DK" sz="2800" b="1" dirty="0"/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C5F32AE9-1B37-4421-9051-A3D55DF142A4}"/>
              </a:ext>
            </a:extLst>
          </p:cNvPr>
          <p:cNvCxnSpPr/>
          <p:nvPr/>
        </p:nvCxnSpPr>
        <p:spPr>
          <a:xfrm flipH="1">
            <a:off x="1907704" y="1007364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8D212BFC-4029-4F6A-932B-7C59D6409078}"/>
              </a:ext>
            </a:extLst>
          </p:cNvPr>
          <p:cNvCxnSpPr/>
          <p:nvPr/>
        </p:nvCxnSpPr>
        <p:spPr>
          <a:xfrm flipH="1">
            <a:off x="4499992" y="2661178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4163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e 75"/>
          <p:cNvGrpSpPr/>
          <p:nvPr/>
        </p:nvGrpSpPr>
        <p:grpSpPr>
          <a:xfrm>
            <a:off x="268143" y="667661"/>
            <a:ext cx="3350538" cy="2185275"/>
            <a:chOff x="268143" y="667661"/>
            <a:chExt cx="3350538" cy="2185275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43" y="970534"/>
              <a:ext cx="2744026" cy="1882402"/>
            </a:xfrm>
            <a:prstGeom prst="rect">
              <a:avLst/>
            </a:prstGeom>
          </p:spPr>
        </p:pic>
        <p:sp>
          <p:nvSpPr>
            <p:cNvPr id="60" name="Rektangel 59"/>
            <p:cNvSpPr/>
            <p:nvPr/>
          </p:nvSpPr>
          <p:spPr>
            <a:xfrm>
              <a:off x="1661821" y="667661"/>
              <a:ext cx="19568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Praktisk Op Amp</a:t>
              </a:r>
            </a:p>
          </p:txBody>
        </p:sp>
      </p:grpSp>
      <p:grpSp>
        <p:nvGrpSpPr>
          <p:cNvPr id="4" name="Gruppe 3"/>
          <p:cNvGrpSpPr/>
          <p:nvPr/>
        </p:nvGrpSpPr>
        <p:grpSpPr>
          <a:xfrm>
            <a:off x="2717044" y="2076728"/>
            <a:ext cx="3144379" cy="3047866"/>
            <a:chOff x="2717044" y="2076728"/>
            <a:chExt cx="3144379" cy="3047866"/>
          </a:xfrm>
        </p:grpSpPr>
        <p:pic>
          <p:nvPicPr>
            <p:cNvPr id="3" name="Billede 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8094" y="2661178"/>
              <a:ext cx="2744026" cy="1882402"/>
            </a:xfrm>
            <a:prstGeom prst="rect">
              <a:avLst/>
            </a:prstGeom>
          </p:spPr>
        </p:pic>
        <p:sp>
          <p:nvSpPr>
            <p:cNvPr id="16" name="Ellipse 15"/>
            <p:cNvSpPr/>
            <p:nvPr/>
          </p:nvSpPr>
          <p:spPr>
            <a:xfrm>
              <a:off x="3102574" y="4411500"/>
              <a:ext cx="388960" cy="3889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" name="Ellipse 21"/>
            <p:cNvSpPr/>
            <p:nvPr/>
          </p:nvSpPr>
          <p:spPr>
            <a:xfrm flipV="1">
              <a:off x="3102574" y="2401872"/>
              <a:ext cx="388960" cy="3889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25" name="Lige forbindelse 24"/>
            <p:cNvCxnSpPr/>
            <p:nvPr/>
          </p:nvCxnSpPr>
          <p:spPr>
            <a:xfrm>
              <a:off x="3297054" y="2790832"/>
              <a:ext cx="0" cy="3241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Lige forbindelse 26"/>
            <p:cNvCxnSpPr/>
            <p:nvPr/>
          </p:nvCxnSpPr>
          <p:spPr>
            <a:xfrm>
              <a:off x="3297054" y="4087366"/>
              <a:ext cx="0" cy="3241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Lige forbindelse 27"/>
            <p:cNvCxnSpPr/>
            <p:nvPr/>
          </p:nvCxnSpPr>
          <p:spPr>
            <a:xfrm>
              <a:off x="3297054" y="4800460"/>
              <a:ext cx="0" cy="3241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Lige forbindelse 28"/>
            <p:cNvCxnSpPr/>
            <p:nvPr/>
          </p:nvCxnSpPr>
          <p:spPr>
            <a:xfrm>
              <a:off x="3297054" y="2077738"/>
              <a:ext cx="0" cy="3241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Lige forbindelse 29"/>
            <p:cNvCxnSpPr/>
            <p:nvPr/>
          </p:nvCxnSpPr>
          <p:spPr>
            <a:xfrm>
              <a:off x="3278318" y="2095964"/>
              <a:ext cx="2268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Lige forbindelse 31"/>
            <p:cNvCxnSpPr/>
            <p:nvPr/>
          </p:nvCxnSpPr>
          <p:spPr>
            <a:xfrm flipV="1">
              <a:off x="3498953" y="2076728"/>
              <a:ext cx="0" cy="1465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Lige forbindelse 33"/>
            <p:cNvCxnSpPr/>
            <p:nvPr/>
          </p:nvCxnSpPr>
          <p:spPr>
            <a:xfrm rot="2700000" flipV="1">
              <a:off x="3506970" y="2149821"/>
              <a:ext cx="0" cy="1465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Lige forbindelse 34"/>
            <p:cNvCxnSpPr/>
            <p:nvPr/>
          </p:nvCxnSpPr>
          <p:spPr>
            <a:xfrm rot="2700000" flipV="1">
              <a:off x="3303485" y="5038307"/>
              <a:ext cx="0" cy="1465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ktangel 60"/>
            <p:cNvSpPr/>
            <p:nvPr/>
          </p:nvSpPr>
          <p:spPr>
            <a:xfrm>
              <a:off x="4290188" y="2276872"/>
              <a:ext cx="15712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Ideel Op Amp</a:t>
              </a:r>
            </a:p>
          </p:txBody>
        </p:sp>
        <p:sp>
          <p:nvSpPr>
            <p:cNvPr id="72" name="Titel 1"/>
            <p:cNvSpPr txBox="1">
              <a:spLocks/>
            </p:cNvSpPr>
            <p:nvPr/>
          </p:nvSpPr>
          <p:spPr>
            <a:xfrm>
              <a:off x="2717044" y="2334670"/>
              <a:ext cx="497318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r>
                <a:rPr lang="da-DK" sz="2000" i="1" baseline="30000" dirty="0"/>
                <a:t>-</a:t>
              </a:r>
              <a:endParaRPr lang="da-DK" sz="2000" dirty="0"/>
            </a:p>
          </p:txBody>
        </p:sp>
        <p:sp>
          <p:nvSpPr>
            <p:cNvPr id="73" name="Titel 1"/>
            <p:cNvSpPr txBox="1">
              <a:spLocks/>
            </p:cNvSpPr>
            <p:nvPr/>
          </p:nvSpPr>
          <p:spPr>
            <a:xfrm>
              <a:off x="2724786" y="4313650"/>
              <a:ext cx="497318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r>
                <a:rPr lang="da-DK" sz="2000" i="1" baseline="30000" dirty="0"/>
                <a:t>+</a:t>
              </a:r>
              <a:endParaRPr lang="da-DK" sz="2000" dirty="0"/>
            </a:p>
          </p:txBody>
        </p:sp>
      </p:grpSp>
      <p:sp>
        <p:nvSpPr>
          <p:cNvPr id="23" name="Titel 1"/>
          <p:cNvSpPr>
            <a:spLocks noGrp="1"/>
          </p:cNvSpPr>
          <p:nvPr>
            <p:ph type="ctrTitle"/>
          </p:nvPr>
        </p:nvSpPr>
        <p:spPr>
          <a:xfrm>
            <a:off x="29400" y="26336"/>
            <a:ext cx="6198784" cy="39277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Placering af </a:t>
            </a:r>
            <a:r>
              <a:rPr lang="da-DK" sz="2800" i="1" dirty="0" err="1"/>
              <a:t>biasstrømme</a:t>
            </a:r>
            <a:r>
              <a:rPr lang="da-DK" sz="2800" i="1" dirty="0"/>
              <a:t> i fejlækvivalent</a:t>
            </a:r>
            <a:endParaRPr lang="da-DK" sz="2800" b="1" dirty="0"/>
          </a:p>
        </p:txBody>
      </p:sp>
      <p:cxnSp>
        <p:nvCxnSpPr>
          <p:cNvPr id="24" name="Lige pilforbindelse 23">
            <a:extLst>
              <a:ext uri="{FF2B5EF4-FFF2-40B4-BE49-F238E27FC236}">
                <a16:creationId xmlns:a16="http://schemas.microsoft.com/office/drawing/2014/main" id="{EFE551FE-FB48-4AD8-B200-5D40D6F04032}"/>
              </a:ext>
            </a:extLst>
          </p:cNvPr>
          <p:cNvCxnSpPr/>
          <p:nvPr/>
        </p:nvCxnSpPr>
        <p:spPr>
          <a:xfrm flipH="1">
            <a:off x="4499992" y="2661178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F27E2CEF-1365-433D-8308-C548D7554E30}"/>
              </a:ext>
            </a:extLst>
          </p:cNvPr>
          <p:cNvCxnSpPr/>
          <p:nvPr/>
        </p:nvCxnSpPr>
        <p:spPr>
          <a:xfrm flipH="1">
            <a:off x="1907704" y="1007364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1056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e 75"/>
          <p:cNvGrpSpPr/>
          <p:nvPr/>
        </p:nvGrpSpPr>
        <p:grpSpPr>
          <a:xfrm>
            <a:off x="268143" y="667661"/>
            <a:ext cx="3350538" cy="2185275"/>
            <a:chOff x="268143" y="667661"/>
            <a:chExt cx="3350538" cy="2185275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43" y="970534"/>
              <a:ext cx="2744026" cy="1882402"/>
            </a:xfrm>
            <a:prstGeom prst="rect">
              <a:avLst/>
            </a:prstGeom>
          </p:spPr>
        </p:pic>
        <p:sp>
          <p:nvSpPr>
            <p:cNvPr id="60" name="Rektangel 59"/>
            <p:cNvSpPr/>
            <p:nvPr/>
          </p:nvSpPr>
          <p:spPr>
            <a:xfrm>
              <a:off x="1661821" y="667661"/>
              <a:ext cx="19568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Praktisk Op Amp</a:t>
              </a:r>
            </a:p>
          </p:txBody>
        </p:sp>
      </p:grpSp>
      <p:grpSp>
        <p:nvGrpSpPr>
          <p:cNvPr id="75" name="Gruppe 74"/>
          <p:cNvGrpSpPr/>
          <p:nvPr/>
        </p:nvGrpSpPr>
        <p:grpSpPr>
          <a:xfrm>
            <a:off x="2717044" y="2077738"/>
            <a:ext cx="3144379" cy="3046856"/>
            <a:chOff x="2717044" y="2077738"/>
            <a:chExt cx="3144379" cy="3046856"/>
          </a:xfrm>
        </p:grpSpPr>
        <p:grpSp>
          <p:nvGrpSpPr>
            <p:cNvPr id="36" name="Gruppe 35"/>
            <p:cNvGrpSpPr/>
            <p:nvPr/>
          </p:nvGrpSpPr>
          <p:grpSpPr>
            <a:xfrm>
              <a:off x="2908094" y="2077738"/>
              <a:ext cx="2744026" cy="3046856"/>
              <a:chOff x="4067944" y="2780928"/>
              <a:chExt cx="3048000" cy="3384376"/>
            </a:xfrm>
          </p:grpSpPr>
          <p:pic>
            <p:nvPicPr>
              <p:cNvPr id="3" name="Billede 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7944" y="3429000"/>
                <a:ext cx="3048000" cy="2090928"/>
              </a:xfrm>
              <a:prstGeom prst="rect">
                <a:avLst/>
              </a:prstGeom>
            </p:spPr>
          </p:pic>
          <p:grpSp>
            <p:nvGrpSpPr>
              <p:cNvPr id="20" name="Gruppe 19"/>
              <p:cNvGrpSpPr/>
              <p:nvPr/>
            </p:nvGrpSpPr>
            <p:grpSpPr>
              <a:xfrm>
                <a:off x="4283968" y="5373216"/>
                <a:ext cx="432048" cy="432048"/>
                <a:chOff x="4283968" y="5373216"/>
                <a:chExt cx="432048" cy="432048"/>
              </a:xfrm>
            </p:grpSpPr>
            <p:sp>
              <p:nvSpPr>
                <p:cNvPr id="16" name="Ellipse 15"/>
                <p:cNvSpPr/>
                <p:nvPr/>
              </p:nvSpPr>
              <p:spPr>
                <a:xfrm>
                  <a:off x="4283968" y="5373216"/>
                  <a:ext cx="432048" cy="43204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a-DK"/>
                </a:p>
              </p:txBody>
            </p:sp>
            <p:cxnSp>
              <p:nvCxnSpPr>
                <p:cNvPr id="19" name="Lige pilforbindelse 18"/>
                <p:cNvCxnSpPr/>
                <p:nvPr/>
              </p:nvCxnSpPr>
              <p:spPr>
                <a:xfrm>
                  <a:off x="4499992" y="5446572"/>
                  <a:ext cx="0" cy="28533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uppe 20"/>
              <p:cNvGrpSpPr/>
              <p:nvPr/>
            </p:nvGrpSpPr>
            <p:grpSpPr>
              <a:xfrm flipV="1">
                <a:off x="4283968" y="3140968"/>
                <a:ext cx="432048" cy="432048"/>
                <a:chOff x="4283968" y="5373216"/>
                <a:chExt cx="432048" cy="432048"/>
              </a:xfrm>
            </p:grpSpPr>
            <p:sp>
              <p:nvSpPr>
                <p:cNvPr id="22" name="Ellipse 21"/>
                <p:cNvSpPr/>
                <p:nvPr/>
              </p:nvSpPr>
              <p:spPr>
                <a:xfrm>
                  <a:off x="4283968" y="5373216"/>
                  <a:ext cx="432048" cy="43204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a-DK"/>
                </a:p>
              </p:txBody>
            </p:sp>
            <p:cxnSp>
              <p:nvCxnSpPr>
                <p:cNvPr id="23" name="Lige pilforbindelse 22"/>
                <p:cNvCxnSpPr/>
                <p:nvPr/>
              </p:nvCxnSpPr>
              <p:spPr>
                <a:xfrm>
                  <a:off x="4499992" y="5446572"/>
                  <a:ext cx="0" cy="28533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Lige forbindelse 24"/>
              <p:cNvCxnSpPr/>
              <p:nvPr/>
            </p:nvCxnSpPr>
            <p:spPr>
              <a:xfrm>
                <a:off x="4499992" y="3573016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Lige forbindelse 26"/>
              <p:cNvCxnSpPr/>
              <p:nvPr/>
            </p:nvCxnSpPr>
            <p:spPr>
              <a:xfrm>
                <a:off x="4499992" y="5013176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Lige forbindelse 27"/>
              <p:cNvCxnSpPr/>
              <p:nvPr/>
            </p:nvCxnSpPr>
            <p:spPr>
              <a:xfrm>
                <a:off x="4499992" y="5805264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Lige forbindelse 28"/>
              <p:cNvCxnSpPr/>
              <p:nvPr/>
            </p:nvCxnSpPr>
            <p:spPr>
              <a:xfrm>
                <a:off x="4499992" y="2780928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Lige forbindelse 34"/>
              <p:cNvCxnSpPr/>
              <p:nvPr/>
            </p:nvCxnSpPr>
            <p:spPr>
              <a:xfrm rot="2700000" flipV="1">
                <a:off x="4507135" y="6069458"/>
                <a:ext cx="0" cy="1627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ektangel 60"/>
            <p:cNvSpPr/>
            <p:nvPr/>
          </p:nvSpPr>
          <p:spPr>
            <a:xfrm>
              <a:off x="4290188" y="2276872"/>
              <a:ext cx="15712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Ideel Op Amp</a:t>
              </a:r>
            </a:p>
          </p:txBody>
        </p:sp>
        <p:sp>
          <p:nvSpPr>
            <p:cNvPr id="72" name="Titel 1"/>
            <p:cNvSpPr txBox="1">
              <a:spLocks/>
            </p:cNvSpPr>
            <p:nvPr/>
          </p:nvSpPr>
          <p:spPr>
            <a:xfrm>
              <a:off x="2717044" y="2334670"/>
              <a:ext cx="497318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r>
                <a:rPr lang="da-DK" sz="2000" i="1" baseline="30000" dirty="0"/>
                <a:t>-</a:t>
              </a:r>
              <a:endParaRPr lang="da-DK" sz="2000" dirty="0"/>
            </a:p>
          </p:txBody>
        </p:sp>
        <p:sp>
          <p:nvSpPr>
            <p:cNvPr id="73" name="Titel 1"/>
            <p:cNvSpPr txBox="1">
              <a:spLocks/>
            </p:cNvSpPr>
            <p:nvPr/>
          </p:nvSpPr>
          <p:spPr>
            <a:xfrm>
              <a:off x="2724786" y="4313650"/>
              <a:ext cx="497318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r>
                <a:rPr lang="da-DK" sz="2000" i="1" baseline="30000" dirty="0"/>
                <a:t>+</a:t>
              </a:r>
              <a:endParaRPr lang="da-DK" sz="2000" dirty="0"/>
            </a:p>
          </p:txBody>
        </p:sp>
      </p:grpSp>
      <p:sp>
        <p:nvSpPr>
          <p:cNvPr id="38" name="Titel 1"/>
          <p:cNvSpPr>
            <a:spLocks noGrp="1"/>
          </p:cNvSpPr>
          <p:nvPr>
            <p:ph type="ctrTitle"/>
          </p:nvPr>
        </p:nvSpPr>
        <p:spPr>
          <a:xfrm>
            <a:off x="29400" y="26336"/>
            <a:ext cx="6198784" cy="39277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Placering af </a:t>
            </a:r>
            <a:r>
              <a:rPr lang="da-DK" sz="2800" i="1" dirty="0" err="1"/>
              <a:t>biasstrømme</a:t>
            </a:r>
            <a:r>
              <a:rPr lang="da-DK" sz="2800" i="1" dirty="0"/>
              <a:t> i fejlækvivalent</a:t>
            </a:r>
            <a:endParaRPr lang="da-DK" sz="2800" b="1" dirty="0"/>
          </a:p>
        </p:txBody>
      </p:sp>
      <p:cxnSp>
        <p:nvCxnSpPr>
          <p:cNvPr id="31" name="Lige pilforbindelse 30">
            <a:extLst>
              <a:ext uri="{FF2B5EF4-FFF2-40B4-BE49-F238E27FC236}">
                <a16:creationId xmlns:a16="http://schemas.microsoft.com/office/drawing/2014/main" id="{6E86A60D-45B6-4F00-BFAE-8E6086C252C4}"/>
              </a:ext>
            </a:extLst>
          </p:cNvPr>
          <p:cNvCxnSpPr/>
          <p:nvPr/>
        </p:nvCxnSpPr>
        <p:spPr>
          <a:xfrm flipH="1">
            <a:off x="4499992" y="2661178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8FFF39C6-897E-40CC-B27C-7E0098FC9D1E}"/>
              </a:ext>
            </a:extLst>
          </p:cNvPr>
          <p:cNvCxnSpPr/>
          <p:nvPr/>
        </p:nvCxnSpPr>
        <p:spPr>
          <a:xfrm flipH="1">
            <a:off x="1907704" y="1007364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D812C2C7-F1B2-5E41-F3FC-B42871F136AB}"/>
              </a:ext>
            </a:extLst>
          </p:cNvPr>
          <p:cNvCxnSpPr/>
          <p:nvPr/>
        </p:nvCxnSpPr>
        <p:spPr>
          <a:xfrm>
            <a:off x="3278318" y="2095964"/>
            <a:ext cx="2268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AE653E5A-4F48-063E-A47E-0EE52B71D830}"/>
              </a:ext>
            </a:extLst>
          </p:cNvPr>
          <p:cNvCxnSpPr/>
          <p:nvPr/>
        </p:nvCxnSpPr>
        <p:spPr>
          <a:xfrm flipV="1">
            <a:off x="3498953" y="2076728"/>
            <a:ext cx="0" cy="1465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7BF45285-FAB8-EC98-555E-5965FDA141EC}"/>
              </a:ext>
            </a:extLst>
          </p:cNvPr>
          <p:cNvCxnSpPr/>
          <p:nvPr/>
        </p:nvCxnSpPr>
        <p:spPr>
          <a:xfrm rot="2700000" flipV="1">
            <a:off x="3506970" y="2149821"/>
            <a:ext cx="0" cy="1465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639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pe 75"/>
          <p:cNvGrpSpPr/>
          <p:nvPr/>
        </p:nvGrpSpPr>
        <p:grpSpPr>
          <a:xfrm>
            <a:off x="268143" y="667661"/>
            <a:ext cx="3350538" cy="2185275"/>
            <a:chOff x="268143" y="667661"/>
            <a:chExt cx="3350538" cy="2185275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43" y="970534"/>
              <a:ext cx="2744026" cy="1882402"/>
            </a:xfrm>
            <a:prstGeom prst="rect">
              <a:avLst/>
            </a:prstGeom>
          </p:spPr>
        </p:pic>
        <p:sp>
          <p:nvSpPr>
            <p:cNvPr id="60" name="Rektangel 59"/>
            <p:cNvSpPr/>
            <p:nvPr/>
          </p:nvSpPr>
          <p:spPr>
            <a:xfrm>
              <a:off x="1661821" y="667661"/>
              <a:ext cx="19568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Praktisk Op Amp</a:t>
              </a:r>
            </a:p>
          </p:txBody>
        </p:sp>
      </p:grpSp>
      <p:grpSp>
        <p:nvGrpSpPr>
          <p:cNvPr id="74" name="Gruppe 73"/>
          <p:cNvGrpSpPr/>
          <p:nvPr/>
        </p:nvGrpSpPr>
        <p:grpSpPr>
          <a:xfrm>
            <a:off x="5580112" y="3429000"/>
            <a:ext cx="3456384" cy="3063746"/>
            <a:chOff x="5580112" y="3429000"/>
            <a:chExt cx="3456384" cy="3063746"/>
          </a:xfrm>
        </p:grpSpPr>
        <p:grpSp>
          <p:nvGrpSpPr>
            <p:cNvPr id="59" name="Gruppe 58"/>
            <p:cNvGrpSpPr/>
            <p:nvPr/>
          </p:nvGrpSpPr>
          <p:grpSpPr>
            <a:xfrm>
              <a:off x="6020786" y="3429000"/>
              <a:ext cx="2744026" cy="3063746"/>
              <a:chOff x="5292080" y="1818200"/>
              <a:chExt cx="3048000" cy="3403137"/>
            </a:xfrm>
          </p:grpSpPr>
          <p:pic>
            <p:nvPicPr>
              <p:cNvPr id="38" name="Billede 3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92080" y="2485033"/>
                <a:ext cx="3048000" cy="2090928"/>
              </a:xfrm>
              <a:prstGeom prst="rect">
                <a:avLst/>
              </a:prstGeom>
            </p:spPr>
          </p:pic>
          <p:grpSp>
            <p:nvGrpSpPr>
              <p:cNvPr id="39" name="Gruppe 38"/>
              <p:cNvGrpSpPr/>
              <p:nvPr/>
            </p:nvGrpSpPr>
            <p:grpSpPr>
              <a:xfrm>
                <a:off x="5508104" y="4429249"/>
                <a:ext cx="432048" cy="432048"/>
                <a:chOff x="4283968" y="5373216"/>
                <a:chExt cx="432048" cy="432048"/>
              </a:xfrm>
            </p:grpSpPr>
            <p:sp>
              <p:nvSpPr>
                <p:cNvPr id="51" name="Ellipse 50"/>
                <p:cNvSpPr/>
                <p:nvPr/>
              </p:nvSpPr>
              <p:spPr>
                <a:xfrm>
                  <a:off x="4283968" y="5373216"/>
                  <a:ext cx="432048" cy="43204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a-DK"/>
                </a:p>
              </p:txBody>
            </p:sp>
            <p:cxnSp>
              <p:nvCxnSpPr>
                <p:cNvPr id="52" name="Lige pilforbindelse 51"/>
                <p:cNvCxnSpPr/>
                <p:nvPr/>
              </p:nvCxnSpPr>
              <p:spPr>
                <a:xfrm>
                  <a:off x="4499992" y="5446572"/>
                  <a:ext cx="0" cy="28533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uppe 39"/>
              <p:cNvGrpSpPr/>
              <p:nvPr/>
            </p:nvGrpSpPr>
            <p:grpSpPr>
              <a:xfrm flipV="1">
                <a:off x="5508104" y="2197001"/>
                <a:ext cx="432048" cy="432048"/>
                <a:chOff x="4283968" y="5373216"/>
                <a:chExt cx="432048" cy="432048"/>
              </a:xfrm>
            </p:grpSpPr>
            <p:sp>
              <p:nvSpPr>
                <p:cNvPr id="49" name="Ellipse 48"/>
                <p:cNvSpPr/>
                <p:nvPr/>
              </p:nvSpPr>
              <p:spPr>
                <a:xfrm>
                  <a:off x="4283968" y="5373216"/>
                  <a:ext cx="432048" cy="43204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a-DK"/>
                </a:p>
              </p:txBody>
            </p:sp>
            <p:cxnSp>
              <p:nvCxnSpPr>
                <p:cNvPr id="50" name="Lige pilforbindelse 49"/>
                <p:cNvCxnSpPr/>
                <p:nvPr/>
              </p:nvCxnSpPr>
              <p:spPr>
                <a:xfrm>
                  <a:off x="4499992" y="5446572"/>
                  <a:ext cx="0" cy="28533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Lige forbindelse 40"/>
              <p:cNvCxnSpPr/>
              <p:nvPr/>
            </p:nvCxnSpPr>
            <p:spPr>
              <a:xfrm>
                <a:off x="5724128" y="2629049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Lige forbindelse 41"/>
              <p:cNvCxnSpPr/>
              <p:nvPr/>
            </p:nvCxnSpPr>
            <p:spPr>
              <a:xfrm>
                <a:off x="5724128" y="4069209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Lige forbindelse 42"/>
              <p:cNvCxnSpPr/>
              <p:nvPr/>
            </p:nvCxnSpPr>
            <p:spPr>
              <a:xfrm>
                <a:off x="5724128" y="4861297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Lige forbindelse 43"/>
              <p:cNvCxnSpPr/>
              <p:nvPr/>
            </p:nvCxnSpPr>
            <p:spPr>
              <a:xfrm>
                <a:off x="5724128" y="1836961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Lige forbindelse 44"/>
              <p:cNvCxnSpPr/>
              <p:nvPr/>
            </p:nvCxnSpPr>
            <p:spPr>
              <a:xfrm>
                <a:off x="5705080" y="1836961"/>
                <a:ext cx="25202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Lige forbindelse 45"/>
              <p:cNvCxnSpPr/>
              <p:nvPr/>
            </p:nvCxnSpPr>
            <p:spPr>
              <a:xfrm flipV="1">
                <a:off x="5950156" y="1818200"/>
                <a:ext cx="0" cy="1627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Lige forbindelse 46"/>
              <p:cNvCxnSpPr/>
              <p:nvPr/>
            </p:nvCxnSpPr>
            <p:spPr>
              <a:xfrm rot="2700000" flipV="1">
                <a:off x="5957298" y="1899417"/>
                <a:ext cx="0" cy="1627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Lige forbindelse 47"/>
              <p:cNvCxnSpPr/>
              <p:nvPr/>
            </p:nvCxnSpPr>
            <p:spPr>
              <a:xfrm rot="2700000" flipV="1">
                <a:off x="5731271" y="5125491"/>
                <a:ext cx="0" cy="1627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" name="Gruppe 57"/>
              <p:cNvGrpSpPr/>
              <p:nvPr/>
            </p:nvGrpSpPr>
            <p:grpSpPr>
              <a:xfrm>
                <a:off x="5508104" y="2958719"/>
                <a:ext cx="432048" cy="1152128"/>
                <a:chOff x="5112114" y="2958719"/>
                <a:chExt cx="432048" cy="1152128"/>
              </a:xfrm>
            </p:grpSpPr>
            <p:grpSp>
              <p:nvGrpSpPr>
                <p:cNvPr id="53" name="Gruppe 52"/>
                <p:cNvGrpSpPr/>
                <p:nvPr/>
              </p:nvGrpSpPr>
              <p:grpSpPr>
                <a:xfrm flipV="1">
                  <a:off x="5112114" y="3318759"/>
                  <a:ext cx="432048" cy="432048"/>
                  <a:chOff x="4283968" y="5373216"/>
                  <a:chExt cx="432048" cy="432048"/>
                </a:xfrm>
              </p:grpSpPr>
              <p:sp>
                <p:nvSpPr>
                  <p:cNvPr id="54" name="Ellipse 53"/>
                  <p:cNvSpPr/>
                  <p:nvPr/>
                </p:nvSpPr>
                <p:spPr>
                  <a:xfrm>
                    <a:off x="4283968" y="5373216"/>
                    <a:ext cx="432048" cy="432048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a-DK"/>
                  </a:p>
                </p:txBody>
              </p:sp>
              <p:cxnSp>
                <p:nvCxnSpPr>
                  <p:cNvPr id="55" name="Lige pilforbindelse 54"/>
                  <p:cNvCxnSpPr/>
                  <p:nvPr/>
                </p:nvCxnSpPr>
                <p:spPr>
                  <a:xfrm>
                    <a:off x="4499992" y="5446572"/>
                    <a:ext cx="0" cy="285336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6" name="Lige forbindelse 55"/>
                <p:cNvCxnSpPr/>
                <p:nvPr/>
              </p:nvCxnSpPr>
              <p:spPr>
                <a:xfrm>
                  <a:off x="5328138" y="3750807"/>
                  <a:ext cx="0" cy="3600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Lige forbindelse 56"/>
                <p:cNvCxnSpPr/>
                <p:nvPr/>
              </p:nvCxnSpPr>
              <p:spPr>
                <a:xfrm>
                  <a:off x="5328138" y="2958719"/>
                  <a:ext cx="0" cy="36004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2" name="Rektangel 61"/>
            <p:cNvSpPr/>
            <p:nvPr/>
          </p:nvSpPr>
          <p:spPr>
            <a:xfrm>
              <a:off x="7465261" y="3662276"/>
              <a:ext cx="15712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Ideel Op Amp</a:t>
              </a:r>
            </a:p>
          </p:txBody>
        </p:sp>
        <p:cxnSp>
          <p:nvCxnSpPr>
            <p:cNvPr id="67" name="Lige pilforbindelse 66"/>
            <p:cNvCxnSpPr/>
            <p:nvPr/>
          </p:nvCxnSpPr>
          <p:spPr>
            <a:xfrm flipH="1">
              <a:off x="7740352" y="4029330"/>
              <a:ext cx="262262" cy="668647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itel 1"/>
            <p:cNvSpPr txBox="1">
              <a:spLocks/>
            </p:cNvSpPr>
            <p:nvPr/>
          </p:nvSpPr>
          <p:spPr>
            <a:xfrm>
              <a:off x="6580482" y="3751270"/>
              <a:ext cx="353302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endParaRPr lang="da-DK" sz="2000" dirty="0"/>
            </a:p>
          </p:txBody>
        </p:sp>
        <p:sp>
          <p:nvSpPr>
            <p:cNvPr id="69" name="Titel 1"/>
            <p:cNvSpPr txBox="1">
              <a:spLocks/>
            </p:cNvSpPr>
            <p:nvPr/>
          </p:nvSpPr>
          <p:spPr>
            <a:xfrm>
              <a:off x="6588224" y="5730250"/>
              <a:ext cx="353302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endParaRPr lang="da-DK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ktangel 70"/>
                <p:cNvSpPr/>
                <p:nvPr/>
              </p:nvSpPr>
              <p:spPr>
                <a:xfrm>
                  <a:off x="5580112" y="4650369"/>
                  <a:ext cx="648072" cy="66723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da-DK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a-DK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a-DK" sz="2000" b="0" i="1" smtClean="0"/>
                                  <m:t>I</m:t>
                                </m:r>
                              </m:e>
                              <m:sub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nor/>
                              </m:rPr>
                              <a:rPr lang="da-DK" sz="2000" i="1"/>
                              <m:t>2</m:t>
                            </m:r>
                          </m:den>
                        </m:f>
                      </m:oMath>
                    </m:oMathPara>
                  </a14:m>
                  <a:endParaRPr lang="da-DK" sz="2000" i="1" dirty="0"/>
                </a:p>
              </p:txBody>
            </p:sp>
          </mc:Choice>
          <mc:Fallback xmlns="">
            <p:sp>
              <p:nvSpPr>
                <p:cNvPr id="71" name="Rektangel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112" y="4650369"/>
                  <a:ext cx="648072" cy="66723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uppe 74"/>
          <p:cNvGrpSpPr/>
          <p:nvPr/>
        </p:nvGrpSpPr>
        <p:grpSpPr>
          <a:xfrm>
            <a:off x="2717044" y="2077738"/>
            <a:ext cx="3144379" cy="3046856"/>
            <a:chOff x="2717044" y="2077738"/>
            <a:chExt cx="3144379" cy="3046856"/>
          </a:xfrm>
        </p:grpSpPr>
        <p:grpSp>
          <p:nvGrpSpPr>
            <p:cNvPr id="36" name="Gruppe 35"/>
            <p:cNvGrpSpPr/>
            <p:nvPr/>
          </p:nvGrpSpPr>
          <p:grpSpPr>
            <a:xfrm>
              <a:off x="2908094" y="2077738"/>
              <a:ext cx="2744026" cy="3046856"/>
              <a:chOff x="4067944" y="2780928"/>
              <a:chExt cx="3048000" cy="3384376"/>
            </a:xfrm>
          </p:grpSpPr>
          <p:pic>
            <p:nvPicPr>
              <p:cNvPr id="3" name="Billede 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7944" y="3429000"/>
                <a:ext cx="3048000" cy="2090928"/>
              </a:xfrm>
              <a:prstGeom prst="rect">
                <a:avLst/>
              </a:prstGeom>
            </p:spPr>
          </p:pic>
          <p:grpSp>
            <p:nvGrpSpPr>
              <p:cNvPr id="20" name="Gruppe 19"/>
              <p:cNvGrpSpPr/>
              <p:nvPr/>
            </p:nvGrpSpPr>
            <p:grpSpPr>
              <a:xfrm>
                <a:off x="4283968" y="5373216"/>
                <a:ext cx="432048" cy="432048"/>
                <a:chOff x="4283968" y="5373216"/>
                <a:chExt cx="432048" cy="432048"/>
              </a:xfrm>
            </p:grpSpPr>
            <p:sp>
              <p:nvSpPr>
                <p:cNvPr id="16" name="Ellipse 15"/>
                <p:cNvSpPr/>
                <p:nvPr/>
              </p:nvSpPr>
              <p:spPr>
                <a:xfrm>
                  <a:off x="4283968" y="5373216"/>
                  <a:ext cx="432048" cy="43204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a-DK"/>
                </a:p>
              </p:txBody>
            </p:sp>
            <p:cxnSp>
              <p:nvCxnSpPr>
                <p:cNvPr id="19" name="Lige pilforbindelse 18"/>
                <p:cNvCxnSpPr/>
                <p:nvPr/>
              </p:nvCxnSpPr>
              <p:spPr>
                <a:xfrm>
                  <a:off x="4499992" y="5446572"/>
                  <a:ext cx="0" cy="28533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uppe 20"/>
              <p:cNvGrpSpPr/>
              <p:nvPr/>
            </p:nvGrpSpPr>
            <p:grpSpPr>
              <a:xfrm flipV="1">
                <a:off x="4283968" y="3140968"/>
                <a:ext cx="432048" cy="432048"/>
                <a:chOff x="4283968" y="5373216"/>
                <a:chExt cx="432048" cy="432048"/>
              </a:xfrm>
            </p:grpSpPr>
            <p:sp>
              <p:nvSpPr>
                <p:cNvPr id="22" name="Ellipse 21"/>
                <p:cNvSpPr/>
                <p:nvPr/>
              </p:nvSpPr>
              <p:spPr>
                <a:xfrm>
                  <a:off x="4283968" y="5373216"/>
                  <a:ext cx="432048" cy="432048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a-DK"/>
                </a:p>
              </p:txBody>
            </p:sp>
            <p:cxnSp>
              <p:nvCxnSpPr>
                <p:cNvPr id="23" name="Lige pilforbindelse 22"/>
                <p:cNvCxnSpPr/>
                <p:nvPr/>
              </p:nvCxnSpPr>
              <p:spPr>
                <a:xfrm>
                  <a:off x="4499992" y="5446572"/>
                  <a:ext cx="0" cy="285336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Lige forbindelse 24"/>
              <p:cNvCxnSpPr/>
              <p:nvPr/>
            </p:nvCxnSpPr>
            <p:spPr>
              <a:xfrm>
                <a:off x="4499992" y="3573016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Lige forbindelse 26"/>
              <p:cNvCxnSpPr/>
              <p:nvPr/>
            </p:nvCxnSpPr>
            <p:spPr>
              <a:xfrm>
                <a:off x="4499992" y="5013176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Lige forbindelse 27"/>
              <p:cNvCxnSpPr/>
              <p:nvPr/>
            </p:nvCxnSpPr>
            <p:spPr>
              <a:xfrm>
                <a:off x="4499992" y="5805264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Lige forbindelse 28"/>
              <p:cNvCxnSpPr/>
              <p:nvPr/>
            </p:nvCxnSpPr>
            <p:spPr>
              <a:xfrm>
                <a:off x="4499992" y="2780928"/>
                <a:ext cx="0" cy="36004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Lige forbindelse 34"/>
              <p:cNvCxnSpPr/>
              <p:nvPr/>
            </p:nvCxnSpPr>
            <p:spPr>
              <a:xfrm rot="2700000" flipV="1">
                <a:off x="4507135" y="6069458"/>
                <a:ext cx="0" cy="16277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ektangel 60"/>
            <p:cNvSpPr/>
            <p:nvPr/>
          </p:nvSpPr>
          <p:spPr>
            <a:xfrm>
              <a:off x="4290188" y="2276872"/>
              <a:ext cx="15712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000" i="1" dirty="0"/>
                <a:t>Ideel Op Amp</a:t>
              </a:r>
            </a:p>
          </p:txBody>
        </p:sp>
        <p:sp>
          <p:nvSpPr>
            <p:cNvPr id="72" name="Titel 1"/>
            <p:cNvSpPr txBox="1">
              <a:spLocks/>
            </p:cNvSpPr>
            <p:nvPr/>
          </p:nvSpPr>
          <p:spPr>
            <a:xfrm>
              <a:off x="2717044" y="2334670"/>
              <a:ext cx="497318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r>
                <a:rPr lang="da-DK" sz="2000" i="1" baseline="30000" dirty="0"/>
                <a:t>-</a:t>
              </a:r>
              <a:endParaRPr lang="da-DK" sz="2000" dirty="0"/>
            </a:p>
          </p:txBody>
        </p:sp>
        <p:sp>
          <p:nvSpPr>
            <p:cNvPr id="73" name="Titel 1"/>
            <p:cNvSpPr txBox="1">
              <a:spLocks/>
            </p:cNvSpPr>
            <p:nvPr/>
          </p:nvSpPr>
          <p:spPr>
            <a:xfrm>
              <a:off x="2724786" y="4313650"/>
              <a:ext cx="497318" cy="4350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tabLst>
                  <a:tab pos="1076325" algn="l"/>
                </a:tabLst>
              </a:pPr>
              <a:r>
                <a:rPr lang="da-DK" sz="2000" i="1" dirty="0"/>
                <a:t>I</a:t>
              </a:r>
              <a:r>
                <a:rPr lang="da-DK" sz="2000" i="1" baseline="-25000" dirty="0"/>
                <a:t>B</a:t>
              </a:r>
              <a:r>
                <a:rPr lang="da-DK" sz="2000" i="1" baseline="30000" dirty="0"/>
                <a:t>+</a:t>
              </a:r>
              <a:endParaRPr lang="da-DK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ktangel 63"/>
              <p:cNvSpPr/>
              <p:nvPr/>
            </p:nvSpPr>
            <p:spPr>
              <a:xfrm>
                <a:off x="3635896" y="5373216"/>
                <a:ext cx="2088232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a:rPr lang="da-DK" b="0" i="1" baseline="-25000" smtClean="0">
                          <a:latin typeface="Cambria Math"/>
                        </a:rPr>
                        <m:t>𝐵</m:t>
                      </m:r>
                      <m:r>
                        <a:rPr lang="da-DK" b="0" i="1" baseline="30000" smtClean="0">
                          <a:latin typeface="Cambria Math"/>
                        </a:rPr>
                        <m:t>+</m:t>
                      </m:r>
                      <m:r>
                        <a:rPr lang="da-DK" b="0" i="1" smtClean="0">
                          <a:latin typeface="Cambria Math"/>
                        </a:rPr>
                        <m:t> =</m:t>
                      </m:r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m:rPr>
                          <m:nor/>
                        </m:rPr>
                        <a:rPr lang="da-DK" i="1" baseline="-25000"/>
                        <m:t>B</m:t>
                      </m:r>
                      <m:r>
                        <a:rPr lang="da-DK" b="0" i="1" smtClean="0">
                          <a:latin typeface="Cambria Math"/>
                        </a:rPr>
                        <m:t>+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/>
                                </a:rPr>
                                <m:t>𝑜𝑓𝑓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da-DK" b="0" i="1" smtClean="0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64" name="Rektange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5373216"/>
                <a:ext cx="2088232" cy="61696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ktangel 64"/>
              <p:cNvSpPr/>
              <p:nvPr/>
            </p:nvSpPr>
            <p:spPr>
              <a:xfrm>
                <a:off x="3635896" y="6052396"/>
                <a:ext cx="2088232" cy="616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a:rPr lang="da-DK" b="0" i="1" baseline="-25000" smtClean="0">
                          <a:latin typeface="Cambria Math"/>
                        </a:rPr>
                        <m:t>𝐵</m:t>
                      </m:r>
                      <m:r>
                        <a:rPr lang="da-DK" b="0" i="1" baseline="30000" smtClean="0">
                          <a:latin typeface="Cambria Math"/>
                        </a:rPr>
                        <m:t>−</m:t>
                      </m:r>
                      <m:r>
                        <a:rPr lang="da-DK" b="0" i="1" smtClean="0">
                          <a:latin typeface="Cambria Math"/>
                        </a:rPr>
                        <m:t> =</m:t>
                      </m:r>
                      <m:r>
                        <m:rPr>
                          <m:nor/>
                        </m:rPr>
                        <a:rPr lang="da-DK" i="1"/>
                        <m:t>I</m:t>
                      </m:r>
                      <m:r>
                        <m:rPr>
                          <m:nor/>
                        </m:rPr>
                        <a:rPr lang="da-DK" i="1" baseline="-25000"/>
                        <m:t>B</m:t>
                      </m:r>
                      <m:r>
                        <a:rPr lang="da-DK" b="0" i="1" smtClean="0">
                          <a:latin typeface="Cambria Math"/>
                        </a:rPr>
                        <m:t>− 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a-DK" i="1"/>
                                <m:t>I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/>
                                </a:rPr>
                                <m:t>𝑜𝑓𝑓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da-DK" b="0" i="1" smtClean="0"/>
                            <m:t>2</m:t>
                          </m:r>
                        </m:den>
                      </m:f>
                    </m:oMath>
                  </m:oMathPara>
                </a14:m>
                <a:endParaRPr lang="da-DK" i="1" dirty="0"/>
              </a:p>
            </p:txBody>
          </p:sp>
        </mc:Choice>
        <mc:Fallback xmlns="">
          <p:sp>
            <p:nvSpPr>
              <p:cNvPr id="65" name="Rektange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6052396"/>
                <a:ext cx="2088232" cy="61696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itel 1"/>
          <p:cNvSpPr>
            <a:spLocks noGrp="1"/>
          </p:cNvSpPr>
          <p:nvPr>
            <p:ph type="ctrTitle"/>
          </p:nvPr>
        </p:nvSpPr>
        <p:spPr>
          <a:xfrm>
            <a:off x="29400" y="26336"/>
            <a:ext cx="6198784" cy="39277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Placering af </a:t>
            </a:r>
            <a:r>
              <a:rPr lang="da-DK" sz="2800" i="1" dirty="0" err="1"/>
              <a:t>biasstrømme</a:t>
            </a:r>
            <a:r>
              <a:rPr lang="da-DK" sz="2800" i="1" dirty="0"/>
              <a:t> i fejlækvivalent</a:t>
            </a:r>
            <a:endParaRPr lang="da-DK" sz="2800" b="1" dirty="0"/>
          </a:p>
        </p:txBody>
      </p:sp>
      <p:cxnSp>
        <p:nvCxnSpPr>
          <p:cNvPr id="66" name="Lige pilforbindelse 65">
            <a:extLst>
              <a:ext uri="{FF2B5EF4-FFF2-40B4-BE49-F238E27FC236}">
                <a16:creationId xmlns:a16="http://schemas.microsoft.com/office/drawing/2014/main" id="{B8F15EE9-89D5-4F6D-B865-1241EE34AB57}"/>
              </a:ext>
            </a:extLst>
          </p:cNvPr>
          <p:cNvCxnSpPr/>
          <p:nvPr/>
        </p:nvCxnSpPr>
        <p:spPr>
          <a:xfrm flipH="1">
            <a:off x="4499992" y="2661178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ge pilforbindelse 69">
            <a:extLst>
              <a:ext uri="{FF2B5EF4-FFF2-40B4-BE49-F238E27FC236}">
                <a16:creationId xmlns:a16="http://schemas.microsoft.com/office/drawing/2014/main" id="{2FD99C27-F044-4A7D-B038-657900075441}"/>
              </a:ext>
            </a:extLst>
          </p:cNvPr>
          <p:cNvCxnSpPr/>
          <p:nvPr/>
        </p:nvCxnSpPr>
        <p:spPr>
          <a:xfrm flipH="1">
            <a:off x="1907704" y="1007364"/>
            <a:ext cx="262262" cy="66864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52043D01-07DD-5D8B-EE38-70C3D25F5CBB}"/>
              </a:ext>
            </a:extLst>
          </p:cNvPr>
          <p:cNvCxnSpPr/>
          <p:nvPr/>
        </p:nvCxnSpPr>
        <p:spPr>
          <a:xfrm>
            <a:off x="3278318" y="2095964"/>
            <a:ext cx="22689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998AD91F-98A2-D314-F4E4-DEE34195F9AA}"/>
              </a:ext>
            </a:extLst>
          </p:cNvPr>
          <p:cNvCxnSpPr/>
          <p:nvPr/>
        </p:nvCxnSpPr>
        <p:spPr>
          <a:xfrm flipV="1">
            <a:off x="3498953" y="2076728"/>
            <a:ext cx="0" cy="1465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422BB7FE-9BDE-1951-CDE4-1ADC86D21282}"/>
              </a:ext>
            </a:extLst>
          </p:cNvPr>
          <p:cNvCxnSpPr/>
          <p:nvPr/>
        </p:nvCxnSpPr>
        <p:spPr>
          <a:xfrm rot="2700000" flipV="1">
            <a:off x="3506970" y="2149821"/>
            <a:ext cx="0" cy="1465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760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6595-BDC8-39CC-9BDC-A3F591B44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CB10D97-CAF4-49D2-B088-74E1514C99D0}"/>
              </a:ext>
            </a:extLst>
          </p:cNvPr>
          <p:cNvSpPr txBox="1">
            <a:spLocks/>
          </p:cNvSpPr>
          <p:nvPr/>
        </p:nvSpPr>
        <p:spPr>
          <a:xfrm>
            <a:off x="107504" y="1628800"/>
            <a:ext cx="30963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Internt </a:t>
            </a:r>
            <a:r>
              <a:rPr lang="da-DK" sz="2400" i="1" dirty="0"/>
              <a:t>eller</a:t>
            </a:r>
            <a:r>
              <a:rPr lang="da-DK" sz="2400" b="1" i="1" dirty="0"/>
              <a:t> eksternt</a:t>
            </a:r>
            <a:endParaRPr lang="da-DK" sz="2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92C5B6F-76F2-D5FE-2FD0-80A15AC84E56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488632" cy="392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Offsetjustering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39774846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14D1-C76B-7C55-4337-1E5F549F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269CEE19-EA1F-D864-53E0-2A6808E23162}"/>
              </a:ext>
            </a:extLst>
          </p:cNvPr>
          <p:cNvSpPr txBox="1">
            <a:spLocks/>
          </p:cNvSpPr>
          <p:nvPr/>
        </p:nvSpPr>
        <p:spPr>
          <a:xfrm>
            <a:off x="107504" y="1628800"/>
            <a:ext cx="30963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Internt </a:t>
            </a:r>
            <a:r>
              <a:rPr lang="da-DK" sz="2400" i="1" dirty="0"/>
              <a:t>eller</a:t>
            </a:r>
            <a:r>
              <a:rPr lang="da-DK" sz="2400" b="1" i="1" dirty="0"/>
              <a:t> eksternt</a:t>
            </a:r>
            <a:endParaRPr lang="da-DK" sz="2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5142CED-B57A-FDD2-54EE-30DD1290C934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488632" cy="392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Offsetjustering</a:t>
            </a:r>
            <a:endParaRPr lang="da-DK" sz="28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4A725E8D-5C77-5859-CD2C-2DD35585B6AD}"/>
              </a:ext>
            </a:extLst>
          </p:cNvPr>
          <p:cNvSpPr/>
          <p:nvPr/>
        </p:nvSpPr>
        <p:spPr>
          <a:xfrm>
            <a:off x="1919724" y="692696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Konstruktionsopgaven</a:t>
            </a:r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7DC3DC82-4732-43C6-D67B-A4AAD2C06400}"/>
              </a:ext>
            </a:extLst>
          </p:cNvPr>
          <p:cNvCxnSpPr>
            <a:cxnSpLocks/>
          </p:cNvCxnSpPr>
          <p:nvPr/>
        </p:nvCxnSpPr>
        <p:spPr>
          <a:xfrm>
            <a:off x="2267744" y="1114081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lede 3">
            <a:extLst>
              <a:ext uri="{FF2B5EF4-FFF2-40B4-BE49-F238E27FC236}">
                <a16:creationId xmlns:a16="http://schemas.microsoft.com/office/drawing/2014/main" id="{0AA848FB-1531-F638-F4DC-4D7346A70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440756"/>
            <a:ext cx="4788024" cy="2878973"/>
          </a:xfrm>
          <a:prstGeom prst="rect">
            <a:avLst/>
          </a:prstGeom>
        </p:spPr>
      </p:pic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0B541130-2C78-9EB2-0A4A-6C50D7A1FBDB}"/>
              </a:ext>
            </a:extLst>
          </p:cNvPr>
          <p:cNvCxnSpPr>
            <a:cxnSpLocks/>
          </p:cNvCxnSpPr>
          <p:nvPr/>
        </p:nvCxnSpPr>
        <p:spPr>
          <a:xfrm>
            <a:off x="5940152" y="1047457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8673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B3479-F8C1-9CE1-8C2D-049EE497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7785F683-9650-7E9F-DACC-F38679C7359C}"/>
              </a:ext>
            </a:extLst>
          </p:cNvPr>
          <p:cNvSpPr txBox="1">
            <a:spLocks/>
          </p:cNvSpPr>
          <p:nvPr/>
        </p:nvSpPr>
        <p:spPr>
          <a:xfrm>
            <a:off x="107504" y="1628800"/>
            <a:ext cx="30963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Internt </a:t>
            </a:r>
            <a:r>
              <a:rPr lang="da-DK" sz="2400" i="1" dirty="0"/>
              <a:t>eller</a:t>
            </a:r>
            <a:r>
              <a:rPr lang="da-DK" sz="2400" b="1" i="1" dirty="0"/>
              <a:t> eksternt</a:t>
            </a:r>
            <a:endParaRPr lang="da-DK" sz="2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AE213D8-CCD7-2CF1-82DA-AD92EDA1C6B0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488632" cy="392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Offsetjustering</a:t>
            </a:r>
            <a:endParaRPr lang="da-DK" sz="28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1CDF299F-05CA-8596-B588-2C191C13D1B1}"/>
              </a:ext>
            </a:extLst>
          </p:cNvPr>
          <p:cNvSpPr/>
          <p:nvPr/>
        </p:nvSpPr>
        <p:spPr>
          <a:xfrm>
            <a:off x="1919724" y="692696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Konstruktionsopgaven</a:t>
            </a:r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33DCFB3E-DA0B-E01D-FF00-1D9C0A9BCFA4}"/>
              </a:ext>
            </a:extLst>
          </p:cNvPr>
          <p:cNvCxnSpPr>
            <a:cxnSpLocks/>
          </p:cNvCxnSpPr>
          <p:nvPr/>
        </p:nvCxnSpPr>
        <p:spPr>
          <a:xfrm>
            <a:off x="2267744" y="1114081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e 1">
            <a:extLst>
              <a:ext uri="{FF2B5EF4-FFF2-40B4-BE49-F238E27FC236}">
                <a16:creationId xmlns:a16="http://schemas.microsoft.com/office/drawing/2014/main" id="{E8EE4DDD-A757-692A-2176-F1D26E1D5935}"/>
              </a:ext>
            </a:extLst>
          </p:cNvPr>
          <p:cNvGrpSpPr/>
          <p:nvPr/>
        </p:nvGrpSpPr>
        <p:grpSpPr>
          <a:xfrm>
            <a:off x="4139952" y="1440756"/>
            <a:ext cx="4788024" cy="2878973"/>
            <a:chOff x="2177988" y="3142315"/>
            <a:chExt cx="4788024" cy="2878973"/>
          </a:xfrm>
        </p:grpSpPr>
        <p:pic>
          <p:nvPicPr>
            <p:cNvPr id="4" name="Billede 3">
              <a:extLst>
                <a:ext uri="{FF2B5EF4-FFF2-40B4-BE49-F238E27FC236}">
                  <a16:creationId xmlns:a16="http://schemas.microsoft.com/office/drawing/2014/main" id="{80F16359-20F8-4D57-C8C2-07A7EEACB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988" y="3142315"/>
              <a:ext cx="4788024" cy="2878973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78358A72-94CF-D30F-81DD-959DF76C107F}"/>
                </a:ext>
              </a:extLst>
            </p:cNvPr>
            <p:cNvSpPr/>
            <p:nvPr/>
          </p:nvSpPr>
          <p:spPr>
            <a:xfrm>
              <a:off x="3059832" y="4490302"/>
              <a:ext cx="699459" cy="70647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AA8D3400-AE32-F4EB-3866-64950E82BF25}"/>
              </a:ext>
            </a:extLst>
          </p:cNvPr>
          <p:cNvCxnSpPr>
            <a:cxnSpLocks/>
          </p:cNvCxnSpPr>
          <p:nvPr/>
        </p:nvCxnSpPr>
        <p:spPr>
          <a:xfrm>
            <a:off x="5940152" y="1047457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021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CDF4E-21D2-1484-9156-5AF2972F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9AC1327-1A88-9C46-30B8-68EB7C28D08E}"/>
              </a:ext>
            </a:extLst>
          </p:cNvPr>
          <p:cNvSpPr txBox="1">
            <a:spLocks/>
          </p:cNvSpPr>
          <p:nvPr/>
        </p:nvSpPr>
        <p:spPr>
          <a:xfrm>
            <a:off x="107504" y="1628800"/>
            <a:ext cx="30963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Internt </a:t>
            </a:r>
            <a:r>
              <a:rPr lang="da-DK" sz="2400" i="1" dirty="0"/>
              <a:t>eller</a:t>
            </a:r>
            <a:r>
              <a:rPr lang="da-DK" sz="2400" b="1" i="1" dirty="0"/>
              <a:t> eksternt</a:t>
            </a:r>
            <a:endParaRPr lang="da-DK" sz="2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54B5156-E1E2-1F0A-AE95-BF4F7EE56C8B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488632" cy="392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Offsetjustering</a:t>
            </a:r>
            <a:endParaRPr lang="da-DK" sz="28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F8B768E-0391-5468-4D37-7693C44DDA64}"/>
              </a:ext>
            </a:extLst>
          </p:cNvPr>
          <p:cNvSpPr/>
          <p:nvPr/>
        </p:nvSpPr>
        <p:spPr>
          <a:xfrm>
            <a:off x="1919724" y="692696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Konstruktionsopgaven</a:t>
            </a:r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47F95A28-1A66-24B5-B626-40F9B42680CA}"/>
              </a:ext>
            </a:extLst>
          </p:cNvPr>
          <p:cNvCxnSpPr>
            <a:cxnSpLocks/>
          </p:cNvCxnSpPr>
          <p:nvPr/>
        </p:nvCxnSpPr>
        <p:spPr>
          <a:xfrm>
            <a:off x="2267744" y="1114081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e 1">
            <a:extLst>
              <a:ext uri="{FF2B5EF4-FFF2-40B4-BE49-F238E27FC236}">
                <a16:creationId xmlns:a16="http://schemas.microsoft.com/office/drawing/2014/main" id="{D7ED6EFE-409D-269A-C09B-24F06C1B574D}"/>
              </a:ext>
            </a:extLst>
          </p:cNvPr>
          <p:cNvGrpSpPr/>
          <p:nvPr/>
        </p:nvGrpSpPr>
        <p:grpSpPr>
          <a:xfrm>
            <a:off x="4139952" y="1440756"/>
            <a:ext cx="4788024" cy="2878973"/>
            <a:chOff x="2177988" y="3142315"/>
            <a:chExt cx="4788024" cy="2878973"/>
          </a:xfrm>
        </p:grpSpPr>
        <p:pic>
          <p:nvPicPr>
            <p:cNvPr id="4" name="Billede 3">
              <a:extLst>
                <a:ext uri="{FF2B5EF4-FFF2-40B4-BE49-F238E27FC236}">
                  <a16:creationId xmlns:a16="http://schemas.microsoft.com/office/drawing/2014/main" id="{8D26D4AC-7C5A-2609-5696-1F377AC74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988" y="3142315"/>
              <a:ext cx="4788024" cy="2878973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F32422E-3A02-8A79-425D-94ACB42DFAE8}"/>
                </a:ext>
              </a:extLst>
            </p:cNvPr>
            <p:cNvSpPr/>
            <p:nvPr/>
          </p:nvSpPr>
          <p:spPr>
            <a:xfrm>
              <a:off x="3059832" y="4490302"/>
              <a:ext cx="699459" cy="70647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079FFE5D-ABA5-51F3-E99A-59D280381BB9}"/>
              </a:ext>
            </a:extLst>
          </p:cNvPr>
          <p:cNvCxnSpPr>
            <a:cxnSpLocks/>
          </p:cNvCxnSpPr>
          <p:nvPr/>
        </p:nvCxnSpPr>
        <p:spPr>
          <a:xfrm>
            <a:off x="5940152" y="1047457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el 1">
            <a:extLst>
              <a:ext uri="{FF2B5EF4-FFF2-40B4-BE49-F238E27FC236}">
                <a16:creationId xmlns:a16="http://schemas.microsoft.com/office/drawing/2014/main" id="{EADBC9E2-094A-6FBA-96CA-2F6C17DA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4612729"/>
            <a:ext cx="5232950" cy="447113"/>
          </a:xfrm>
        </p:spPr>
        <p:txBody>
          <a:bodyPr>
            <a:noAutofit/>
          </a:bodyPr>
          <a:lstStyle/>
          <a:p>
            <a:pPr algn="l"/>
            <a:r>
              <a:rPr lang="da-DK" sz="2400" i="1" dirty="0"/>
              <a:t>Man kan bortjustere </a:t>
            </a:r>
            <a:r>
              <a:rPr lang="da-DK" sz="2400" b="1" i="1" dirty="0"/>
              <a:t>begyndelsesoffset</a:t>
            </a:r>
            <a:endParaRPr lang="da-DK" sz="2400" dirty="0"/>
          </a:p>
        </p:txBody>
      </p:sp>
    </p:spTree>
    <p:extLst>
      <p:ext uri="{BB962C8B-B14F-4D97-AF65-F5344CB8AC3E}">
        <p14:creationId xmlns:p14="http://schemas.microsoft.com/office/powerpoint/2010/main" val="439791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B68E-A7B8-B7B5-6284-3236264E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CAEC45B-2EF7-C60C-F994-363714510F3B}"/>
              </a:ext>
            </a:extLst>
          </p:cNvPr>
          <p:cNvSpPr txBox="1">
            <a:spLocks/>
          </p:cNvSpPr>
          <p:nvPr/>
        </p:nvSpPr>
        <p:spPr>
          <a:xfrm>
            <a:off x="107504" y="1628800"/>
            <a:ext cx="30963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Internt </a:t>
            </a:r>
            <a:r>
              <a:rPr lang="da-DK" sz="2400" i="1" dirty="0"/>
              <a:t>eller</a:t>
            </a:r>
            <a:r>
              <a:rPr lang="da-DK" sz="2400" b="1" i="1" dirty="0"/>
              <a:t> eksternt</a:t>
            </a:r>
            <a:endParaRPr lang="da-DK" sz="24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7F68C67-9FE4-84B6-52C5-F9C27969FEF2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488632" cy="3927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Offsetjustering</a:t>
            </a:r>
            <a:endParaRPr lang="da-DK" sz="2800" dirty="0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16BE0F4E-9CDD-0395-76BD-56F53D6FFBCA}"/>
              </a:ext>
            </a:extLst>
          </p:cNvPr>
          <p:cNvSpPr/>
          <p:nvPr/>
        </p:nvSpPr>
        <p:spPr>
          <a:xfrm>
            <a:off x="1919724" y="692696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Konstruktionsopgaven</a:t>
            </a:r>
          </a:p>
        </p:txBody>
      </p: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3BA93704-8D63-C35E-959F-DA39E9CCEFFE}"/>
              </a:ext>
            </a:extLst>
          </p:cNvPr>
          <p:cNvCxnSpPr>
            <a:cxnSpLocks/>
          </p:cNvCxnSpPr>
          <p:nvPr/>
        </p:nvCxnSpPr>
        <p:spPr>
          <a:xfrm>
            <a:off x="2267744" y="1114081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e 1">
            <a:extLst>
              <a:ext uri="{FF2B5EF4-FFF2-40B4-BE49-F238E27FC236}">
                <a16:creationId xmlns:a16="http://schemas.microsoft.com/office/drawing/2014/main" id="{1F6EB427-560F-BF9A-21F9-D2F679E9707F}"/>
              </a:ext>
            </a:extLst>
          </p:cNvPr>
          <p:cNvGrpSpPr/>
          <p:nvPr/>
        </p:nvGrpSpPr>
        <p:grpSpPr>
          <a:xfrm>
            <a:off x="4139952" y="1440756"/>
            <a:ext cx="4788024" cy="2878973"/>
            <a:chOff x="2177988" y="3142315"/>
            <a:chExt cx="4788024" cy="2878973"/>
          </a:xfrm>
        </p:grpSpPr>
        <p:pic>
          <p:nvPicPr>
            <p:cNvPr id="4" name="Billede 3">
              <a:extLst>
                <a:ext uri="{FF2B5EF4-FFF2-40B4-BE49-F238E27FC236}">
                  <a16:creationId xmlns:a16="http://schemas.microsoft.com/office/drawing/2014/main" id="{04B1263F-9490-FCB5-A9DE-B76694B64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7988" y="3142315"/>
              <a:ext cx="4788024" cy="2878973"/>
            </a:xfrm>
            <a:prstGeom prst="rect">
              <a:avLst/>
            </a:prstGeom>
          </p:spPr>
        </p:pic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8A258A5-CF87-9055-9039-723A07C75113}"/>
                </a:ext>
              </a:extLst>
            </p:cNvPr>
            <p:cNvSpPr/>
            <p:nvPr/>
          </p:nvSpPr>
          <p:spPr>
            <a:xfrm>
              <a:off x="3059832" y="4490302"/>
              <a:ext cx="699459" cy="70647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603FC2E6-3E41-EE53-7232-6644537C184E}"/>
              </a:ext>
            </a:extLst>
          </p:cNvPr>
          <p:cNvCxnSpPr>
            <a:cxnSpLocks/>
          </p:cNvCxnSpPr>
          <p:nvPr/>
        </p:nvCxnSpPr>
        <p:spPr>
          <a:xfrm>
            <a:off x="5940152" y="1047457"/>
            <a:ext cx="0" cy="6533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el 1">
            <a:extLst>
              <a:ext uri="{FF2B5EF4-FFF2-40B4-BE49-F238E27FC236}">
                <a16:creationId xmlns:a16="http://schemas.microsoft.com/office/drawing/2014/main" id="{F95866D1-5516-564B-F8DE-D3B1FB62B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4612729"/>
            <a:ext cx="5232950" cy="447113"/>
          </a:xfrm>
        </p:spPr>
        <p:txBody>
          <a:bodyPr>
            <a:noAutofit/>
          </a:bodyPr>
          <a:lstStyle/>
          <a:p>
            <a:pPr algn="l"/>
            <a:r>
              <a:rPr lang="da-DK" sz="2400" i="1" dirty="0"/>
              <a:t>Man kan bortjustere </a:t>
            </a:r>
            <a:r>
              <a:rPr lang="da-DK" sz="2400" b="1" i="1" dirty="0"/>
              <a:t>begyndelsesoffset</a:t>
            </a:r>
            <a:endParaRPr lang="da-DK" sz="2400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CD84A132-DCA3-4AD0-4C74-0013526F8056}"/>
              </a:ext>
            </a:extLst>
          </p:cNvPr>
          <p:cNvSpPr txBox="1">
            <a:spLocks/>
          </p:cNvSpPr>
          <p:nvPr/>
        </p:nvSpPr>
        <p:spPr>
          <a:xfrm>
            <a:off x="469501" y="5813533"/>
            <a:ext cx="5232950" cy="447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men</a:t>
            </a:r>
            <a:r>
              <a:rPr lang="da-DK" sz="2400" b="1" i="1" dirty="0"/>
              <a:t> ALDRIG drift </a:t>
            </a:r>
            <a:r>
              <a:rPr lang="da-DK" sz="2400" i="1" dirty="0"/>
              <a:t>(eks. pga. temperatur)</a:t>
            </a:r>
            <a:endParaRPr lang="da-DK" sz="2400" dirty="0"/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DDB3D0EE-FF07-FED0-7C12-B55006FB69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451" y="5476825"/>
            <a:ext cx="1649856" cy="112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854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3966" y="1129275"/>
            <a:ext cx="6756068" cy="5279868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1083952" y="4494897"/>
            <a:ext cx="1656184" cy="86409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/>
          <p:cNvSpPr/>
          <p:nvPr/>
        </p:nvSpPr>
        <p:spPr>
          <a:xfrm>
            <a:off x="3419872" y="5753046"/>
            <a:ext cx="1656184" cy="86409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27454" y="44624"/>
            <a:ext cx="3332602" cy="427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Intern offsetjustering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10884405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496" y="44624"/>
            <a:ext cx="4582327" cy="432319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Sidste side i µA741 datablad:</a:t>
            </a:r>
            <a:endParaRPr lang="da-DK" sz="2800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1628800"/>
            <a:ext cx="2880360" cy="46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551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692696"/>
            <a:ext cx="1944216" cy="3162180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332656"/>
            <a:ext cx="4351803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438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692696"/>
            <a:ext cx="1944216" cy="3162180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332656"/>
            <a:ext cx="4351803" cy="6120679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6210932" y="2846764"/>
            <a:ext cx="1656184" cy="101428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/>
          <p:cNvSpPr/>
          <p:nvPr/>
        </p:nvSpPr>
        <p:spPr>
          <a:xfrm>
            <a:off x="1475656" y="5661248"/>
            <a:ext cx="1656184" cy="101428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8241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692696"/>
            <a:ext cx="1944216" cy="3162180"/>
          </a:xfrm>
          <a:prstGeom prst="rect">
            <a:avLst/>
          </a:prstGeom>
        </p:spPr>
      </p:pic>
      <p:pic>
        <p:nvPicPr>
          <p:cNvPr id="3" name="Billed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332656"/>
            <a:ext cx="4351803" cy="6120679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6210932" y="2846764"/>
            <a:ext cx="1656184" cy="101428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/>
          <p:cNvSpPr/>
          <p:nvPr/>
        </p:nvSpPr>
        <p:spPr>
          <a:xfrm>
            <a:off x="1475656" y="5661248"/>
            <a:ext cx="1656184" cy="101428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3851920" y="6309320"/>
            <a:ext cx="5040560" cy="378705"/>
          </a:xfrm>
        </p:spPr>
        <p:txBody>
          <a:bodyPr>
            <a:noAutofit/>
          </a:bodyPr>
          <a:lstStyle/>
          <a:p>
            <a:pPr algn="l"/>
            <a:r>
              <a:rPr lang="da-DK" sz="2000" i="1" dirty="0"/>
              <a:t>Ubalance i differenstrinnets DC-arbejdspunkter</a:t>
            </a:r>
          </a:p>
        </p:txBody>
      </p:sp>
    </p:spTree>
    <p:extLst>
      <p:ext uri="{BB962C8B-B14F-4D97-AF65-F5344CB8AC3E}">
        <p14:creationId xmlns:p14="http://schemas.microsoft.com/office/powerpoint/2010/main" val="15302165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35496" y="32432"/>
            <a:ext cx="3273091" cy="480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latin typeface="+mn-lt"/>
              </a:rPr>
              <a:t>LF355/LF356/LF357</a:t>
            </a:r>
          </a:p>
        </p:txBody>
      </p:sp>
      <p:grpSp>
        <p:nvGrpSpPr>
          <p:cNvPr id="3" name="Gruppe 2"/>
          <p:cNvGrpSpPr/>
          <p:nvPr/>
        </p:nvGrpSpPr>
        <p:grpSpPr>
          <a:xfrm>
            <a:off x="755576" y="1628800"/>
            <a:ext cx="7704856" cy="4751096"/>
            <a:chOff x="755576" y="1702240"/>
            <a:chExt cx="7704856" cy="4751096"/>
          </a:xfrm>
        </p:grpSpPr>
        <p:pic>
          <p:nvPicPr>
            <p:cNvPr id="2" name="Billede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76" y="1702240"/>
              <a:ext cx="7704856" cy="4751096"/>
            </a:xfrm>
            <a:prstGeom prst="rect">
              <a:avLst/>
            </a:prstGeom>
          </p:spPr>
        </p:pic>
        <p:sp>
          <p:nvSpPr>
            <p:cNvPr id="4" name="Ellipse 3"/>
            <p:cNvSpPr/>
            <p:nvPr/>
          </p:nvSpPr>
          <p:spPr>
            <a:xfrm>
              <a:off x="2555776" y="2924944"/>
              <a:ext cx="792088" cy="79693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" name="Ellipse 5"/>
            <p:cNvSpPr/>
            <p:nvPr/>
          </p:nvSpPr>
          <p:spPr>
            <a:xfrm>
              <a:off x="3563888" y="2924944"/>
              <a:ext cx="792088" cy="79693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7" name="Rektangel 6"/>
          <p:cNvSpPr/>
          <p:nvPr/>
        </p:nvSpPr>
        <p:spPr>
          <a:xfrm>
            <a:off x="683568" y="767687"/>
            <a:ext cx="4536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 err="1">
                <a:solidFill>
                  <a:srgbClr val="FF0000"/>
                </a:solidFill>
              </a:rPr>
              <a:t>FETs</a:t>
            </a:r>
            <a:r>
              <a:rPr lang="da-DK" sz="2000" i="1" dirty="0">
                <a:solidFill>
                  <a:srgbClr val="FF0000"/>
                </a:solidFill>
              </a:rPr>
              <a:t> i indgangene vil sænke både I</a:t>
            </a:r>
            <a:r>
              <a:rPr lang="da-DK" sz="2000" i="1" baseline="-25000" dirty="0">
                <a:solidFill>
                  <a:srgbClr val="FF0000"/>
                </a:solidFill>
              </a:rPr>
              <a:t>b</a:t>
            </a:r>
            <a:r>
              <a:rPr lang="da-DK" sz="2000" i="1" dirty="0">
                <a:solidFill>
                  <a:srgbClr val="FF0000"/>
                </a:solidFill>
              </a:rPr>
              <a:t> og </a:t>
            </a:r>
            <a:r>
              <a:rPr lang="da-DK" sz="2000" i="1" dirty="0" err="1">
                <a:solidFill>
                  <a:srgbClr val="FF0000"/>
                </a:solidFill>
              </a:rPr>
              <a:t>I</a:t>
            </a:r>
            <a:r>
              <a:rPr lang="da-DK" sz="2000" i="1" baseline="-25000" dirty="0" err="1">
                <a:solidFill>
                  <a:srgbClr val="FF0000"/>
                </a:solidFill>
              </a:rPr>
              <a:t>off</a:t>
            </a:r>
            <a:endParaRPr lang="da-DK" sz="2000" i="1" baseline="-25000" dirty="0">
              <a:solidFill>
                <a:srgbClr val="FF0000"/>
              </a:solidFill>
            </a:endParaRPr>
          </a:p>
        </p:txBody>
      </p:sp>
      <p:cxnSp>
        <p:nvCxnSpPr>
          <p:cNvPr id="8" name="Lige pilforbindelse 7"/>
          <p:cNvCxnSpPr>
            <a:cxnSpLocks/>
          </p:cNvCxnSpPr>
          <p:nvPr/>
        </p:nvCxnSpPr>
        <p:spPr>
          <a:xfrm>
            <a:off x="1259632" y="1268760"/>
            <a:ext cx="1368152" cy="144016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0574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8D16-5644-6D74-2C50-FAF5648F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BB78F8FD-8F71-03A2-C14F-482033BF379E}"/>
              </a:ext>
            </a:extLst>
          </p:cNvPr>
          <p:cNvSpPr txBox="1">
            <a:spLocks/>
          </p:cNvSpPr>
          <p:nvPr/>
        </p:nvSpPr>
        <p:spPr>
          <a:xfrm>
            <a:off x="35496" y="38528"/>
            <a:ext cx="6048672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Potentiometre - og hvordan de forbindes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261F5F3-03C0-55B2-9461-A9C570948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701" y="3922906"/>
            <a:ext cx="2454523" cy="1727984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505FD0C0-6668-8579-48A8-0A5836983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976233"/>
            <a:ext cx="5292080" cy="1463104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8EF2B25E-56A3-8122-266C-4D51361ED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33" y="4725144"/>
            <a:ext cx="1637384" cy="1665860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2DBBA2C6-A0FA-EEA1-D494-0523FA98A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429" y="2934401"/>
            <a:ext cx="1626288" cy="162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223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DF1BE-A261-4544-84BB-34325135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1ACDD-491A-5579-3AF7-EE791511235E}"/>
              </a:ext>
            </a:extLst>
          </p:cNvPr>
          <p:cNvSpPr txBox="1">
            <a:spLocks/>
          </p:cNvSpPr>
          <p:nvPr/>
        </p:nvSpPr>
        <p:spPr>
          <a:xfrm>
            <a:off x="35496" y="38528"/>
            <a:ext cx="4968552" cy="442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Vedr. fysisk placering af AD590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DF004D38-E2CD-B1FE-4600-15F4CEE1D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24744"/>
            <a:ext cx="2880320" cy="2111681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02C01948-EF40-EFCA-31B2-5F24B860C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124744"/>
            <a:ext cx="2035703" cy="1967497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394C119B-F413-6CD1-BD5F-94F6B4A49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161" y="3861048"/>
            <a:ext cx="2935783" cy="2419951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D543CB4D-FBAD-DB81-7E7C-D5E2DCEAB001}"/>
              </a:ext>
            </a:extLst>
          </p:cNvPr>
          <p:cNvSpPr txBox="1">
            <a:spLocks/>
          </p:cNvSpPr>
          <p:nvPr/>
        </p:nvSpPr>
        <p:spPr>
          <a:xfrm>
            <a:off x="4139952" y="6385356"/>
            <a:ext cx="4906196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/>
              <a:t>Vurdér </a:t>
            </a:r>
            <a:r>
              <a:rPr lang="da-DK" sz="1200" b="1" i="1" dirty="0"/>
              <a:t>hvor</a:t>
            </a:r>
            <a:r>
              <a:rPr lang="da-DK" sz="1200" i="1" dirty="0"/>
              <a:t> I vil måle temperaturen, og om AD590 </a:t>
            </a:r>
            <a:r>
              <a:rPr lang="da-DK" sz="1200" b="1" i="1" dirty="0"/>
              <a:t>opnår</a:t>
            </a:r>
            <a:r>
              <a:rPr lang="da-DK" sz="1200" i="1" dirty="0"/>
              <a:t> denne temperatur.</a:t>
            </a:r>
          </a:p>
        </p:txBody>
      </p:sp>
    </p:spTree>
    <p:extLst>
      <p:ext uri="{BB962C8B-B14F-4D97-AF65-F5344CB8AC3E}">
        <p14:creationId xmlns:p14="http://schemas.microsoft.com/office/powerpoint/2010/main" val="3670308909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3881</TotalTime>
  <Words>1110</Words>
  <Application>Microsoft Office PowerPoint</Application>
  <PresentationFormat>On-screen Show (4:3)</PresentationFormat>
  <Paragraphs>276</Paragraphs>
  <Slides>58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Kontortema</vt:lpstr>
      <vt:lpstr>ELE-plan for i dag</vt:lpstr>
      <vt:lpstr>PowerPoint Presentation</vt:lpstr>
      <vt:lpstr>Tilbagekoblingen β</vt:lpstr>
      <vt:lpstr>Tilbagekoblingen β</vt:lpstr>
      <vt:lpstr>Åbensløjfeforstærkningen AOL</vt:lpstr>
      <vt:lpstr>Åbensløjfeforstærkningen AOL</vt:lpstr>
      <vt:lpstr>Åbensløjfeforstærkningen AOL</vt:lpstr>
      <vt:lpstr>Lukketsløjfeforstærkningen ACL</vt:lpstr>
      <vt:lpstr>Lukketsløjfeforstærkningen ACL</vt:lpstr>
      <vt:lpstr>Lukketsløjfeforstærkningen ACL</vt:lpstr>
      <vt:lpstr>Lukketsløjfeforstærkningen ACL</vt:lpstr>
      <vt:lpstr>Lukketsløjfeforstærkningen ACL</vt:lpstr>
      <vt:lpstr>PowerPoint Presentation</vt:lpstr>
      <vt:lpstr>PowerPoint Presentation</vt:lpstr>
      <vt:lpstr>PowerPoint Presentation</vt:lpstr>
      <vt:lpstr>PowerPoint Presentation</vt:lpstr>
      <vt:lpstr>Offset- og biasfejl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Dual henholdsvis singulær størrelse?</vt:lpstr>
      <vt:lpstr>Typisk værdi for Voff for en μA741C:</vt:lpstr>
      <vt:lpstr>PowerPoint Presentation</vt:lpstr>
      <vt:lpstr>PowerPoint Presentation</vt:lpstr>
      <vt:lpstr>PowerPoint Presentation</vt:lpstr>
      <vt:lpstr>PowerPoint Presentation</vt:lpstr>
      <vt:lpstr>Midtvejsdiskussion</vt:lpstr>
      <vt:lpstr>PowerPoint Presentation</vt:lpstr>
      <vt:lpstr>Biasstrømmene IB- og IB+</vt:lpstr>
      <vt:lpstr>Biasstrømmene IB- og IB+</vt:lpstr>
      <vt:lpstr>PowerPoint Presentation</vt:lpstr>
      <vt:lpstr>Biasstrømmene IB- og IB+</vt:lpstr>
      <vt:lpstr>Biasstrømmene IB- og IB+</vt:lpstr>
      <vt:lpstr>PowerPoint Presentation</vt:lpstr>
      <vt:lpstr>Biasstrømmene IB- og IB+</vt:lpstr>
      <vt:lpstr>Biasstrømmene IB- og IB+</vt:lpstr>
      <vt:lpstr>Placering af biasstrømme i fejlækvivalent</vt:lpstr>
      <vt:lpstr>Placering af biasstrømme i fejlækvivalent</vt:lpstr>
      <vt:lpstr>Placering af biasstrømme i fejlækvivalent</vt:lpstr>
      <vt:lpstr>Placering af biasstrømme i fejlækvivalent</vt:lpstr>
      <vt:lpstr>Placering af biasstrømme i fejlækvivalent</vt:lpstr>
      <vt:lpstr>PowerPoint Presentation</vt:lpstr>
      <vt:lpstr>PowerPoint Presentation</vt:lpstr>
      <vt:lpstr>PowerPoint Presentation</vt:lpstr>
      <vt:lpstr>Man kan bortjustere begyndelsesoffset</vt:lpstr>
      <vt:lpstr>Man kan bortjustere begyndelsesoffset</vt:lpstr>
      <vt:lpstr>PowerPoint Presentation</vt:lpstr>
      <vt:lpstr>Sidste side i µA741 datablad:</vt:lpstr>
      <vt:lpstr>PowerPoint Presentation</vt:lpstr>
      <vt:lpstr>PowerPoint Presentation</vt:lpstr>
      <vt:lpstr>Ubalance i differenstrinnets DC-arbejdspunkter</vt:lpstr>
      <vt:lpstr>PowerPoint Presentation</vt:lpstr>
      <vt:lpstr>PowerPoint Presentation</vt:lpstr>
      <vt:lpstr>PowerPoint Presentation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Petersen</dc:creator>
  <cp:lastModifiedBy>Jan Petersen</cp:lastModifiedBy>
  <cp:revision>483</cp:revision>
  <dcterms:created xsi:type="dcterms:W3CDTF">2013-01-28T12:22:54Z</dcterms:created>
  <dcterms:modified xsi:type="dcterms:W3CDTF">2026-03-02T12:22:24Z</dcterms:modified>
</cp:coreProperties>
</file>
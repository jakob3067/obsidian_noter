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488" r:id="rId2"/>
    <p:sldId id="449" r:id="rId3"/>
    <p:sldId id="411" r:id="rId4"/>
    <p:sldId id="358" r:id="rId5"/>
    <p:sldId id="476" r:id="rId6"/>
    <p:sldId id="477" r:id="rId7"/>
    <p:sldId id="478" r:id="rId8"/>
    <p:sldId id="436" r:id="rId9"/>
    <p:sldId id="489" r:id="rId10"/>
    <p:sldId id="461" r:id="rId11"/>
    <p:sldId id="491" r:id="rId12"/>
    <p:sldId id="492" r:id="rId13"/>
    <p:sldId id="480" r:id="rId14"/>
    <p:sldId id="490" r:id="rId15"/>
    <p:sldId id="486" r:id="rId16"/>
    <p:sldId id="481" r:id="rId17"/>
    <p:sldId id="373" r:id="rId18"/>
    <p:sldId id="473" r:id="rId19"/>
    <p:sldId id="377" r:id="rId20"/>
    <p:sldId id="456" r:id="rId21"/>
    <p:sldId id="484" r:id="rId22"/>
    <p:sldId id="467" r:id="rId23"/>
    <p:sldId id="466" r:id="rId24"/>
    <p:sldId id="440" r:id="rId25"/>
    <p:sldId id="474" r:id="rId26"/>
    <p:sldId id="397" r:id="rId27"/>
    <p:sldId id="406" r:id="rId28"/>
    <p:sldId id="453" r:id="rId29"/>
    <p:sldId id="482" r:id="rId30"/>
    <p:sldId id="419" r:id="rId31"/>
    <p:sldId id="475" r:id="rId32"/>
    <p:sldId id="264" r:id="rId33"/>
    <p:sldId id="265" r:id="rId34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072899-39F8-40D1-B5AA-4B4EF64BC4B4}" v="1" dt="2026-05-04T06:03:49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017" autoAdjust="0"/>
    <p:restoredTop sz="94639" autoAdjust="0"/>
  </p:normalViewPr>
  <p:slideViewPr>
    <p:cSldViewPr>
      <p:cViewPr>
        <p:scale>
          <a:sx n="150" d="100"/>
          <a:sy n="150" d="100"/>
        </p:scale>
        <p:origin x="1996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sper Høj Lorenzen" userId="bBWxxBQ7lkasMs2MbwWOgVQi6AWwF9tq+T+K2+XYcig=" providerId="None" clId="Web-{7451BE79-B4BB-49F3-B311-0E89BBF118AA}"/>
    <pc:docChg chg="addSld delSld">
      <pc:chgData name="Kasper Høj Lorenzen" userId="bBWxxBQ7lkasMs2MbwWOgVQi6AWwF9tq+T+K2+XYcig=" providerId="None" clId="Web-{7451BE79-B4BB-49F3-B311-0E89BBF118AA}" dt="2026-04-13T11:23:11.442" v="2"/>
      <pc:docMkLst>
        <pc:docMk/>
      </pc:docMkLst>
      <pc:sldChg chg="add del">
        <pc:chgData name="Kasper Høj Lorenzen" userId="bBWxxBQ7lkasMs2MbwWOgVQi6AWwF9tq+T+K2+XYcig=" providerId="None" clId="Web-{7451BE79-B4BB-49F3-B311-0E89BBF118AA}" dt="2026-04-13T11:23:11.442" v="2"/>
        <pc:sldMkLst>
          <pc:docMk/>
          <pc:sldMk cId="814086585" sldId="377"/>
        </pc:sldMkLst>
      </pc:sldChg>
    </pc:docChg>
  </pc:docChgLst>
  <pc:docChgLst>
    <pc:chgData name="Kasper Høj Lorenzen" userId="bBWxxBQ7lkasMs2MbwWOgVQi6AWwF9tq+T+K2+XYcig=" providerId="None" clId="Web-{80072899-39F8-40D1-B5AA-4B4EF64BC4B4}"/>
    <pc:docChg chg="delSld">
      <pc:chgData name="Kasper Høj Lorenzen" userId="bBWxxBQ7lkasMs2MbwWOgVQi6AWwF9tq+T+K2+XYcig=" providerId="None" clId="Web-{80072899-39F8-40D1-B5AA-4B4EF64BC4B4}" dt="2026-05-04T06:03:49.617" v="0"/>
      <pc:docMkLst>
        <pc:docMk/>
      </pc:docMkLst>
      <pc:sldChg chg="del">
        <pc:chgData name="Kasper Høj Lorenzen" userId="bBWxxBQ7lkasMs2MbwWOgVQi6AWwF9tq+T+K2+XYcig=" providerId="None" clId="Web-{80072899-39F8-40D1-B5AA-4B4EF64BC4B4}" dt="2026-05-04T06:03:49.617" v="0"/>
        <pc:sldMkLst>
          <pc:docMk/>
          <pc:sldMk cId="1239927223" sldId="6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22EA1-B6F2-4814-AC42-8F7C3E4077CB}" type="datetimeFigureOut">
              <a:rPr lang="da-DK" smtClean="0"/>
              <a:t>03-05-2026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0D978-FBB8-4DAF-B59F-1D9066427F3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370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E9CF7-5F6D-43BB-ABB4-4BE2DC562C83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6825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7E9CF7-5F6D-43BB-ABB4-4BE2DC562C83}" type="slidenum">
              <a:rPr lang="da-DK" smtClean="0"/>
              <a:t>34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34170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377B9-7617-40B2-A57A-C59BC661B920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375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CCEB-1029-482C-B5DE-7FC29136E2E4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2513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55CE0-6E72-43E1-81B0-21CBE56FFCEC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69733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4ED00-B066-4CA2-A9AA-4C18522B87C4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79224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A6808-D392-4291-8B9C-E07D1C729731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52469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2AEF-4336-4001-A722-439A4AAFF94F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87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5ECE3-0F2A-427F-80EB-FBCD281640E2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156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8A195-47CF-4CF6-A410-D4406FC96FDA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3424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D3AF-9766-43CE-B7B1-B74FA8DF1D3F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705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AC5A7-50D6-48A0-8DA1-172644CEF960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072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EC49A-1EBE-45BC-AB8D-5059098C959A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308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3A526E-3849-4B6F-848A-420FF621EA2F}" type="datetime2">
              <a:rPr lang="da-DK" smtClean="0"/>
              <a:t>3. maj 2026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E9C8E-5382-4313-B63F-5388F287E617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18748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whatis/definition/transistor-to-transistor-logic-TTL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7504" y="44626"/>
            <a:ext cx="3312368" cy="432046"/>
          </a:xfrm>
        </p:spPr>
        <p:txBody>
          <a:bodyPr>
            <a:noAutofit/>
          </a:bodyPr>
          <a:lstStyle/>
          <a:p>
            <a:pPr algn="l"/>
            <a:r>
              <a:rPr lang="da-DK" sz="2800" b="1" i="1" dirty="0"/>
              <a:t>ELE-plan for i dag</a:t>
            </a:r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432684" y="3717032"/>
            <a:ext cx="3275220" cy="4320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E3</a:t>
            </a:r>
            <a:r>
              <a:rPr lang="da-DK" sz="2400" i="1" dirty="0"/>
              <a:t> (</a:t>
            </a:r>
            <a:r>
              <a:rPr lang="da-DK" sz="2400" i="1" dirty="0" err="1"/>
              <a:t>Sp</a:t>
            </a:r>
            <a:r>
              <a:rPr lang="da-DK" sz="2400" i="1" dirty="0"/>
              <a:t>. 1 - 3)</a:t>
            </a:r>
          </a:p>
        </p:txBody>
      </p:sp>
      <p:sp>
        <p:nvSpPr>
          <p:cNvPr id="13" name="Titel 1"/>
          <p:cNvSpPr txBox="1">
            <a:spLocks/>
          </p:cNvSpPr>
          <p:nvPr/>
        </p:nvSpPr>
        <p:spPr>
          <a:xfrm>
            <a:off x="432684" y="4293096"/>
            <a:ext cx="4931404" cy="108012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Multivibratorer</a:t>
            </a:r>
            <a:endParaRPr lang="da-DK" sz="2400" b="1" i="1" baseline="-25000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Hvad er dette for nogle kredsløb?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Astabil multivibrator som eksempel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4FF4EDBF-A576-47AC-B354-3AAE884EB759}"/>
              </a:ext>
            </a:extLst>
          </p:cNvPr>
          <p:cNvSpPr txBox="1">
            <a:spLocks/>
          </p:cNvSpPr>
          <p:nvPr/>
        </p:nvSpPr>
        <p:spPr>
          <a:xfrm>
            <a:off x="427146" y="5589240"/>
            <a:ext cx="4931404" cy="79208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 err="1"/>
              <a:t>Latch</a:t>
            </a:r>
            <a:endParaRPr lang="da-DK" sz="2400" b="1" i="1" baseline="-25000" dirty="0"/>
          </a:p>
          <a:p>
            <a:pPr marL="342900" indent="-342900" algn="l">
              <a:buFontTx/>
              <a:buChar char="-"/>
            </a:pPr>
            <a:r>
              <a:rPr lang="da-DK" sz="2400" i="1" dirty="0"/>
              <a:t>Konstruktionsopgave relevant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6A15D299-CE53-DB64-A625-20D5A564D3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7"/>
          <a:stretch/>
        </p:blipFill>
        <p:spPr>
          <a:xfrm flipH="1">
            <a:off x="8604447" y="1754"/>
            <a:ext cx="536089" cy="639018"/>
          </a:xfrm>
          <a:prstGeom prst="rect">
            <a:avLst/>
          </a:prstGeom>
        </p:spPr>
      </p:pic>
      <p:grpSp>
        <p:nvGrpSpPr>
          <p:cNvPr id="6" name="Gruppe 5">
            <a:extLst>
              <a:ext uri="{FF2B5EF4-FFF2-40B4-BE49-F238E27FC236}">
                <a16:creationId xmlns:a16="http://schemas.microsoft.com/office/drawing/2014/main" id="{BC8E95AD-44AE-FA89-6810-2FD17FBF91EB}"/>
              </a:ext>
            </a:extLst>
          </p:cNvPr>
          <p:cNvGrpSpPr/>
          <p:nvPr/>
        </p:nvGrpSpPr>
        <p:grpSpPr>
          <a:xfrm>
            <a:off x="2915817" y="465341"/>
            <a:ext cx="4951607" cy="458233"/>
            <a:chOff x="2627784" y="465341"/>
            <a:chExt cx="3887880" cy="458233"/>
          </a:xfrm>
        </p:grpSpPr>
        <p:sp>
          <p:nvSpPr>
            <p:cNvPr id="7" name="Titel 1">
              <a:extLst>
                <a:ext uri="{FF2B5EF4-FFF2-40B4-BE49-F238E27FC236}">
                  <a16:creationId xmlns:a16="http://schemas.microsoft.com/office/drawing/2014/main" id="{F2FBE99B-3AA0-914C-865C-303516078BCB}"/>
                </a:ext>
              </a:extLst>
            </p:cNvPr>
            <p:cNvSpPr txBox="1">
              <a:spLocks/>
            </p:cNvSpPr>
            <p:nvPr/>
          </p:nvSpPr>
          <p:spPr>
            <a:xfrm>
              <a:off x="3419328" y="465341"/>
              <a:ext cx="3096336" cy="458233"/>
            </a:xfrm>
            <a:prstGeom prst="rect">
              <a:avLst/>
            </a:prstGeom>
          </p:spPr>
          <p:txBody>
            <a:bodyPr vert="horz" lIns="91440" tIns="45720" rIns="91440" bIns="45720" rtlCol="0" anchor="ctr" anchorCtr="0">
              <a:norm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2400" i="1" dirty="0">
                  <a:solidFill>
                    <a:srgbClr val="FF0000"/>
                  </a:solidFill>
                </a:rPr>
                <a:t>Lidt </a:t>
              </a:r>
              <a:r>
                <a:rPr lang="da-DK" sz="2400" i="1" dirty="0" err="1">
                  <a:solidFill>
                    <a:srgbClr val="FF0000"/>
                  </a:solidFill>
                </a:rPr>
                <a:t>rep</a:t>
              </a:r>
              <a:r>
                <a:rPr lang="da-DK" sz="2400" i="1" dirty="0">
                  <a:solidFill>
                    <a:srgbClr val="FF0000"/>
                  </a:solidFill>
                </a:rPr>
                <a:t>. om Offset- og </a:t>
              </a:r>
              <a:r>
                <a:rPr lang="da-DK" sz="2400" i="1" dirty="0" err="1">
                  <a:solidFill>
                    <a:srgbClr val="FF0000"/>
                  </a:solidFill>
                </a:rPr>
                <a:t>Biasfejl</a:t>
              </a:r>
              <a:endParaRPr lang="da-DK" sz="2400" i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Lige pilforbindelse 13">
              <a:extLst>
                <a:ext uri="{FF2B5EF4-FFF2-40B4-BE49-F238E27FC236}">
                  <a16:creationId xmlns:a16="http://schemas.microsoft.com/office/drawing/2014/main" id="{92BB1F61-5298-A1CD-41A1-4B6A02415F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7784" y="694457"/>
              <a:ext cx="735005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C7ADC145-4276-CD74-7CAB-EDD5ADC74DB4}"/>
              </a:ext>
            </a:extLst>
          </p:cNvPr>
          <p:cNvSpPr txBox="1">
            <a:spLocks/>
          </p:cNvSpPr>
          <p:nvPr/>
        </p:nvSpPr>
        <p:spPr>
          <a:xfrm>
            <a:off x="5724128" y="4496631"/>
            <a:ext cx="2052226" cy="4320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200" i="1" dirty="0">
                <a:solidFill>
                  <a:srgbClr val="FF0000"/>
                </a:solidFill>
              </a:rPr>
              <a:t>Opladning af kondensator</a:t>
            </a:r>
            <a:endParaRPr lang="da-DK" sz="1200" i="1" baseline="-25000" dirty="0">
              <a:solidFill>
                <a:srgbClr val="FF0000"/>
              </a:solidFill>
            </a:endParaRPr>
          </a:p>
          <a:p>
            <a:pPr algn="l"/>
            <a:r>
              <a:rPr lang="da-DK" sz="1200" i="1" dirty="0">
                <a:solidFill>
                  <a:srgbClr val="FF0000"/>
                </a:solidFill>
              </a:rPr>
              <a:t>Differentialligning - La Place?</a:t>
            </a:r>
          </a:p>
        </p:txBody>
      </p: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5D9AF33E-B322-2A46-8B3B-17F7653E680E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5220072" y="4712655"/>
            <a:ext cx="504056" cy="114662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el 1">
            <a:extLst>
              <a:ext uri="{FF2B5EF4-FFF2-40B4-BE49-F238E27FC236}">
                <a16:creationId xmlns:a16="http://schemas.microsoft.com/office/drawing/2014/main" id="{4568699A-10AA-4D2F-B2EC-20D5AB8F9F9F}"/>
              </a:ext>
            </a:extLst>
          </p:cNvPr>
          <p:cNvSpPr txBox="1">
            <a:spLocks/>
          </p:cNvSpPr>
          <p:nvPr/>
        </p:nvSpPr>
        <p:spPr>
          <a:xfrm>
            <a:off x="427146" y="722861"/>
            <a:ext cx="7667708" cy="28083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 err="1"/>
              <a:t>Komparatoren</a:t>
            </a:r>
            <a:endParaRPr lang="da-DK" sz="2400" i="1" dirty="0"/>
          </a:p>
          <a:p>
            <a:pPr marL="342900" indent="-342900" algn="l">
              <a:buFontTx/>
              <a:buChar char="-"/>
            </a:pPr>
            <a:r>
              <a:rPr lang="da-DK" sz="2400" i="1" dirty="0" err="1"/>
              <a:t>Komparering</a:t>
            </a:r>
            <a:r>
              <a:rPr lang="da-DK" sz="2400" i="1" dirty="0"/>
              <a:t>/tærskelspænding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Kan man bruge en Op Amp som komparator?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Logiske niveauer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Udgang med ”Open </a:t>
            </a:r>
            <a:r>
              <a:rPr lang="da-DK" sz="2400" i="1" dirty="0" err="1"/>
              <a:t>Collector</a:t>
            </a:r>
            <a:r>
              <a:rPr lang="da-DK" sz="2400" i="1" dirty="0"/>
              <a:t>” – evt. anden tilpasning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Uden/med positiv feedback (Schmitt Trigger)</a:t>
            </a:r>
          </a:p>
          <a:p>
            <a:pPr marL="342900" indent="-342900" algn="l">
              <a:buFontTx/>
              <a:buChar char="-"/>
            </a:pPr>
            <a:r>
              <a:rPr lang="da-DK" sz="2400" i="1" dirty="0"/>
              <a:t>Eksempel med figur 12.10</a:t>
            </a:r>
          </a:p>
        </p:txBody>
      </p:sp>
    </p:spTree>
    <p:extLst>
      <p:ext uri="{BB962C8B-B14F-4D97-AF65-F5344CB8AC3E}">
        <p14:creationId xmlns:p14="http://schemas.microsoft.com/office/powerpoint/2010/main" val="136326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3491880" y="4005064"/>
            <a:ext cx="2808312" cy="12961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Offsetspænding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off</a:t>
            </a:r>
            <a:endParaRPr lang="da-DK" sz="2400" i="1" dirty="0"/>
          </a:p>
          <a:p>
            <a:pPr algn="l"/>
            <a:r>
              <a:rPr lang="da-DK" sz="2400" i="1" dirty="0" err="1"/>
              <a:t>Biasstrøm</a:t>
            </a:r>
            <a:r>
              <a:rPr lang="da-DK" sz="2400" i="1" dirty="0"/>
              <a:t> I</a:t>
            </a:r>
            <a:r>
              <a:rPr lang="da-DK" sz="2400" i="1" baseline="-25000" dirty="0"/>
              <a:t>B</a:t>
            </a:r>
            <a:endParaRPr lang="da-DK" sz="2400" i="1" dirty="0"/>
          </a:p>
          <a:p>
            <a:pPr algn="l"/>
            <a:r>
              <a:rPr lang="da-DK" sz="2400" i="1" dirty="0"/>
              <a:t>Offsetstrøm </a:t>
            </a:r>
            <a:r>
              <a:rPr lang="da-DK" sz="2400" i="1" dirty="0" err="1"/>
              <a:t>I</a:t>
            </a:r>
            <a:r>
              <a:rPr lang="da-DK" sz="2400" i="1" baseline="-25000" dirty="0" err="1"/>
              <a:t>off</a:t>
            </a:r>
            <a:endParaRPr lang="da-DK" sz="2400" i="1" baseline="-25000" dirty="0"/>
          </a:p>
        </p:txBody>
      </p:sp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35496" y="44624"/>
            <a:ext cx="3037409" cy="416575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Offset- og </a:t>
            </a:r>
            <a:r>
              <a:rPr lang="da-DK" sz="2800" i="1" dirty="0" err="1"/>
              <a:t>biasfejl</a:t>
            </a:r>
            <a:endParaRPr lang="da-DK" sz="2800" i="1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F9F685D8-00DB-49A6-B019-968F891AA330}"/>
              </a:ext>
            </a:extLst>
          </p:cNvPr>
          <p:cNvSpPr txBox="1">
            <a:spLocks/>
          </p:cNvSpPr>
          <p:nvPr/>
        </p:nvSpPr>
        <p:spPr>
          <a:xfrm>
            <a:off x="359532" y="908720"/>
            <a:ext cx="8460940" cy="429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DC offset på udgang og muligvis drift </a:t>
            </a:r>
            <a:r>
              <a:rPr lang="da-DK" sz="1200" i="1" dirty="0"/>
              <a:t>(ex. som funktion af temp.)</a:t>
            </a:r>
            <a:endParaRPr lang="da-DK" sz="1200" i="1" baseline="-25000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98B267D0-B12B-4F08-AE7E-9061CB86F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191" y="1772816"/>
            <a:ext cx="3969618" cy="186941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207CDBFC-6B09-4F5A-9A2A-786EB6316CAA}"/>
              </a:ext>
            </a:extLst>
          </p:cNvPr>
          <p:cNvSpPr txBox="1">
            <a:spLocks/>
          </p:cNvSpPr>
          <p:nvPr/>
        </p:nvSpPr>
        <p:spPr>
          <a:xfrm>
            <a:off x="359532" y="4010508"/>
            <a:ext cx="2988332" cy="429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Databladsoplysninger:</a:t>
            </a:r>
            <a:endParaRPr lang="da-DK" sz="2400" i="1" baseline="-25000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92D26CB-4664-4D1D-9DA6-4EA7F3A3C67E}"/>
              </a:ext>
            </a:extLst>
          </p:cNvPr>
          <p:cNvSpPr txBox="1">
            <a:spLocks/>
          </p:cNvSpPr>
          <p:nvPr/>
        </p:nvSpPr>
        <p:spPr>
          <a:xfrm>
            <a:off x="359532" y="5664043"/>
            <a:ext cx="6940388" cy="429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Man kan bortjustere begyndelsesoffset men ikke drift!</a:t>
            </a:r>
            <a:endParaRPr lang="da-DK" sz="2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286891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lede 11">
            <a:extLst>
              <a:ext uri="{FF2B5EF4-FFF2-40B4-BE49-F238E27FC236}">
                <a16:creationId xmlns:a16="http://schemas.microsoft.com/office/drawing/2014/main" id="{A6210EB2-4BF1-129F-FBB0-64B71D1F7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5220" y="5154477"/>
            <a:ext cx="490785" cy="490785"/>
          </a:xfrm>
          <a:prstGeom prst="rect">
            <a:avLst/>
          </a:prstGeom>
        </p:spPr>
      </p:pic>
      <p:grpSp>
        <p:nvGrpSpPr>
          <p:cNvPr id="11" name="Gruppe 10">
            <a:extLst>
              <a:ext uri="{FF2B5EF4-FFF2-40B4-BE49-F238E27FC236}">
                <a16:creationId xmlns:a16="http://schemas.microsoft.com/office/drawing/2014/main" id="{B3546C6F-5984-4B64-2A11-EC49B6449506}"/>
              </a:ext>
            </a:extLst>
          </p:cNvPr>
          <p:cNvGrpSpPr/>
          <p:nvPr/>
        </p:nvGrpSpPr>
        <p:grpSpPr>
          <a:xfrm>
            <a:off x="4619867" y="687761"/>
            <a:ext cx="1678578" cy="2730132"/>
            <a:chOff x="5952622" y="986900"/>
            <a:chExt cx="1678578" cy="2730132"/>
          </a:xfrm>
        </p:grpSpPr>
        <p:pic>
          <p:nvPicPr>
            <p:cNvPr id="4" name="Billede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52622" y="986900"/>
              <a:ext cx="1678578" cy="2730132"/>
            </a:xfrm>
            <a:prstGeom prst="rect">
              <a:avLst/>
            </a:prstGeom>
          </p:spPr>
        </p:pic>
        <p:sp>
          <p:nvSpPr>
            <p:cNvPr id="5" name="Ellipse 4"/>
            <p:cNvSpPr/>
            <p:nvPr/>
          </p:nvSpPr>
          <p:spPr>
            <a:xfrm>
              <a:off x="6210932" y="2846764"/>
              <a:ext cx="1313396" cy="804353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grpSp>
        <p:nvGrpSpPr>
          <p:cNvPr id="10" name="Gruppe 9">
            <a:extLst>
              <a:ext uri="{FF2B5EF4-FFF2-40B4-BE49-F238E27FC236}">
                <a16:creationId xmlns:a16="http://schemas.microsoft.com/office/drawing/2014/main" id="{462D78C1-ACA3-56E6-D3F2-B42569152117}"/>
              </a:ext>
            </a:extLst>
          </p:cNvPr>
          <p:cNvGrpSpPr/>
          <p:nvPr/>
        </p:nvGrpSpPr>
        <p:grpSpPr>
          <a:xfrm>
            <a:off x="1039359" y="876414"/>
            <a:ext cx="3532641" cy="5105172"/>
            <a:chOff x="967611" y="1570360"/>
            <a:chExt cx="3532641" cy="5105172"/>
          </a:xfrm>
        </p:grpSpPr>
        <p:pic>
          <p:nvPicPr>
            <p:cNvPr id="3" name="Billede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611" y="1570360"/>
              <a:ext cx="3532641" cy="4968552"/>
            </a:xfrm>
            <a:prstGeom prst="rect">
              <a:avLst/>
            </a:prstGeom>
          </p:spPr>
        </p:pic>
        <p:sp>
          <p:nvSpPr>
            <p:cNvPr id="6" name="Ellipse 5"/>
            <p:cNvSpPr/>
            <p:nvPr/>
          </p:nvSpPr>
          <p:spPr>
            <a:xfrm>
              <a:off x="1475656" y="5661248"/>
              <a:ext cx="1656184" cy="1014284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</p:grpSp>
      <p:sp>
        <p:nvSpPr>
          <p:cNvPr id="7" name="Titel 1">
            <a:extLst>
              <a:ext uri="{FF2B5EF4-FFF2-40B4-BE49-F238E27FC236}">
                <a16:creationId xmlns:a16="http://schemas.microsoft.com/office/drawing/2014/main" id="{06260F77-661F-FC7F-D35D-B8EB417853F6}"/>
              </a:ext>
            </a:extLst>
          </p:cNvPr>
          <p:cNvSpPr txBox="1">
            <a:spLocks/>
          </p:cNvSpPr>
          <p:nvPr/>
        </p:nvSpPr>
        <p:spPr>
          <a:xfrm>
            <a:off x="35496" y="44624"/>
            <a:ext cx="2736304" cy="4165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Intern justering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9A025E01-3E28-7190-8407-B716B795D5CE}"/>
              </a:ext>
            </a:extLst>
          </p:cNvPr>
          <p:cNvSpPr txBox="1">
            <a:spLocks/>
          </p:cNvSpPr>
          <p:nvPr/>
        </p:nvSpPr>
        <p:spPr>
          <a:xfrm>
            <a:off x="5544370" y="4826372"/>
            <a:ext cx="2052226" cy="64807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200" i="1" dirty="0">
                <a:solidFill>
                  <a:srgbClr val="FF0000"/>
                </a:solidFill>
              </a:rPr>
              <a:t>Her kan man ikke længere regne med opgivne data for Op Amp.</a:t>
            </a:r>
          </a:p>
        </p:txBody>
      </p:sp>
    </p:spTree>
    <p:extLst>
      <p:ext uri="{BB962C8B-B14F-4D97-AF65-F5344CB8AC3E}">
        <p14:creationId xmlns:p14="http://schemas.microsoft.com/office/powerpoint/2010/main" val="2848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79612" y="3068960"/>
            <a:ext cx="6840760" cy="517322"/>
          </a:xfrm>
        </p:spPr>
        <p:txBody>
          <a:bodyPr>
            <a:noAutofit/>
          </a:bodyPr>
          <a:lstStyle/>
          <a:p>
            <a:pPr algn="l"/>
            <a:r>
              <a:rPr lang="da-DK" sz="2400" i="1" dirty="0"/>
              <a:t>Op Amp </a:t>
            </a:r>
            <a:r>
              <a:rPr lang="da-DK" sz="2400" i="1"/>
              <a:t>som switch-kredsløb</a:t>
            </a:r>
            <a:r>
              <a:rPr lang="da-DK" sz="2400" i="1" dirty="0"/>
              <a:t>: </a:t>
            </a:r>
            <a:r>
              <a:rPr lang="da-DK" sz="2400" b="1" i="1" dirty="0"/>
              <a:t>Ikke</a:t>
            </a:r>
            <a:r>
              <a:rPr lang="da-DK" sz="2400" i="1" dirty="0"/>
              <a:t> negativ feedback!</a:t>
            </a:r>
            <a:endParaRPr lang="da-DK" sz="2400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48B773E-9197-4A3C-B167-D384B6E14C8E}"/>
              </a:ext>
            </a:extLst>
          </p:cNvPr>
          <p:cNvSpPr txBox="1">
            <a:spLocks/>
          </p:cNvSpPr>
          <p:nvPr/>
        </p:nvSpPr>
        <p:spPr>
          <a:xfrm>
            <a:off x="53080" y="62208"/>
            <a:ext cx="4446912" cy="5173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I denne lektion: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357683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98"/>
          <a:stretch/>
        </p:blipFill>
        <p:spPr>
          <a:xfrm>
            <a:off x="851167" y="764704"/>
            <a:ext cx="2880321" cy="2580992"/>
          </a:xfrm>
          <a:prstGeom prst="rect">
            <a:avLst/>
          </a:prstGeom>
        </p:spPr>
      </p:pic>
      <p:grpSp>
        <p:nvGrpSpPr>
          <p:cNvPr id="3" name="Gruppe 2">
            <a:extLst>
              <a:ext uri="{FF2B5EF4-FFF2-40B4-BE49-F238E27FC236}">
                <a16:creationId xmlns:a16="http://schemas.microsoft.com/office/drawing/2014/main" id="{CF465557-3A5B-4A45-A85D-D24144E348AA}"/>
              </a:ext>
            </a:extLst>
          </p:cNvPr>
          <p:cNvGrpSpPr/>
          <p:nvPr/>
        </p:nvGrpSpPr>
        <p:grpSpPr>
          <a:xfrm>
            <a:off x="1115616" y="3645024"/>
            <a:ext cx="5976664" cy="504056"/>
            <a:chOff x="1115616" y="4869160"/>
            <a:chExt cx="5976664" cy="504056"/>
          </a:xfrm>
        </p:grpSpPr>
        <p:sp>
          <p:nvSpPr>
            <p:cNvPr id="7" name="Titel 1"/>
            <p:cNvSpPr txBox="1">
              <a:spLocks/>
            </p:cNvSpPr>
            <p:nvPr/>
          </p:nvSpPr>
          <p:spPr>
            <a:xfrm>
              <a:off x="1115616" y="4869160"/>
              <a:ext cx="3240360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400" i="1" dirty="0" err="1"/>
                <a:t>Komparering</a:t>
              </a:r>
              <a:r>
                <a:rPr lang="da-DK" sz="2400" i="1" dirty="0"/>
                <a:t>: v</a:t>
              </a:r>
              <a:r>
                <a:rPr lang="da-DK" sz="2400" i="1" baseline="-25000" dirty="0"/>
                <a:t>id</a:t>
              </a:r>
              <a:r>
                <a:rPr lang="da-DK" sz="2400" i="1" dirty="0"/>
                <a:t> = 0 </a:t>
              </a:r>
              <a:endParaRPr lang="da-DK" sz="2400" dirty="0"/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5868144" y="4869160"/>
              <a:ext cx="1224136" cy="504056"/>
            </a:xfrm>
            <a:prstGeom prst="rect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400" i="1" dirty="0"/>
                <a:t>e</a:t>
              </a:r>
              <a:r>
                <a:rPr lang="da-DK" sz="2400" i="1" baseline="30000" dirty="0"/>
                <a:t>+</a:t>
              </a:r>
              <a:r>
                <a:rPr lang="da-DK" sz="2400" i="1" dirty="0"/>
                <a:t> = e</a:t>
              </a:r>
              <a:r>
                <a:rPr lang="da-DK" sz="2400" i="1" baseline="30000" dirty="0"/>
                <a:t>-</a:t>
              </a:r>
              <a:endParaRPr lang="da-DK" sz="2400" baseline="30000" dirty="0"/>
            </a:p>
          </p:txBody>
        </p:sp>
        <p:cxnSp>
          <p:nvCxnSpPr>
            <p:cNvPr id="4" name="Lige pilforbindelse 3"/>
            <p:cNvCxnSpPr/>
            <p:nvPr/>
          </p:nvCxnSpPr>
          <p:spPr>
            <a:xfrm>
              <a:off x="4860032" y="5121188"/>
              <a:ext cx="72008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53080" y="62208"/>
            <a:ext cx="7399240" cy="51732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Betingelsen for skift på udgangen af en Op Amp?</a:t>
            </a:r>
            <a:endParaRPr lang="da-DK" sz="2800" dirty="0"/>
          </a:p>
        </p:txBody>
      </p:sp>
      <p:grpSp>
        <p:nvGrpSpPr>
          <p:cNvPr id="8" name="Gruppe 7">
            <a:extLst>
              <a:ext uri="{FF2B5EF4-FFF2-40B4-BE49-F238E27FC236}">
                <a16:creationId xmlns:a16="http://schemas.microsoft.com/office/drawing/2014/main" id="{1B0B77E1-AA63-193D-11F9-0B7B7320DB92}"/>
              </a:ext>
            </a:extLst>
          </p:cNvPr>
          <p:cNvGrpSpPr/>
          <p:nvPr/>
        </p:nvGrpSpPr>
        <p:grpSpPr>
          <a:xfrm>
            <a:off x="3991351" y="764704"/>
            <a:ext cx="3749001" cy="2292960"/>
            <a:chOff x="3979226" y="764704"/>
            <a:chExt cx="4608060" cy="2826980"/>
          </a:xfrm>
        </p:grpSpPr>
        <p:cxnSp>
          <p:nvCxnSpPr>
            <p:cNvPr id="9" name="Lige pilforbindelse 8">
              <a:extLst>
                <a:ext uri="{FF2B5EF4-FFF2-40B4-BE49-F238E27FC236}">
                  <a16:creationId xmlns:a16="http://schemas.microsoft.com/office/drawing/2014/main" id="{2A95E2C3-AB25-0850-4EA1-DCFD0A25C570}"/>
                </a:ext>
              </a:extLst>
            </p:cNvPr>
            <p:cNvCxnSpPr/>
            <p:nvPr/>
          </p:nvCxnSpPr>
          <p:spPr>
            <a:xfrm flipV="1">
              <a:off x="6228529" y="1000820"/>
              <a:ext cx="0" cy="25654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Lige pilforbindelse 10">
              <a:extLst>
                <a:ext uri="{FF2B5EF4-FFF2-40B4-BE49-F238E27FC236}">
                  <a16:creationId xmlns:a16="http://schemas.microsoft.com/office/drawing/2014/main" id="{C397AD6C-28D4-B592-A221-61C306952DD4}"/>
                </a:ext>
              </a:extLst>
            </p:cNvPr>
            <p:cNvCxnSpPr/>
            <p:nvPr/>
          </p:nvCxnSpPr>
          <p:spPr>
            <a:xfrm>
              <a:off x="4651861" y="2360449"/>
              <a:ext cx="31199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Lige forbindelse 15">
              <a:extLst>
                <a:ext uri="{FF2B5EF4-FFF2-40B4-BE49-F238E27FC236}">
                  <a16:creationId xmlns:a16="http://schemas.microsoft.com/office/drawing/2014/main" id="{372C84CC-987A-EFD6-E2E1-6057F818B86C}"/>
                </a:ext>
              </a:extLst>
            </p:cNvPr>
            <p:cNvCxnSpPr/>
            <p:nvPr/>
          </p:nvCxnSpPr>
          <p:spPr>
            <a:xfrm>
              <a:off x="4651861" y="1360960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 Box 25">
              <a:extLst>
                <a:ext uri="{FF2B5EF4-FFF2-40B4-BE49-F238E27FC236}">
                  <a16:creationId xmlns:a16="http://schemas.microsoft.com/office/drawing/2014/main" id="{539460B6-F4CF-EF52-B64B-26ACFAE6B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064" y="2204864"/>
              <a:ext cx="454435" cy="41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 Box 25">
              <a:extLst>
                <a:ext uri="{FF2B5EF4-FFF2-40B4-BE49-F238E27FC236}">
                  <a16:creationId xmlns:a16="http://schemas.microsoft.com/office/drawing/2014/main" id="{681A2708-D932-5B8E-002A-9C727A20D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3231644"/>
              <a:ext cx="360041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5" name="Gruppe 34">
              <a:extLst>
                <a:ext uri="{FF2B5EF4-FFF2-40B4-BE49-F238E27FC236}">
                  <a16:creationId xmlns:a16="http://schemas.microsoft.com/office/drawing/2014/main" id="{240BDA24-74DB-3C93-1B9E-BD561755ED1C}"/>
                </a:ext>
              </a:extLst>
            </p:cNvPr>
            <p:cNvGrpSpPr/>
            <p:nvPr/>
          </p:nvGrpSpPr>
          <p:grpSpPr>
            <a:xfrm>
              <a:off x="4904825" y="1460099"/>
              <a:ext cx="2660947" cy="1750117"/>
              <a:chOff x="1987753" y="1561732"/>
              <a:chExt cx="5268676" cy="3585918"/>
            </a:xfrm>
            <a:effectLst/>
          </p:grpSpPr>
          <p:cxnSp>
            <p:nvCxnSpPr>
              <p:cNvPr id="47" name="Lige forbindelse 46">
                <a:extLst>
                  <a:ext uri="{FF2B5EF4-FFF2-40B4-BE49-F238E27FC236}">
                    <a16:creationId xmlns:a16="http://schemas.microsoft.com/office/drawing/2014/main" id="{6F528428-5087-80F8-C584-D88438F615B8}"/>
                  </a:ext>
                </a:extLst>
              </p:cNvPr>
              <p:cNvCxnSpPr/>
              <p:nvPr/>
            </p:nvCxnSpPr>
            <p:spPr>
              <a:xfrm flipV="1">
                <a:off x="3957391" y="1561732"/>
                <a:ext cx="1329769" cy="35859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" name="Lige forbindelse 47">
                <a:extLst>
                  <a:ext uri="{FF2B5EF4-FFF2-40B4-BE49-F238E27FC236}">
                    <a16:creationId xmlns:a16="http://schemas.microsoft.com/office/drawing/2014/main" id="{4F9864B7-1294-E7D2-3938-0E3C4D96D3FF}"/>
                  </a:ext>
                </a:extLst>
              </p:cNvPr>
              <p:cNvCxnSpPr/>
              <p:nvPr/>
            </p:nvCxnSpPr>
            <p:spPr>
              <a:xfrm>
                <a:off x="5252344" y="1592043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Lige forbindelse 48">
                <a:extLst>
                  <a:ext uri="{FF2B5EF4-FFF2-40B4-BE49-F238E27FC236}">
                    <a16:creationId xmlns:a16="http://schemas.microsoft.com/office/drawing/2014/main" id="{64B7D6D1-0134-BB3F-0079-045552986664}"/>
                  </a:ext>
                </a:extLst>
              </p:cNvPr>
              <p:cNvCxnSpPr/>
              <p:nvPr/>
            </p:nvCxnSpPr>
            <p:spPr>
              <a:xfrm>
                <a:off x="1987753" y="5117036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6" name="Lige forbindelse 35">
              <a:extLst>
                <a:ext uri="{FF2B5EF4-FFF2-40B4-BE49-F238E27FC236}">
                  <a16:creationId xmlns:a16="http://schemas.microsoft.com/office/drawing/2014/main" id="{9B83DFF9-04AE-117B-1B99-4D69603338C3}"/>
                </a:ext>
              </a:extLst>
            </p:cNvPr>
            <p:cNvCxnSpPr/>
            <p:nvPr/>
          </p:nvCxnSpPr>
          <p:spPr>
            <a:xfrm>
              <a:off x="4622686" y="3325542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 Box 25">
              <a:extLst>
                <a:ext uri="{FF2B5EF4-FFF2-40B4-BE49-F238E27FC236}">
                  <a16:creationId xmlns:a16="http://schemas.microsoft.com/office/drawing/2014/main" id="{A0D384E0-E814-AF7B-9A3E-BDBA8DF6E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20" y="1417202"/>
              <a:ext cx="1134966" cy="283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  <p:sp>
          <p:nvSpPr>
            <p:cNvPr id="38" name="Text Box 25">
              <a:extLst>
                <a:ext uri="{FF2B5EF4-FFF2-40B4-BE49-F238E27FC236}">
                  <a16:creationId xmlns:a16="http://schemas.microsoft.com/office/drawing/2014/main" id="{EF62FB40-3036-6721-3ED0-A2FA48E64D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184" y="764704"/>
              <a:ext cx="449504" cy="37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FC358B8A-6D6B-795B-9F26-175F5FBE64CF}"/>
                </a:ext>
              </a:extLst>
            </p:cNvPr>
            <p:cNvGrpSpPr/>
            <p:nvPr/>
          </p:nvGrpSpPr>
          <p:grpSpPr>
            <a:xfrm>
              <a:off x="5090188" y="1358455"/>
              <a:ext cx="2279485" cy="1967087"/>
              <a:chOff x="2354773" y="1353468"/>
              <a:chExt cx="4513381" cy="4030480"/>
            </a:xfrm>
          </p:grpSpPr>
          <p:cxnSp>
            <p:nvCxnSpPr>
              <p:cNvPr id="44" name="Lige forbindelse 43">
                <a:extLst>
                  <a:ext uri="{FF2B5EF4-FFF2-40B4-BE49-F238E27FC236}">
                    <a16:creationId xmlns:a16="http://schemas.microsoft.com/office/drawing/2014/main" id="{9B0401AA-3551-D319-69F4-339A3935CA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2258" y="1358599"/>
                <a:ext cx="0" cy="402534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Lige forbindelse 44">
                <a:extLst>
                  <a:ext uri="{FF2B5EF4-FFF2-40B4-BE49-F238E27FC236}">
                    <a16:creationId xmlns:a16="http://schemas.microsoft.com/office/drawing/2014/main" id="{5B9D9D8A-D875-85FD-D33C-35EC3518459A}"/>
                  </a:ext>
                </a:extLst>
              </p:cNvPr>
              <p:cNvCxnSpPr/>
              <p:nvPr/>
            </p:nvCxnSpPr>
            <p:spPr>
              <a:xfrm>
                <a:off x="2354773" y="5379565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Lige forbindelse 45">
                <a:extLst>
                  <a:ext uri="{FF2B5EF4-FFF2-40B4-BE49-F238E27FC236}">
                    <a16:creationId xmlns:a16="http://schemas.microsoft.com/office/drawing/2014/main" id="{AA422F14-ADB8-77E9-8A2D-ADAFA26F850E}"/>
                  </a:ext>
                </a:extLst>
              </p:cNvPr>
              <p:cNvCxnSpPr/>
              <p:nvPr/>
            </p:nvCxnSpPr>
            <p:spPr>
              <a:xfrm>
                <a:off x="4567447" y="1353468"/>
                <a:ext cx="230070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Undertitel 2">
              <a:extLst>
                <a:ext uri="{FF2B5EF4-FFF2-40B4-BE49-F238E27FC236}">
                  <a16:creationId xmlns:a16="http://schemas.microsoft.com/office/drawing/2014/main" id="{1CC24F5F-D550-52E5-B26D-1CD561AF10CD}"/>
                </a:ext>
              </a:extLst>
            </p:cNvPr>
            <p:cNvSpPr txBox="1">
              <a:spLocks/>
            </p:cNvSpPr>
            <p:nvPr/>
          </p:nvSpPr>
          <p:spPr>
            <a:xfrm>
              <a:off x="5605732" y="1462143"/>
              <a:ext cx="671600" cy="284897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0070C0"/>
                  </a:solidFill>
                </a:rPr>
                <a:t>Ideelt</a:t>
              </a:r>
              <a:endParaRPr lang="da-DK" sz="1200" i="1" baseline="-25000" dirty="0">
                <a:solidFill>
                  <a:srgbClr val="0070C0"/>
                </a:solidFill>
              </a:endParaRPr>
            </a:p>
          </p:txBody>
        </p:sp>
        <p:sp>
          <p:nvSpPr>
            <p:cNvPr id="41" name="Undertitel 2">
              <a:extLst>
                <a:ext uri="{FF2B5EF4-FFF2-40B4-BE49-F238E27FC236}">
                  <a16:creationId xmlns:a16="http://schemas.microsoft.com/office/drawing/2014/main" id="{771BC2A8-192F-479A-3BD3-5EDB5C7A2387}"/>
                </a:ext>
              </a:extLst>
            </p:cNvPr>
            <p:cNvSpPr txBox="1">
              <a:spLocks/>
            </p:cNvSpPr>
            <p:nvPr/>
          </p:nvSpPr>
          <p:spPr>
            <a:xfrm>
              <a:off x="5278518" y="2732085"/>
              <a:ext cx="759291" cy="31629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FF0000"/>
                  </a:solidFill>
                </a:rPr>
                <a:t>Praksis</a:t>
              </a:r>
              <a:endParaRPr lang="da-DK" sz="12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42" name="Text Box 25">
              <a:extLst>
                <a:ext uri="{FF2B5EF4-FFF2-40B4-BE49-F238E27FC236}">
                  <a16:creationId xmlns:a16="http://schemas.microsoft.com/office/drawing/2014/main" id="{1A62B7E0-3ED8-CBB9-CD64-36397C815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1291620"/>
              <a:ext cx="432049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 Box 25">
              <a:extLst>
                <a:ext uri="{FF2B5EF4-FFF2-40B4-BE49-F238E27FC236}">
                  <a16:creationId xmlns:a16="http://schemas.microsoft.com/office/drawing/2014/main" id="{8092F33F-EDCF-1056-2DDE-53A17FDF12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226" y="2966472"/>
              <a:ext cx="1028165" cy="283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999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98"/>
          <a:stretch/>
        </p:blipFill>
        <p:spPr>
          <a:xfrm>
            <a:off x="851167" y="764704"/>
            <a:ext cx="2880321" cy="2580992"/>
          </a:xfrm>
          <a:prstGeom prst="rect">
            <a:avLst/>
          </a:prstGeom>
        </p:spPr>
      </p:pic>
      <p:grpSp>
        <p:nvGrpSpPr>
          <p:cNvPr id="3" name="Gruppe 2">
            <a:extLst>
              <a:ext uri="{FF2B5EF4-FFF2-40B4-BE49-F238E27FC236}">
                <a16:creationId xmlns:a16="http://schemas.microsoft.com/office/drawing/2014/main" id="{CF465557-3A5B-4A45-A85D-D24144E348AA}"/>
              </a:ext>
            </a:extLst>
          </p:cNvPr>
          <p:cNvGrpSpPr/>
          <p:nvPr/>
        </p:nvGrpSpPr>
        <p:grpSpPr>
          <a:xfrm>
            <a:off x="1115616" y="3645024"/>
            <a:ext cx="5976664" cy="504056"/>
            <a:chOff x="1115616" y="4869160"/>
            <a:chExt cx="5976664" cy="504056"/>
          </a:xfrm>
        </p:grpSpPr>
        <p:sp>
          <p:nvSpPr>
            <p:cNvPr id="7" name="Titel 1"/>
            <p:cNvSpPr txBox="1">
              <a:spLocks/>
            </p:cNvSpPr>
            <p:nvPr/>
          </p:nvSpPr>
          <p:spPr>
            <a:xfrm>
              <a:off x="1115616" y="4869160"/>
              <a:ext cx="3240360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400" i="1" dirty="0" err="1"/>
                <a:t>Komparering</a:t>
              </a:r>
              <a:r>
                <a:rPr lang="da-DK" sz="2400" i="1" dirty="0"/>
                <a:t>: v</a:t>
              </a:r>
              <a:r>
                <a:rPr lang="da-DK" sz="2400" i="1" baseline="-25000" dirty="0"/>
                <a:t>id</a:t>
              </a:r>
              <a:r>
                <a:rPr lang="da-DK" sz="2400" i="1" dirty="0"/>
                <a:t> = 0 </a:t>
              </a:r>
              <a:endParaRPr lang="da-DK" sz="2400" dirty="0"/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5868144" y="4869160"/>
              <a:ext cx="1224136" cy="504056"/>
            </a:xfrm>
            <a:prstGeom prst="rect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400" i="1" dirty="0"/>
                <a:t>e</a:t>
              </a:r>
              <a:r>
                <a:rPr lang="da-DK" sz="2400" i="1" baseline="30000" dirty="0"/>
                <a:t>+</a:t>
              </a:r>
              <a:r>
                <a:rPr lang="da-DK" sz="2400" i="1" dirty="0"/>
                <a:t> = e</a:t>
              </a:r>
              <a:r>
                <a:rPr lang="da-DK" sz="2400" i="1" baseline="30000" dirty="0"/>
                <a:t>-</a:t>
              </a:r>
              <a:endParaRPr lang="da-DK" sz="2400" baseline="30000" dirty="0"/>
            </a:p>
          </p:txBody>
        </p:sp>
        <p:cxnSp>
          <p:nvCxnSpPr>
            <p:cNvPr id="4" name="Lige pilforbindelse 3"/>
            <p:cNvCxnSpPr/>
            <p:nvPr/>
          </p:nvCxnSpPr>
          <p:spPr>
            <a:xfrm>
              <a:off x="4860032" y="5121188"/>
              <a:ext cx="72008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53080" y="62208"/>
            <a:ext cx="7399240" cy="51732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Betingelsen for skift på udgangen af en Op Amp?</a:t>
            </a:r>
            <a:endParaRPr lang="da-DK" sz="2800" dirty="0"/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215516" y="4797152"/>
            <a:ext cx="4932548" cy="4207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Hvad forstås ved tærskelspændingen?</a:t>
            </a:r>
            <a:endParaRPr lang="da-DK" sz="2400" dirty="0"/>
          </a:p>
        </p:txBody>
      </p:sp>
      <p:grpSp>
        <p:nvGrpSpPr>
          <p:cNvPr id="2" name="Gruppe 1"/>
          <p:cNvGrpSpPr/>
          <p:nvPr/>
        </p:nvGrpSpPr>
        <p:grpSpPr>
          <a:xfrm>
            <a:off x="3991351" y="764704"/>
            <a:ext cx="3749001" cy="2292960"/>
            <a:chOff x="3979226" y="764704"/>
            <a:chExt cx="4608060" cy="2826980"/>
          </a:xfrm>
        </p:grpSpPr>
        <p:cxnSp>
          <p:nvCxnSpPr>
            <p:cNvPr id="12" name="Lige pilforbindelse 11"/>
            <p:cNvCxnSpPr/>
            <p:nvPr/>
          </p:nvCxnSpPr>
          <p:spPr>
            <a:xfrm flipV="1">
              <a:off x="6228529" y="1000820"/>
              <a:ext cx="0" cy="25654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Lige pilforbindelse 12"/>
            <p:cNvCxnSpPr/>
            <p:nvPr/>
          </p:nvCxnSpPr>
          <p:spPr>
            <a:xfrm>
              <a:off x="4651861" y="2360449"/>
              <a:ext cx="31199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Lige forbindelse 13"/>
            <p:cNvCxnSpPr/>
            <p:nvPr/>
          </p:nvCxnSpPr>
          <p:spPr>
            <a:xfrm>
              <a:off x="4651861" y="1360960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7714064" y="2204864"/>
              <a:ext cx="454435" cy="41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4427983" y="3231644"/>
              <a:ext cx="360041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Gruppe 17"/>
            <p:cNvGrpSpPr/>
            <p:nvPr/>
          </p:nvGrpSpPr>
          <p:grpSpPr>
            <a:xfrm>
              <a:off x="4904825" y="1460099"/>
              <a:ext cx="2660947" cy="1750117"/>
              <a:chOff x="1987753" y="1561732"/>
              <a:chExt cx="5268676" cy="3585918"/>
            </a:xfrm>
            <a:effectLst/>
          </p:grpSpPr>
          <p:cxnSp>
            <p:nvCxnSpPr>
              <p:cNvPr id="29" name="Lige forbindelse 28"/>
              <p:cNvCxnSpPr/>
              <p:nvPr/>
            </p:nvCxnSpPr>
            <p:spPr>
              <a:xfrm flipV="1">
                <a:off x="3957391" y="1561732"/>
                <a:ext cx="1329769" cy="35859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0" name="Lige forbindelse 29"/>
              <p:cNvCxnSpPr/>
              <p:nvPr/>
            </p:nvCxnSpPr>
            <p:spPr>
              <a:xfrm>
                <a:off x="5252344" y="1592043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1" name="Lige forbindelse 30"/>
              <p:cNvCxnSpPr/>
              <p:nvPr/>
            </p:nvCxnSpPr>
            <p:spPr>
              <a:xfrm>
                <a:off x="1987753" y="5117036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9" name="Lige forbindelse 18"/>
            <p:cNvCxnSpPr/>
            <p:nvPr/>
          </p:nvCxnSpPr>
          <p:spPr>
            <a:xfrm>
              <a:off x="4622686" y="3325542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7452320" y="1417202"/>
              <a:ext cx="1134966" cy="283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  <p:sp>
          <p:nvSpPr>
            <p:cNvPr id="22" name="Text Box 25"/>
            <p:cNvSpPr txBox="1">
              <a:spLocks noChangeArrowheads="1"/>
            </p:cNvSpPr>
            <p:nvPr/>
          </p:nvSpPr>
          <p:spPr bwMode="auto">
            <a:xfrm>
              <a:off x="6228184" y="764704"/>
              <a:ext cx="449504" cy="37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Gruppe 22"/>
            <p:cNvGrpSpPr/>
            <p:nvPr/>
          </p:nvGrpSpPr>
          <p:grpSpPr>
            <a:xfrm>
              <a:off x="5090188" y="1358455"/>
              <a:ext cx="2279485" cy="1967087"/>
              <a:chOff x="2354773" y="1353468"/>
              <a:chExt cx="4513381" cy="4030480"/>
            </a:xfrm>
          </p:grpSpPr>
          <p:cxnSp>
            <p:nvCxnSpPr>
              <p:cNvPr id="26" name="Lige forbindelse 25"/>
              <p:cNvCxnSpPr>
                <a:cxnSpLocks/>
              </p:cNvCxnSpPr>
              <p:nvPr/>
            </p:nvCxnSpPr>
            <p:spPr>
              <a:xfrm>
                <a:off x="4612258" y="1358599"/>
                <a:ext cx="0" cy="402534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Lige forbindelse 26"/>
              <p:cNvCxnSpPr/>
              <p:nvPr/>
            </p:nvCxnSpPr>
            <p:spPr>
              <a:xfrm>
                <a:off x="2354773" y="5379565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Lige forbindelse 27"/>
              <p:cNvCxnSpPr/>
              <p:nvPr/>
            </p:nvCxnSpPr>
            <p:spPr>
              <a:xfrm>
                <a:off x="4567447" y="1353468"/>
                <a:ext cx="230070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Undertitel 2"/>
            <p:cNvSpPr txBox="1">
              <a:spLocks/>
            </p:cNvSpPr>
            <p:nvPr/>
          </p:nvSpPr>
          <p:spPr>
            <a:xfrm>
              <a:off x="5278518" y="2732085"/>
              <a:ext cx="759291" cy="31629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FF0000"/>
                  </a:solidFill>
                </a:rPr>
                <a:t>Praksis</a:t>
              </a:r>
              <a:endParaRPr lang="da-DK" sz="12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4427983" y="1291620"/>
              <a:ext cx="432049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Box 25"/>
            <p:cNvSpPr txBox="1">
              <a:spLocks noChangeArrowheads="1"/>
            </p:cNvSpPr>
            <p:nvPr/>
          </p:nvSpPr>
          <p:spPr bwMode="auto">
            <a:xfrm>
              <a:off x="3979226" y="2966472"/>
              <a:ext cx="1028165" cy="283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</p:grpSp>
      <p:sp>
        <p:nvSpPr>
          <p:cNvPr id="34" name="Titel 1">
            <a:extLst>
              <a:ext uri="{FF2B5EF4-FFF2-40B4-BE49-F238E27FC236}">
                <a16:creationId xmlns:a16="http://schemas.microsoft.com/office/drawing/2014/main" id="{9F7B92CD-567D-4E10-AC17-907D91A32D82}"/>
              </a:ext>
            </a:extLst>
          </p:cNvPr>
          <p:cNvSpPr txBox="1">
            <a:spLocks/>
          </p:cNvSpPr>
          <p:nvPr/>
        </p:nvSpPr>
        <p:spPr>
          <a:xfrm>
            <a:off x="611560" y="5983869"/>
            <a:ext cx="2880321" cy="2682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da-DK" sz="1400" i="1" dirty="0" err="1">
                <a:solidFill>
                  <a:schemeClr val="bg1">
                    <a:lumMod val="65000"/>
                  </a:schemeClr>
                </a:solidFill>
              </a:rPr>
              <a:t>Threshold</a:t>
            </a:r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 Value, </a:t>
            </a:r>
            <a:r>
              <a:rPr lang="da-DK" sz="1400" i="1" dirty="0" err="1">
                <a:solidFill>
                  <a:schemeClr val="bg1">
                    <a:lumMod val="65000"/>
                  </a:schemeClr>
                </a:solidFill>
              </a:rPr>
              <a:t>Threshold</a:t>
            </a:r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a-DK" sz="1400" i="1" dirty="0" err="1">
                <a:solidFill>
                  <a:schemeClr val="bg1">
                    <a:lumMod val="65000"/>
                  </a:schemeClr>
                </a:solidFill>
              </a:rPr>
              <a:t>Voltage</a:t>
            </a:r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cxnSp>
        <p:nvCxnSpPr>
          <p:cNvPr id="35" name="Lige pilforbindelse 34">
            <a:extLst>
              <a:ext uri="{FF2B5EF4-FFF2-40B4-BE49-F238E27FC236}">
                <a16:creationId xmlns:a16="http://schemas.microsoft.com/office/drawing/2014/main" id="{319E3145-1842-4123-A13F-FEE4C99E3A9A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051720" y="5217904"/>
            <a:ext cx="630070" cy="670664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Undertitel 2">
            <a:extLst>
              <a:ext uri="{FF2B5EF4-FFF2-40B4-BE49-F238E27FC236}">
                <a16:creationId xmlns:a16="http://schemas.microsoft.com/office/drawing/2014/main" id="{F7F695B1-6532-9D6A-24B7-0B552A00CDA0}"/>
              </a:ext>
            </a:extLst>
          </p:cNvPr>
          <p:cNvSpPr txBox="1">
            <a:spLocks/>
          </p:cNvSpPr>
          <p:nvPr/>
        </p:nvSpPr>
        <p:spPr>
          <a:xfrm>
            <a:off x="5314635" y="1330396"/>
            <a:ext cx="546397" cy="23108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200" i="1" dirty="0">
                <a:solidFill>
                  <a:srgbClr val="0070C0"/>
                </a:solidFill>
              </a:rPr>
              <a:t>Ideelt</a:t>
            </a:r>
            <a:endParaRPr lang="da-DK" sz="1200" i="1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015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98"/>
          <a:stretch/>
        </p:blipFill>
        <p:spPr>
          <a:xfrm>
            <a:off x="851167" y="764704"/>
            <a:ext cx="2880321" cy="2580992"/>
          </a:xfrm>
          <a:prstGeom prst="rect">
            <a:avLst/>
          </a:prstGeom>
        </p:spPr>
      </p:pic>
      <p:grpSp>
        <p:nvGrpSpPr>
          <p:cNvPr id="3" name="Gruppe 2">
            <a:extLst>
              <a:ext uri="{FF2B5EF4-FFF2-40B4-BE49-F238E27FC236}">
                <a16:creationId xmlns:a16="http://schemas.microsoft.com/office/drawing/2014/main" id="{CF465557-3A5B-4A45-A85D-D24144E348AA}"/>
              </a:ext>
            </a:extLst>
          </p:cNvPr>
          <p:cNvGrpSpPr/>
          <p:nvPr/>
        </p:nvGrpSpPr>
        <p:grpSpPr>
          <a:xfrm>
            <a:off x="1115616" y="3645024"/>
            <a:ext cx="5976664" cy="504056"/>
            <a:chOff x="1115616" y="4869160"/>
            <a:chExt cx="5976664" cy="504056"/>
          </a:xfrm>
        </p:grpSpPr>
        <p:sp>
          <p:nvSpPr>
            <p:cNvPr id="7" name="Titel 1"/>
            <p:cNvSpPr txBox="1">
              <a:spLocks/>
            </p:cNvSpPr>
            <p:nvPr/>
          </p:nvSpPr>
          <p:spPr>
            <a:xfrm>
              <a:off x="1115616" y="4869160"/>
              <a:ext cx="3240360" cy="50405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400" i="1" dirty="0" err="1"/>
                <a:t>Komparering</a:t>
              </a:r>
              <a:r>
                <a:rPr lang="da-DK" sz="2400" i="1" dirty="0"/>
                <a:t>: v</a:t>
              </a:r>
              <a:r>
                <a:rPr lang="da-DK" sz="2400" i="1" baseline="-25000" dirty="0"/>
                <a:t>id</a:t>
              </a:r>
              <a:r>
                <a:rPr lang="da-DK" sz="2400" i="1" dirty="0"/>
                <a:t> = 0 </a:t>
              </a:r>
              <a:endParaRPr lang="da-DK" sz="2400" dirty="0"/>
            </a:p>
          </p:txBody>
        </p:sp>
        <p:sp>
          <p:nvSpPr>
            <p:cNvPr id="10" name="Titel 1"/>
            <p:cNvSpPr txBox="1">
              <a:spLocks/>
            </p:cNvSpPr>
            <p:nvPr/>
          </p:nvSpPr>
          <p:spPr>
            <a:xfrm>
              <a:off x="5868144" y="4869160"/>
              <a:ext cx="1224136" cy="504056"/>
            </a:xfrm>
            <a:prstGeom prst="rect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da-DK" sz="2400" i="1" dirty="0"/>
                <a:t>e</a:t>
              </a:r>
              <a:r>
                <a:rPr lang="da-DK" sz="2400" i="1" baseline="30000" dirty="0"/>
                <a:t>+</a:t>
              </a:r>
              <a:r>
                <a:rPr lang="da-DK" sz="2400" i="1" dirty="0"/>
                <a:t> = e</a:t>
              </a:r>
              <a:r>
                <a:rPr lang="da-DK" sz="2400" i="1" baseline="30000" dirty="0"/>
                <a:t>-</a:t>
              </a:r>
              <a:endParaRPr lang="da-DK" sz="2400" baseline="30000" dirty="0"/>
            </a:p>
          </p:txBody>
        </p:sp>
        <p:cxnSp>
          <p:nvCxnSpPr>
            <p:cNvPr id="4" name="Lige pilforbindelse 3"/>
            <p:cNvCxnSpPr/>
            <p:nvPr/>
          </p:nvCxnSpPr>
          <p:spPr>
            <a:xfrm>
              <a:off x="4860032" y="5121188"/>
              <a:ext cx="72008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53080" y="62208"/>
            <a:ext cx="7399240" cy="517321"/>
          </a:xfrm>
        </p:spPr>
        <p:txBody>
          <a:bodyPr>
            <a:noAutofit/>
          </a:bodyPr>
          <a:lstStyle/>
          <a:p>
            <a:pPr algn="l"/>
            <a:r>
              <a:rPr lang="da-DK" sz="2800" i="1" dirty="0"/>
              <a:t>Betingelsen for skift på udgangen af en Op Amp?</a:t>
            </a:r>
            <a:endParaRPr lang="da-DK" sz="2800" dirty="0"/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215516" y="4797152"/>
            <a:ext cx="4932548" cy="4207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Hvad forstås ved tærskelspændingen?</a:t>
            </a:r>
            <a:endParaRPr lang="da-DK" sz="2400" dirty="0"/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9F7B92CD-567D-4E10-AC17-907D91A32D82}"/>
              </a:ext>
            </a:extLst>
          </p:cNvPr>
          <p:cNvSpPr txBox="1">
            <a:spLocks/>
          </p:cNvSpPr>
          <p:nvPr/>
        </p:nvSpPr>
        <p:spPr>
          <a:xfrm>
            <a:off x="611560" y="5983869"/>
            <a:ext cx="2880321" cy="2682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da-DK" sz="1400" i="1" dirty="0" err="1">
                <a:solidFill>
                  <a:schemeClr val="bg1">
                    <a:lumMod val="65000"/>
                  </a:schemeClr>
                </a:solidFill>
              </a:rPr>
              <a:t>Threshold</a:t>
            </a:r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 Value, </a:t>
            </a:r>
            <a:r>
              <a:rPr lang="da-DK" sz="1400" i="1" dirty="0" err="1">
                <a:solidFill>
                  <a:schemeClr val="bg1">
                    <a:lumMod val="65000"/>
                  </a:schemeClr>
                </a:solidFill>
              </a:rPr>
              <a:t>Threshold</a:t>
            </a:r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a-DK" sz="1400" i="1" dirty="0" err="1">
                <a:solidFill>
                  <a:schemeClr val="bg1">
                    <a:lumMod val="65000"/>
                  </a:schemeClr>
                </a:solidFill>
              </a:rPr>
              <a:t>Voltage</a:t>
            </a:r>
            <a:r>
              <a:rPr lang="da-DK" sz="1400" i="1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cxnSp>
        <p:nvCxnSpPr>
          <p:cNvPr id="35" name="Lige pilforbindelse 34">
            <a:extLst>
              <a:ext uri="{FF2B5EF4-FFF2-40B4-BE49-F238E27FC236}">
                <a16:creationId xmlns:a16="http://schemas.microsoft.com/office/drawing/2014/main" id="{319E3145-1842-4123-A13F-FEE4C99E3A9A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051720" y="5217904"/>
            <a:ext cx="630070" cy="670664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9" name="Gruppe 8">
            <a:extLst>
              <a:ext uri="{FF2B5EF4-FFF2-40B4-BE49-F238E27FC236}">
                <a16:creationId xmlns:a16="http://schemas.microsoft.com/office/drawing/2014/main" id="{CFE9CDBD-EA78-4D8D-EB09-9BEB97A0A2CF}"/>
              </a:ext>
            </a:extLst>
          </p:cNvPr>
          <p:cNvGrpSpPr/>
          <p:nvPr/>
        </p:nvGrpSpPr>
        <p:grpSpPr>
          <a:xfrm>
            <a:off x="3991351" y="764704"/>
            <a:ext cx="3749001" cy="2292960"/>
            <a:chOff x="3979226" y="764704"/>
            <a:chExt cx="4608060" cy="2826980"/>
          </a:xfrm>
        </p:grpSpPr>
        <p:cxnSp>
          <p:nvCxnSpPr>
            <p:cNvPr id="11" name="Lige pilforbindelse 10">
              <a:extLst>
                <a:ext uri="{FF2B5EF4-FFF2-40B4-BE49-F238E27FC236}">
                  <a16:creationId xmlns:a16="http://schemas.microsoft.com/office/drawing/2014/main" id="{00EE1D7E-15C8-E6BD-00D6-A073F0241699}"/>
                </a:ext>
              </a:extLst>
            </p:cNvPr>
            <p:cNvCxnSpPr/>
            <p:nvPr/>
          </p:nvCxnSpPr>
          <p:spPr>
            <a:xfrm flipV="1">
              <a:off x="6228529" y="1000820"/>
              <a:ext cx="0" cy="25654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Lige pilforbindelse 15">
              <a:extLst>
                <a:ext uri="{FF2B5EF4-FFF2-40B4-BE49-F238E27FC236}">
                  <a16:creationId xmlns:a16="http://schemas.microsoft.com/office/drawing/2014/main" id="{C93497DE-EBE7-FB4D-78C7-210208D1EAE7}"/>
                </a:ext>
              </a:extLst>
            </p:cNvPr>
            <p:cNvCxnSpPr/>
            <p:nvPr/>
          </p:nvCxnSpPr>
          <p:spPr>
            <a:xfrm>
              <a:off x="4651861" y="2360449"/>
              <a:ext cx="31199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Lige forbindelse 20">
              <a:extLst>
                <a:ext uri="{FF2B5EF4-FFF2-40B4-BE49-F238E27FC236}">
                  <a16:creationId xmlns:a16="http://schemas.microsoft.com/office/drawing/2014/main" id="{15FB145F-8075-8ACD-3E32-B2D4A213124D}"/>
                </a:ext>
              </a:extLst>
            </p:cNvPr>
            <p:cNvCxnSpPr/>
            <p:nvPr/>
          </p:nvCxnSpPr>
          <p:spPr>
            <a:xfrm>
              <a:off x="4651861" y="1360960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 Box 25">
              <a:extLst>
                <a:ext uri="{FF2B5EF4-FFF2-40B4-BE49-F238E27FC236}">
                  <a16:creationId xmlns:a16="http://schemas.microsoft.com/office/drawing/2014/main" id="{EB0C63F5-79C6-D6F2-82B4-A2F130F828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064" y="2204864"/>
              <a:ext cx="454435" cy="41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Text Box 25">
              <a:extLst>
                <a:ext uri="{FF2B5EF4-FFF2-40B4-BE49-F238E27FC236}">
                  <a16:creationId xmlns:a16="http://schemas.microsoft.com/office/drawing/2014/main" id="{CBF07FCB-4F80-BAA5-65B6-5AA683457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3231644"/>
              <a:ext cx="360041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" name="Gruppe 38">
              <a:extLst>
                <a:ext uri="{FF2B5EF4-FFF2-40B4-BE49-F238E27FC236}">
                  <a16:creationId xmlns:a16="http://schemas.microsoft.com/office/drawing/2014/main" id="{854E7B10-3A28-F7AF-6D14-47643BF3F912}"/>
                </a:ext>
              </a:extLst>
            </p:cNvPr>
            <p:cNvGrpSpPr/>
            <p:nvPr/>
          </p:nvGrpSpPr>
          <p:grpSpPr>
            <a:xfrm>
              <a:off x="4904825" y="1460099"/>
              <a:ext cx="2660947" cy="1750117"/>
              <a:chOff x="1987753" y="1561732"/>
              <a:chExt cx="5268676" cy="3585918"/>
            </a:xfrm>
            <a:effectLst/>
          </p:grpSpPr>
          <p:cxnSp>
            <p:nvCxnSpPr>
              <p:cNvPr id="51" name="Lige forbindelse 50">
                <a:extLst>
                  <a:ext uri="{FF2B5EF4-FFF2-40B4-BE49-F238E27FC236}">
                    <a16:creationId xmlns:a16="http://schemas.microsoft.com/office/drawing/2014/main" id="{7094E562-D925-943A-BE7C-1AA80844D2A7}"/>
                  </a:ext>
                </a:extLst>
              </p:cNvPr>
              <p:cNvCxnSpPr/>
              <p:nvPr/>
            </p:nvCxnSpPr>
            <p:spPr>
              <a:xfrm flipV="1">
                <a:off x="3957391" y="1561732"/>
                <a:ext cx="1329769" cy="35859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2" name="Lige forbindelse 51">
                <a:extLst>
                  <a:ext uri="{FF2B5EF4-FFF2-40B4-BE49-F238E27FC236}">
                    <a16:creationId xmlns:a16="http://schemas.microsoft.com/office/drawing/2014/main" id="{80C1A0D8-BD8C-FEB3-B68A-69250EB08A28}"/>
                  </a:ext>
                </a:extLst>
              </p:cNvPr>
              <p:cNvCxnSpPr/>
              <p:nvPr/>
            </p:nvCxnSpPr>
            <p:spPr>
              <a:xfrm>
                <a:off x="5252344" y="1592043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53" name="Lige forbindelse 52">
                <a:extLst>
                  <a:ext uri="{FF2B5EF4-FFF2-40B4-BE49-F238E27FC236}">
                    <a16:creationId xmlns:a16="http://schemas.microsoft.com/office/drawing/2014/main" id="{343379B9-7B27-13BA-C2C6-E574EB58BF1D}"/>
                  </a:ext>
                </a:extLst>
              </p:cNvPr>
              <p:cNvCxnSpPr/>
              <p:nvPr/>
            </p:nvCxnSpPr>
            <p:spPr>
              <a:xfrm>
                <a:off x="1987753" y="5117036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40" name="Lige forbindelse 39">
              <a:extLst>
                <a:ext uri="{FF2B5EF4-FFF2-40B4-BE49-F238E27FC236}">
                  <a16:creationId xmlns:a16="http://schemas.microsoft.com/office/drawing/2014/main" id="{6944C421-A893-DC40-05E7-1A6457078EFC}"/>
                </a:ext>
              </a:extLst>
            </p:cNvPr>
            <p:cNvCxnSpPr/>
            <p:nvPr/>
          </p:nvCxnSpPr>
          <p:spPr>
            <a:xfrm>
              <a:off x="4622686" y="3325542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 Box 25">
              <a:extLst>
                <a:ext uri="{FF2B5EF4-FFF2-40B4-BE49-F238E27FC236}">
                  <a16:creationId xmlns:a16="http://schemas.microsoft.com/office/drawing/2014/main" id="{4A6B2B40-523D-2733-6315-1E75A3EAF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20" y="1417202"/>
              <a:ext cx="1134966" cy="283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  <p:sp>
          <p:nvSpPr>
            <p:cNvPr id="42" name="Text Box 25">
              <a:extLst>
                <a:ext uri="{FF2B5EF4-FFF2-40B4-BE49-F238E27FC236}">
                  <a16:creationId xmlns:a16="http://schemas.microsoft.com/office/drawing/2014/main" id="{6545FD7D-270D-7E09-9499-E2872A35A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184" y="764704"/>
              <a:ext cx="449504" cy="37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Gruppe 42">
              <a:extLst>
                <a:ext uri="{FF2B5EF4-FFF2-40B4-BE49-F238E27FC236}">
                  <a16:creationId xmlns:a16="http://schemas.microsoft.com/office/drawing/2014/main" id="{14A52D14-67FE-3750-54D6-11594C8DE9EC}"/>
                </a:ext>
              </a:extLst>
            </p:cNvPr>
            <p:cNvGrpSpPr/>
            <p:nvPr/>
          </p:nvGrpSpPr>
          <p:grpSpPr>
            <a:xfrm>
              <a:off x="5090188" y="1358455"/>
              <a:ext cx="2279485" cy="1967087"/>
              <a:chOff x="2354773" y="1353468"/>
              <a:chExt cx="4513381" cy="4030480"/>
            </a:xfrm>
          </p:grpSpPr>
          <p:cxnSp>
            <p:nvCxnSpPr>
              <p:cNvPr id="48" name="Lige forbindelse 47">
                <a:extLst>
                  <a:ext uri="{FF2B5EF4-FFF2-40B4-BE49-F238E27FC236}">
                    <a16:creationId xmlns:a16="http://schemas.microsoft.com/office/drawing/2014/main" id="{02F536ED-6F03-EA9E-DD52-D37A13C6E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2258" y="1358599"/>
                <a:ext cx="0" cy="402534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Lige forbindelse 48">
                <a:extLst>
                  <a:ext uri="{FF2B5EF4-FFF2-40B4-BE49-F238E27FC236}">
                    <a16:creationId xmlns:a16="http://schemas.microsoft.com/office/drawing/2014/main" id="{92D8E91E-2948-8FFF-87BA-955DBE8AE118}"/>
                  </a:ext>
                </a:extLst>
              </p:cNvPr>
              <p:cNvCxnSpPr/>
              <p:nvPr/>
            </p:nvCxnSpPr>
            <p:spPr>
              <a:xfrm>
                <a:off x="2354773" y="5379565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Lige forbindelse 49">
                <a:extLst>
                  <a:ext uri="{FF2B5EF4-FFF2-40B4-BE49-F238E27FC236}">
                    <a16:creationId xmlns:a16="http://schemas.microsoft.com/office/drawing/2014/main" id="{F76775E7-0A44-172E-BDEB-C080ACB88F30}"/>
                  </a:ext>
                </a:extLst>
              </p:cNvPr>
              <p:cNvCxnSpPr/>
              <p:nvPr/>
            </p:nvCxnSpPr>
            <p:spPr>
              <a:xfrm>
                <a:off x="4567447" y="1353468"/>
                <a:ext cx="230070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Undertitel 2">
              <a:extLst>
                <a:ext uri="{FF2B5EF4-FFF2-40B4-BE49-F238E27FC236}">
                  <a16:creationId xmlns:a16="http://schemas.microsoft.com/office/drawing/2014/main" id="{4978CF04-757C-5D1E-9150-516186D05F6A}"/>
                </a:ext>
              </a:extLst>
            </p:cNvPr>
            <p:cNvSpPr txBox="1">
              <a:spLocks/>
            </p:cNvSpPr>
            <p:nvPr/>
          </p:nvSpPr>
          <p:spPr>
            <a:xfrm>
              <a:off x="5278518" y="2732085"/>
              <a:ext cx="759291" cy="31629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FF0000"/>
                  </a:solidFill>
                </a:rPr>
                <a:t>Praksis</a:t>
              </a:r>
              <a:endParaRPr lang="da-DK" sz="12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46" name="Text Box 25">
              <a:extLst>
                <a:ext uri="{FF2B5EF4-FFF2-40B4-BE49-F238E27FC236}">
                  <a16:creationId xmlns:a16="http://schemas.microsoft.com/office/drawing/2014/main" id="{8FECB14D-2690-8F14-F479-1CAD42FA8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1291620"/>
              <a:ext cx="432049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 Box 25">
              <a:extLst>
                <a:ext uri="{FF2B5EF4-FFF2-40B4-BE49-F238E27FC236}">
                  <a16:creationId xmlns:a16="http://schemas.microsoft.com/office/drawing/2014/main" id="{26D22EB7-280D-F954-FFC1-60E4C1F35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226" y="2966472"/>
              <a:ext cx="1028165" cy="283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132BA89C-364A-EE2B-D85E-F6061C56572B}"/>
              </a:ext>
            </a:extLst>
          </p:cNvPr>
          <p:cNvSpPr txBox="1">
            <a:spLocks/>
          </p:cNvSpPr>
          <p:nvPr/>
        </p:nvSpPr>
        <p:spPr>
          <a:xfrm>
            <a:off x="6028455" y="5600342"/>
            <a:ext cx="2304256" cy="5152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200" i="1" dirty="0">
                <a:solidFill>
                  <a:srgbClr val="FF0000"/>
                </a:solidFill>
              </a:rPr>
              <a:t>Værdi af </a:t>
            </a:r>
            <a:r>
              <a:rPr lang="da-DK" sz="1200" b="1" i="1" dirty="0">
                <a:solidFill>
                  <a:srgbClr val="FF0000"/>
                </a:solidFill>
              </a:rPr>
              <a:t>indgangsspændingen</a:t>
            </a:r>
            <a:r>
              <a:rPr lang="da-DK" sz="1200" i="1" dirty="0">
                <a:solidFill>
                  <a:srgbClr val="FF0000"/>
                </a:solidFill>
              </a:rPr>
              <a:t>, hvor udgangen skifter fortegn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D3CCA7A0-16DB-2E77-41BC-7B44FD6A861F}"/>
              </a:ext>
            </a:extLst>
          </p:cNvPr>
          <p:cNvCxnSpPr>
            <a:cxnSpLocks/>
          </p:cNvCxnSpPr>
          <p:nvPr/>
        </p:nvCxnSpPr>
        <p:spPr>
          <a:xfrm flipH="1" flipV="1">
            <a:off x="5063810" y="5217904"/>
            <a:ext cx="940088" cy="418637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Undertitel 2">
            <a:extLst>
              <a:ext uri="{FF2B5EF4-FFF2-40B4-BE49-F238E27FC236}">
                <a16:creationId xmlns:a16="http://schemas.microsoft.com/office/drawing/2014/main" id="{B6CB5083-F3C0-635B-67DC-FE4289EFA23F}"/>
              </a:ext>
            </a:extLst>
          </p:cNvPr>
          <p:cNvSpPr txBox="1">
            <a:spLocks/>
          </p:cNvSpPr>
          <p:nvPr/>
        </p:nvSpPr>
        <p:spPr>
          <a:xfrm>
            <a:off x="5314635" y="1330396"/>
            <a:ext cx="546397" cy="23108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200" i="1" dirty="0">
                <a:solidFill>
                  <a:srgbClr val="0070C0"/>
                </a:solidFill>
              </a:rPr>
              <a:t>Ideelt</a:t>
            </a:r>
            <a:endParaRPr lang="da-DK" sz="1200" i="1" baseline="-25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1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95" name="Picture 3" descr="AAAZZSF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69976"/>
            <a:ext cx="3357558" cy="209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/>
          <p:cNvSpPr/>
          <p:nvPr/>
        </p:nvSpPr>
        <p:spPr>
          <a:xfrm>
            <a:off x="1480249" y="5229200"/>
            <a:ext cx="17641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/>
              <a:t>Figur 12.5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547260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Hvad er tærskelspændingen her?</a:t>
            </a:r>
          </a:p>
        </p:txBody>
      </p:sp>
    </p:spTree>
    <p:extLst>
      <p:ext uri="{BB962C8B-B14F-4D97-AF65-F5344CB8AC3E}">
        <p14:creationId xmlns:p14="http://schemas.microsoft.com/office/powerpoint/2010/main" val="1470740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95" name="Picture 3" descr="AAAZZSF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269976"/>
            <a:ext cx="3357558" cy="209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/>
          <p:cNvSpPr/>
          <p:nvPr/>
        </p:nvSpPr>
        <p:spPr>
          <a:xfrm>
            <a:off x="1480249" y="5229200"/>
            <a:ext cx="17641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i="1" dirty="0"/>
              <a:t>Figur 12.5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35496" y="44624"/>
            <a:ext cx="5472608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Hvad er tærskelspændingen her?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2FF2B34-CE0C-EE44-853D-413A7DBEC19E}"/>
              </a:ext>
            </a:extLst>
          </p:cNvPr>
          <p:cNvSpPr txBox="1">
            <a:spLocks/>
          </p:cNvSpPr>
          <p:nvPr/>
        </p:nvSpPr>
        <p:spPr>
          <a:xfrm>
            <a:off x="4644008" y="2492896"/>
            <a:ext cx="3420380" cy="4207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Tærskelspændingen er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r</a:t>
            </a:r>
            <a:endParaRPr lang="da-DK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4029351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" r="-155"/>
          <a:stretch/>
        </p:blipFill>
        <p:spPr>
          <a:xfrm>
            <a:off x="323528" y="620688"/>
            <a:ext cx="5112568" cy="3900185"/>
          </a:xfrm>
          <a:prstGeom prst="rect">
            <a:avLst/>
          </a:prstGeom>
        </p:spPr>
      </p:pic>
      <p:sp>
        <p:nvSpPr>
          <p:cNvPr id="9" name="Titel 1"/>
          <p:cNvSpPr txBox="1">
            <a:spLocks/>
          </p:cNvSpPr>
          <p:nvPr/>
        </p:nvSpPr>
        <p:spPr>
          <a:xfrm>
            <a:off x="107504" y="62730"/>
            <a:ext cx="669674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Kan man bruge en Op Amp som komparator?</a:t>
            </a:r>
          </a:p>
        </p:txBody>
      </p:sp>
    </p:spTree>
    <p:extLst>
      <p:ext uri="{BB962C8B-B14F-4D97-AF65-F5344CB8AC3E}">
        <p14:creationId xmlns:p14="http://schemas.microsoft.com/office/powerpoint/2010/main" val="476189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2B54-560C-8571-5CC5-A95CDFA6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7234E033-84BE-84E4-80AE-2C9E4D87D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20" y="4911796"/>
            <a:ext cx="4283521" cy="461420"/>
          </a:xfrm>
        </p:spPr>
        <p:txBody>
          <a:bodyPr>
            <a:noAutofit/>
          </a:bodyPr>
          <a:lstStyle/>
          <a:p>
            <a:pPr algn="l"/>
            <a:r>
              <a:rPr lang="da-DK" sz="2400" i="1" dirty="0"/>
              <a:t>Hvilke værdier kan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r>
              <a:rPr lang="da-DK" sz="2400" i="1" dirty="0"/>
              <a:t> så antage?</a:t>
            </a:r>
            <a:endParaRPr lang="da-DK" sz="2400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1BA75F50-19B9-64D5-6C75-A1D52C75B1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" r="-155"/>
          <a:stretch/>
        </p:blipFill>
        <p:spPr>
          <a:xfrm>
            <a:off x="323528" y="620688"/>
            <a:ext cx="5112568" cy="3900185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4CAF3595-775F-8471-4A4F-A80BE3A83FAB}"/>
              </a:ext>
            </a:extLst>
          </p:cNvPr>
          <p:cNvSpPr txBox="1">
            <a:spLocks/>
          </p:cNvSpPr>
          <p:nvPr/>
        </p:nvSpPr>
        <p:spPr>
          <a:xfrm>
            <a:off x="107504" y="62730"/>
            <a:ext cx="669674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Kan man bruge en Op Amp som komparator?</a:t>
            </a:r>
          </a:p>
        </p:txBody>
      </p:sp>
    </p:spTree>
    <p:extLst>
      <p:ext uri="{BB962C8B-B14F-4D97-AF65-F5344CB8AC3E}">
        <p14:creationId xmlns:p14="http://schemas.microsoft.com/office/powerpoint/2010/main" val="427944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06827-D422-A3DD-C1A6-D06287EB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C890D29E-B857-9179-15EF-5A8CDD780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20" y="4911796"/>
            <a:ext cx="4283521" cy="461420"/>
          </a:xfrm>
        </p:spPr>
        <p:txBody>
          <a:bodyPr>
            <a:noAutofit/>
          </a:bodyPr>
          <a:lstStyle/>
          <a:p>
            <a:pPr algn="l"/>
            <a:r>
              <a:rPr lang="da-DK" sz="2400" i="1" dirty="0"/>
              <a:t>Hvilke værdier kan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r>
              <a:rPr lang="da-DK" sz="2400" i="1" dirty="0"/>
              <a:t> så antage?</a:t>
            </a:r>
            <a:endParaRPr lang="da-DK" sz="2400" dirty="0"/>
          </a:p>
        </p:txBody>
      </p:sp>
      <p:pic>
        <p:nvPicPr>
          <p:cNvPr id="2" name="Billede 1">
            <a:extLst>
              <a:ext uri="{FF2B5EF4-FFF2-40B4-BE49-F238E27FC236}">
                <a16:creationId xmlns:a16="http://schemas.microsoft.com/office/drawing/2014/main" id="{A707B69C-3B00-0863-EC49-7AE4AE31DA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" r="-155"/>
          <a:stretch/>
        </p:blipFill>
        <p:spPr>
          <a:xfrm>
            <a:off x="323528" y="620688"/>
            <a:ext cx="5112568" cy="3900185"/>
          </a:xfrm>
          <a:prstGeom prst="rect">
            <a:avLst/>
          </a:prstGeom>
        </p:spPr>
      </p:pic>
      <p:grpSp>
        <p:nvGrpSpPr>
          <p:cNvPr id="5" name="Gruppe 4">
            <a:extLst>
              <a:ext uri="{FF2B5EF4-FFF2-40B4-BE49-F238E27FC236}">
                <a16:creationId xmlns:a16="http://schemas.microsoft.com/office/drawing/2014/main" id="{05F4A635-D4D7-E333-D7B4-71778FDB3700}"/>
              </a:ext>
            </a:extLst>
          </p:cNvPr>
          <p:cNvGrpSpPr/>
          <p:nvPr/>
        </p:nvGrpSpPr>
        <p:grpSpPr>
          <a:xfrm>
            <a:off x="5143479" y="4256108"/>
            <a:ext cx="3749001" cy="2292960"/>
            <a:chOff x="3979226" y="764704"/>
            <a:chExt cx="4608060" cy="2826980"/>
          </a:xfrm>
        </p:grpSpPr>
        <p:cxnSp>
          <p:nvCxnSpPr>
            <p:cNvPr id="8" name="Lige pilforbindelse 7">
              <a:extLst>
                <a:ext uri="{FF2B5EF4-FFF2-40B4-BE49-F238E27FC236}">
                  <a16:creationId xmlns:a16="http://schemas.microsoft.com/office/drawing/2014/main" id="{B041D739-3C76-9627-6D71-55CB02480CA3}"/>
                </a:ext>
              </a:extLst>
            </p:cNvPr>
            <p:cNvCxnSpPr/>
            <p:nvPr/>
          </p:nvCxnSpPr>
          <p:spPr>
            <a:xfrm flipV="1">
              <a:off x="6228529" y="1000820"/>
              <a:ext cx="0" cy="25654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Lige pilforbindelse 9">
              <a:extLst>
                <a:ext uri="{FF2B5EF4-FFF2-40B4-BE49-F238E27FC236}">
                  <a16:creationId xmlns:a16="http://schemas.microsoft.com/office/drawing/2014/main" id="{74FA347A-1F78-63A4-06D8-067D49D51986}"/>
                </a:ext>
              </a:extLst>
            </p:cNvPr>
            <p:cNvCxnSpPr/>
            <p:nvPr/>
          </p:nvCxnSpPr>
          <p:spPr>
            <a:xfrm>
              <a:off x="4651861" y="2360449"/>
              <a:ext cx="31199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Lige forbindelse 10">
              <a:extLst>
                <a:ext uri="{FF2B5EF4-FFF2-40B4-BE49-F238E27FC236}">
                  <a16:creationId xmlns:a16="http://schemas.microsoft.com/office/drawing/2014/main" id="{0C080F01-B1F6-DBFB-6ED7-D2FD1E14062E}"/>
                </a:ext>
              </a:extLst>
            </p:cNvPr>
            <p:cNvCxnSpPr/>
            <p:nvPr/>
          </p:nvCxnSpPr>
          <p:spPr>
            <a:xfrm>
              <a:off x="4651861" y="1360960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 Box 25">
              <a:extLst>
                <a:ext uri="{FF2B5EF4-FFF2-40B4-BE49-F238E27FC236}">
                  <a16:creationId xmlns:a16="http://schemas.microsoft.com/office/drawing/2014/main" id="{7A731164-6145-F5D4-7DAB-6AA2D25E9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064" y="2204864"/>
              <a:ext cx="454435" cy="41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Box 25">
              <a:extLst>
                <a:ext uri="{FF2B5EF4-FFF2-40B4-BE49-F238E27FC236}">
                  <a16:creationId xmlns:a16="http://schemas.microsoft.com/office/drawing/2014/main" id="{55628C1C-CE92-9C3A-156E-6D2C5883D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3231644"/>
              <a:ext cx="360041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4" name="Gruppe 13">
              <a:extLst>
                <a:ext uri="{FF2B5EF4-FFF2-40B4-BE49-F238E27FC236}">
                  <a16:creationId xmlns:a16="http://schemas.microsoft.com/office/drawing/2014/main" id="{C37BA3A2-50DE-1090-B644-AB84F78E42C7}"/>
                </a:ext>
              </a:extLst>
            </p:cNvPr>
            <p:cNvGrpSpPr/>
            <p:nvPr/>
          </p:nvGrpSpPr>
          <p:grpSpPr>
            <a:xfrm>
              <a:off x="4904825" y="1460099"/>
              <a:ext cx="2660947" cy="1750117"/>
              <a:chOff x="1987753" y="1561732"/>
              <a:chExt cx="5268676" cy="3585918"/>
            </a:xfrm>
            <a:effectLst/>
          </p:grpSpPr>
          <p:cxnSp>
            <p:nvCxnSpPr>
              <p:cNvPr id="25" name="Lige forbindelse 24">
                <a:extLst>
                  <a:ext uri="{FF2B5EF4-FFF2-40B4-BE49-F238E27FC236}">
                    <a16:creationId xmlns:a16="http://schemas.microsoft.com/office/drawing/2014/main" id="{F7E1208D-45D2-18CC-A459-74490D3AE3E8}"/>
                  </a:ext>
                </a:extLst>
              </p:cNvPr>
              <p:cNvCxnSpPr/>
              <p:nvPr/>
            </p:nvCxnSpPr>
            <p:spPr>
              <a:xfrm flipV="1">
                <a:off x="3957391" y="1561732"/>
                <a:ext cx="1329769" cy="35859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6" name="Lige forbindelse 25">
                <a:extLst>
                  <a:ext uri="{FF2B5EF4-FFF2-40B4-BE49-F238E27FC236}">
                    <a16:creationId xmlns:a16="http://schemas.microsoft.com/office/drawing/2014/main" id="{AC8E2117-D3B6-511F-A34C-375BDBBA6BF9}"/>
                  </a:ext>
                </a:extLst>
              </p:cNvPr>
              <p:cNvCxnSpPr/>
              <p:nvPr/>
            </p:nvCxnSpPr>
            <p:spPr>
              <a:xfrm>
                <a:off x="5252344" y="1592043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7" name="Lige forbindelse 26">
                <a:extLst>
                  <a:ext uri="{FF2B5EF4-FFF2-40B4-BE49-F238E27FC236}">
                    <a16:creationId xmlns:a16="http://schemas.microsoft.com/office/drawing/2014/main" id="{2A6C42AB-C1D5-EA6E-5281-02D498FF1A9F}"/>
                  </a:ext>
                </a:extLst>
              </p:cNvPr>
              <p:cNvCxnSpPr/>
              <p:nvPr/>
            </p:nvCxnSpPr>
            <p:spPr>
              <a:xfrm>
                <a:off x="1987753" y="5117036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5" name="Lige forbindelse 14">
              <a:extLst>
                <a:ext uri="{FF2B5EF4-FFF2-40B4-BE49-F238E27FC236}">
                  <a16:creationId xmlns:a16="http://schemas.microsoft.com/office/drawing/2014/main" id="{EF4D41D1-85E9-A2B4-095C-B9D94E6965A3}"/>
                </a:ext>
              </a:extLst>
            </p:cNvPr>
            <p:cNvCxnSpPr/>
            <p:nvPr/>
          </p:nvCxnSpPr>
          <p:spPr>
            <a:xfrm>
              <a:off x="4622686" y="3325542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Box 25">
              <a:extLst>
                <a:ext uri="{FF2B5EF4-FFF2-40B4-BE49-F238E27FC236}">
                  <a16:creationId xmlns:a16="http://schemas.microsoft.com/office/drawing/2014/main" id="{6554CF79-C511-1861-F554-0ACD3CC43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20" y="1417202"/>
              <a:ext cx="1134966" cy="283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  <p:sp>
          <p:nvSpPr>
            <p:cNvPr id="17" name="Text Box 25">
              <a:extLst>
                <a:ext uri="{FF2B5EF4-FFF2-40B4-BE49-F238E27FC236}">
                  <a16:creationId xmlns:a16="http://schemas.microsoft.com/office/drawing/2014/main" id="{07F7C591-7D7F-BD2F-6336-C839CDC1E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184" y="764704"/>
              <a:ext cx="449504" cy="37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8" name="Gruppe 17">
              <a:extLst>
                <a:ext uri="{FF2B5EF4-FFF2-40B4-BE49-F238E27FC236}">
                  <a16:creationId xmlns:a16="http://schemas.microsoft.com/office/drawing/2014/main" id="{F4317D1E-9AF8-0C05-EF25-87BE4B85C845}"/>
                </a:ext>
              </a:extLst>
            </p:cNvPr>
            <p:cNvGrpSpPr/>
            <p:nvPr/>
          </p:nvGrpSpPr>
          <p:grpSpPr>
            <a:xfrm>
              <a:off x="5090188" y="1358455"/>
              <a:ext cx="2279485" cy="1967087"/>
              <a:chOff x="2354773" y="1353468"/>
              <a:chExt cx="4513381" cy="4030480"/>
            </a:xfrm>
          </p:grpSpPr>
          <p:cxnSp>
            <p:nvCxnSpPr>
              <p:cNvPr id="22" name="Lige forbindelse 21">
                <a:extLst>
                  <a:ext uri="{FF2B5EF4-FFF2-40B4-BE49-F238E27FC236}">
                    <a16:creationId xmlns:a16="http://schemas.microsoft.com/office/drawing/2014/main" id="{55EA0D63-9460-6CF8-D0F6-F78D15C37B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2258" y="1358599"/>
                <a:ext cx="0" cy="402534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Lige forbindelse 22">
                <a:extLst>
                  <a:ext uri="{FF2B5EF4-FFF2-40B4-BE49-F238E27FC236}">
                    <a16:creationId xmlns:a16="http://schemas.microsoft.com/office/drawing/2014/main" id="{919C7DDE-D956-2165-F12E-5D6B5B57F7CF}"/>
                  </a:ext>
                </a:extLst>
              </p:cNvPr>
              <p:cNvCxnSpPr/>
              <p:nvPr/>
            </p:nvCxnSpPr>
            <p:spPr>
              <a:xfrm>
                <a:off x="2354773" y="5379565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Lige forbindelse 23">
                <a:extLst>
                  <a:ext uri="{FF2B5EF4-FFF2-40B4-BE49-F238E27FC236}">
                    <a16:creationId xmlns:a16="http://schemas.microsoft.com/office/drawing/2014/main" id="{1875F6D9-4DF6-0C2D-B569-D7DF7EB96A2A}"/>
                  </a:ext>
                </a:extLst>
              </p:cNvPr>
              <p:cNvCxnSpPr/>
              <p:nvPr/>
            </p:nvCxnSpPr>
            <p:spPr>
              <a:xfrm>
                <a:off x="4567447" y="1353468"/>
                <a:ext cx="2300707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Undertitel 2">
              <a:extLst>
                <a:ext uri="{FF2B5EF4-FFF2-40B4-BE49-F238E27FC236}">
                  <a16:creationId xmlns:a16="http://schemas.microsoft.com/office/drawing/2014/main" id="{78259378-56FD-E19F-5444-A106C8E96D4C}"/>
                </a:ext>
              </a:extLst>
            </p:cNvPr>
            <p:cNvSpPr txBox="1">
              <a:spLocks/>
            </p:cNvSpPr>
            <p:nvPr/>
          </p:nvSpPr>
          <p:spPr>
            <a:xfrm>
              <a:off x="5278518" y="2732085"/>
              <a:ext cx="759291" cy="31629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FF0000"/>
                  </a:solidFill>
                </a:rPr>
                <a:t>Praksis</a:t>
              </a:r>
              <a:endParaRPr lang="da-DK" sz="12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 Box 25">
              <a:extLst>
                <a:ext uri="{FF2B5EF4-FFF2-40B4-BE49-F238E27FC236}">
                  <a16:creationId xmlns:a16="http://schemas.microsoft.com/office/drawing/2014/main" id="{C4BB9833-6584-98A3-80C2-7E530E2DB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1291620"/>
              <a:ext cx="432049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25">
              <a:extLst>
                <a:ext uri="{FF2B5EF4-FFF2-40B4-BE49-F238E27FC236}">
                  <a16:creationId xmlns:a16="http://schemas.microsoft.com/office/drawing/2014/main" id="{F5CAF671-66B2-04E2-E669-6B2182228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226" y="2966472"/>
              <a:ext cx="1028165" cy="283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</p:grpSp>
      <p:sp>
        <p:nvSpPr>
          <p:cNvPr id="4" name="Titel 1">
            <a:extLst>
              <a:ext uri="{FF2B5EF4-FFF2-40B4-BE49-F238E27FC236}">
                <a16:creationId xmlns:a16="http://schemas.microsoft.com/office/drawing/2014/main" id="{ADDE2EAF-019F-E769-DB82-E015AFE03A20}"/>
              </a:ext>
            </a:extLst>
          </p:cNvPr>
          <p:cNvSpPr txBox="1">
            <a:spLocks/>
          </p:cNvSpPr>
          <p:nvPr/>
        </p:nvSpPr>
        <p:spPr>
          <a:xfrm>
            <a:off x="107504" y="62730"/>
            <a:ext cx="6696744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Kan man bruge en Op Amp som komparator?</a:t>
            </a:r>
          </a:p>
        </p:txBody>
      </p:sp>
    </p:spTree>
    <p:extLst>
      <p:ext uri="{BB962C8B-B14F-4D97-AF65-F5344CB8AC3E}">
        <p14:creationId xmlns:p14="http://schemas.microsoft.com/office/powerpoint/2010/main" val="2675395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 txBox="1">
            <a:spLocks/>
          </p:cNvSpPr>
          <p:nvPr/>
        </p:nvSpPr>
        <p:spPr>
          <a:xfrm>
            <a:off x="684481" y="3502061"/>
            <a:ext cx="6339594" cy="487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Tilpasning af udgang til logikfamilie (eks. 5 V TTL)</a:t>
            </a:r>
          </a:p>
        </p:txBody>
      </p:sp>
      <p:grpSp>
        <p:nvGrpSpPr>
          <p:cNvPr id="12" name="Gruppe 11"/>
          <p:cNvGrpSpPr/>
          <p:nvPr/>
        </p:nvGrpSpPr>
        <p:grpSpPr>
          <a:xfrm>
            <a:off x="2411760" y="692696"/>
            <a:ext cx="4320480" cy="1944216"/>
            <a:chOff x="2411760" y="980728"/>
            <a:chExt cx="4320480" cy="1944216"/>
          </a:xfrm>
        </p:grpSpPr>
        <p:sp>
          <p:nvSpPr>
            <p:cNvPr id="13" name="Rektangel 12"/>
            <p:cNvSpPr/>
            <p:nvPr/>
          </p:nvSpPr>
          <p:spPr>
            <a:xfrm>
              <a:off x="3059832" y="980728"/>
              <a:ext cx="3024336" cy="19442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3200" i="1"/>
            </a:p>
          </p:txBody>
        </p:sp>
        <p:cxnSp>
          <p:nvCxnSpPr>
            <p:cNvPr id="14" name="Lige forbindelse 13"/>
            <p:cNvCxnSpPr/>
            <p:nvPr/>
          </p:nvCxnSpPr>
          <p:spPr>
            <a:xfrm>
              <a:off x="6084168" y="1944369"/>
              <a:ext cx="64807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Lige forbindelse 24"/>
            <p:cNvCxnSpPr/>
            <p:nvPr/>
          </p:nvCxnSpPr>
          <p:spPr>
            <a:xfrm>
              <a:off x="2411760" y="1932938"/>
              <a:ext cx="64807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kstboks 29"/>
            <p:cNvSpPr txBox="1"/>
            <p:nvPr/>
          </p:nvSpPr>
          <p:spPr>
            <a:xfrm>
              <a:off x="3347864" y="1628800"/>
              <a:ext cx="24482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sz="2400" i="1" dirty="0"/>
                <a:t>Komparator</a:t>
              </a:r>
            </a:p>
          </p:txBody>
        </p:sp>
      </p:grpSp>
      <p:sp>
        <p:nvSpPr>
          <p:cNvPr id="20" name="Titel 1">
            <a:extLst>
              <a:ext uri="{FF2B5EF4-FFF2-40B4-BE49-F238E27FC236}">
                <a16:creationId xmlns:a16="http://schemas.microsoft.com/office/drawing/2014/main" id="{0D0D200D-270B-42B6-B9C9-CC06446DBA74}"/>
              </a:ext>
            </a:extLst>
          </p:cNvPr>
          <p:cNvSpPr txBox="1">
            <a:spLocks/>
          </p:cNvSpPr>
          <p:nvPr/>
        </p:nvSpPr>
        <p:spPr>
          <a:xfrm>
            <a:off x="6375743" y="1970361"/>
            <a:ext cx="2016224" cy="396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solidFill>
                  <a:srgbClr val="FF0000"/>
                </a:solidFill>
              </a:rPr>
              <a:t>Digital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DE3888E-42B7-4DAB-8EAB-DB2F80B46ECF}"/>
              </a:ext>
            </a:extLst>
          </p:cNvPr>
          <p:cNvSpPr txBox="1">
            <a:spLocks/>
          </p:cNvSpPr>
          <p:nvPr/>
        </p:nvSpPr>
        <p:spPr>
          <a:xfrm>
            <a:off x="6372200" y="87039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Udgang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A1194A38-1802-49E3-AF7F-F865BFF73FE6}"/>
              </a:ext>
            </a:extLst>
          </p:cNvPr>
          <p:cNvSpPr txBox="1">
            <a:spLocks/>
          </p:cNvSpPr>
          <p:nvPr/>
        </p:nvSpPr>
        <p:spPr>
          <a:xfrm>
            <a:off x="721945" y="195051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solidFill>
                  <a:srgbClr val="FF0000"/>
                </a:solidFill>
              </a:rPr>
              <a:t>Analog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E64F859D-18C7-4724-9838-0CD762B59024}"/>
              </a:ext>
            </a:extLst>
          </p:cNvPr>
          <p:cNvSpPr txBox="1">
            <a:spLocks/>
          </p:cNvSpPr>
          <p:nvPr/>
        </p:nvSpPr>
        <p:spPr>
          <a:xfrm>
            <a:off x="719572" y="87039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Indgang</a:t>
            </a:r>
          </a:p>
        </p:txBody>
      </p:sp>
    </p:spTree>
    <p:extLst>
      <p:ext uri="{BB962C8B-B14F-4D97-AF65-F5344CB8AC3E}">
        <p14:creationId xmlns:p14="http://schemas.microsoft.com/office/powerpoint/2010/main" val="476730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 txBox="1">
            <a:spLocks/>
          </p:cNvSpPr>
          <p:nvPr/>
        </p:nvSpPr>
        <p:spPr>
          <a:xfrm>
            <a:off x="684481" y="3502061"/>
            <a:ext cx="6339594" cy="487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Tilpasning af udgang til logikfamilie (eks. 5 V TTL)</a:t>
            </a:r>
          </a:p>
        </p:txBody>
      </p:sp>
      <p:grpSp>
        <p:nvGrpSpPr>
          <p:cNvPr id="12" name="Gruppe 11"/>
          <p:cNvGrpSpPr/>
          <p:nvPr/>
        </p:nvGrpSpPr>
        <p:grpSpPr>
          <a:xfrm>
            <a:off x="2411760" y="692696"/>
            <a:ext cx="4320480" cy="1944216"/>
            <a:chOff x="2411760" y="980728"/>
            <a:chExt cx="4320480" cy="1944216"/>
          </a:xfrm>
        </p:grpSpPr>
        <p:sp>
          <p:nvSpPr>
            <p:cNvPr id="13" name="Rektangel 12"/>
            <p:cNvSpPr/>
            <p:nvPr/>
          </p:nvSpPr>
          <p:spPr>
            <a:xfrm>
              <a:off x="3059832" y="980728"/>
              <a:ext cx="3024336" cy="19442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3200" i="1"/>
            </a:p>
          </p:txBody>
        </p:sp>
        <p:cxnSp>
          <p:nvCxnSpPr>
            <p:cNvPr id="14" name="Lige forbindelse 13"/>
            <p:cNvCxnSpPr/>
            <p:nvPr/>
          </p:nvCxnSpPr>
          <p:spPr>
            <a:xfrm>
              <a:off x="6084168" y="1944369"/>
              <a:ext cx="64807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Lige forbindelse 24"/>
            <p:cNvCxnSpPr/>
            <p:nvPr/>
          </p:nvCxnSpPr>
          <p:spPr>
            <a:xfrm>
              <a:off x="2411760" y="1932938"/>
              <a:ext cx="64807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kstboks 29"/>
            <p:cNvSpPr txBox="1"/>
            <p:nvPr/>
          </p:nvSpPr>
          <p:spPr>
            <a:xfrm>
              <a:off x="3347864" y="1628800"/>
              <a:ext cx="24482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sz="2400" i="1" dirty="0"/>
                <a:t>Komparator</a:t>
              </a:r>
            </a:p>
          </p:txBody>
        </p:sp>
      </p:grpSp>
      <p:sp>
        <p:nvSpPr>
          <p:cNvPr id="20" name="Titel 1">
            <a:extLst>
              <a:ext uri="{FF2B5EF4-FFF2-40B4-BE49-F238E27FC236}">
                <a16:creationId xmlns:a16="http://schemas.microsoft.com/office/drawing/2014/main" id="{0D0D200D-270B-42B6-B9C9-CC06446DBA74}"/>
              </a:ext>
            </a:extLst>
          </p:cNvPr>
          <p:cNvSpPr txBox="1">
            <a:spLocks/>
          </p:cNvSpPr>
          <p:nvPr/>
        </p:nvSpPr>
        <p:spPr>
          <a:xfrm>
            <a:off x="6375743" y="1970361"/>
            <a:ext cx="2016224" cy="396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solidFill>
                  <a:srgbClr val="FF0000"/>
                </a:solidFill>
              </a:rPr>
              <a:t>Digital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DE3888E-42B7-4DAB-8EAB-DB2F80B46ECF}"/>
              </a:ext>
            </a:extLst>
          </p:cNvPr>
          <p:cNvSpPr txBox="1">
            <a:spLocks/>
          </p:cNvSpPr>
          <p:nvPr/>
        </p:nvSpPr>
        <p:spPr>
          <a:xfrm>
            <a:off x="6372200" y="87039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Udgang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A1194A38-1802-49E3-AF7F-F865BFF73FE6}"/>
              </a:ext>
            </a:extLst>
          </p:cNvPr>
          <p:cNvSpPr txBox="1">
            <a:spLocks/>
          </p:cNvSpPr>
          <p:nvPr/>
        </p:nvSpPr>
        <p:spPr>
          <a:xfrm>
            <a:off x="721945" y="195051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solidFill>
                  <a:srgbClr val="FF0000"/>
                </a:solidFill>
              </a:rPr>
              <a:t>Analog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E64F859D-18C7-4724-9838-0CD762B59024}"/>
              </a:ext>
            </a:extLst>
          </p:cNvPr>
          <p:cNvSpPr txBox="1">
            <a:spLocks/>
          </p:cNvSpPr>
          <p:nvPr/>
        </p:nvSpPr>
        <p:spPr>
          <a:xfrm>
            <a:off x="719572" y="87039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Indgang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1767A046-6344-D2DF-978A-CBAE1CED4A48}"/>
              </a:ext>
            </a:extLst>
          </p:cNvPr>
          <p:cNvSpPr txBox="1">
            <a:spLocks/>
          </p:cNvSpPr>
          <p:nvPr/>
        </p:nvSpPr>
        <p:spPr>
          <a:xfrm>
            <a:off x="3635896" y="5645328"/>
            <a:ext cx="525947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sz="1200" i="1" dirty="0">
                <a:hlinkClick r:id="rId2"/>
              </a:rPr>
              <a:t>https://www.techtarget.com/whatis/definition/transistor-to-transistor-logic-TTL</a:t>
            </a:r>
            <a:endParaRPr lang="da-DK" sz="1200" i="1" dirty="0"/>
          </a:p>
        </p:txBody>
      </p:sp>
      <p:cxnSp>
        <p:nvCxnSpPr>
          <p:cNvPr id="4" name="Lige pilforbindelse 3">
            <a:extLst>
              <a:ext uri="{FF2B5EF4-FFF2-40B4-BE49-F238E27FC236}">
                <a16:creationId xmlns:a16="http://schemas.microsoft.com/office/drawing/2014/main" id="{9F344F8C-F7C0-15D7-8AE8-3CF8B8CE6F39}"/>
              </a:ext>
            </a:extLst>
          </p:cNvPr>
          <p:cNvCxnSpPr>
            <a:cxnSpLocks/>
          </p:cNvCxnSpPr>
          <p:nvPr/>
        </p:nvCxnSpPr>
        <p:spPr>
          <a:xfrm flipV="1">
            <a:off x="6156176" y="3989820"/>
            <a:ext cx="360040" cy="1527412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1">
            <a:extLst>
              <a:ext uri="{FF2B5EF4-FFF2-40B4-BE49-F238E27FC236}">
                <a16:creationId xmlns:a16="http://schemas.microsoft.com/office/drawing/2014/main" id="{DC871D75-F432-7A51-50C2-568C8494E5C4}"/>
              </a:ext>
            </a:extLst>
          </p:cNvPr>
          <p:cNvSpPr txBox="1">
            <a:spLocks/>
          </p:cNvSpPr>
          <p:nvPr/>
        </p:nvSpPr>
        <p:spPr>
          <a:xfrm>
            <a:off x="6443917" y="4736279"/>
            <a:ext cx="1692188" cy="28036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1200" i="1" dirty="0">
                <a:solidFill>
                  <a:srgbClr val="FF0000"/>
                </a:solidFill>
              </a:rPr>
              <a:t>Bliv evt. lidt klogere her!</a:t>
            </a:r>
          </a:p>
        </p:txBody>
      </p:sp>
    </p:spTree>
    <p:extLst>
      <p:ext uri="{BB962C8B-B14F-4D97-AF65-F5344CB8AC3E}">
        <p14:creationId xmlns:p14="http://schemas.microsoft.com/office/powerpoint/2010/main" val="3815311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E1868333-D3E2-C26D-823E-FD2B4D59B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1" y="836712"/>
            <a:ext cx="4938801" cy="3321704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7A2F9547-6105-C1BA-8E6B-52192A280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065" y="2618243"/>
            <a:ext cx="3266766" cy="4123125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299A8DFD-A01A-B740-F996-19BFB9F8EB16}"/>
              </a:ext>
            </a:extLst>
          </p:cNvPr>
          <p:cNvSpPr txBox="1">
            <a:spLocks/>
          </p:cNvSpPr>
          <p:nvPr/>
        </p:nvSpPr>
        <p:spPr>
          <a:xfrm>
            <a:off x="107504" y="62730"/>
            <a:ext cx="2808312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Logiske niveauer</a:t>
            </a:r>
          </a:p>
        </p:txBody>
      </p:sp>
    </p:spTree>
    <p:extLst>
      <p:ext uri="{BB962C8B-B14F-4D97-AF65-F5344CB8AC3E}">
        <p14:creationId xmlns:p14="http://schemas.microsoft.com/office/powerpoint/2010/main" val="117388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 txBox="1">
            <a:spLocks/>
          </p:cNvSpPr>
          <p:nvPr/>
        </p:nvSpPr>
        <p:spPr>
          <a:xfrm>
            <a:off x="684481" y="3502061"/>
            <a:ext cx="6339594" cy="487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Tilpasning af udgang til logikfamilie (eks. 5 V TTL)</a:t>
            </a:r>
          </a:p>
        </p:txBody>
      </p:sp>
      <p:grpSp>
        <p:nvGrpSpPr>
          <p:cNvPr id="12" name="Gruppe 11"/>
          <p:cNvGrpSpPr/>
          <p:nvPr/>
        </p:nvGrpSpPr>
        <p:grpSpPr>
          <a:xfrm>
            <a:off x="2411760" y="692696"/>
            <a:ext cx="4320480" cy="1944216"/>
            <a:chOff x="2411760" y="980728"/>
            <a:chExt cx="4320480" cy="1944216"/>
          </a:xfrm>
        </p:grpSpPr>
        <p:sp>
          <p:nvSpPr>
            <p:cNvPr id="13" name="Rektangel 12"/>
            <p:cNvSpPr/>
            <p:nvPr/>
          </p:nvSpPr>
          <p:spPr>
            <a:xfrm>
              <a:off x="3059832" y="980728"/>
              <a:ext cx="3024336" cy="194421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3200" i="1"/>
            </a:p>
          </p:txBody>
        </p:sp>
        <p:cxnSp>
          <p:nvCxnSpPr>
            <p:cNvPr id="14" name="Lige forbindelse 13"/>
            <p:cNvCxnSpPr/>
            <p:nvPr/>
          </p:nvCxnSpPr>
          <p:spPr>
            <a:xfrm>
              <a:off x="6084168" y="1944369"/>
              <a:ext cx="64807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Lige forbindelse 24"/>
            <p:cNvCxnSpPr/>
            <p:nvPr/>
          </p:nvCxnSpPr>
          <p:spPr>
            <a:xfrm>
              <a:off x="2411760" y="1932938"/>
              <a:ext cx="648072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kstboks 29"/>
            <p:cNvSpPr txBox="1"/>
            <p:nvPr/>
          </p:nvSpPr>
          <p:spPr>
            <a:xfrm>
              <a:off x="3347864" y="1628800"/>
              <a:ext cx="24482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a-DK" sz="2400" i="1" dirty="0"/>
                <a:t>Komparator</a:t>
              </a:r>
            </a:p>
          </p:txBody>
        </p:sp>
      </p:grpSp>
      <p:sp>
        <p:nvSpPr>
          <p:cNvPr id="20" name="Titel 1">
            <a:extLst>
              <a:ext uri="{FF2B5EF4-FFF2-40B4-BE49-F238E27FC236}">
                <a16:creationId xmlns:a16="http://schemas.microsoft.com/office/drawing/2014/main" id="{0D0D200D-270B-42B6-B9C9-CC06446DBA74}"/>
              </a:ext>
            </a:extLst>
          </p:cNvPr>
          <p:cNvSpPr txBox="1">
            <a:spLocks/>
          </p:cNvSpPr>
          <p:nvPr/>
        </p:nvSpPr>
        <p:spPr>
          <a:xfrm>
            <a:off x="6375743" y="1970361"/>
            <a:ext cx="2016224" cy="3969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solidFill>
                  <a:srgbClr val="FF0000"/>
                </a:solidFill>
              </a:rPr>
              <a:t>Digital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DE3888E-42B7-4DAB-8EAB-DB2F80B46ECF}"/>
              </a:ext>
            </a:extLst>
          </p:cNvPr>
          <p:cNvSpPr txBox="1">
            <a:spLocks/>
          </p:cNvSpPr>
          <p:nvPr/>
        </p:nvSpPr>
        <p:spPr>
          <a:xfrm>
            <a:off x="6372200" y="87039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Udgang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A1194A38-1802-49E3-AF7F-F865BFF73FE6}"/>
              </a:ext>
            </a:extLst>
          </p:cNvPr>
          <p:cNvSpPr txBox="1">
            <a:spLocks/>
          </p:cNvSpPr>
          <p:nvPr/>
        </p:nvSpPr>
        <p:spPr>
          <a:xfrm>
            <a:off x="721945" y="195051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>
                <a:solidFill>
                  <a:srgbClr val="FF0000"/>
                </a:solidFill>
              </a:rPr>
              <a:t>Analog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E64F859D-18C7-4724-9838-0CD762B59024}"/>
              </a:ext>
            </a:extLst>
          </p:cNvPr>
          <p:cNvSpPr txBox="1">
            <a:spLocks/>
          </p:cNvSpPr>
          <p:nvPr/>
        </p:nvSpPr>
        <p:spPr>
          <a:xfrm>
            <a:off x="719572" y="870391"/>
            <a:ext cx="2016224" cy="4366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Indgang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A4595F46-52B5-4974-809B-8820A9E8E55C}"/>
              </a:ext>
            </a:extLst>
          </p:cNvPr>
          <p:cNvSpPr txBox="1">
            <a:spLocks/>
          </p:cNvSpPr>
          <p:nvPr/>
        </p:nvSpPr>
        <p:spPr>
          <a:xfrm>
            <a:off x="6588224" y="5565080"/>
            <a:ext cx="2160240" cy="4803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Figur 12.4</a:t>
            </a:r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A900BAE9-D9A2-4174-9C57-FE4649337C3E}"/>
              </a:ext>
            </a:extLst>
          </p:cNvPr>
          <p:cNvCxnSpPr/>
          <p:nvPr/>
        </p:nvCxnSpPr>
        <p:spPr>
          <a:xfrm>
            <a:off x="5076056" y="5843404"/>
            <a:ext cx="72008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itel 1">
            <a:extLst>
              <a:ext uri="{FF2B5EF4-FFF2-40B4-BE49-F238E27FC236}">
                <a16:creationId xmlns:a16="http://schemas.microsoft.com/office/drawing/2014/main" id="{F887A329-930D-4882-BBFB-73CE2833CD81}"/>
              </a:ext>
            </a:extLst>
          </p:cNvPr>
          <p:cNvSpPr txBox="1">
            <a:spLocks/>
          </p:cNvSpPr>
          <p:nvPr/>
        </p:nvSpPr>
        <p:spPr>
          <a:xfrm>
            <a:off x="683568" y="5561385"/>
            <a:ext cx="4464496" cy="487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”Open </a:t>
            </a:r>
            <a:r>
              <a:rPr lang="da-DK" sz="2400" i="1" dirty="0" err="1"/>
              <a:t>Collector</a:t>
            </a:r>
            <a:r>
              <a:rPr lang="da-DK" sz="2400" i="1" dirty="0"/>
              <a:t>” udgang</a:t>
            </a:r>
          </a:p>
        </p:txBody>
      </p:sp>
    </p:spTree>
    <p:extLst>
      <p:ext uri="{BB962C8B-B14F-4D97-AF65-F5344CB8AC3E}">
        <p14:creationId xmlns:p14="http://schemas.microsoft.com/office/powerpoint/2010/main" val="162250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772" name="Picture 4" descr="AAAZZSE0.EPS                                                   0003078BMacintosh HD                   B3377F2F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52736"/>
            <a:ext cx="69611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107504" y="44624"/>
            <a:ext cx="2304256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Figur 12.4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A826E2E3-0920-6223-2985-0CEE644B7F94}"/>
              </a:ext>
            </a:extLst>
          </p:cNvPr>
          <p:cNvSpPr/>
          <p:nvPr/>
        </p:nvSpPr>
        <p:spPr>
          <a:xfrm>
            <a:off x="3771210" y="2060848"/>
            <a:ext cx="881499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LM311</a:t>
            </a:r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605E63EA-E16D-8FA3-93FE-2B4CD2743DFE}"/>
              </a:ext>
            </a:extLst>
          </p:cNvPr>
          <p:cNvCxnSpPr>
            <a:cxnSpLocks/>
          </p:cNvCxnSpPr>
          <p:nvPr/>
        </p:nvCxnSpPr>
        <p:spPr>
          <a:xfrm>
            <a:off x="4211960" y="2425000"/>
            <a:ext cx="0" cy="463558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945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772" name="Picture 4" descr="AAAZZSE0.EPS                                                   0003078BMacintosh HD                   B3377F2F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052736"/>
            <a:ext cx="6961187" cy="482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/>
          <p:cNvSpPr txBox="1">
            <a:spLocks/>
          </p:cNvSpPr>
          <p:nvPr/>
        </p:nvSpPr>
        <p:spPr>
          <a:xfrm>
            <a:off x="107504" y="44624"/>
            <a:ext cx="2304256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Figur 12.4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E2353A2-EA98-42CB-818A-0C6035B5E31C}"/>
              </a:ext>
            </a:extLst>
          </p:cNvPr>
          <p:cNvSpPr txBox="1">
            <a:spLocks/>
          </p:cNvSpPr>
          <p:nvPr/>
        </p:nvSpPr>
        <p:spPr>
          <a:xfrm>
            <a:off x="683568" y="6109593"/>
            <a:ext cx="5976664" cy="4877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Tilpasning af udgang uden ”Open </a:t>
            </a:r>
            <a:r>
              <a:rPr lang="da-DK" sz="2400" i="1" dirty="0" err="1"/>
              <a:t>Collector</a:t>
            </a:r>
            <a:r>
              <a:rPr lang="da-DK" sz="2400" i="1" dirty="0"/>
              <a:t>”?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79FE6A86-5287-39C4-8F5D-D3309DBA0F08}"/>
              </a:ext>
            </a:extLst>
          </p:cNvPr>
          <p:cNvSpPr/>
          <p:nvPr/>
        </p:nvSpPr>
        <p:spPr>
          <a:xfrm>
            <a:off x="3771210" y="2060848"/>
            <a:ext cx="881499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da-DK" i="1" dirty="0">
                <a:solidFill>
                  <a:srgbClr val="FF0000"/>
                </a:solidFill>
              </a:rPr>
              <a:t>LM311</a:t>
            </a:r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0C5E0D56-1E61-F553-2809-A05DD6514889}"/>
              </a:ext>
            </a:extLst>
          </p:cNvPr>
          <p:cNvCxnSpPr>
            <a:cxnSpLocks/>
          </p:cNvCxnSpPr>
          <p:nvPr/>
        </p:nvCxnSpPr>
        <p:spPr>
          <a:xfrm>
            <a:off x="4211960" y="2425000"/>
            <a:ext cx="0" cy="463558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640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107504" y="44624"/>
            <a:ext cx="684076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Med eller uden positiv feedback?</a:t>
            </a:r>
          </a:p>
        </p:txBody>
      </p:sp>
    </p:spTree>
    <p:extLst>
      <p:ext uri="{BB962C8B-B14F-4D97-AF65-F5344CB8AC3E}">
        <p14:creationId xmlns:p14="http://schemas.microsoft.com/office/powerpoint/2010/main" val="814086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95" name="Picture 3" descr="AAAZZSF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3357558" cy="209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AAZZSG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344" y="1268760"/>
            <a:ext cx="2705348" cy="287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/>
          <p:cNvSpPr txBox="1">
            <a:spLocks/>
          </p:cNvSpPr>
          <p:nvPr/>
        </p:nvSpPr>
        <p:spPr>
          <a:xfrm>
            <a:off x="35496" y="720313"/>
            <a:ext cx="566101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Støj</a:t>
            </a:r>
            <a:r>
              <a:rPr lang="da-DK" sz="2400" i="1" dirty="0"/>
              <a:t> på v</a:t>
            </a:r>
            <a:r>
              <a:rPr lang="da-DK" sz="2400" i="1" baseline="-25000" dirty="0"/>
              <a:t>in</a:t>
            </a:r>
            <a:r>
              <a:rPr lang="da-DK" sz="2400" i="1" dirty="0"/>
              <a:t> kan medføre utilsigtede skift i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endParaRPr lang="da-DK" sz="2400" baseline="-25000" dirty="0"/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35496" y="44624"/>
            <a:ext cx="4608512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Uden positiv feedback</a:t>
            </a:r>
          </a:p>
        </p:txBody>
      </p:sp>
    </p:spTree>
    <p:extLst>
      <p:ext uri="{BB962C8B-B14F-4D97-AF65-F5344CB8AC3E}">
        <p14:creationId xmlns:p14="http://schemas.microsoft.com/office/powerpoint/2010/main" val="1605910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795" name="Picture 3" descr="AAAZZSF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20888"/>
            <a:ext cx="3357558" cy="2095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AAZZSG0.EPS                                                   0004302BHard Drive-Seat One            B36702C6: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344" y="1268760"/>
            <a:ext cx="2705348" cy="287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/>
          <p:cNvSpPr txBox="1">
            <a:spLocks/>
          </p:cNvSpPr>
          <p:nvPr/>
        </p:nvSpPr>
        <p:spPr>
          <a:xfrm>
            <a:off x="35496" y="720313"/>
            <a:ext cx="5661012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Støj</a:t>
            </a:r>
            <a:r>
              <a:rPr lang="da-DK" sz="2400" i="1" dirty="0"/>
              <a:t> på v</a:t>
            </a:r>
            <a:r>
              <a:rPr lang="da-DK" sz="2400" i="1" baseline="-25000" dirty="0"/>
              <a:t>in</a:t>
            </a:r>
            <a:r>
              <a:rPr lang="da-DK" sz="2400" i="1" dirty="0"/>
              <a:t> kan medføre utilsigtede skift i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endParaRPr lang="da-DK" sz="2400" baseline="-25000" dirty="0"/>
          </a:p>
        </p:txBody>
      </p:sp>
      <p:sp>
        <p:nvSpPr>
          <p:cNvPr id="11" name="Titel 1"/>
          <p:cNvSpPr txBox="1">
            <a:spLocks/>
          </p:cNvSpPr>
          <p:nvPr/>
        </p:nvSpPr>
        <p:spPr>
          <a:xfrm>
            <a:off x="35496" y="44624"/>
            <a:ext cx="4608512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Uden positiv feedback</a:t>
            </a:r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4692E5A5-01F1-4549-85A8-22D8C8D68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360" y="4270809"/>
            <a:ext cx="2984088" cy="2390627"/>
          </a:xfrm>
          <a:prstGeom prst="rect">
            <a:avLst/>
          </a:prstGeom>
        </p:spPr>
      </p:pic>
      <p:sp>
        <p:nvSpPr>
          <p:cNvPr id="2" name="Rektangel 1">
            <a:extLst>
              <a:ext uri="{FF2B5EF4-FFF2-40B4-BE49-F238E27FC236}">
                <a16:creationId xmlns:a16="http://schemas.microsoft.com/office/drawing/2014/main" id="{D2C1AE1C-2ECC-9EE3-0F46-211AC04FB66F}"/>
              </a:ext>
            </a:extLst>
          </p:cNvPr>
          <p:cNvSpPr/>
          <p:nvPr/>
        </p:nvSpPr>
        <p:spPr>
          <a:xfrm>
            <a:off x="3042429" y="5550178"/>
            <a:ext cx="1889611" cy="36933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anchor="ctr" anchorCtr="0">
            <a:spAutoFit/>
          </a:bodyPr>
          <a:lstStyle/>
          <a:p>
            <a:pPr algn="r"/>
            <a:r>
              <a:rPr lang="da-DK" i="1" dirty="0">
                <a:solidFill>
                  <a:srgbClr val="FF0000"/>
                </a:solidFill>
              </a:rPr>
              <a:t>Tærskelspænding</a:t>
            </a:r>
          </a:p>
        </p:txBody>
      </p:sp>
      <p:cxnSp>
        <p:nvCxnSpPr>
          <p:cNvPr id="3" name="Lige pilforbindelse 2">
            <a:extLst>
              <a:ext uri="{FF2B5EF4-FFF2-40B4-BE49-F238E27FC236}">
                <a16:creationId xmlns:a16="http://schemas.microsoft.com/office/drawing/2014/main" id="{DE87C32B-050F-238B-4695-903B75F70F7E}"/>
              </a:ext>
            </a:extLst>
          </p:cNvPr>
          <p:cNvCxnSpPr>
            <a:cxnSpLocks/>
          </p:cNvCxnSpPr>
          <p:nvPr/>
        </p:nvCxnSpPr>
        <p:spPr>
          <a:xfrm>
            <a:off x="4932040" y="5734844"/>
            <a:ext cx="692460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631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led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2" r="60236" b="8370"/>
          <a:stretch/>
        </p:blipFill>
        <p:spPr>
          <a:xfrm>
            <a:off x="1043608" y="2132856"/>
            <a:ext cx="2777451" cy="2134671"/>
          </a:xfrm>
          <a:prstGeom prst="rect">
            <a:avLst/>
          </a:prstGeom>
        </p:spPr>
      </p:pic>
      <p:sp>
        <p:nvSpPr>
          <p:cNvPr id="3" name="Titel 1"/>
          <p:cNvSpPr txBox="1">
            <a:spLocks/>
          </p:cNvSpPr>
          <p:nvPr/>
        </p:nvSpPr>
        <p:spPr>
          <a:xfrm>
            <a:off x="251520" y="188640"/>
            <a:ext cx="8280920" cy="563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Langsomt varierende signal </a:t>
            </a:r>
            <a:r>
              <a:rPr lang="da-DK" sz="2400" i="1" dirty="0"/>
              <a:t>– eks. fra temperaturføler</a:t>
            </a:r>
            <a:endParaRPr lang="da-DK" sz="2400" baseline="-25000" dirty="0"/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251520" y="1340768"/>
            <a:ext cx="8280920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Langsom passage </a:t>
            </a:r>
            <a:r>
              <a:rPr lang="da-DK" sz="2400" i="1" dirty="0"/>
              <a:t>af tærskelspænding e</a:t>
            </a:r>
            <a:r>
              <a:rPr lang="da-DK" sz="2400" i="1" baseline="-25000" dirty="0"/>
              <a:t>t</a:t>
            </a:r>
            <a:endParaRPr lang="da-DK" sz="2400" baseline="-25000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251520" y="4953953"/>
            <a:ext cx="8280920" cy="4064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Langsomt skift </a:t>
            </a:r>
            <a:r>
              <a:rPr lang="da-DK" sz="2400" i="1" dirty="0"/>
              <a:t>på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endParaRPr lang="da-DK" sz="2400" baseline="-25000" dirty="0"/>
          </a:p>
        </p:txBody>
      </p:sp>
      <p:cxnSp>
        <p:nvCxnSpPr>
          <p:cNvPr id="13" name="Lige pilforbindelse 12"/>
          <p:cNvCxnSpPr/>
          <p:nvPr/>
        </p:nvCxnSpPr>
        <p:spPr>
          <a:xfrm>
            <a:off x="1115616" y="794316"/>
            <a:ext cx="0" cy="504056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Lige pilforbindelse 13"/>
          <p:cNvCxnSpPr/>
          <p:nvPr/>
        </p:nvCxnSpPr>
        <p:spPr>
          <a:xfrm>
            <a:off x="1115616" y="4365104"/>
            <a:ext cx="0" cy="504056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uppe 1">
            <a:extLst>
              <a:ext uri="{FF2B5EF4-FFF2-40B4-BE49-F238E27FC236}">
                <a16:creationId xmlns:a16="http://schemas.microsoft.com/office/drawing/2014/main" id="{4509376D-F6C7-7E07-ABB8-FC9816E0284E}"/>
              </a:ext>
            </a:extLst>
          </p:cNvPr>
          <p:cNvGrpSpPr/>
          <p:nvPr/>
        </p:nvGrpSpPr>
        <p:grpSpPr>
          <a:xfrm>
            <a:off x="4593169" y="2053711"/>
            <a:ext cx="3749001" cy="2292960"/>
            <a:chOff x="3979226" y="764704"/>
            <a:chExt cx="4608060" cy="2826980"/>
          </a:xfrm>
        </p:grpSpPr>
        <p:cxnSp>
          <p:nvCxnSpPr>
            <p:cNvPr id="5" name="Lige pilforbindelse 4">
              <a:extLst>
                <a:ext uri="{FF2B5EF4-FFF2-40B4-BE49-F238E27FC236}">
                  <a16:creationId xmlns:a16="http://schemas.microsoft.com/office/drawing/2014/main" id="{4ADDC1D9-69C3-63EC-4C73-B69C51C833F3}"/>
                </a:ext>
              </a:extLst>
            </p:cNvPr>
            <p:cNvCxnSpPr/>
            <p:nvPr/>
          </p:nvCxnSpPr>
          <p:spPr>
            <a:xfrm flipV="1">
              <a:off x="6228529" y="1000820"/>
              <a:ext cx="0" cy="25654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Lige pilforbindelse 6">
              <a:extLst>
                <a:ext uri="{FF2B5EF4-FFF2-40B4-BE49-F238E27FC236}">
                  <a16:creationId xmlns:a16="http://schemas.microsoft.com/office/drawing/2014/main" id="{E13660EC-7213-2AA6-E416-A0E802DB126E}"/>
                </a:ext>
              </a:extLst>
            </p:cNvPr>
            <p:cNvCxnSpPr/>
            <p:nvPr/>
          </p:nvCxnSpPr>
          <p:spPr>
            <a:xfrm>
              <a:off x="4651861" y="2360449"/>
              <a:ext cx="31199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Lige forbindelse 7">
              <a:extLst>
                <a:ext uri="{FF2B5EF4-FFF2-40B4-BE49-F238E27FC236}">
                  <a16:creationId xmlns:a16="http://schemas.microsoft.com/office/drawing/2014/main" id="{5B6DE69A-AE9E-F917-62BB-9CCD345B7452}"/>
                </a:ext>
              </a:extLst>
            </p:cNvPr>
            <p:cNvCxnSpPr/>
            <p:nvPr/>
          </p:nvCxnSpPr>
          <p:spPr>
            <a:xfrm>
              <a:off x="4651861" y="1360960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25">
              <a:extLst>
                <a:ext uri="{FF2B5EF4-FFF2-40B4-BE49-F238E27FC236}">
                  <a16:creationId xmlns:a16="http://schemas.microsoft.com/office/drawing/2014/main" id="{7789BA17-F686-C3AD-D078-4D442F49D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064" y="2204864"/>
              <a:ext cx="454435" cy="41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25">
              <a:extLst>
                <a:ext uri="{FF2B5EF4-FFF2-40B4-BE49-F238E27FC236}">
                  <a16:creationId xmlns:a16="http://schemas.microsoft.com/office/drawing/2014/main" id="{278ECFC1-E66D-379E-EE85-8AB0A02D6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3231644"/>
              <a:ext cx="360041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Gruppe 10">
              <a:extLst>
                <a:ext uri="{FF2B5EF4-FFF2-40B4-BE49-F238E27FC236}">
                  <a16:creationId xmlns:a16="http://schemas.microsoft.com/office/drawing/2014/main" id="{D931D9A4-8430-F981-BD77-593EC78536E2}"/>
                </a:ext>
              </a:extLst>
            </p:cNvPr>
            <p:cNvGrpSpPr/>
            <p:nvPr/>
          </p:nvGrpSpPr>
          <p:grpSpPr>
            <a:xfrm>
              <a:off x="4904825" y="1460099"/>
              <a:ext cx="2660947" cy="1750117"/>
              <a:chOff x="1987753" y="1561732"/>
              <a:chExt cx="5268676" cy="3585918"/>
            </a:xfrm>
            <a:effectLst/>
          </p:grpSpPr>
          <p:cxnSp>
            <p:nvCxnSpPr>
              <p:cNvPr id="47" name="Lige forbindelse 46">
                <a:extLst>
                  <a:ext uri="{FF2B5EF4-FFF2-40B4-BE49-F238E27FC236}">
                    <a16:creationId xmlns:a16="http://schemas.microsoft.com/office/drawing/2014/main" id="{2A0D2629-86EA-16D2-9A32-6415BB92269E}"/>
                  </a:ext>
                </a:extLst>
              </p:cNvPr>
              <p:cNvCxnSpPr/>
              <p:nvPr/>
            </p:nvCxnSpPr>
            <p:spPr>
              <a:xfrm flipV="1">
                <a:off x="3957391" y="1561732"/>
                <a:ext cx="1329769" cy="35859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" name="Lige forbindelse 47">
                <a:extLst>
                  <a:ext uri="{FF2B5EF4-FFF2-40B4-BE49-F238E27FC236}">
                    <a16:creationId xmlns:a16="http://schemas.microsoft.com/office/drawing/2014/main" id="{8BDB9D14-1C05-2C78-A8A1-DA05F867D168}"/>
                  </a:ext>
                </a:extLst>
              </p:cNvPr>
              <p:cNvCxnSpPr/>
              <p:nvPr/>
            </p:nvCxnSpPr>
            <p:spPr>
              <a:xfrm>
                <a:off x="5252344" y="1592043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Lige forbindelse 48">
                <a:extLst>
                  <a:ext uri="{FF2B5EF4-FFF2-40B4-BE49-F238E27FC236}">
                    <a16:creationId xmlns:a16="http://schemas.microsoft.com/office/drawing/2014/main" id="{951571B1-55AD-A945-F68C-0AC55C75093E}"/>
                  </a:ext>
                </a:extLst>
              </p:cNvPr>
              <p:cNvCxnSpPr/>
              <p:nvPr/>
            </p:nvCxnSpPr>
            <p:spPr>
              <a:xfrm>
                <a:off x="1987753" y="5117036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2" name="Lige forbindelse 11">
              <a:extLst>
                <a:ext uri="{FF2B5EF4-FFF2-40B4-BE49-F238E27FC236}">
                  <a16:creationId xmlns:a16="http://schemas.microsoft.com/office/drawing/2014/main" id="{03FA2D24-F38D-C5BE-C44D-EE48B65A151A}"/>
                </a:ext>
              </a:extLst>
            </p:cNvPr>
            <p:cNvCxnSpPr/>
            <p:nvPr/>
          </p:nvCxnSpPr>
          <p:spPr>
            <a:xfrm>
              <a:off x="4622686" y="3325542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 Box 25">
              <a:extLst>
                <a:ext uri="{FF2B5EF4-FFF2-40B4-BE49-F238E27FC236}">
                  <a16:creationId xmlns:a16="http://schemas.microsoft.com/office/drawing/2014/main" id="{58E3325C-6E6B-7942-786C-7A180F9D5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20" y="1417202"/>
              <a:ext cx="1134966" cy="283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  <p:sp>
          <p:nvSpPr>
            <p:cNvPr id="16" name="Text Box 25">
              <a:extLst>
                <a:ext uri="{FF2B5EF4-FFF2-40B4-BE49-F238E27FC236}">
                  <a16:creationId xmlns:a16="http://schemas.microsoft.com/office/drawing/2014/main" id="{E58BFF7F-CAC4-9160-6D51-05A977388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184" y="764704"/>
              <a:ext cx="449504" cy="37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0" name="Gruppe 19">
              <a:extLst>
                <a:ext uri="{FF2B5EF4-FFF2-40B4-BE49-F238E27FC236}">
                  <a16:creationId xmlns:a16="http://schemas.microsoft.com/office/drawing/2014/main" id="{2BBCB2CE-048D-B30D-09E3-9B0835A46420}"/>
                </a:ext>
              </a:extLst>
            </p:cNvPr>
            <p:cNvGrpSpPr/>
            <p:nvPr/>
          </p:nvGrpSpPr>
          <p:grpSpPr>
            <a:xfrm>
              <a:off x="5090188" y="1358455"/>
              <a:ext cx="2279485" cy="1967087"/>
              <a:chOff x="2354773" y="1353468"/>
              <a:chExt cx="4513382" cy="4030480"/>
            </a:xfrm>
          </p:grpSpPr>
          <p:cxnSp>
            <p:nvCxnSpPr>
              <p:cNvPr id="25" name="Lige forbindelse 24">
                <a:extLst>
                  <a:ext uri="{FF2B5EF4-FFF2-40B4-BE49-F238E27FC236}">
                    <a16:creationId xmlns:a16="http://schemas.microsoft.com/office/drawing/2014/main" id="{61BE1595-B0A4-6AAF-5752-145BB5E4D4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2258" y="1358599"/>
                <a:ext cx="0" cy="402534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Lige forbindelse 25">
                <a:extLst>
                  <a:ext uri="{FF2B5EF4-FFF2-40B4-BE49-F238E27FC236}">
                    <a16:creationId xmlns:a16="http://schemas.microsoft.com/office/drawing/2014/main" id="{E46ED5EF-D90E-B69C-84FA-5FA49FD1DEF0}"/>
                  </a:ext>
                </a:extLst>
              </p:cNvPr>
              <p:cNvCxnSpPr/>
              <p:nvPr/>
            </p:nvCxnSpPr>
            <p:spPr>
              <a:xfrm>
                <a:off x="2354773" y="5379565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Lige forbindelse 26">
                <a:extLst>
                  <a:ext uri="{FF2B5EF4-FFF2-40B4-BE49-F238E27FC236}">
                    <a16:creationId xmlns:a16="http://schemas.microsoft.com/office/drawing/2014/main" id="{CE259E6C-F106-A317-222F-136848C4305A}"/>
                  </a:ext>
                </a:extLst>
              </p:cNvPr>
              <p:cNvCxnSpPr/>
              <p:nvPr/>
            </p:nvCxnSpPr>
            <p:spPr>
              <a:xfrm>
                <a:off x="4567447" y="1353468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Undertitel 2">
              <a:extLst>
                <a:ext uri="{FF2B5EF4-FFF2-40B4-BE49-F238E27FC236}">
                  <a16:creationId xmlns:a16="http://schemas.microsoft.com/office/drawing/2014/main" id="{8AEB119D-A005-DAEE-91C4-20E0D0A0279E}"/>
                </a:ext>
              </a:extLst>
            </p:cNvPr>
            <p:cNvSpPr txBox="1">
              <a:spLocks/>
            </p:cNvSpPr>
            <p:nvPr/>
          </p:nvSpPr>
          <p:spPr>
            <a:xfrm>
              <a:off x="5605732" y="1462143"/>
              <a:ext cx="671600" cy="284897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0070C0"/>
                  </a:solidFill>
                </a:rPr>
                <a:t>Ideelt</a:t>
              </a:r>
              <a:endParaRPr lang="da-DK" sz="1200" i="1" baseline="-25000" dirty="0">
                <a:solidFill>
                  <a:srgbClr val="0070C0"/>
                </a:solidFill>
              </a:endParaRPr>
            </a:p>
          </p:txBody>
        </p:sp>
        <p:sp>
          <p:nvSpPr>
            <p:cNvPr id="22" name="Undertitel 2">
              <a:extLst>
                <a:ext uri="{FF2B5EF4-FFF2-40B4-BE49-F238E27FC236}">
                  <a16:creationId xmlns:a16="http://schemas.microsoft.com/office/drawing/2014/main" id="{4D9967A3-F8EE-9418-5D1A-FE46CCB925D4}"/>
                </a:ext>
              </a:extLst>
            </p:cNvPr>
            <p:cNvSpPr txBox="1">
              <a:spLocks/>
            </p:cNvSpPr>
            <p:nvPr/>
          </p:nvSpPr>
          <p:spPr>
            <a:xfrm>
              <a:off x="5278518" y="2732085"/>
              <a:ext cx="759291" cy="31629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FF0000"/>
                  </a:solidFill>
                </a:rPr>
                <a:t>Praksis</a:t>
              </a:r>
              <a:endParaRPr lang="da-DK" sz="12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BF0591A1-2785-990D-91F4-E3D6385F96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1291620"/>
              <a:ext cx="432049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5293FBC4-F1D3-497D-831F-4CCCB6F527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226" y="2966472"/>
              <a:ext cx="1028165" cy="283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0105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illede 1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2" r="60236" b="8370"/>
          <a:stretch/>
        </p:blipFill>
        <p:spPr>
          <a:xfrm>
            <a:off x="1043608" y="2132856"/>
            <a:ext cx="2777451" cy="2134671"/>
          </a:xfrm>
          <a:prstGeom prst="rect">
            <a:avLst/>
          </a:prstGeom>
        </p:spPr>
      </p:pic>
      <p:sp>
        <p:nvSpPr>
          <p:cNvPr id="3" name="Titel 1"/>
          <p:cNvSpPr txBox="1">
            <a:spLocks/>
          </p:cNvSpPr>
          <p:nvPr/>
        </p:nvSpPr>
        <p:spPr>
          <a:xfrm>
            <a:off x="251520" y="188640"/>
            <a:ext cx="8280920" cy="5632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Langsomt varierende signal </a:t>
            </a:r>
            <a:r>
              <a:rPr lang="da-DK" sz="2400" i="1" dirty="0"/>
              <a:t>– eks. fra temperaturføler</a:t>
            </a:r>
            <a:endParaRPr lang="da-DK" sz="2400" baseline="-25000" dirty="0"/>
          </a:p>
        </p:txBody>
      </p:sp>
      <p:sp>
        <p:nvSpPr>
          <p:cNvPr id="4" name="Titel 1"/>
          <p:cNvSpPr txBox="1">
            <a:spLocks/>
          </p:cNvSpPr>
          <p:nvPr/>
        </p:nvSpPr>
        <p:spPr>
          <a:xfrm>
            <a:off x="251520" y="1340768"/>
            <a:ext cx="8280920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Langsom passage </a:t>
            </a:r>
            <a:r>
              <a:rPr lang="da-DK" sz="2400" i="1" dirty="0"/>
              <a:t>af tærskelspænding e</a:t>
            </a:r>
            <a:r>
              <a:rPr lang="da-DK" sz="2400" i="1" baseline="-25000" dirty="0"/>
              <a:t>t</a:t>
            </a:r>
            <a:endParaRPr lang="da-DK" sz="2400" baseline="-25000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251520" y="4953953"/>
            <a:ext cx="8280920" cy="4064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Langsomt skift </a:t>
            </a:r>
            <a:r>
              <a:rPr lang="da-DK" sz="2400" i="1" dirty="0"/>
              <a:t>på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endParaRPr lang="da-DK" sz="2400" baseline="-25000" dirty="0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51520" y="6165304"/>
            <a:ext cx="828092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Nogle logikfamilier kræver </a:t>
            </a:r>
            <a:r>
              <a:rPr lang="da-DK" sz="2400" b="1" i="1" dirty="0">
                <a:solidFill>
                  <a:srgbClr val="FF0000"/>
                </a:solidFill>
              </a:rPr>
              <a:t>abrupte</a:t>
            </a:r>
            <a:r>
              <a:rPr lang="da-DK" sz="2400" i="1" dirty="0">
                <a:solidFill>
                  <a:srgbClr val="FF0000"/>
                </a:solidFill>
              </a:rPr>
              <a:t> </a:t>
            </a:r>
            <a:r>
              <a:rPr lang="da-DK" sz="2400" i="1" dirty="0"/>
              <a:t>skift</a:t>
            </a:r>
            <a:endParaRPr lang="da-DK" sz="2400" baseline="-25000" dirty="0"/>
          </a:p>
        </p:txBody>
      </p:sp>
      <p:cxnSp>
        <p:nvCxnSpPr>
          <p:cNvPr id="13" name="Lige pilforbindelse 12"/>
          <p:cNvCxnSpPr/>
          <p:nvPr/>
        </p:nvCxnSpPr>
        <p:spPr>
          <a:xfrm>
            <a:off x="1115616" y="794316"/>
            <a:ext cx="0" cy="504056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Lige pilforbindelse 13"/>
          <p:cNvCxnSpPr/>
          <p:nvPr/>
        </p:nvCxnSpPr>
        <p:spPr>
          <a:xfrm>
            <a:off x="1115616" y="4365104"/>
            <a:ext cx="0" cy="504056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Picture 2" descr="http://images.cloud2.vixdata.com/data/media/photo/large/bbf/bbf69905-c739-49b9-9d9e-b6011efa208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3846" y="6207920"/>
            <a:ext cx="424458" cy="41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" name="Gruppe 71">
            <a:extLst>
              <a:ext uri="{FF2B5EF4-FFF2-40B4-BE49-F238E27FC236}">
                <a16:creationId xmlns:a16="http://schemas.microsoft.com/office/drawing/2014/main" id="{158ABFDC-46FF-2E41-6041-86E99120FE07}"/>
              </a:ext>
            </a:extLst>
          </p:cNvPr>
          <p:cNvGrpSpPr/>
          <p:nvPr/>
        </p:nvGrpSpPr>
        <p:grpSpPr>
          <a:xfrm>
            <a:off x="4593169" y="2053711"/>
            <a:ext cx="3749001" cy="2292960"/>
            <a:chOff x="3979226" y="764704"/>
            <a:chExt cx="4608060" cy="2826980"/>
          </a:xfrm>
        </p:grpSpPr>
        <p:cxnSp>
          <p:nvCxnSpPr>
            <p:cNvPr id="73" name="Lige pilforbindelse 72">
              <a:extLst>
                <a:ext uri="{FF2B5EF4-FFF2-40B4-BE49-F238E27FC236}">
                  <a16:creationId xmlns:a16="http://schemas.microsoft.com/office/drawing/2014/main" id="{9CF28BBE-AD8D-E3A9-5DBC-0A8098D86EC9}"/>
                </a:ext>
              </a:extLst>
            </p:cNvPr>
            <p:cNvCxnSpPr/>
            <p:nvPr/>
          </p:nvCxnSpPr>
          <p:spPr>
            <a:xfrm flipV="1">
              <a:off x="6228529" y="1000820"/>
              <a:ext cx="0" cy="256549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Lige pilforbindelse 73">
              <a:extLst>
                <a:ext uri="{FF2B5EF4-FFF2-40B4-BE49-F238E27FC236}">
                  <a16:creationId xmlns:a16="http://schemas.microsoft.com/office/drawing/2014/main" id="{4EEFA54C-7AE3-BCEE-A209-D92E0AC7EBC4}"/>
                </a:ext>
              </a:extLst>
            </p:cNvPr>
            <p:cNvCxnSpPr/>
            <p:nvPr/>
          </p:nvCxnSpPr>
          <p:spPr>
            <a:xfrm>
              <a:off x="4651861" y="2360449"/>
              <a:ext cx="311999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Lige forbindelse 74">
              <a:extLst>
                <a:ext uri="{FF2B5EF4-FFF2-40B4-BE49-F238E27FC236}">
                  <a16:creationId xmlns:a16="http://schemas.microsoft.com/office/drawing/2014/main" id="{DB056DD2-3978-AE40-FCBE-97AD0EEE3B15}"/>
                </a:ext>
              </a:extLst>
            </p:cNvPr>
            <p:cNvCxnSpPr/>
            <p:nvPr/>
          </p:nvCxnSpPr>
          <p:spPr>
            <a:xfrm>
              <a:off x="4651861" y="1360960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 Box 25">
              <a:extLst>
                <a:ext uri="{FF2B5EF4-FFF2-40B4-BE49-F238E27FC236}">
                  <a16:creationId xmlns:a16="http://schemas.microsoft.com/office/drawing/2014/main" id="{38F1FEE8-4533-2786-58DD-FFBD2D6C9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4064" y="2204864"/>
              <a:ext cx="454435" cy="410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id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25">
              <a:extLst>
                <a:ext uri="{FF2B5EF4-FFF2-40B4-BE49-F238E27FC236}">
                  <a16:creationId xmlns:a16="http://schemas.microsoft.com/office/drawing/2014/main" id="{C410E7B0-5DE0-AC5B-20FF-9ABE57AEB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3231644"/>
              <a:ext cx="360041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8" name="Gruppe 77">
              <a:extLst>
                <a:ext uri="{FF2B5EF4-FFF2-40B4-BE49-F238E27FC236}">
                  <a16:creationId xmlns:a16="http://schemas.microsoft.com/office/drawing/2014/main" id="{A2D15FB3-3CB1-A52A-576C-C77EDF302AEF}"/>
                </a:ext>
              </a:extLst>
            </p:cNvPr>
            <p:cNvGrpSpPr/>
            <p:nvPr/>
          </p:nvGrpSpPr>
          <p:grpSpPr>
            <a:xfrm>
              <a:off x="4904825" y="1460099"/>
              <a:ext cx="2660947" cy="1750117"/>
              <a:chOff x="1987753" y="1561732"/>
              <a:chExt cx="5268676" cy="3585918"/>
            </a:xfrm>
            <a:effectLst/>
          </p:grpSpPr>
          <p:cxnSp>
            <p:nvCxnSpPr>
              <p:cNvPr id="90" name="Lige forbindelse 89">
                <a:extLst>
                  <a:ext uri="{FF2B5EF4-FFF2-40B4-BE49-F238E27FC236}">
                    <a16:creationId xmlns:a16="http://schemas.microsoft.com/office/drawing/2014/main" id="{5CFBB45E-C7FE-9FC4-64D7-E374787B8FE8}"/>
                  </a:ext>
                </a:extLst>
              </p:cNvPr>
              <p:cNvCxnSpPr/>
              <p:nvPr/>
            </p:nvCxnSpPr>
            <p:spPr>
              <a:xfrm flipV="1">
                <a:off x="3957391" y="1561732"/>
                <a:ext cx="1329769" cy="358591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1" name="Lige forbindelse 90">
                <a:extLst>
                  <a:ext uri="{FF2B5EF4-FFF2-40B4-BE49-F238E27FC236}">
                    <a16:creationId xmlns:a16="http://schemas.microsoft.com/office/drawing/2014/main" id="{2E6FF2BA-EC5B-12EB-26B3-AF163E0E09FD}"/>
                  </a:ext>
                </a:extLst>
              </p:cNvPr>
              <p:cNvCxnSpPr/>
              <p:nvPr/>
            </p:nvCxnSpPr>
            <p:spPr>
              <a:xfrm>
                <a:off x="5252344" y="1592043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92" name="Lige forbindelse 91">
                <a:extLst>
                  <a:ext uri="{FF2B5EF4-FFF2-40B4-BE49-F238E27FC236}">
                    <a16:creationId xmlns:a16="http://schemas.microsoft.com/office/drawing/2014/main" id="{CBB7BBD0-737A-282D-C650-6DE2A542214C}"/>
                  </a:ext>
                </a:extLst>
              </p:cNvPr>
              <p:cNvCxnSpPr/>
              <p:nvPr/>
            </p:nvCxnSpPr>
            <p:spPr>
              <a:xfrm>
                <a:off x="1987753" y="5117036"/>
                <a:ext cx="2004085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79" name="Lige forbindelse 78">
              <a:extLst>
                <a:ext uri="{FF2B5EF4-FFF2-40B4-BE49-F238E27FC236}">
                  <a16:creationId xmlns:a16="http://schemas.microsoft.com/office/drawing/2014/main" id="{80E3BE89-C9D9-A1CA-7ACB-FCCAFF6EBCDA}"/>
                </a:ext>
              </a:extLst>
            </p:cNvPr>
            <p:cNvCxnSpPr/>
            <p:nvPr/>
          </p:nvCxnSpPr>
          <p:spPr>
            <a:xfrm>
              <a:off x="4622686" y="3325542"/>
              <a:ext cx="3096175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 Box 25">
              <a:extLst>
                <a:ext uri="{FF2B5EF4-FFF2-40B4-BE49-F238E27FC236}">
                  <a16:creationId xmlns:a16="http://schemas.microsoft.com/office/drawing/2014/main" id="{530A6505-94C8-A143-26F7-5A51052BA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2320" y="1417202"/>
              <a:ext cx="1134966" cy="283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  <p:sp>
          <p:nvSpPr>
            <p:cNvPr id="81" name="Text Box 25">
              <a:extLst>
                <a:ext uri="{FF2B5EF4-FFF2-40B4-BE49-F238E27FC236}">
                  <a16:creationId xmlns:a16="http://schemas.microsoft.com/office/drawing/2014/main" id="{13EF4011-EC09-1053-53B5-8665A00533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184" y="764704"/>
              <a:ext cx="449504" cy="37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-25000" dirty="0" err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o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2" name="Gruppe 81">
              <a:extLst>
                <a:ext uri="{FF2B5EF4-FFF2-40B4-BE49-F238E27FC236}">
                  <a16:creationId xmlns:a16="http://schemas.microsoft.com/office/drawing/2014/main" id="{EA6AB2D1-2E76-4CC7-55E6-36E25A2B39C1}"/>
                </a:ext>
              </a:extLst>
            </p:cNvPr>
            <p:cNvGrpSpPr/>
            <p:nvPr/>
          </p:nvGrpSpPr>
          <p:grpSpPr>
            <a:xfrm>
              <a:off x="5090188" y="1358455"/>
              <a:ext cx="2279485" cy="1967087"/>
              <a:chOff x="2354773" y="1353468"/>
              <a:chExt cx="4513382" cy="4030480"/>
            </a:xfrm>
          </p:grpSpPr>
          <p:cxnSp>
            <p:nvCxnSpPr>
              <p:cNvPr id="87" name="Lige forbindelse 86">
                <a:extLst>
                  <a:ext uri="{FF2B5EF4-FFF2-40B4-BE49-F238E27FC236}">
                    <a16:creationId xmlns:a16="http://schemas.microsoft.com/office/drawing/2014/main" id="{FF4163C7-607C-05F3-36FD-E154E19C26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12258" y="1358599"/>
                <a:ext cx="0" cy="4025349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Lige forbindelse 87">
                <a:extLst>
                  <a:ext uri="{FF2B5EF4-FFF2-40B4-BE49-F238E27FC236}">
                    <a16:creationId xmlns:a16="http://schemas.microsoft.com/office/drawing/2014/main" id="{0CD8F2A7-64E4-D7EE-CB6A-A0890A4E0F27}"/>
                  </a:ext>
                </a:extLst>
              </p:cNvPr>
              <p:cNvCxnSpPr/>
              <p:nvPr/>
            </p:nvCxnSpPr>
            <p:spPr>
              <a:xfrm>
                <a:off x="2354773" y="5379565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Lige forbindelse 88">
                <a:extLst>
                  <a:ext uri="{FF2B5EF4-FFF2-40B4-BE49-F238E27FC236}">
                    <a16:creationId xmlns:a16="http://schemas.microsoft.com/office/drawing/2014/main" id="{F0722580-2D63-76EA-19D4-97A28D38D7C6}"/>
                  </a:ext>
                </a:extLst>
              </p:cNvPr>
              <p:cNvCxnSpPr/>
              <p:nvPr/>
            </p:nvCxnSpPr>
            <p:spPr>
              <a:xfrm>
                <a:off x="4567447" y="1353468"/>
                <a:ext cx="230070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3" name="Undertitel 2">
              <a:extLst>
                <a:ext uri="{FF2B5EF4-FFF2-40B4-BE49-F238E27FC236}">
                  <a16:creationId xmlns:a16="http://schemas.microsoft.com/office/drawing/2014/main" id="{486AF773-58E7-28FF-EA1F-08447513826C}"/>
                </a:ext>
              </a:extLst>
            </p:cNvPr>
            <p:cNvSpPr txBox="1">
              <a:spLocks/>
            </p:cNvSpPr>
            <p:nvPr/>
          </p:nvSpPr>
          <p:spPr>
            <a:xfrm>
              <a:off x="5605732" y="1462143"/>
              <a:ext cx="671600" cy="284897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0070C0"/>
                  </a:solidFill>
                </a:rPr>
                <a:t>Ideelt</a:t>
              </a:r>
              <a:endParaRPr lang="da-DK" sz="1200" i="1" baseline="-25000" dirty="0">
                <a:solidFill>
                  <a:srgbClr val="0070C0"/>
                </a:solidFill>
              </a:endParaRPr>
            </a:p>
          </p:txBody>
        </p:sp>
        <p:sp>
          <p:nvSpPr>
            <p:cNvPr id="84" name="Undertitel 2">
              <a:extLst>
                <a:ext uri="{FF2B5EF4-FFF2-40B4-BE49-F238E27FC236}">
                  <a16:creationId xmlns:a16="http://schemas.microsoft.com/office/drawing/2014/main" id="{D7BF56B6-B125-A1B4-ABD8-13EDFE08CA7E}"/>
                </a:ext>
              </a:extLst>
            </p:cNvPr>
            <p:cNvSpPr txBox="1">
              <a:spLocks/>
            </p:cNvSpPr>
            <p:nvPr/>
          </p:nvSpPr>
          <p:spPr>
            <a:xfrm>
              <a:off x="5278518" y="2732085"/>
              <a:ext cx="759291" cy="31629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  <a:tabLst>
                  <a:tab pos="1617663" algn="l"/>
                </a:tabLst>
              </a:pPr>
              <a:r>
                <a:rPr lang="da-DK" sz="1200" i="1" dirty="0">
                  <a:solidFill>
                    <a:srgbClr val="FF0000"/>
                  </a:solidFill>
                </a:rPr>
                <a:t>Praksis</a:t>
              </a:r>
              <a:endParaRPr lang="da-DK" sz="1200" i="1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85" name="Text Box 25">
              <a:extLst>
                <a:ext uri="{FF2B5EF4-FFF2-40B4-BE49-F238E27FC236}">
                  <a16:creationId xmlns:a16="http://schemas.microsoft.com/office/drawing/2014/main" id="{A7A7F973-8096-6B9A-555B-502AADAC3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3" y="1291620"/>
              <a:ext cx="432049" cy="36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v</a:t>
              </a:r>
              <a:r>
                <a:rPr lang="da-DK" sz="1200" baseline="30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  <a:endParaRPr lang="da-DK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 Box 25">
              <a:extLst>
                <a:ext uri="{FF2B5EF4-FFF2-40B4-BE49-F238E27FC236}">
                  <a16:creationId xmlns:a16="http://schemas.microsoft.com/office/drawing/2014/main" id="{8014572A-9370-71DD-CA20-1FC08880F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9226" y="2966472"/>
              <a:ext cx="1028165" cy="2836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ctr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da-DK" sz="12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(mætning)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8796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 txBox="1">
            <a:spLocks/>
          </p:cNvSpPr>
          <p:nvPr/>
        </p:nvSpPr>
        <p:spPr>
          <a:xfrm>
            <a:off x="472067" y="5733256"/>
            <a:ext cx="4748006" cy="64807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/>
              <a:t>Øget skiftehastighed</a:t>
            </a:r>
            <a:r>
              <a:rPr lang="da-DK" sz="2400" i="1" baseline="-25000" dirty="0"/>
              <a:t>(Side 804, midten)</a:t>
            </a:r>
            <a:endParaRPr lang="da-DK" sz="2400" b="1" i="1" baseline="-25000" dirty="0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35496" y="44624"/>
            <a:ext cx="5832648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Med positiv feedback (Schmitt </a:t>
            </a:r>
            <a:r>
              <a:rPr lang="da-DK" sz="2800" i="1" dirty="0" err="1"/>
              <a:t>Trigger</a:t>
            </a:r>
            <a:r>
              <a:rPr lang="da-DK" sz="2800" i="1" dirty="0"/>
              <a:t>)</a:t>
            </a:r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472067" y="1052736"/>
            <a:ext cx="5324069" cy="50405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b="1" i="1" dirty="0" err="1"/>
              <a:t>Hysterese</a:t>
            </a:r>
            <a:r>
              <a:rPr lang="da-DK" sz="2400" i="1" dirty="0"/>
              <a:t> (Forhindrer utilsigtede skift)</a:t>
            </a:r>
            <a:endParaRPr lang="da-DK" sz="2400" b="1" i="1" dirty="0"/>
          </a:p>
        </p:txBody>
      </p:sp>
      <p:grpSp>
        <p:nvGrpSpPr>
          <p:cNvPr id="11" name="Gruppe 10">
            <a:extLst>
              <a:ext uri="{FF2B5EF4-FFF2-40B4-BE49-F238E27FC236}">
                <a16:creationId xmlns:a16="http://schemas.microsoft.com/office/drawing/2014/main" id="{12E20132-CCEC-9F45-5FD9-0359255A88F2}"/>
              </a:ext>
            </a:extLst>
          </p:cNvPr>
          <p:cNvGrpSpPr/>
          <p:nvPr/>
        </p:nvGrpSpPr>
        <p:grpSpPr>
          <a:xfrm>
            <a:off x="1691680" y="1663829"/>
            <a:ext cx="5949398" cy="3761500"/>
            <a:chOff x="1691680" y="1663829"/>
            <a:chExt cx="5949398" cy="3761500"/>
          </a:xfrm>
        </p:grpSpPr>
        <p:pic>
          <p:nvPicPr>
            <p:cNvPr id="3" name="Billede 2">
              <a:extLst>
                <a:ext uri="{FF2B5EF4-FFF2-40B4-BE49-F238E27FC236}">
                  <a16:creationId xmlns:a16="http://schemas.microsoft.com/office/drawing/2014/main" id="{4FCB0C15-87AA-48B0-9D73-C57358353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91680" y="1988840"/>
              <a:ext cx="5652120" cy="3436489"/>
            </a:xfrm>
            <a:prstGeom prst="rect">
              <a:avLst/>
            </a:prstGeom>
          </p:spPr>
        </p:pic>
        <p:sp>
          <p:nvSpPr>
            <p:cNvPr id="4" name="Titel 1">
              <a:extLst>
                <a:ext uri="{FF2B5EF4-FFF2-40B4-BE49-F238E27FC236}">
                  <a16:creationId xmlns:a16="http://schemas.microsoft.com/office/drawing/2014/main" id="{8CF4689B-6D6F-7EED-35E3-61086FDB2926}"/>
                </a:ext>
              </a:extLst>
            </p:cNvPr>
            <p:cNvSpPr txBox="1">
              <a:spLocks/>
            </p:cNvSpPr>
            <p:nvPr/>
          </p:nvSpPr>
          <p:spPr>
            <a:xfrm>
              <a:off x="5724128" y="1663829"/>
              <a:ext cx="1916950" cy="325011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t" anchorCtr="0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da-DK" sz="1200" i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Varierende indgangssignal</a:t>
              </a:r>
            </a:p>
          </p:txBody>
        </p:sp>
        <p:cxnSp>
          <p:nvCxnSpPr>
            <p:cNvPr id="6" name="Lige pilforbindelse 5">
              <a:extLst>
                <a:ext uri="{FF2B5EF4-FFF2-40B4-BE49-F238E27FC236}">
                  <a16:creationId xmlns:a16="http://schemas.microsoft.com/office/drawing/2014/main" id="{4BAA7A26-4DA4-396F-DBB1-C7BB734169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8104" y="1947553"/>
              <a:ext cx="360040" cy="689359"/>
            </a:xfrm>
            <a:prstGeom prst="straightConnector1">
              <a:avLst/>
            </a:prstGeom>
            <a:ln w="9525">
              <a:solidFill>
                <a:schemeClr val="tx2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42902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Text Box 2"/>
          <p:cNvSpPr txBox="1">
            <a:spLocks noChangeArrowheads="1"/>
          </p:cNvSpPr>
          <p:nvPr/>
        </p:nvSpPr>
        <p:spPr bwMode="auto">
          <a:xfrm>
            <a:off x="1411288" y="5716488"/>
            <a:ext cx="6248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1400" b="1" dirty="0"/>
              <a:t>Figure 12.7  </a:t>
            </a:r>
            <a:r>
              <a:rPr lang="en-US" sz="1400" dirty="0"/>
              <a:t>A Schmitt trigger is formed by using positive feedback with a comparator.</a:t>
            </a:r>
            <a:endParaRPr lang="en-US" dirty="0"/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551BDEF-9519-45E0-B6FE-DA8D4A759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723" y="188640"/>
            <a:ext cx="3914554" cy="542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452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915" name="Picture 3" descr="AAAZZSK0.EPS                                                   0003078BMacintosh HD                   B3377F2F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4514383" cy="398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/>
          <p:cNvSpPr txBox="1">
            <a:spLocks/>
          </p:cNvSpPr>
          <p:nvPr/>
        </p:nvSpPr>
        <p:spPr>
          <a:xfrm>
            <a:off x="5364088" y="836712"/>
            <a:ext cx="2880320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Tærskelspændinger</a:t>
            </a:r>
          </a:p>
        </p:txBody>
      </p:sp>
      <p:sp>
        <p:nvSpPr>
          <p:cNvPr id="5" name="Titel 1"/>
          <p:cNvSpPr txBox="1">
            <a:spLocks/>
          </p:cNvSpPr>
          <p:nvPr/>
        </p:nvSpPr>
        <p:spPr>
          <a:xfrm>
            <a:off x="5364088" y="1772816"/>
            <a:ext cx="3168352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 err="1"/>
              <a:t>Hysterese</a:t>
            </a:r>
            <a:r>
              <a:rPr lang="da-DK" sz="2400" i="1" dirty="0"/>
              <a:t> V</a:t>
            </a:r>
            <a:r>
              <a:rPr lang="da-DK" sz="2400" i="1" baseline="-25000" dirty="0"/>
              <a:t>H</a:t>
            </a:r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5364088" y="2780928"/>
            <a:ext cx="3312368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/>
              <a:t>Skitse: </a:t>
            </a:r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r>
              <a:rPr lang="da-DK" sz="2400" i="1" dirty="0"/>
              <a:t> = f(v</a:t>
            </a:r>
            <a:r>
              <a:rPr lang="da-DK" sz="2400" i="1" baseline="-25000" dirty="0"/>
              <a:t>in</a:t>
            </a:r>
            <a:r>
              <a:rPr lang="da-DK" sz="2400" i="1" dirty="0"/>
              <a:t>)</a:t>
            </a:r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5364088" y="3645024"/>
            <a:ext cx="3456384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400" i="1" dirty="0" err="1"/>
              <a:t>V</a:t>
            </a:r>
            <a:r>
              <a:rPr lang="da-DK" sz="2400" i="1" baseline="-25000" dirty="0" err="1"/>
              <a:t>o</a:t>
            </a:r>
            <a:r>
              <a:rPr lang="da-DK" sz="2400" i="1" baseline="30000" dirty="0" err="1"/>
              <a:t>+</a:t>
            </a:r>
            <a:r>
              <a:rPr lang="da-DK" sz="2400" i="1" baseline="-25000" dirty="0" err="1"/>
              <a:t>SAT</a:t>
            </a:r>
            <a:r>
              <a:rPr lang="da-DK" sz="2400" i="1" dirty="0"/>
              <a:t> = -V</a:t>
            </a:r>
            <a:r>
              <a:rPr lang="da-DK" sz="2400" i="1" baseline="-25000" dirty="0"/>
              <a:t>o</a:t>
            </a:r>
            <a:r>
              <a:rPr lang="da-DK" sz="2400" i="1" baseline="30000" dirty="0"/>
              <a:t>-</a:t>
            </a:r>
            <a:r>
              <a:rPr lang="da-DK" sz="2400" i="1" baseline="-25000" dirty="0"/>
              <a:t>SAT</a:t>
            </a:r>
            <a:r>
              <a:rPr lang="da-DK" sz="2400" i="1" dirty="0"/>
              <a:t> = 14, 6V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35496" y="44624"/>
            <a:ext cx="2257191" cy="43204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Figur 12.10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33370228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772816"/>
            <a:ext cx="6365089" cy="2799245"/>
          </a:xfrm>
          <a:prstGeom prst="rect">
            <a:avLst/>
          </a:prstGeom>
        </p:spPr>
      </p:pic>
      <p:sp>
        <p:nvSpPr>
          <p:cNvPr id="3" name="Titel 1"/>
          <p:cNvSpPr txBox="1">
            <a:spLocks/>
          </p:cNvSpPr>
          <p:nvPr/>
        </p:nvSpPr>
        <p:spPr>
          <a:xfrm>
            <a:off x="35496" y="44624"/>
            <a:ext cx="792088" cy="43764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E3</a:t>
            </a:r>
            <a:endParaRPr lang="da-DK" sz="2800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C6F881A-790B-C7FA-5405-C69262F65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60648"/>
            <a:ext cx="6030416" cy="1194731"/>
          </a:xfrm>
          <a:prstGeom prst="rect">
            <a:avLst/>
          </a:prstGeo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398A18B5-FDE5-EEE5-EA7B-D012AA7E3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4725292"/>
            <a:ext cx="6262276" cy="174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8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/>
        </p:nvSpPr>
        <p:spPr>
          <a:xfrm>
            <a:off x="3383868" y="62730"/>
            <a:ext cx="54726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a-DK" sz="2800" i="1" dirty="0"/>
              <a:t>…gruppe af kredsløb med 2 tilstande</a:t>
            </a:r>
          </a:p>
        </p:txBody>
      </p:sp>
      <p:grpSp>
        <p:nvGrpSpPr>
          <p:cNvPr id="4" name="Gruppe 3"/>
          <p:cNvGrpSpPr/>
          <p:nvPr/>
        </p:nvGrpSpPr>
        <p:grpSpPr>
          <a:xfrm>
            <a:off x="2289862" y="1110073"/>
            <a:ext cx="4442378" cy="2765921"/>
            <a:chOff x="2217854" y="3691128"/>
            <a:chExt cx="4442378" cy="2765921"/>
          </a:xfrm>
        </p:grpSpPr>
        <p:pic>
          <p:nvPicPr>
            <p:cNvPr id="11" name="Billede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7854" y="4149080"/>
              <a:ext cx="2744026" cy="1882402"/>
            </a:xfrm>
            <a:prstGeom prst="rect">
              <a:avLst/>
            </a:prstGeom>
          </p:spPr>
        </p:pic>
        <p:sp>
          <p:nvSpPr>
            <p:cNvPr id="12" name="Rektangel 11"/>
            <p:cNvSpPr/>
            <p:nvPr/>
          </p:nvSpPr>
          <p:spPr>
            <a:xfrm>
              <a:off x="5436096" y="3691128"/>
              <a:ext cx="12241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400" i="1" dirty="0" err="1">
                  <a:solidFill>
                    <a:srgbClr val="FF0000"/>
                  </a:solidFill>
                </a:rPr>
                <a:t>V</a:t>
              </a:r>
              <a:r>
                <a:rPr lang="da-DK" sz="2400" i="1" baseline="-25000" dirty="0" err="1">
                  <a:solidFill>
                    <a:srgbClr val="FF0000"/>
                  </a:solidFill>
                </a:rPr>
                <a:t>o</a:t>
              </a:r>
              <a:r>
                <a:rPr lang="da-DK" sz="2400" i="1" baseline="30000" dirty="0" err="1">
                  <a:solidFill>
                    <a:srgbClr val="FF0000"/>
                  </a:solidFill>
                </a:rPr>
                <a:t>+</a:t>
              </a:r>
              <a:r>
                <a:rPr lang="da-DK" sz="2400" i="1" baseline="-25000" dirty="0" err="1">
                  <a:solidFill>
                    <a:srgbClr val="FF0000"/>
                  </a:solidFill>
                </a:rPr>
                <a:t>SAT</a:t>
              </a:r>
              <a:endParaRPr lang="da-DK" sz="2400" i="1" dirty="0">
                <a:solidFill>
                  <a:srgbClr val="FF0000"/>
                </a:solidFill>
              </a:endParaRPr>
            </a:p>
          </p:txBody>
        </p:sp>
        <p:sp>
          <p:nvSpPr>
            <p:cNvPr id="13" name="Rektangel 12"/>
            <p:cNvSpPr/>
            <p:nvPr/>
          </p:nvSpPr>
          <p:spPr>
            <a:xfrm>
              <a:off x="5436096" y="5995384"/>
              <a:ext cx="12241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400" i="1" dirty="0">
                  <a:solidFill>
                    <a:srgbClr val="FF0000"/>
                  </a:solidFill>
                </a:rPr>
                <a:t>V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o</a:t>
              </a:r>
              <a:r>
                <a:rPr lang="da-DK" sz="2400" i="1" baseline="30000" dirty="0">
                  <a:solidFill>
                    <a:srgbClr val="FF0000"/>
                  </a:solidFill>
                </a:rPr>
                <a:t>-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SAT</a:t>
              </a:r>
              <a:endParaRPr lang="da-DK" sz="2400" i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Lige pilforbindelse 13"/>
            <p:cNvCxnSpPr/>
            <p:nvPr/>
          </p:nvCxnSpPr>
          <p:spPr>
            <a:xfrm flipV="1">
              <a:off x="4716016" y="4214348"/>
              <a:ext cx="720080" cy="6480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Lige pilforbindelse 14"/>
            <p:cNvCxnSpPr/>
            <p:nvPr/>
          </p:nvCxnSpPr>
          <p:spPr>
            <a:xfrm>
              <a:off x="4716016" y="5366476"/>
              <a:ext cx="720080" cy="6480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ktangel 15"/>
          <p:cNvSpPr/>
          <p:nvPr/>
        </p:nvSpPr>
        <p:spPr>
          <a:xfrm>
            <a:off x="71708" y="62730"/>
            <a:ext cx="2592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Multivibratorer</a:t>
            </a:r>
          </a:p>
        </p:txBody>
      </p:sp>
    </p:spTree>
    <p:extLst>
      <p:ext uri="{BB962C8B-B14F-4D97-AF65-F5344CB8AC3E}">
        <p14:creationId xmlns:p14="http://schemas.microsoft.com/office/powerpoint/2010/main" val="278293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/>
          <p:cNvSpPr/>
          <p:nvPr/>
        </p:nvSpPr>
        <p:spPr>
          <a:xfrm>
            <a:off x="3383868" y="62730"/>
            <a:ext cx="54726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a-DK" sz="2800" i="1" dirty="0"/>
              <a:t>…gruppe af kredsløb med 2 tilstande</a:t>
            </a:r>
          </a:p>
        </p:txBody>
      </p:sp>
      <p:sp>
        <p:nvSpPr>
          <p:cNvPr id="17" name="Rektangel 16"/>
          <p:cNvSpPr/>
          <p:nvPr/>
        </p:nvSpPr>
        <p:spPr>
          <a:xfrm>
            <a:off x="251520" y="4221088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/>
              <a:t>Kredsløb med ”digitale” funktioner</a:t>
            </a:r>
          </a:p>
        </p:txBody>
      </p:sp>
      <p:sp>
        <p:nvSpPr>
          <p:cNvPr id="16" name="Rektangel 15"/>
          <p:cNvSpPr/>
          <p:nvPr/>
        </p:nvSpPr>
        <p:spPr>
          <a:xfrm>
            <a:off x="71708" y="62730"/>
            <a:ext cx="25922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800" i="1" dirty="0"/>
              <a:t>Multivibratorer</a:t>
            </a:r>
          </a:p>
        </p:txBody>
      </p:sp>
      <p:grpSp>
        <p:nvGrpSpPr>
          <p:cNvPr id="18" name="Gruppe 17">
            <a:extLst>
              <a:ext uri="{FF2B5EF4-FFF2-40B4-BE49-F238E27FC236}">
                <a16:creationId xmlns:a16="http://schemas.microsoft.com/office/drawing/2014/main" id="{55EF4B24-BF8A-4257-A343-7F115E82D80D}"/>
              </a:ext>
            </a:extLst>
          </p:cNvPr>
          <p:cNvGrpSpPr/>
          <p:nvPr/>
        </p:nvGrpSpPr>
        <p:grpSpPr>
          <a:xfrm>
            <a:off x="2289862" y="1110073"/>
            <a:ext cx="4442378" cy="2765921"/>
            <a:chOff x="2217854" y="3691128"/>
            <a:chExt cx="4442378" cy="2765921"/>
          </a:xfrm>
        </p:grpSpPr>
        <p:pic>
          <p:nvPicPr>
            <p:cNvPr id="19" name="Billede 18">
              <a:extLst>
                <a:ext uri="{FF2B5EF4-FFF2-40B4-BE49-F238E27FC236}">
                  <a16:creationId xmlns:a16="http://schemas.microsoft.com/office/drawing/2014/main" id="{EDD2DC54-ACD4-4842-AB76-C684DC5C6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7854" y="4149080"/>
              <a:ext cx="2744026" cy="1882402"/>
            </a:xfrm>
            <a:prstGeom prst="rect">
              <a:avLst/>
            </a:prstGeom>
          </p:spPr>
        </p:pic>
        <p:sp>
          <p:nvSpPr>
            <p:cNvPr id="20" name="Rektangel 19">
              <a:extLst>
                <a:ext uri="{FF2B5EF4-FFF2-40B4-BE49-F238E27FC236}">
                  <a16:creationId xmlns:a16="http://schemas.microsoft.com/office/drawing/2014/main" id="{E74137CF-AE7E-4099-BF73-D902F68A09D1}"/>
                </a:ext>
              </a:extLst>
            </p:cNvPr>
            <p:cNvSpPr/>
            <p:nvPr/>
          </p:nvSpPr>
          <p:spPr>
            <a:xfrm>
              <a:off x="5436096" y="3691128"/>
              <a:ext cx="12241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400" i="1" dirty="0" err="1">
                  <a:solidFill>
                    <a:srgbClr val="FF0000"/>
                  </a:solidFill>
                </a:rPr>
                <a:t>V</a:t>
              </a:r>
              <a:r>
                <a:rPr lang="da-DK" sz="2400" i="1" baseline="-25000" dirty="0" err="1">
                  <a:solidFill>
                    <a:srgbClr val="FF0000"/>
                  </a:solidFill>
                </a:rPr>
                <a:t>o</a:t>
              </a:r>
              <a:r>
                <a:rPr lang="da-DK" sz="2400" i="1" baseline="30000" dirty="0" err="1">
                  <a:solidFill>
                    <a:srgbClr val="FF0000"/>
                  </a:solidFill>
                </a:rPr>
                <a:t>+</a:t>
              </a:r>
              <a:r>
                <a:rPr lang="da-DK" sz="2400" i="1" baseline="-25000" dirty="0" err="1">
                  <a:solidFill>
                    <a:srgbClr val="FF0000"/>
                  </a:solidFill>
                </a:rPr>
                <a:t>SAT</a:t>
              </a:r>
              <a:endParaRPr lang="da-DK" sz="2400" i="1" dirty="0">
                <a:solidFill>
                  <a:srgbClr val="FF0000"/>
                </a:solidFill>
              </a:endParaRPr>
            </a:p>
          </p:txBody>
        </p:sp>
        <p:sp>
          <p:nvSpPr>
            <p:cNvPr id="21" name="Rektangel 20">
              <a:extLst>
                <a:ext uri="{FF2B5EF4-FFF2-40B4-BE49-F238E27FC236}">
                  <a16:creationId xmlns:a16="http://schemas.microsoft.com/office/drawing/2014/main" id="{7E8A3CB3-E7E4-41A6-97D2-A86C167E3B32}"/>
                </a:ext>
              </a:extLst>
            </p:cNvPr>
            <p:cNvSpPr/>
            <p:nvPr/>
          </p:nvSpPr>
          <p:spPr>
            <a:xfrm>
              <a:off x="5436096" y="5995384"/>
              <a:ext cx="122413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a-DK" sz="2400" i="1" dirty="0">
                  <a:solidFill>
                    <a:srgbClr val="FF0000"/>
                  </a:solidFill>
                </a:rPr>
                <a:t>V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o</a:t>
              </a:r>
              <a:r>
                <a:rPr lang="da-DK" sz="2400" i="1" baseline="30000" dirty="0">
                  <a:solidFill>
                    <a:srgbClr val="FF0000"/>
                  </a:solidFill>
                </a:rPr>
                <a:t>-</a:t>
              </a:r>
              <a:r>
                <a:rPr lang="da-DK" sz="2400" i="1" baseline="-25000" dirty="0">
                  <a:solidFill>
                    <a:srgbClr val="FF0000"/>
                  </a:solidFill>
                </a:rPr>
                <a:t>SAT</a:t>
              </a:r>
              <a:endParaRPr lang="da-DK" sz="2400" i="1" dirty="0">
                <a:solidFill>
                  <a:srgbClr val="FF0000"/>
                </a:solidFill>
              </a:endParaRPr>
            </a:p>
          </p:txBody>
        </p:sp>
        <p:cxnSp>
          <p:nvCxnSpPr>
            <p:cNvPr id="22" name="Lige pilforbindelse 21">
              <a:extLst>
                <a:ext uri="{FF2B5EF4-FFF2-40B4-BE49-F238E27FC236}">
                  <a16:creationId xmlns:a16="http://schemas.microsoft.com/office/drawing/2014/main" id="{146D8908-A710-44D8-B9FB-8659C8ED28AF}"/>
                </a:ext>
              </a:extLst>
            </p:cNvPr>
            <p:cNvCxnSpPr/>
            <p:nvPr/>
          </p:nvCxnSpPr>
          <p:spPr>
            <a:xfrm flipV="1">
              <a:off x="4716016" y="4214348"/>
              <a:ext cx="720080" cy="6480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Lige pilforbindelse 22">
              <a:extLst>
                <a:ext uri="{FF2B5EF4-FFF2-40B4-BE49-F238E27FC236}">
                  <a16:creationId xmlns:a16="http://schemas.microsoft.com/office/drawing/2014/main" id="{3CCD7A9A-A52E-48B2-85CA-CFD6AEEA0189}"/>
                </a:ext>
              </a:extLst>
            </p:cNvPr>
            <p:cNvCxnSpPr/>
            <p:nvPr/>
          </p:nvCxnSpPr>
          <p:spPr>
            <a:xfrm>
              <a:off x="4716016" y="5366476"/>
              <a:ext cx="720080" cy="64807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ektangel 11">
            <a:extLst>
              <a:ext uri="{FF2B5EF4-FFF2-40B4-BE49-F238E27FC236}">
                <a16:creationId xmlns:a16="http://schemas.microsoft.com/office/drawing/2014/main" id="{E6763341-9357-47AC-BA48-532FF3F43D08}"/>
              </a:ext>
            </a:extLst>
          </p:cNvPr>
          <p:cNvSpPr/>
          <p:nvPr/>
        </p:nvSpPr>
        <p:spPr>
          <a:xfrm>
            <a:off x="1763688" y="5147762"/>
            <a:ext cx="2088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b="1" i="1" dirty="0"/>
              <a:t>A</a:t>
            </a:r>
            <a:r>
              <a:rPr lang="da-DK" sz="2400" i="1" dirty="0"/>
              <a:t>stabil</a:t>
            </a:r>
          </a:p>
          <a:p>
            <a:r>
              <a:rPr lang="da-DK" sz="2400" b="1" i="1" dirty="0"/>
              <a:t>Mono</a:t>
            </a:r>
            <a:r>
              <a:rPr lang="da-DK" sz="2400" i="1" dirty="0"/>
              <a:t>stabil</a:t>
            </a:r>
          </a:p>
          <a:p>
            <a:r>
              <a:rPr lang="da-DK" sz="2400" b="1" i="1" dirty="0" err="1"/>
              <a:t>Bi</a:t>
            </a:r>
            <a:r>
              <a:rPr lang="da-DK" sz="2400" i="1" dirty="0" err="1"/>
              <a:t>stabil</a:t>
            </a:r>
            <a:endParaRPr lang="da-DK" sz="2400" i="1" dirty="0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5B084133-856F-4246-9EEF-774EE303332B}"/>
              </a:ext>
            </a:extLst>
          </p:cNvPr>
          <p:cNvSpPr/>
          <p:nvPr/>
        </p:nvSpPr>
        <p:spPr>
          <a:xfrm>
            <a:off x="3383868" y="5160365"/>
            <a:ext cx="39964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400" i="1" dirty="0" err="1"/>
              <a:t>Fritløbende</a:t>
            </a:r>
            <a:r>
              <a:rPr lang="da-DK" sz="2400" i="1" dirty="0"/>
              <a:t> (firkantgenerator)</a:t>
            </a:r>
          </a:p>
          <a:p>
            <a:r>
              <a:rPr lang="da-DK" sz="2400" i="1" dirty="0"/>
              <a:t>One-shot</a:t>
            </a:r>
          </a:p>
          <a:p>
            <a:r>
              <a:rPr lang="da-DK" sz="2400" i="1" dirty="0"/>
              <a:t>Flip-Flop</a:t>
            </a:r>
          </a:p>
        </p:txBody>
      </p:sp>
    </p:spTree>
    <p:extLst>
      <p:ext uri="{BB962C8B-B14F-4D97-AF65-F5344CB8AC3E}">
        <p14:creationId xmlns:p14="http://schemas.microsoft.com/office/powerpoint/2010/main" val="17755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"/>
          <p:cNvGrpSpPr/>
          <p:nvPr/>
        </p:nvGrpSpPr>
        <p:grpSpPr>
          <a:xfrm>
            <a:off x="1757363" y="1117848"/>
            <a:ext cx="5627687" cy="4465960"/>
            <a:chOff x="1757363" y="685800"/>
            <a:chExt cx="5627687" cy="4465960"/>
          </a:xfrm>
        </p:grpSpPr>
        <p:pic>
          <p:nvPicPr>
            <p:cNvPr id="429059" name="Picture 3" descr="&#10;AAAZZSQOa.EPS                                                  0003078BMacintosh HD                   B3377F2F: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461"/>
            <a:stretch/>
          </p:blipFill>
          <p:spPr bwMode="auto">
            <a:xfrm>
              <a:off x="1757363" y="685800"/>
              <a:ext cx="5627687" cy="4465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kstboks 1"/>
            <p:cNvSpPr txBox="1"/>
            <p:nvPr/>
          </p:nvSpPr>
          <p:spPr>
            <a:xfrm>
              <a:off x="4788024" y="2924944"/>
              <a:ext cx="86409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a-DK" i="1" dirty="0"/>
                <a:t>R</a:t>
              </a:r>
              <a:r>
                <a:rPr lang="da-DK" i="1" baseline="-25000" dirty="0"/>
                <a:t>2</a:t>
              </a:r>
              <a:r>
                <a:rPr lang="da-DK" i="1" dirty="0"/>
                <a:t> = </a:t>
              </a:r>
              <a:r>
                <a:rPr lang="da-DK" i="1" dirty="0" err="1"/>
                <a:t>R</a:t>
              </a:r>
              <a:r>
                <a:rPr lang="da-DK" i="1" baseline="-25000" dirty="0" err="1"/>
                <a:t>f</a:t>
              </a:r>
              <a:endParaRPr lang="da-DK" i="1" baseline="-25000" dirty="0"/>
            </a:p>
          </p:txBody>
        </p:sp>
        <p:sp>
          <p:nvSpPr>
            <p:cNvPr id="6" name="Tekstboks 5"/>
            <p:cNvSpPr txBox="1"/>
            <p:nvPr/>
          </p:nvSpPr>
          <p:spPr>
            <a:xfrm>
              <a:off x="4499992" y="3923764"/>
              <a:ext cx="86409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a-DK" i="1" dirty="0"/>
                <a:t>R</a:t>
              </a:r>
              <a:r>
                <a:rPr lang="da-DK" i="1" baseline="-25000" dirty="0"/>
                <a:t>1</a:t>
              </a:r>
              <a:r>
                <a:rPr lang="da-DK" i="1" dirty="0"/>
                <a:t> = </a:t>
              </a:r>
              <a:r>
                <a:rPr lang="da-DK" i="1" dirty="0" err="1"/>
                <a:t>R</a:t>
              </a:r>
              <a:r>
                <a:rPr lang="da-DK" i="1" baseline="-25000" dirty="0" err="1"/>
                <a:t>f</a:t>
              </a:r>
              <a:endParaRPr lang="da-DK" i="1" baseline="-25000" dirty="0"/>
            </a:p>
          </p:txBody>
        </p:sp>
        <p:sp>
          <p:nvSpPr>
            <p:cNvPr id="7" name="Tekstboks 6"/>
            <p:cNvSpPr txBox="1"/>
            <p:nvPr/>
          </p:nvSpPr>
          <p:spPr>
            <a:xfrm>
              <a:off x="3707904" y="3933056"/>
              <a:ext cx="43204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da-DK" i="1" baseline="-25000" dirty="0"/>
            </a:p>
          </p:txBody>
        </p:sp>
      </p:grpSp>
      <p:cxnSp>
        <p:nvCxnSpPr>
          <p:cNvPr id="9" name="Lige pilforbindelse 8"/>
          <p:cNvCxnSpPr/>
          <p:nvPr/>
        </p:nvCxnSpPr>
        <p:spPr>
          <a:xfrm flipH="1" flipV="1">
            <a:off x="5364088" y="3726324"/>
            <a:ext cx="1440160" cy="1857484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/>
          <p:cNvCxnSpPr/>
          <p:nvPr/>
        </p:nvCxnSpPr>
        <p:spPr>
          <a:xfrm flipH="1" flipV="1">
            <a:off x="5148064" y="4725144"/>
            <a:ext cx="1512168" cy="1065396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itel 1"/>
          <p:cNvSpPr txBox="1">
            <a:spLocks/>
          </p:cNvSpPr>
          <p:nvPr/>
        </p:nvSpPr>
        <p:spPr>
          <a:xfrm>
            <a:off x="89398" y="72666"/>
            <a:ext cx="8947098" cy="50275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8610600" algn="r"/>
              </a:tabLst>
            </a:pPr>
            <a:r>
              <a:rPr lang="da-DK" sz="2800" i="1" dirty="0"/>
              <a:t>Figur 12.16a	Astabil multivibrator</a:t>
            </a:r>
            <a:endParaRPr lang="da-DK" sz="28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EA78C5A1-0BA2-E6B2-ED54-40BD3F37B110}"/>
              </a:ext>
            </a:extLst>
          </p:cNvPr>
          <p:cNvSpPr txBox="1">
            <a:spLocks/>
          </p:cNvSpPr>
          <p:nvPr/>
        </p:nvSpPr>
        <p:spPr>
          <a:xfrm>
            <a:off x="6718872" y="5539161"/>
            <a:ext cx="882202" cy="50275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>
                <a:solidFill>
                  <a:srgbClr val="FF0000"/>
                </a:solidFill>
              </a:rPr>
              <a:t>NB!!</a:t>
            </a:r>
            <a:endParaRPr lang="da-DK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720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e 20"/>
          <p:cNvGrpSpPr/>
          <p:nvPr/>
        </p:nvGrpSpPr>
        <p:grpSpPr>
          <a:xfrm>
            <a:off x="1154906" y="980728"/>
            <a:ext cx="6834187" cy="4396821"/>
            <a:chOff x="1154906" y="980728"/>
            <a:chExt cx="6834187" cy="4396821"/>
          </a:xfrm>
        </p:grpSpPr>
        <p:pic>
          <p:nvPicPr>
            <p:cNvPr id="496643" name="Picture 3" descr="&#10;AAAZZSQOb.EPS                                                  0003078BMacintosh HD                   B3377F2F: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93"/>
            <a:stretch/>
          </p:blipFill>
          <p:spPr bwMode="auto">
            <a:xfrm>
              <a:off x="1154906" y="980728"/>
              <a:ext cx="6834187" cy="43968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Lige forbindelse 7"/>
            <p:cNvCxnSpPr/>
            <p:nvPr/>
          </p:nvCxnSpPr>
          <p:spPr>
            <a:xfrm>
              <a:off x="2378159" y="4019350"/>
              <a:ext cx="147376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Lige forbindelse 15"/>
            <p:cNvCxnSpPr/>
            <p:nvPr/>
          </p:nvCxnSpPr>
          <p:spPr>
            <a:xfrm>
              <a:off x="1746754" y="2276872"/>
              <a:ext cx="66500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Lige forbindelse 17"/>
            <p:cNvCxnSpPr/>
            <p:nvPr/>
          </p:nvCxnSpPr>
          <p:spPr>
            <a:xfrm flipV="1">
              <a:off x="2395093" y="2267349"/>
              <a:ext cx="0" cy="175200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Lige forbindelse 19"/>
            <p:cNvCxnSpPr/>
            <p:nvPr/>
          </p:nvCxnSpPr>
          <p:spPr>
            <a:xfrm flipV="1">
              <a:off x="3840015" y="2276872"/>
              <a:ext cx="0" cy="175200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Lige forbindelse 21"/>
            <p:cNvCxnSpPr/>
            <p:nvPr/>
          </p:nvCxnSpPr>
          <p:spPr>
            <a:xfrm>
              <a:off x="3820967" y="2284016"/>
              <a:ext cx="147376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Lige forbindelse 22"/>
            <p:cNvCxnSpPr/>
            <p:nvPr/>
          </p:nvCxnSpPr>
          <p:spPr>
            <a:xfrm flipV="1">
              <a:off x="5292080" y="2264967"/>
              <a:ext cx="0" cy="175200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Lige forbindelse 23"/>
            <p:cNvCxnSpPr/>
            <p:nvPr/>
          </p:nvCxnSpPr>
          <p:spPr>
            <a:xfrm>
              <a:off x="5273032" y="4016969"/>
              <a:ext cx="147376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Lige forbindelse 24"/>
            <p:cNvCxnSpPr/>
            <p:nvPr/>
          </p:nvCxnSpPr>
          <p:spPr>
            <a:xfrm>
              <a:off x="6715573" y="2284016"/>
              <a:ext cx="66500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Lige forbindelse 25"/>
            <p:cNvCxnSpPr/>
            <p:nvPr/>
          </p:nvCxnSpPr>
          <p:spPr>
            <a:xfrm flipV="1">
              <a:off x="6732240" y="2276872"/>
              <a:ext cx="0" cy="175200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ktangel 4"/>
          <p:cNvSpPr/>
          <p:nvPr/>
        </p:nvSpPr>
        <p:spPr>
          <a:xfrm>
            <a:off x="2123728" y="5229200"/>
            <a:ext cx="504056" cy="461665"/>
          </a:xfrm>
          <a:prstGeom prst="rect">
            <a:avLst/>
          </a:prstGeom>
          <a:ln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00B0F0"/>
                </a:solidFill>
              </a:rPr>
              <a:t>e</a:t>
            </a:r>
            <a:r>
              <a:rPr lang="da-DK" sz="2400" i="1" baseline="30000" dirty="0">
                <a:solidFill>
                  <a:srgbClr val="00B0F0"/>
                </a:solidFill>
              </a:rPr>
              <a:t>-</a:t>
            </a:r>
            <a:endParaRPr lang="da-DK" sz="2400" i="1" dirty="0">
              <a:solidFill>
                <a:srgbClr val="00B0F0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3402469" y="5157192"/>
            <a:ext cx="504056" cy="46166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>
            <a:spAutoFit/>
          </a:bodyPr>
          <a:lstStyle/>
          <a:p>
            <a:r>
              <a:rPr lang="da-DK" sz="2400" i="1" dirty="0">
                <a:solidFill>
                  <a:srgbClr val="FF0000"/>
                </a:solidFill>
              </a:rPr>
              <a:t>e</a:t>
            </a:r>
            <a:r>
              <a:rPr lang="da-DK" sz="2400" i="1" baseline="30000" dirty="0">
                <a:solidFill>
                  <a:srgbClr val="FF0000"/>
                </a:solidFill>
              </a:rPr>
              <a:t>+</a:t>
            </a:r>
            <a:endParaRPr lang="da-DK" sz="2400" i="1" dirty="0">
              <a:solidFill>
                <a:srgbClr val="FF0000"/>
              </a:solidFill>
            </a:endParaRPr>
          </a:p>
        </p:txBody>
      </p:sp>
      <p:cxnSp>
        <p:nvCxnSpPr>
          <p:cNvPr id="13" name="Lige pilforbindelse 12"/>
          <p:cNvCxnSpPr/>
          <p:nvPr/>
        </p:nvCxnSpPr>
        <p:spPr>
          <a:xfrm flipV="1">
            <a:off x="2394826" y="3475607"/>
            <a:ext cx="720080" cy="183475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ge pilforbindelse 27"/>
          <p:cNvCxnSpPr/>
          <p:nvPr/>
        </p:nvCxnSpPr>
        <p:spPr>
          <a:xfrm flipH="1" flipV="1">
            <a:off x="3203848" y="4077072"/>
            <a:ext cx="324036" cy="117054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itel 1">
            <a:extLst>
              <a:ext uri="{FF2B5EF4-FFF2-40B4-BE49-F238E27FC236}">
                <a16:creationId xmlns:a16="http://schemas.microsoft.com/office/drawing/2014/main" id="{3DEF6194-B50D-45A5-B4D2-81833666B888}"/>
              </a:ext>
            </a:extLst>
          </p:cNvPr>
          <p:cNvSpPr txBox="1">
            <a:spLocks/>
          </p:cNvSpPr>
          <p:nvPr/>
        </p:nvSpPr>
        <p:spPr>
          <a:xfrm>
            <a:off x="89398" y="72666"/>
            <a:ext cx="4797794" cy="502757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a-DK" sz="2800" i="1" dirty="0"/>
              <a:t>Figur 12.16b med e</a:t>
            </a:r>
            <a:r>
              <a:rPr lang="da-DK" sz="2800" i="1" baseline="30000" dirty="0"/>
              <a:t>+</a:t>
            </a:r>
            <a:r>
              <a:rPr lang="da-DK" sz="2800" i="1" dirty="0"/>
              <a:t> indtegnet</a:t>
            </a:r>
            <a:endParaRPr lang="da-DK" sz="2800" dirty="0"/>
          </a:p>
        </p:txBody>
      </p:sp>
    </p:spTree>
    <p:extLst>
      <p:ext uri="{BB962C8B-B14F-4D97-AF65-F5344CB8AC3E}">
        <p14:creationId xmlns:p14="http://schemas.microsoft.com/office/powerpoint/2010/main" val="4031671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/>
          <p:cNvGrpSpPr/>
          <p:nvPr/>
        </p:nvGrpSpPr>
        <p:grpSpPr>
          <a:xfrm>
            <a:off x="755576" y="260648"/>
            <a:ext cx="4295962" cy="3202507"/>
            <a:chOff x="754906" y="2114264"/>
            <a:chExt cx="4295962" cy="3202507"/>
          </a:xfrm>
        </p:grpSpPr>
        <p:cxnSp>
          <p:nvCxnSpPr>
            <p:cNvPr id="10" name="Line 189"/>
            <p:cNvCxnSpPr>
              <a:cxnSpLocks noChangeShapeType="1"/>
            </p:cNvCxnSpPr>
            <p:nvPr/>
          </p:nvCxnSpPr>
          <p:spPr bwMode="auto">
            <a:xfrm>
              <a:off x="3212141" y="2906077"/>
              <a:ext cx="647" cy="919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3" name="Line 190"/>
            <p:cNvCxnSpPr>
              <a:cxnSpLocks noChangeShapeType="1"/>
            </p:cNvCxnSpPr>
            <p:nvPr/>
          </p:nvCxnSpPr>
          <p:spPr bwMode="auto">
            <a:xfrm>
              <a:off x="3212147" y="2906077"/>
              <a:ext cx="805180" cy="4603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5" name="Line 191"/>
            <p:cNvCxnSpPr>
              <a:cxnSpLocks noChangeShapeType="1"/>
            </p:cNvCxnSpPr>
            <p:nvPr/>
          </p:nvCxnSpPr>
          <p:spPr bwMode="auto">
            <a:xfrm flipH="1">
              <a:off x="3212147" y="3365817"/>
              <a:ext cx="805180" cy="4603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" name="Line 192"/>
            <p:cNvCxnSpPr>
              <a:cxnSpLocks noChangeShapeType="1"/>
            </p:cNvCxnSpPr>
            <p:nvPr/>
          </p:nvCxnSpPr>
          <p:spPr bwMode="auto">
            <a:xfrm>
              <a:off x="3262947" y="3136582"/>
              <a:ext cx="101600" cy="6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" name="Line 193"/>
            <p:cNvCxnSpPr>
              <a:cxnSpLocks noChangeShapeType="1"/>
            </p:cNvCxnSpPr>
            <p:nvPr/>
          </p:nvCxnSpPr>
          <p:spPr bwMode="auto">
            <a:xfrm>
              <a:off x="3262947" y="3596322"/>
              <a:ext cx="101600" cy="6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8" name="Line 194"/>
            <p:cNvCxnSpPr>
              <a:cxnSpLocks noChangeShapeType="1"/>
            </p:cNvCxnSpPr>
            <p:nvPr/>
          </p:nvCxnSpPr>
          <p:spPr bwMode="auto">
            <a:xfrm>
              <a:off x="3313112" y="3538537"/>
              <a:ext cx="635" cy="1149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9" name="Line 195"/>
            <p:cNvCxnSpPr>
              <a:cxnSpLocks noChangeShapeType="1"/>
            </p:cNvCxnSpPr>
            <p:nvPr/>
          </p:nvCxnSpPr>
          <p:spPr bwMode="auto">
            <a:xfrm flipH="1">
              <a:off x="2051720" y="3136582"/>
              <a:ext cx="11610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0" name="Line 196"/>
            <p:cNvCxnSpPr>
              <a:cxnSpLocks noChangeShapeType="1"/>
            </p:cNvCxnSpPr>
            <p:nvPr/>
          </p:nvCxnSpPr>
          <p:spPr bwMode="auto">
            <a:xfrm>
              <a:off x="4017327" y="3365817"/>
              <a:ext cx="741680" cy="50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66" name="Freeform 242"/>
            <p:cNvSpPr>
              <a:spLocks/>
            </p:cNvSpPr>
            <p:nvPr/>
          </p:nvSpPr>
          <p:spPr bwMode="auto">
            <a:xfrm>
              <a:off x="2989565" y="3602553"/>
              <a:ext cx="219421" cy="673201"/>
            </a:xfrm>
            <a:custGeom>
              <a:avLst/>
              <a:gdLst>
                <a:gd name="T0" fmla="*/ 19943 w 20000"/>
                <a:gd name="T1" fmla="*/ 0 h 20000"/>
                <a:gd name="T2" fmla="*/ 0 w 20000"/>
                <a:gd name="T3" fmla="*/ 0 h 20000"/>
                <a:gd name="T4" fmla="*/ 0 w 20000"/>
                <a:gd name="T5" fmla="*/ 19976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43" y="0"/>
                  </a:moveTo>
                  <a:lnTo>
                    <a:pt x="0" y="0"/>
                  </a:lnTo>
                  <a:lnTo>
                    <a:pt x="0" y="1997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grpSp>
          <p:nvGrpSpPr>
            <p:cNvPr id="7" name="Gruppe 6"/>
            <p:cNvGrpSpPr/>
            <p:nvPr/>
          </p:nvGrpSpPr>
          <p:grpSpPr>
            <a:xfrm>
              <a:off x="2339752" y="4140676"/>
              <a:ext cx="1728192" cy="273685"/>
              <a:chOff x="2339752" y="4140676"/>
              <a:chExt cx="1728192" cy="273685"/>
            </a:xfrm>
          </p:grpSpPr>
          <p:cxnSp>
            <p:nvCxnSpPr>
              <p:cNvPr id="80" name="Line 245"/>
              <p:cNvCxnSpPr>
                <a:cxnSpLocks noChangeShapeType="1"/>
              </p:cNvCxnSpPr>
              <p:nvPr/>
            </p:nvCxnSpPr>
            <p:spPr bwMode="auto">
              <a:xfrm>
                <a:off x="3533274" y="4140676"/>
                <a:ext cx="635" cy="27368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6" name="Gruppe 5"/>
              <p:cNvGrpSpPr/>
              <p:nvPr/>
            </p:nvGrpSpPr>
            <p:grpSpPr>
              <a:xfrm>
                <a:off x="2339752" y="4140676"/>
                <a:ext cx="1728192" cy="273685"/>
                <a:chOff x="2339752" y="4140676"/>
                <a:chExt cx="1728192" cy="273685"/>
              </a:xfrm>
            </p:grpSpPr>
            <p:cxnSp>
              <p:nvCxnSpPr>
                <p:cNvPr id="78" name="Line 202"/>
                <p:cNvCxnSpPr>
                  <a:cxnSpLocks noChangeShapeType="1"/>
                </p:cNvCxnSpPr>
                <p:nvPr/>
              </p:nvCxnSpPr>
              <p:spPr bwMode="auto">
                <a:xfrm flipH="1">
                  <a:off x="3738379" y="4283551"/>
                  <a:ext cx="329565" cy="190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79" name="Freeform 244"/>
                <p:cNvSpPr>
                  <a:spLocks/>
                </p:cNvSpPr>
                <p:nvPr/>
              </p:nvSpPr>
              <p:spPr bwMode="auto">
                <a:xfrm>
                  <a:off x="3533909" y="4140676"/>
                  <a:ext cx="214630" cy="273685"/>
                </a:xfrm>
                <a:custGeom>
                  <a:avLst/>
                  <a:gdLst>
                    <a:gd name="T0" fmla="*/ 19941 w 20000"/>
                    <a:gd name="T1" fmla="*/ 0 h 20000"/>
                    <a:gd name="T2" fmla="*/ 19941 w 20000"/>
                    <a:gd name="T3" fmla="*/ 19954 h 20000"/>
                    <a:gd name="T4" fmla="*/ 0 w 20000"/>
                    <a:gd name="T5" fmla="*/ 9930 h 20000"/>
                    <a:gd name="T6" fmla="*/ 19941 w 20000"/>
                    <a:gd name="T7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000" h="20000">
                      <a:moveTo>
                        <a:pt x="19941" y="0"/>
                      </a:moveTo>
                      <a:lnTo>
                        <a:pt x="19941" y="19954"/>
                      </a:lnTo>
                      <a:lnTo>
                        <a:pt x="0" y="9930"/>
                      </a:lnTo>
                      <a:lnTo>
                        <a:pt x="199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 cap="flat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da-DK" dirty="0"/>
                </a:p>
              </p:txBody>
            </p:sp>
            <p:cxnSp>
              <p:nvCxnSpPr>
                <p:cNvPr id="81" name="Line 249"/>
                <p:cNvCxnSpPr>
                  <a:cxnSpLocks noChangeShapeType="1"/>
                </p:cNvCxnSpPr>
                <p:nvPr/>
              </p:nvCxnSpPr>
              <p:spPr bwMode="auto">
                <a:xfrm flipH="1">
                  <a:off x="2339752" y="4277360"/>
                  <a:ext cx="1190031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</p:grpSp>
        </p:grpSp>
        <p:cxnSp>
          <p:nvCxnSpPr>
            <p:cNvPr id="22" name="Line 196"/>
            <p:cNvCxnSpPr>
              <a:cxnSpLocks noChangeShapeType="1"/>
            </p:cNvCxnSpPr>
            <p:nvPr/>
          </p:nvCxnSpPr>
          <p:spPr bwMode="auto">
            <a:xfrm>
              <a:off x="2987443" y="4283572"/>
              <a:ext cx="0" cy="10309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4" name="Rectangle 214"/>
            <p:cNvSpPr>
              <a:spLocks noChangeArrowheads="1"/>
            </p:cNvSpPr>
            <p:nvPr/>
          </p:nvSpPr>
          <p:spPr bwMode="auto">
            <a:xfrm rot="5400000">
              <a:off x="2788528" y="4724427"/>
              <a:ext cx="402590" cy="1149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sp>
          <p:nvSpPr>
            <p:cNvPr id="30" name="Rectangle 236"/>
            <p:cNvSpPr>
              <a:spLocks noChangeArrowheads="1"/>
            </p:cNvSpPr>
            <p:nvPr/>
          </p:nvSpPr>
          <p:spPr bwMode="auto">
            <a:xfrm>
              <a:off x="3106078" y="4634544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1" name="Line 195"/>
            <p:cNvCxnSpPr>
              <a:cxnSpLocks noChangeShapeType="1"/>
            </p:cNvCxnSpPr>
            <p:nvPr/>
          </p:nvCxnSpPr>
          <p:spPr bwMode="auto">
            <a:xfrm flipV="1">
              <a:off x="4060801" y="3365817"/>
              <a:ext cx="0" cy="9248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3" name="Line 202"/>
            <p:cNvCxnSpPr>
              <a:cxnSpLocks noChangeShapeType="1"/>
            </p:cNvCxnSpPr>
            <p:nvPr/>
          </p:nvCxnSpPr>
          <p:spPr bwMode="auto">
            <a:xfrm>
              <a:off x="1331640" y="4284336"/>
              <a:ext cx="79970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4" name="Freeform 244"/>
            <p:cNvSpPr>
              <a:spLocks/>
            </p:cNvSpPr>
            <p:nvPr/>
          </p:nvSpPr>
          <p:spPr bwMode="auto">
            <a:xfrm flipH="1">
              <a:off x="2121189" y="4139556"/>
              <a:ext cx="214630" cy="273685"/>
            </a:xfrm>
            <a:custGeom>
              <a:avLst/>
              <a:gdLst>
                <a:gd name="T0" fmla="*/ 19941 w 20000"/>
                <a:gd name="T1" fmla="*/ 0 h 20000"/>
                <a:gd name="T2" fmla="*/ 19941 w 20000"/>
                <a:gd name="T3" fmla="*/ 19954 h 20000"/>
                <a:gd name="T4" fmla="*/ 0 w 20000"/>
                <a:gd name="T5" fmla="*/ 9930 h 20000"/>
                <a:gd name="T6" fmla="*/ 19941 w 20000"/>
                <a:gd name="T7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00" h="20000">
                  <a:moveTo>
                    <a:pt x="19941" y="0"/>
                  </a:moveTo>
                  <a:lnTo>
                    <a:pt x="19941" y="19954"/>
                  </a:lnTo>
                  <a:lnTo>
                    <a:pt x="0" y="9930"/>
                  </a:lnTo>
                  <a:lnTo>
                    <a:pt x="19941" y="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cxnSp>
          <p:nvCxnSpPr>
            <p:cNvPr id="37" name="Line 245"/>
            <p:cNvCxnSpPr>
              <a:cxnSpLocks noChangeShapeType="1"/>
            </p:cNvCxnSpPr>
            <p:nvPr/>
          </p:nvCxnSpPr>
          <p:spPr bwMode="auto">
            <a:xfrm>
              <a:off x="2342638" y="4139556"/>
              <a:ext cx="635" cy="2736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4" name="Line 202"/>
            <p:cNvCxnSpPr>
              <a:cxnSpLocks noChangeShapeType="1"/>
            </p:cNvCxnSpPr>
            <p:nvPr/>
          </p:nvCxnSpPr>
          <p:spPr bwMode="auto">
            <a:xfrm>
              <a:off x="899592" y="3141732"/>
              <a:ext cx="9413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45" name="Freeform 244"/>
            <p:cNvSpPr>
              <a:spLocks/>
            </p:cNvSpPr>
            <p:nvPr/>
          </p:nvSpPr>
          <p:spPr bwMode="auto">
            <a:xfrm flipH="1">
              <a:off x="1830776" y="2996952"/>
              <a:ext cx="214630" cy="273685"/>
            </a:xfrm>
            <a:custGeom>
              <a:avLst/>
              <a:gdLst>
                <a:gd name="T0" fmla="*/ 19941 w 20000"/>
                <a:gd name="T1" fmla="*/ 0 h 20000"/>
                <a:gd name="T2" fmla="*/ 19941 w 20000"/>
                <a:gd name="T3" fmla="*/ 19954 h 20000"/>
                <a:gd name="T4" fmla="*/ 0 w 20000"/>
                <a:gd name="T5" fmla="*/ 9930 h 20000"/>
                <a:gd name="T6" fmla="*/ 19941 w 20000"/>
                <a:gd name="T7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00" h="20000">
                  <a:moveTo>
                    <a:pt x="19941" y="0"/>
                  </a:moveTo>
                  <a:lnTo>
                    <a:pt x="19941" y="19954"/>
                  </a:lnTo>
                  <a:lnTo>
                    <a:pt x="0" y="9930"/>
                  </a:lnTo>
                  <a:lnTo>
                    <a:pt x="19941" y="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cxnSp>
          <p:nvCxnSpPr>
            <p:cNvPr id="46" name="Line 245"/>
            <p:cNvCxnSpPr>
              <a:cxnSpLocks noChangeShapeType="1"/>
            </p:cNvCxnSpPr>
            <p:nvPr/>
          </p:nvCxnSpPr>
          <p:spPr bwMode="auto">
            <a:xfrm>
              <a:off x="2052225" y="2996952"/>
              <a:ext cx="635" cy="2736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8" name="Line 196"/>
            <p:cNvCxnSpPr>
              <a:cxnSpLocks noChangeShapeType="1"/>
            </p:cNvCxnSpPr>
            <p:nvPr/>
          </p:nvCxnSpPr>
          <p:spPr bwMode="auto">
            <a:xfrm>
              <a:off x="2463830" y="2996952"/>
              <a:ext cx="0" cy="246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9" name="Line 213"/>
            <p:cNvCxnSpPr>
              <a:cxnSpLocks noChangeShapeType="1"/>
            </p:cNvCxnSpPr>
            <p:nvPr/>
          </p:nvCxnSpPr>
          <p:spPr bwMode="auto">
            <a:xfrm flipV="1">
              <a:off x="2468276" y="3650091"/>
              <a:ext cx="0" cy="175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0" name="Rectangle 214"/>
            <p:cNvSpPr>
              <a:spLocks noChangeArrowheads="1"/>
            </p:cNvSpPr>
            <p:nvPr/>
          </p:nvSpPr>
          <p:spPr bwMode="auto">
            <a:xfrm rot="5400000">
              <a:off x="2267933" y="3391962"/>
              <a:ext cx="402590" cy="1149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sp>
          <p:nvSpPr>
            <p:cNvPr id="55" name="Rectangle 214"/>
            <p:cNvSpPr>
              <a:spLocks noChangeArrowheads="1"/>
            </p:cNvSpPr>
            <p:nvPr/>
          </p:nvSpPr>
          <p:spPr bwMode="auto">
            <a:xfrm rot="5400000">
              <a:off x="2263171" y="2739687"/>
              <a:ext cx="402590" cy="1149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cxnSp>
          <p:nvCxnSpPr>
            <p:cNvPr id="56" name="Line 196"/>
            <p:cNvCxnSpPr>
              <a:cxnSpLocks noChangeShapeType="1"/>
            </p:cNvCxnSpPr>
            <p:nvPr/>
          </p:nvCxnSpPr>
          <p:spPr bwMode="auto">
            <a:xfrm>
              <a:off x="2464720" y="2344118"/>
              <a:ext cx="0" cy="246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7" name="Line 195"/>
            <p:cNvCxnSpPr>
              <a:cxnSpLocks noChangeShapeType="1"/>
            </p:cNvCxnSpPr>
            <p:nvPr/>
          </p:nvCxnSpPr>
          <p:spPr bwMode="auto">
            <a:xfrm flipH="1">
              <a:off x="2123728" y="2346499"/>
              <a:ext cx="7290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8" name="Line 213"/>
            <p:cNvCxnSpPr>
              <a:cxnSpLocks noChangeShapeType="1"/>
            </p:cNvCxnSpPr>
            <p:nvPr/>
          </p:nvCxnSpPr>
          <p:spPr bwMode="auto">
            <a:xfrm rot="2700000" flipV="1">
              <a:off x="2992139" y="5229037"/>
              <a:ext cx="0" cy="1754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9" name="Line 213"/>
            <p:cNvCxnSpPr>
              <a:cxnSpLocks noChangeShapeType="1"/>
            </p:cNvCxnSpPr>
            <p:nvPr/>
          </p:nvCxnSpPr>
          <p:spPr bwMode="auto">
            <a:xfrm rot="2700000" flipV="1">
              <a:off x="2469035" y="3735666"/>
              <a:ext cx="0" cy="175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2" name="Line 213"/>
            <p:cNvCxnSpPr>
              <a:cxnSpLocks noChangeShapeType="1"/>
            </p:cNvCxnSpPr>
            <p:nvPr/>
          </p:nvCxnSpPr>
          <p:spPr bwMode="auto">
            <a:xfrm flipV="1">
              <a:off x="4727383" y="4293096"/>
              <a:ext cx="0" cy="1524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3" name="Line 213"/>
            <p:cNvCxnSpPr>
              <a:cxnSpLocks noChangeShapeType="1"/>
            </p:cNvCxnSpPr>
            <p:nvPr/>
          </p:nvCxnSpPr>
          <p:spPr bwMode="auto">
            <a:xfrm rot="2700000" flipV="1">
              <a:off x="4727633" y="4357763"/>
              <a:ext cx="0" cy="175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3" name="Line 213"/>
            <p:cNvCxnSpPr>
              <a:cxnSpLocks noChangeShapeType="1"/>
            </p:cNvCxnSpPr>
            <p:nvPr/>
          </p:nvCxnSpPr>
          <p:spPr bwMode="auto">
            <a:xfrm flipV="1">
              <a:off x="3518349" y="2922744"/>
              <a:ext cx="0" cy="1524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grpSp>
          <p:nvGrpSpPr>
            <p:cNvPr id="70" name="Gruppe 69"/>
            <p:cNvGrpSpPr/>
            <p:nvPr/>
          </p:nvGrpSpPr>
          <p:grpSpPr>
            <a:xfrm>
              <a:off x="874404" y="4049635"/>
              <a:ext cx="193014" cy="152401"/>
              <a:chOff x="3486126" y="5489913"/>
              <a:chExt cx="175466" cy="152401"/>
            </a:xfrm>
          </p:grpSpPr>
          <p:cxnSp>
            <p:nvCxnSpPr>
              <p:cNvPr id="71" name="Line 213"/>
              <p:cNvCxnSpPr>
                <a:cxnSpLocks noChangeShapeType="1"/>
              </p:cNvCxnSpPr>
              <p:nvPr/>
            </p:nvCxnSpPr>
            <p:spPr bwMode="auto">
              <a:xfrm flipV="1">
                <a:off x="3573609" y="5489913"/>
                <a:ext cx="0" cy="1524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2" name="Line 213"/>
              <p:cNvCxnSpPr>
                <a:cxnSpLocks noChangeShapeType="1"/>
              </p:cNvCxnSpPr>
              <p:nvPr/>
            </p:nvCxnSpPr>
            <p:spPr bwMode="auto">
              <a:xfrm rot="2700000" flipV="1">
                <a:off x="3573859" y="5554580"/>
                <a:ext cx="0" cy="1754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74" name="Line 213"/>
            <p:cNvCxnSpPr>
              <a:cxnSpLocks noChangeShapeType="1"/>
            </p:cNvCxnSpPr>
            <p:nvPr/>
          </p:nvCxnSpPr>
          <p:spPr bwMode="auto">
            <a:xfrm flipV="1">
              <a:off x="3519119" y="3653306"/>
              <a:ext cx="0" cy="1524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" name="Lige pilforbindelse 2"/>
            <p:cNvCxnSpPr/>
            <p:nvPr/>
          </p:nvCxnSpPr>
          <p:spPr>
            <a:xfrm flipV="1">
              <a:off x="4727921" y="3501008"/>
              <a:ext cx="0" cy="6492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Lige pilforbindelse 51"/>
            <p:cNvCxnSpPr/>
            <p:nvPr/>
          </p:nvCxnSpPr>
          <p:spPr>
            <a:xfrm flipV="1">
              <a:off x="971600" y="3252664"/>
              <a:ext cx="0" cy="6492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pe 52"/>
            <p:cNvGrpSpPr/>
            <p:nvPr/>
          </p:nvGrpSpPr>
          <p:grpSpPr>
            <a:xfrm>
              <a:off x="1297494" y="5162075"/>
              <a:ext cx="193014" cy="152401"/>
              <a:chOff x="3486126" y="5489913"/>
              <a:chExt cx="175466" cy="152401"/>
            </a:xfrm>
          </p:grpSpPr>
          <p:cxnSp>
            <p:nvCxnSpPr>
              <p:cNvPr id="54" name="Line 213"/>
              <p:cNvCxnSpPr>
                <a:cxnSpLocks noChangeShapeType="1"/>
              </p:cNvCxnSpPr>
              <p:nvPr/>
            </p:nvCxnSpPr>
            <p:spPr bwMode="auto">
              <a:xfrm flipV="1">
                <a:off x="3573609" y="5489913"/>
                <a:ext cx="0" cy="1524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0" name="Line 213"/>
              <p:cNvCxnSpPr>
                <a:cxnSpLocks noChangeShapeType="1"/>
              </p:cNvCxnSpPr>
              <p:nvPr/>
            </p:nvCxnSpPr>
            <p:spPr bwMode="auto">
              <a:xfrm rot="2700000" flipV="1">
                <a:off x="3573859" y="5554580"/>
                <a:ext cx="0" cy="1754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61" name="Lige pilforbindelse 60"/>
            <p:cNvCxnSpPr/>
            <p:nvPr/>
          </p:nvCxnSpPr>
          <p:spPr>
            <a:xfrm flipV="1">
              <a:off x="1394690" y="4365104"/>
              <a:ext cx="0" cy="6492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236"/>
            <p:cNvSpPr>
              <a:spLocks noChangeArrowheads="1"/>
            </p:cNvSpPr>
            <p:nvPr/>
          </p:nvSpPr>
          <p:spPr bwMode="auto">
            <a:xfrm>
              <a:off x="2555988" y="2638256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5" name="Rectangle 236"/>
            <p:cNvSpPr>
              <a:spLocks noChangeArrowheads="1"/>
            </p:cNvSpPr>
            <p:nvPr/>
          </p:nvSpPr>
          <p:spPr bwMode="auto">
            <a:xfrm>
              <a:off x="2555988" y="3311972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6" name="Rectangle 236"/>
            <p:cNvSpPr>
              <a:spLocks noChangeArrowheads="1"/>
            </p:cNvSpPr>
            <p:nvPr/>
          </p:nvSpPr>
          <p:spPr bwMode="auto">
            <a:xfrm>
              <a:off x="3644692" y="4420304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7" name="Rectangle 236"/>
            <p:cNvSpPr>
              <a:spLocks noChangeArrowheads="1"/>
            </p:cNvSpPr>
            <p:nvPr/>
          </p:nvSpPr>
          <p:spPr bwMode="auto">
            <a:xfrm>
              <a:off x="2026532" y="4414868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2" name="Rectangle 236"/>
            <p:cNvSpPr>
              <a:spLocks noChangeArrowheads="1"/>
            </p:cNvSpPr>
            <p:nvPr/>
          </p:nvSpPr>
          <p:spPr bwMode="auto">
            <a:xfrm>
              <a:off x="1768063" y="3249245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3" name="Rectangle 236"/>
            <p:cNvSpPr>
              <a:spLocks noChangeArrowheads="1"/>
            </p:cNvSpPr>
            <p:nvPr/>
          </p:nvSpPr>
          <p:spPr bwMode="auto">
            <a:xfrm>
              <a:off x="3389114" y="3209993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4" name="Rectangle 236"/>
            <p:cNvSpPr>
              <a:spLocks noChangeArrowheads="1"/>
            </p:cNvSpPr>
            <p:nvPr/>
          </p:nvSpPr>
          <p:spPr bwMode="auto">
            <a:xfrm>
              <a:off x="754906" y="3466033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5" name="Rectangle 236"/>
            <p:cNvSpPr>
              <a:spLocks noChangeArrowheads="1"/>
            </p:cNvSpPr>
            <p:nvPr/>
          </p:nvSpPr>
          <p:spPr bwMode="auto">
            <a:xfrm>
              <a:off x="1182474" y="4576418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6" name="Rectangle 236"/>
            <p:cNvSpPr>
              <a:spLocks noChangeArrowheads="1"/>
            </p:cNvSpPr>
            <p:nvPr/>
          </p:nvSpPr>
          <p:spPr bwMode="auto">
            <a:xfrm>
              <a:off x="4792399" y="3691713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 err="1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-25000" dirty="0" err="1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7" name="Rectangle 236"/>
            <p:cNvSpPr>
              <a:spLocks noChangeArrowheads="1"/>
            </p:cNvSpPr>
            <p:nvPr/>
          </p:nvSpPr>
          <p:spPr bwMode="auto">
            <a:xfrm>
              <a:off x="3529176" y="2745189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30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da-DK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8" name="Rectangle 236"/>
            <p:cNvSpPr>
              <a:spLocks noChangeArrowheads="1"/>
            </p:cNvSpPr>
            <p:nvPr/>
          </p:nvSpPr>
          <p:spPr bwMode="auto">
            <a:xfrm>
              <a:off x="3529313" y="3753301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30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da-DK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9" name="Rectangle 236"/>
            <p:cNvSpPr>
              <a:spLocks noChangeArrowheads="1"/>
            </p:cNvSpPr>
            <p:nvPr/>
          </p:nvSpPr>
          <p:spPr bwMode="auto">
            <a:xfrm>
              <a:off x="877736" y="2868689"/>
              <a:ext cx="463665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200" i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(Reset)</a:t>
              </a:r>
              <a:endParaRPr lang="da-DK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0" name="Rectangle 236"/>
            <p:cNvSpPr>
              <a:spLocks noChangeArrowheads="1"/>
            </p:cNvSpPr>
            <p:nvPr/>
          </p:nvSpPr>
          <p:spPr bwMode="auto">
            <a:xfrm>
              <a:off x="1324512" y="4036021"/>
              <a:ext cx="316690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200" i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(Set)</a:t>
              </a:r>
              <a:endParaRPr lang="da-DK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1" name="Rectangle 236"/>
            <p:cNvSpPr>
              <a:spLocks noChangeArrowheads="1"/>
            </p:cNvSpPr>
            <p:nvPr/>
          </p:nvSpPr>
          <p:spPr bwMode="auto">
            <a:xfrm>
              <a:off x="2483098" y="2114264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30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da-DK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64" name="Titel 1"/>
          <p:cNvSpPr>
            <a:spLocks noGrp="1"/>
          </p:cNvSpPr>
          <p:nvPr>
            <p:ph type="ctrTitle"/>
          </p:nvPr>
        </p:nvSpPr>
        <p:spPr>
          <a:xfrm>
            <a:off x="76074" y="38725"/>
            <a:ext cx="895232" cy="323200"/>
          </a:xfrm>
        </p:spPr>
        <p:txBody>
          <a:bodyPr>
            <a:normAutofit fontScale="90000"/>
          </a:bodyPr>
          <a:lstStyle/>
          <a:p>
            <a:pPr algn="l"/>
            <a:r>
              <a:rPr lang="da-DK" sz="2000" i="1" dirty="0"/>
              <a:t>”</a:t>
            </a:r>
            <a:r>
              <a:rPr lang="da-DK" sz="2000" i="1" dirty="0" err="1"/>
              <a:t>Latch</a:t>
            </a:r>
            <a:r>
              <a:rPr lang="da-DK" sz="2000" i="1" dirty="0"/>
              <a:t>”</a:t>
            </a:r>
          </a:p>
        </p:txBody>
      </p:sp>
      <p:sp>
        <p:nvSpPr>
          <p:cNvPr id="92" name="Titel 1"/>
          <p:cNvSpPr txBox="1">
            <a:spLocks/>
          </p:cNvSpPr>
          <p:nvPr/>
        </p:nvSpPr>
        <p:spPr>
          <a:xfrm>
            <a:off x="395536" y="3645024"/>
            <a:ext cx="8344544" cy="144650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Kredsløbet viser en ”</a:t>
            </a:r>
            <a:r>
              <a:rPr lang="da-DK" sz="1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latch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og minder lidt om en flip-flop, og det findes også i den digitale verden.</a:t>
            </a:r>
          </a:p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 man eksempelvis fået en alarm fra en komparator ved at denne er gået høj, kan dette kredsløb bibeholde denne information, selv om alarmkredsløbet atter er slukket.</a:t>
            </a:r>
          </a:p>
          <a:p>
            <a:pPr lvl="0" algn="l">
              <a:lnSpc>
                <a:spcPct val="107000"/>
              </a:lnSpc>
              <a:spcAft>
                <a:spcPts val="0"/>
              </a:spcAft>
            </a:pPr>
            <a:endParaRPr lang="da-DK" sz="8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Eksempelvis kunne man få information om, at en temperatur i et kølerum </a:t>
            </a:r>
            <a:r>
              <a:rPr lang="da-DK" sz="1600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 været 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overskredet om natten men er faldet tilbage til normalområdet.</a:t>
            </a:r>
          </a:p>
        </p:txBody>
      </p:sp>
      <p:sp>
        <p:nvSpPr>
          <p:cNvPr id="93" name="Titel 1"/>
          <p:cNvSpPr txBox="1">
            <a:spLocks/>
          </p:cNvSpPr>
          <p:nvPr/>
        </p:nvSpPr>
        <p:spPr>
          <a:xfrm>
            <a:off x="395536" y="5322770"/>
            <a:ext cx="8344544" cy="126478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Forklar i første omgang kredsløbets virkemåde ved at antage, at samtlige komponenter er ideelle, </a:t>
            </a:r>
            <a:r>
              <a:rPr lang="da-DK" sz="1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da-DK" sz="1600" i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i sin negative mætning samt R</a:t>
            </a:r>
            <a:r>
              <a:rPr lang="da-DK" sz="1600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R</a:t>
            </a:r>
            <a:r>
              <a:rPr lang="da-DK" sz="1600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Vurdér dernæst kredsløbet på næste side med angivne komponentværdier og en mindre men praktisk modifikation.</a:t>
            </a:r>
          </a:p>
        </p:txBody>
      </p:sp>
    </p:spTree>
    <p:extLst>
      <p:ext uri="{BB962C8B-B14F-4D97-AF65-F5344CB8AC3E}">
        <p14:creationId xmlns:p14="http://schemas.microsoft.com/office/powerpoint/2010/main" val="408493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/>
          <p:cNvGrpSpPr/>
          <p:nvPr/>
        </p:nvGrpSpPr>
        <p:grpSpPr>
          <a:xfrm>
            <a:off x="755576" y="476672"/>
            <a:ext cx="4295962" cy="3202507"/>
            <a:chOff x="754906" y="2114264"/>
            <a:chExt cx="4295962" cy="3202507"/>
          </a:xfrm>
        </p:grpSpPr>
        <p:cxnSp>
          <p:nvCxnSpPr>
            <p:cNvPr id="10" name="Line 189"/>
            <p:cNvCxnSpPr>
              <a:cxnSpLocks noChangeShapeType="1"/>
            </p:cNvCxnSpPr>
            <p:nvPr/>
          </p:nvCxnSpPr>
          <p:spPr bwMode="auto">
            <a:xfrm>
              <a:off x="3212141" y="2906077"/>
              <a:ext cx="647" cy="9194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3" name="Line 190"/>
            <p:cNvCxnSpPr>
              <a:cxnSpLocks noChangeShapeType="1"/>
            </p:cNvCxnSpPr>
            <p:nvPr/>
          </p:nvCxnSpPr>
          <p:spPr bwMode="auto">
            <a:xfrm>
              <a:off x="3212147" y="2906077"/>
              <a:ext cx="805180" cy="4603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5" name="Line 191"/>
            <p:cNvCxnSpPr>
              <a:cxnSpLocks noChangeShapeType="1"/>
            </p:cNvCxnSpPr>
            <p:nvPr/>
          </p:nvCxnSpPr>
          <p:spPr bwMode="auto">
            <a:xfrm flipH="1">
              <a:off x="3212147" y="3365817"/>
              <a:ext cx="805180" cy="4603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" name="Line 192"/>
            <p:cNvCxnSpPr>
              <a:cxnSpLocks noChangeShapeType="1"/>
            </p:cNvCxnSpPr>
            <p:nvPr/>
          </p:nvCxnSpPr>
          <p:spPr bwMode="auto">
            <a:xfrm>
              <a:off x="3262947" y="3136582"/>
              <a:ext cx="101600" cy="6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" name="Line 193"/>
            <p:cNvCxnSpPr>
              <a:cxnSpLocks noChangeShapeType="1"/>
            </p:cNvCxnSpPr>
            <p:nvPr/>
          </p:nvCxnSpPr>
          <p:spPr bwMode="auto">
            <a:xfrm>
              <a:off x="3262947" y="3596322"/>
              <a:ext cx="101600" cy="6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8" name="Line 194"/>
            <p:cNvCxnSpPr>
              <a:cxnSpLocks noChangeShapeType="1"/>
            </p:cNvCxnSpPr>
            <p:nvPr/>
          </p:nvCxnSpPr>
          <p:spPr bwMode="auto">
            <a:xfrm>
              <a:off x="3313112" y="3538537"/>
              <a:ext cx="635" cy="11493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9" name="Line 195"/>
            <p:cNvCxnSpPr>
              <a:cxnSpLocks noChangeShapeType="1"/>
            </p:cNvCxnSpPr>
            <p:nvPr/>
          </p:nvCxnSpPr>
          <p:spPr bwMode="auto">
            <a:xfrm flipH="1">
              <a:off x="2051720" y="3136582"/>
              <a:ext cx="11610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20" name="Line 196"/>
            <p:cNvCxnSpPr>
              <a:cxnSpLocks noChangeShapeType="1"/>
            </p:cNvCxnSpPr>
            <p:nvPr/>
          </p:nvCxnSpPr>
          <p:spPr bwMode="auto">
            <a:xfrm>
              <a:off x="4017327" y="3365817"/>
              <a:ext cx="741680" cy="50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66" name="Freeform 242"/>
            <p:cNvSpPr>
              <a:spLocks/>
            </p:cNvSpPr>
            <p:nvPr/>
          </p:nvSpPr>
          <p:spPr bwMode="auto">
            <a:xfrm>
              <a:off x="2989565" y="3602553"/>
              <a:ext cx="219421" cy="673201"/>
            </a:xfrm>
            <a:custGeom>
              <a:avLst/>
              <a:gdLst>
                <a:gd name="T0" fmla="*/ 19943 w 20000"/>
                <a:gd name="T1" fmla="*/ 0 h 20000"/>
                <a:gd name="T2" fmla="*/ 0 w 20000"/>
                <a:gd name="T3" fmla="*/ 0 h 20000"/>
                <a:gd name="T4" fmla="*/ 0 w 20000"/>
                <a:gd name="T5" fmla="*/ 19976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00" h="20000">
                  <a:moveTo>
                    <a:pt x="19943" y="0"/>
                  </a:moveTo>
                  <a:lnTo>
                    <a:pt x="0" y="0"/>
                  </a:lnTo>
                  <a:lnTo>
                    <a:pt x="0" y="19976"/>
                  </a:lnTo>
                </a:path>
              </a:pathLst>
            </a:custGeom>
            <a:noFill/>
            <a:ln w="19050" cap="flat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grpSp>
          <p:nvGrpSpPr>
            <p:cNvPr id="7" name="Gruppe 6"/>
            <p:cNvGrpSpPr/>
            <p:nvPr/>
          </p:nvGrpSpPr>
          <p:grpSpPr>
            <a:xfrm>
              <a:off x="2339753" y="4116551"/>
              <a:ext cx="1729902" cy="314801"/>
              <a:chOff x="2339753" y="4116551"/>
              <a:chExt cx="1729902" cy="314801"/>
            </a:xfrm>
          </p:grpSpPr>
          <p:grpSp>
            <p:nvGrpSpPr>
              <p:cNvPr id="6" name="Gruppe 5"/>
              <p:cNvGrpSpPr/>
              <p:nvPr/>
            </p:nvGrpSpPr>
            <p:grpSpPr>
              <a:xfrm>
                <a:off x="2339753" y="4137631"/>
                <a:ext cx="1729902" cy="276730"/>
                <a:chOff x="2339753" y="4137631"/>
                <a:chExt cx="1729902" cy="276730"/>
              </a:xfrm>
            </p:grpSpPr>
            <p:cxnSp>
              <p:nvCxnSpPr>
                <p:cNvPr id="78" name="Line 202"/>
                <p:cNvCxnSpPr>
                  <a:cxnSpLocks noChangeShapeType="1"/>
                </p:cNvCxnSpPr>
                <p:nvPr/>
              </p:nvCxnSpPr>
              <p:spPr bwMode="auto">
                <a:xfrm flipH="1">
                  <a:off x="3740090" y="4274504"/>
                  <a:ext cx="329565" cy="190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1" name="Line 249"/>
                <p:cNvCxnSpPr>
                  <a:cxnSpLocks noChangeShapeType="1"/>
                </p:cNvCxnSpPr>
                <p:nvPr/>
              </p:nvCxnSpPr>
              <p:spPr bwMode="auto">
                <a:xfrm flipH="1">
                  <a:off x="2339753" y="4277360"/>
                  <a:ext cx="1318657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98" name="Freeform 244"/>
                <p:cNvSpPr>
                  <a:spLocks/>
                </p:cNvSpPr>
                <p:nvPr/>
              </p:nvSpPr>
              <p:spPr bwMode="auto">
                <a:xfrm flipH="1">
                  <a:off x="3635226" y="4137631"/>
                  <a:ext cx="214630" cy="273685"/>
                </a:xfrm>
                <a:custGeom>
                  <a:avLst/>
                  <a:gdLst>
                    <a:gd name="T0" fmla="*/ 19941 w 20000"/>
                    <a:gd name="T1" fmla="*/ 0 h 20000"/>
                    <a:gd name="T2" fmla="*/ 19941 w 20000"/>
                    <a:gd name="T3" fmla="*/ 19954 h 20000"/>
                    <a:gd name="T4" fmla="*/ 0 w 20000"/>
                    <a:gd name="T5" fmla="*/ 9930 h 20000"/>
                    <a:gd name="T6" fmla="*/ 19941 w 20000"/>
                    <a:gd name="T7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000" h="20000">
                      <a:moveTo>
                        <a:pt x="19941" y="0"/>
                      </a:moveTo>
                      <a:lnTo>
                        <a:pt x="19941" y="19954"/>
                      </a:lnTo>
                      <a:lnTo>
                        <a:pt x="0" y="9930"/>
                      </a:lnTo>
                      <a:lnTo>
                        <a:pt x="199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050" cap="flat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da-DK" dirty="0"/>
                </a:p>
              </p:txBody>
            </p:sp>
            <p:sp>
              <p:nvSpPr>
                <p:cNvPr id="79" name="Freeform 244"/>
                <p:cNvSpPr>
                  <a:spLocks/>
                </p:cNvSpPr>
                <p:nvPr/>
              </p:nvSpPr>
              <p:spPr bwMode="auto">
                <a:xfrm>
                  <a:off x="3203813" y="4140676"/>
                  <a:ext cx="214630" cy="273685"/>
                </a:xfrm>
                <a:custGeom>
                  <a:avLst/>
                  <a:gdLst>
                    <a:gd name="T0" fmla="*/ 19941 w 20000"/>
                    <a:gd name="T1" fmla="*/ 0 h 20000"/>
                    <a:gd name="T2" fmla="*/ 19941 w 20000"/>
                    <a:gd name="T3" fmla="*/ 19954 h 20000"/>
                    <a:gd name="T4" fmla="*/ 0 w 20000"/>
                    <a:gd name="T5" fmla="*/ 9930 h 20000"/>
                    <a:gd name="T6" fmla="*/ 19941 w 20000"/>
                    <a:gd name="T7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000" h="20000">
                      <a:moveTo>
                        <a:pt x="19941" y="0"/>
                      </a:moveTo>
                      <a:lnTo>
                        <a:pt x="19941" y="19954"/>
                      </a:lnTo>
                      <a:lnTo>
                        <a:pt x="0" y="9930"/>
                      </a:lnTo>
                      <a:lnTo>
                        <a:pt x="1994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0" cap="flat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da-DK" dirty="0"/>
                </a:p>
              </p:txBody>
            </p:sp>
          </p:grpSp>
          <p:cxnSp>
            <p:nvCxnSpPr>
              <p:cNvPr id="97" name="Line 245"/>
              <p:cNvCxnSpPr>
                <a:cxnSpLocks noChangeShapeType="1"/>
              </p:cNvCxnSpPr>
              <p:nvPr/>
            </p:nvCxnSpPr>
            <p:spPr bwMode="auto">
              <a:xfrm>
                <a:off x="3850615" y="4137631"/>
                <a:ext cx="635" cy="27368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0" name="Line 245"/>
              <p:cNvCxnSpPr>
                <a:cxnSpLocks noChangeShapeType="1"/>
              </p:cNvCxnSpPr>
              <p:nvPr/>
            </p:nvCxnSpPr>
            <p:spPr bwMode="auto">
              <a:xfrm>
                <a:off x="3203178" y="4140676"/>
                <a:ext cx="635" cy="27368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9" name="Line 245"/>
              <p:cNvCxnSpPr>
                <a:cxnSpLocks noChangeShapeType="1"/>
              </p:cNvCxnSpPr>
              <p:nvPr/>
            </p:nvCxnSpPr>
            <p:spPr bwMode="auto">
              <a:xfrm rot="18240000">
                <a:off x="3809898" y="4063800"/>
                <a:ext cx="0" cy="1055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0" name="Line 245"/>
              <p:cNvCxnSpPr>
                <a:cxnSpLocks noChangeShapeType="1"/>
              </p:cNvCxnSpPr>
              <p:nvPr/>
            </p:nvCxnSpPr>
            <p:spPr bwMode="auto">
              <a:xfrm rot="18240000">
                <a:off x="3890221" y="4378601"/>
                <a:ext cx="0" cy="1055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2" name="Line 196"/>
            <p:cNvCxnSpPr>
              <a:cxnSpLocks noChangeShapeType="1"/>
            </p:cNvCxnSpPr>
            <p:nvPr/>
          </p:nvCxnSpPr>
          <p:spPr bwMode="auto">
            <a:xfrm>
              <a:off x="2987443" y="4283572"/>
              <a:ext cx="0" cy="10309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4" name="Rectangle 214"/>
            <p:cNvSpPr>
              <a:spLocks noChangeArrowheads="1"/>
            </p:cNvSpPr>
            <p:nvPr/>
          </p:nvSpPr>
          <p:spPr bwMode="auto">
            <a:xfrm rot="5400000">
              <a:off x="2788528" y="4724427"/>
              <a:ext cx="402590" cy="11493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sp>
          <p:nvSpPr>
            <p:cNvPr id="30" name="Rectangle 236"/>
            <p:cNvSpPr>
              <a:spLocks noChangeArrowheads="1"/>
            </p:cNvSpPr>
            <p:nvPr/>
          </p:nvSpPr>
          <p:spPr bwMode="auto">
            <a:xfrm>
              <a:off x="3106078" y="4634544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1" name="Line 195"/>
            <p:cNvCxnSpPr>
              <a:cxnSpLocks noChangeShapeType="1"/>
            </p:cNvCxnSpPr>
            <p:nvPr/>
          </p:nvCxnSpPr>
          <p:spPr bwMode="auto">
            <a:xfrm flipV="1">
              <a:off x="4060801" y="3365817"/>
              <a:ext cx="0" cy="9086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3" name="Line 202"/>
            <p:cNvCxnSpPr>
              <a:cxnSpLocks noChangeShapeType="1"/>
            </p:cNvCxnSpPr>
            <p:nvPr/>
          </p:nvCxnSpPr>
          <p:spPr bwMode="auto">
            <a:xfrm>
              <a:off x="1331640" y="4284336"/>
              <a:ext cx="79970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4" name="Freeform 244"/>
            <p:cNvSpPr>
              <a:spLocks/>
            </p:cNvSpPr>
            <p:nvPr/>
          </p:nvSpPr>
          <p:spPr bwMode="auto">
            <a:xfrm flipH="1">
              <a:off x="2121189" y="4139556"/>
              <a:ext cx="214630" cy="273685"/>
            </a:xfrm>
            <a:custGeom>
              <a:avLst/>
              <a:gdLst>
                <a:gd name="T0" fmla="*/ 19941 w 20000"/>
                <a:gd name="T1" fmla="*/ 0 h 20000"/>
                <a:gd name="T2" fmla="*/ 19941 w 20000"/>
                <a:gd name="T3" fmla="*/ 19954 h 20000"/>
                <a:gd name="T4" fmla="*/ 0 w 20000"/>
                <a:gd name="T5" fmla="*/ 9930 h 20000"/>
                <a:gd name="T6" fmla="*/ 19941 w 20000"/>
                <a:gd name="T7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00" h="20000">
                  <a:moveTo>
                    <a:pt x="19941" y="0"/>
                  </a:moveTo>
                  <a:lnTo>
                    <a:pt x="19941" y="19954"/>
                  </a:lnTo>
                  <a:lnTo>
                    <a:pt x="0" y="9930"/>
                  </a:lnTo>
                  <a:lnTo>
                    <a:pt x="19941" y="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cxnSp>
          <p:nvCxnSpPr>
            <p:cNvPr id="37" name="Line 245"/>
            <p:cNvCxnSpPr>
              <a:cxnSpLocks noChangeShapeType="1"/>
            </p:cNvCxnSpPr>
            <p:nvPr/>
          </p:nvCxnSpPr>
          <p:spPr bwMode="auto">
            <a:xfrm>
              <a:off x="2342638" y="4139556"/>
              <a:ext cx="635" cy="2736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4" name="Line 202"/>
            <p:cNvCxnSpPr>
              <a:cxnSpLocks noChangeShapeType="1"/>
            </p:cNvCxnSpPr>
            <p:nvPr/>
          </p:nvCxnSpPr>
          <p:spPr bwMode="auto">
            <a:xfrm>
              <a:off x="899592" y="3141732"/>
              <a:ext cx="9413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45" name="Freeform 244"/>
            <p:cNvSpPr>
              <a:spLocks/>
            </p:cNvSpPr>
            <p:nvPr/>
          </p:nvSpPr>
          <p:spPr bwMode="auto">
            <a:xfrm flipH="1">
              <a:off x="1830776" y="2996952"/>
              <a:ext cx="214630" cy="273685"/>
            </a:xfrm>
            <a:custGeom>
              <a:avLst/>
              <a:gdLst>
                <a:gd name="T0" fmla="*/ 19941 w 20000"/>
                <a:gd name="T1" fmla="*/ 0 h 20000"/>
                <a:gd name="T2" fmla="*/ 19941 w 20000"/>
                <a:gd name="T3" fmla="*/ 19954 h 20000"/>
                <a:gd name="T4" fmla="*/ 0 w 20000"/>
                <a:gd name="T5" fmla="*/ 9930 h 20000"/>
                <a:gd name="T6" fmla="*/ 19941 w 20000"/>
                <a:gd name="T7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000" h="20000">
                  <a:moveTo>
                    <a:pt x="19941" y="0"/>
                  </a:moveTo>
                  <a:lnTo>
                    <a:pt x="19941" y="19954"/>
                  </a:lnTo>
                  <a:lnTo>
                    <a:pt x="0" y="9930"/>
                  </a:lnTo>
                  <a:lnTo>
                    <a:pt x="19941" y="0"/>
                  </a:lnTo>
                  <a:close/>
                </a:path>
              </a:pathLst>
            </a:custGeom>
            <a:solidFill>
              <a:srgbClr val="FFFFFF"/>
            </a:solidFill>
            <a:ln w="19050" cap="flat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cxnSp>
          <p:nvCxnSpPr>
            <p:cNvPr id="46" name="Line 245"/>
            <p:cNvCxnSpPr>
              <a:cxnSpLocks noChangeShapeType="1"/>
            </p:cNvCxnSpPr>
            <p:nvPr/>
          </p:nvCxnSpPr>
          <p:spPr bwMode="auto">
            <a:xfrm>
              <a:off x="2052225" y="2996952"/>
              <a:ext cx="635" cy="2736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8" name="Line 196"/>
            <p:cNvCxnSpPr>
              <a:cxnSpLocks noChangeShapeType="1"/>
            </p:cNvCxnSpPr>
            <p:nvPr/>
          </p:nvCxnSpPr>
          <p:spPr bwMode="auto">
            <a:xfrm>
              <a:off x="2463830" y="2996952"/>
              <a:ext cx="0" cy="246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9" name="Line 213"/>
            <p:cNvCxnSpPr>
              <a:cxnSpLocks noChangeShapeType="1"/>
            </p:cNvCxnSpPr>
            <p:nvPr/>
          </p:nvCxnSpPr>
          <p:spPr bwMode="auto">
            <a:xfrm flipV="1">
              <a:off x="2468276" y="3650091"/>
              <a:ext cx="0" cy="175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50" name="Rectangle 214"/>
            <p:cNvSpPr>
              <a:spLocks noChangeArrowheads="1"/>
            </p:cNvSpPr>
            <p:nvPr/>
          </p:nvSpPr>
          <p:spPr bwMode="auto">
            <a:xfrm rot="5400000">
              <a:off x="2267933" y="3391962"/>
              <a:ext cx="402590" cy="1149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sp>
          <p:nvSpPr>
            <p:cNvPr id="55" name="Rectangle 214"/>
            <p:cNvSpPr>
              <a:spLocks noChangeArrowheads="1"/>
            </p:cNvSpPr>
            <p:nvPr/>
          </p:nvSpPr>
          <p:spPr bwMode="auto">
            <a:xfrm rot="5400000">
              <a:off x="2263171" y="2739687"/>
              <a:ext cx="402590" cy="114935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da-DK" dirty="0"/>
            </a:p>
          </p:txBody>
        </p:sp>
        <p:cxnSp>
          <p:nvCxnSpPr>
            <p:cNvPr id="56" name="Line 196"/>
            <p:cNvCxnSpPr>
              <a:cxnSpLocks noChangeShapeType="1"/>
            </p:cNvCxnSpPr>
            <p:nvPr/>
          </p:nvCxnSpPr>
          <p:spPr bwMode="auto">
            <a:xfrm>
              <a:off x="2464720" y="2344118"/>
              <a:ext cx="0" cy="2461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7" name="Line 195"/>
            <p:cNvCxnSpPr>
              <a:cxnSpLocks noChangeShapeType="1"/>
            </p:cNvCxnSpPr>
            <p:nvPr/>
          </p:nvCxnSpPr>
          <p:spPr bwMode="auto">
            <a:xfrm flipH="1">
              <a:off x="2123728" y="2346499"/>
              <a:ext cx="7290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8" name="Line 213"/>
            <p:cNvCxnSpPr>
              <a:cxnSpLocks noChangeShapeType="1"/>
            </p:cNvCxnSpPr>
            <p:nvPr/>
          </p:nvCxnSpPr>
          <p:spPr bwMode="auto">
            <a:xfrm rot="2700000" flipV="1">
              <a:off x="2992139" y="5229037"/>
              <a:ext cx="0" cy="1754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59" name="Line 213"/>
            <p:cNvCxnSpPr>
              <a:cxnSpLocks noChangeShapeType="1"/>
            </p:cNvCxnSpPr>
            <p:nvPr/>
          </p:nvCxnSpPr>
          <p:spPr bwMode="auto">
            <a:xfrm rot="2700000" flipV="1">
              <a:off x="2469035" y="3735666"/>
              <a:ext cx="0" cy="175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2" name="Line 213"/>
            <p:cNvCxnSpPr>
              <a:cxnSpLocks noChangeShapeType="1"/>
            </p:cNvCxnSpPr>
            <p:nvPr/>
          </p:nvCxnSpPr>
          <p:spPr bwMode="auto">
            <a:xfrm flipV="1">
              <a:off x="4727383" y="4293096"/>
              <a:ext cx="0" cy="1524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3" name="Line 213"/>
            <p:cNvCxnSpPr>
              <a:cxnSpLocks noChangeShapeType="1"/>
            </p:cNvCxnSpPr>
            <p:nvPr/>
          </p:nvCxnSpPr>
          <p:spPr bwMode="auto">
            <a:xfrm rot="2700000" flipV="1">
              <a:off x="4727633" y="4357763"/>
              <a:ext cx="0" cy="175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3" name="Line 213"/>
            <p:cNvCxnSpPr>
              <a:cxnSpLocks noChangeShapeType="1"/>
            </p:cNvCxnSpPr>
            <p:nvPr/>
          </p:nvCxnSpPr>
          <p:spPr bwMode="auto">
            <a:xfrm flipV="1">
              <a:off x="3518349" y="2922744"/>
              <a:ext cx="0" cy="1524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grpSp>
          <p:nvGrpSpPr>
            <p:cNvPr id="70" name="Gruppe 69"/>
            <p:cNvGrpSpPr/>
            <p:nvPr/>
          </p:nvGrpSpPr>
          <p:grpSpPr>
            <a:xfrm>
              <a:off x="874404" y="4049635"/>
              <a:ext cx="193014" cy="152401"/>
              <a:chOff x="3486126" y="5489913"/>
              <a:chExt cx="175466" cy="152401"/>
            </a:xfrm>
          </p:grpSpPr>
          <p:cxnSp>
            <p:nvCxnSpPr>
              <p:cNvPr id="71" name="Line 213"/>
              <p:cNvCxnSpPr>
                <a:cxnSpLocks noChangeShapeType="1"/>
              </p:cNvCxnSpPr>
              <p:nvPr/>
            </p:nvCxnSpPr>
            <p:spPr bwMode="auto">
              <a:xfrm flipV="1">
                <a:off x="3573609" y="5489913"/>
                <a:ext cx="0" cy="1524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2" name="Line 213"/>
              <p:cNvCxnSpPr>
                <a:cxnSpLocks noChangeShapeType="1"/>
              </p:cNvCxnSpPr>
              <p:nvPr/>
            </p:nvCxnSpPr>
            <p:spPr bwMode="auto">
              <a:xfrm rot="2700000" flipV="1">
                <a:off x="3573859" y="5554580"/>
                <a:ext cx="0" cy="1754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74" name="Line 213"/>
            <p:cNvCxnSpPr>
              <a:cxnSpLocks noChangeShapeType="1"/>
            </p:cNvCxnSpPr>
            <p:nvPr/>
          </p:nvCxnSpPr>
          <p:spPr bwMode="auto">
            <a:xfrm flipV="1">
              <a:off x="3519119" y="3653306"/>
              <a:ext cx="0" cy="1524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3" name="Lige pilforbindelse 2"/>
            <p:cNvCxnSpPr/>
            <p:nvPr/>
          </p:nvCxnSpPr>
          <p:spPr>
            <a:xfrm flipV="1">
              <a:off x="4727921" y="3501008"/>
              <a:ext cx="0" cy="6492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Lige pilforbindelse 51"/>
            <p:cNvCxnSpPr/>
            <p:nvPr/>
          </p:nvCxnSpPr>
          <p:spPr>
            <a:xfrm flipV="1">
              <a:off x="971600" y="3252664"/>
              <a:ext cx="0" cy="6492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uppe 52"/>
            <p:cNvGrpSpPr/>
            <p:nvPr/>
          </p:nvGrpSpPr>
          <p:grpSpPr>
            <a:xfrm>
              <a:off x="1297494" y="5162075"/>
              <a:ext cx="193014" cy="152401"/>
              <a:chOff x="3486126" y="5489913"/>
              <a:chExt cx="175466" cy="152401"/>
            </a:xfrm>
          </p:grpSpPr>
          <p:cxnSp>
            <p:nvCxnSpPr>
              <p:cNvPr id="54" name="Line 213"/>
              <p:cNvCxnSpPr>
                <a:cxnSpLocks noChangeShapeType="1"/>
              </p:cNvCxnSpPr>
              <p:nvPr/>
            </p:nvCxnSpPr>
            <p:spPr bwMode="auto">
              <a:xfrm flipV="1">
                <a:off x="3573609" y="5489913"/>
                <a:ext cx="0" cy="15240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0" name="Line 213"/>
              <p:cNvCxnSpPr>
                <a:cxnSpLocks noChangeShapeType="1"/>
              </p:cNvCxnSpPr>
              <p:nvPr/>
            </p:nvCxnSpPr>
            <p:spPr bwMode="auto">
              <a:xfrm rot="2700000" flipV="1">
                <a:off x="3573859" y="5554580"/>
                <a:ext cx="0" cy="1754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61" name="Lige pilforbindelse 60"/>
            <p:cNvCxnSpPr/>
            <p:nvPr/>
          </p:nvCxnSpPr>
          <p:spPr>
            <a:xfrm flipV="1">
              <a:off x="1394690" y="4365104"/>
              <a:ext cx="0" cy="64921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236"/>
            <p:cNvSpPr>
              <a:spLocks noChangeArrowheads="1"/>
            </p:cNvSpPr>
            <p:nvPr/>
          </p:nvSpPr>
          <p:spPr bwMode="auto">
            <a:xfrm>
              <a:off x="2555988" y="2638256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5" name="Rectangle 236"/>
            <p:cNvSpPr>
              <a:spLocks noChangeArrowheads="1"/>
            </p:cNvSpPr>
            <p:nvPr/>
          </p:nvSpPr>
          <p:spPr bwMode="auto">
            <a:xfrm>
              <a:off x="2555988" y="3311972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6" name="Rectangle 236"/>
            <p:cNvSpPr>
              <a:spLocks noChangeArrowheads="1"/>
            </p:cNvSpPr>
            <p:nvPr/>
          </p:nvSpPr>
          <p:spPr bwMode="auto">
            <a:xfrm>
              <a:off x="3268836" y="4407604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77" name="Rectangle 236"/>
            <p:cNvSpPr>
              <a:spLocks noChangeArrowheads="1"/>
            </p:cNvSpPr>
            <p:nvPr/>
          </p:nvSpPr>
          <p:spPr bwMode="auto">
            <a:xfrm>
              <a:off x="2026532" y="4414868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2" name="Rectangle 236"/>
            <p:cNvSpPr>
              <a:spLocks noChangeArrowheads="1"/>
            </p:cNvSpPr>
            <p:nvPr/>
          </p:nvSpPr>
          <p:spPr bwMode="auto">
            <a:xfrm>
              <a:off x="1768063" y="3249245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3" name="Rectangle 236"/>
            <p:cNvSpPr>
              <a:spLocks noChangeArrowheads="1"/>
            </p:cNvSpPr>
            <p:nvPr/>
          </p:nvSpPr>
          <p:spPr bwMode="auto">
            <a:xfrm>
              <a:off x="3389114" y="3209993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4" name="Rectangle 236"/>
            <p:cNvSpPr>
              <a:spLocks noChangeArrowheads="1"/>
            </p:cNvSpPr>
            <p:nvPr/>
          </p:nvSpPr>
          <p:spPr bwMode="auto">
            <a:xfrm>
              <a:off x="754906" y="3466033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5" name="Rectangle 236"/>
            <p:cNvSpPr>
              <a:spLocks noChangeArrowheads="1"/>
            </p:cNvSpPr>
            <p:nvPr/>
          </p:nvSpPr>
          <p:spPr bwMode="auto">
            <a:xfrm>
              <a:off x="1182474" y="4576418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6" name="Rectangle 236"/>
            <p:cNvSpPr>
              <a:spLocks noChangeArrowheads="1"/>
            </p:cNvSpPr>
            <p:nvPr/>
          </p:nvSpPr>
          <p:spPr bwMode="auto">
            <a:xfrm>
              <a:off x="4792399" y="3691713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 err="1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-25000" dirty="0" err="1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7" name="Rectangle 236"/>
            <p:cNvSpPr>
              <a:spLocks noChangeArrowheads="1"/>
            </p:cNvSpPr>
            <p:nvPr/>
          </p:nvSpPr>
          <p:spPr bwMode="auto">
            <a:xfrm>
              <a:off x="3529176" y="2745189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30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da-DK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8" name="Rectangle 236"/>
            <p:cNvSpPr>
              <a:spLocks noChangeArrowheads="1"/>
            </p:cNvSpPr>
            <p:nvPr/>
          </p:nvSpPr>
          <p:spPr bwMode="auto">
            <a:xfrm>
              <a:off x="3529313" y="3753301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30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da-DK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89" name="Rectangle 236"/>
            <p:cNvSpPr>
              <a:spLocks noChangeArrowheads="1"/>
            </p:cNvSpPr>
            <p:nvPr/>
          </p:nvSpPr>
          <p:spPr bwMode="auto">
            <a:xfrm>
              <a:off x="877736" y="2868689"/>
              <a:ext cx="463665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200" i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(Reset)</a:t>
              </a:r>
              <a:endParaRPr lang="da-DK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0" name="Rectangle 236"/>
            <p:cNvSpPr>
              <a:spLocks noChangeArrowheads="1"/>
            </p:cNvSpPr>
            <p:nvPr/>
          </p:nvSpPr>
          <p:spPr bwMode="auto">
            <a:xfrm>
              <a:off x="1324512" y="4036021"/>
              <a:ext cx="316690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200" i="1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(Set)</a:t>
              </a:r>
              <a:endParaRPr lang="da-DK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91" name="Rectangle 236"/>
            <p:cNvSpPr>
              <a:spLocks noChangeArrowheads="1"/>
            </p:cNvSpPr>
            <p:nvPr/>
          </p:nvSpPr>
          <p:spPr bwMode="auto">
            <a:xfrm>
              <a:off x="2483098" y="2114264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da-DK" sz="1400" baseline="30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da-DK" sz="1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1" name="Rectangle 236"/>
            <p:cNvSpPr>
              <a:spLocks noChangeArrowheads="1"/>
            </p:cNvSpPr>
            <p:nvPr/>
          </p:nvSpPr>
          <p:spPr bwMode="auto">
            <a:xfrm>
              <a:off x="3664789" y="4414472"/>
              <a:ext cx="258469" cy="24700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ctr" anchorCtr="0" upright="1">
              <a:noAutofit/>
            </a:bodyPr>
            <a:lstStyle/>
            <a:p>
              <a:pPr>
                <a:spcAft>
                  <a:spcPts val="0"/>
                </a:spcAft>
              </a:pPr>
              <a:r>
                <a:rPr lang="da-DK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da-DK" sz="1400" baseline="-250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da-DK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94" name="Undertitel 2"/>
          <p:cNvSpPr txBox="1">
            <a:spLocks/>
          </p:cNvSpPr>
          <p:nvPr/>
        </p:nvSpPr>
        <p:spPr>
          <a:xfrm>
            <a:off x="5580112" y="743497"/>
            <a:ext cx="3240360" cy="311755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/>
              <a:t>V</a:t>
            </a:r>
            <a:r>
              <a:rPr lang="da-DK" sz="1600" i="1" baseline="30000" dirty="0"/>
              <a:t>+</a:t>
            </a:r>
            <a:r>
              <a:rPr lang="da-DK" sz="1600" i="1" dirty="0"/>
              <a:t> = 15 V</a:t>
            </a:r>
          </a:p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/>
              <a:t>R</a:t>
            </a:r>
            <a:r>
              <a:rPr lang="da-DK" sz="1600" i="1" baseline="-25000" dirty="0"/>
              <a:t>1</a:t>
            </a:r>
            <a:r>
              <a:rPr lang="da-DK" sz="1600" i="1" dirty="0"/>
              <a:t> = 1 k</a:t>
            </a:r>
            <a:r>
              <a:rPr lang="el-GR" sz="1600" i="1" dirty="0"/>
              <a:t>Ω</a:t>
            </a:r>
            <a:endParaRPr lang="da-DK" sz="1600" i="1" dirty="0"/>
          </a:p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/>
              <a:t>R</a:t>
            </a:r>
            <a:r>
              <a:rPr lang="da-DK" sz="1600" i="1" baseline="-25000" dirty="0"/>
              <a:t>2</a:t>
            </a:r>
            <a:r>
              <a:rPr lang="da-DK" sz="1600" i="1" dirty="0"/>
              <a:t> = 9 k</a:t>
            </a:r>
            <a:r>
              <a:rPr lang="el-GR" sz="1600" i="1" dirty="0"/>
              <a:t>Ω</a:t>
            </a:r>
            <a:endParaRPr lang="da-DK" sz="1600" i="1" dirty="0"/>
          </a:p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/>
              <a:t>R</a:t>
            </a:r>
            <a:r>
              <a:rPr lang="da-DK" sz="1600" i="1" baseline="-25000" dirty="0"/>
              <a:t>3</a:t>
            </a:r>
            <a:r>
              <a:rPr lang="da-DK" sz="1600" i="1" dirty="0"/>
              <a:t> = 10 k</a:t>
            </a:r>
            <a:r>
              <a:rPr lang="el-GR" sz="1600" i="1" dirty="0"/>
              <a:t>Ω</a:t>
            </a:r>
            <a:r>
              <a:rPr lang="da-DK" sz="1600" i="1" dirty="0"/>
              <a:t> (ukritisk)</a:t>
            </a:r>
          </a:p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/>
              <a:t>D</a:t>
            </a:r>
            <a:r>
              <a:rPr lang="da-DK" sz="1600" i="1" baseline="-25000" dirty="0"/>
              <a:t>Z</a:t>
            </a:r>
            <a:r>
              <a:rPr lang="da-DK" sz="1600" i="1" dirty="0"/>
              <a:t> er en 6,8 V </a:t>
            </a:r>
            <a:r>
              <a:rPr lang="da-DK" sz="1600" i="1" dirty="0" err="1"/>
              <a:t>zenerdiode</a:t>
            </a:r>
            <a:endParaRPr lang="da-DK" sz="1600" i="1" dirty="0"/>
          </a:p>
          <a:p>
            <a:pPr marL="0" indent="0">
              <a:buNone/>
              <a:tabLst>
                <a:tab pos="1617663" algn="l"/>
              </a:tabLst>
            </a:pPr>
            <a:endParaRPr lang="da-DK" sz="1600" i="1" dirty="0"/>
          </a:p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/>
              <a:t>A</a:t>
            </a:r>
            <a:r>
              <a:rPr lang="da-DK" sz="1600" i="1" baseline="-25000" dirty="0"/>
              <a:t>1</a:t>
            </a:r>
            <a:r>
              <a:rPr lang="da-DK" sz="1600" i="1" dirty="0"/>
              <a:t> kan regnes ideel bortset fra:</a:t>
            </a:r>
          </a:p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 err="1"/>
              <a:t>V</a:t>
            </a:r>
            <a:r>
              <a:rPr lang="da-DK" sz="1600" i="1" baseline="-25000" dirty="0" err="1"/>
              <a:t>o</a:t>
            </a:r>
            <a:r>
              <a:rPr lang="da-DK" sz="1600" i="1" baseline="30000" dirty="0" err="1"/>
              <a:t>+</a:t>
            </a:r>
            <a:r>
              <a:rPr lang="da-DK" sz="1600" i="1" baseline="-25000" dirty="0" err="1"/>
              <a:t>SAT</a:t>
            </a:r>
            <a:r>
              <a:rPr lang="da-DK" sz="1600" i="1" dirty="0"/>
              <a:t> = - V</a:t>
            </a:r>
            <a:r>
              <a:rPr lang="da-DK" sz="1600" i="1" baseline="-25000" dirty="0"/>
              <a:t>o</a:t>
            </a:r>
            <a:r>
              <a:rPr lang="da-DK" sz="1600" i="1" baseline="30000" dirty="0"/>
              <a:t>-</a:t>
            </a:r>
            <a:r>
              <a:rPr lang="da-DK" sz="1600" i="1" baseline="-25000" dirty="0"/>
              <a:t>SAT</a:t>
            </a:r>
            <a:r>
              <a:rPr lang="da-DK" sz="1600" i="1" dirty="0"/>
              <a:t> = 14 V</a:t>
            </a:r>
          </a:p>
          <a:p>
            <a:pPr marL="0" indent="0">
              <a:buNone/>
              <a:tabLst>
                <a:tab pos="1617663" algn="l"/>
              </a:tabLst>
            </a:pPr>
            <a:endParaRPr lang="da-DK" sz="1600" i="1" dirty="0"/>
          </a:p>
          <a:p>
            <a:pPr marL="0" indent="0">
              <a:buNone/>
              <a:tabLst>
                <a:tab pos="1617663" algn="l"/>
              </a:tabLst>
            </a:pPr>
            <a:r>
              <a:rPr lang="da-DK" sz="1600" i="1" dirty="0"/>
              <a:t>Alle dioder kan regnes </a:t>
            </a:r>
            <a:r>
              <a:rPr lang="da-DK" sz="1600" i="1" dirty="0" err="1"/>
              <a:t>idelle</a:t>
            </a:r>
            <a:r>
              <a:rPr lang="da-DK" sz="1600" i="1" dirty="0"/>
              <a:t> bortset fra 0,7 V i </a:t>
            </a:r>
            <a:r>
              <a:rPr lang="da-DK" sz="1600" i="1" dirty="0" err="1"/>
              <a:t>lederetningen</a:t>
            </a:r>
            <a:r>
              <a:rPr lang="da-DK" sz="1600" i="1" dirty="0"/>
              <a:t>.</a:t>
            </a:r>
          </a:p>
          <a:p>
            <a:pPr marL="0" indent="0">
              <a:buNone/>
              <a:tabLst>
                <a:tab pos="1617663" algn="l"/>
              </a:tabLst>
            </a:pPr>
            <a:endParaRPr lang="da-DK" sz="1600" i="1" dirty="0"/>
          </a:p>
        </p:txBody>
      </p:sp>
      <p:sp>
        <p:nvSpPr>
          <p:cNvPr id="102" name="Titel 1"/>
          <p:cNvSpPr txBox="1">
            <a:spLocks/>
          </p:cNvSpPr>
          <p:nvPr/>
        </p:nvSpPr>
        <p:spPr>
          <a:xfrm>
            <a:off x="395536" y="4286749"/>
            <a:ext cx="8344544" cy="144650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Bemærk at en </a:t>
            </a:r>
            <a:r>
              <a:rPr lang="da-DK" sz="1600" i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zenerdiode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</a:t>
            </a:r>
            <a:r>
              <a:rPr lang="da-DK" sz="1600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sat ind i serie med D</a:t>
            </a:r>
            <a:r>
              <a:rPr lang="da-DK" sz="1600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samt at forholdet mellem modstandene R</a:t>
            </a:r>
            <a:r>
              <a:rPr lang="da-DK" sz="1600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og R</a:t>
            </a:r>
            <a:r>
              <a:rPr lang="da-DK" sz="1600" i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ændret.</a:t>
            </a:r>
          </a:p>
          <a:p>
            <a:pPr lvl="0" algn="l">
              <a:lnSpc>
                <a:spcPct val="107000"/>
              </a:lnSpc>
              <a:spcAft>
                <a:spcPts val="0"/>
              </a:spcAft>
            </a:pPr>
            <a:r>
              <a:rPr lang="da-DK" sz="16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Dette giver samlet lidt mere ”humane” værdier for ”Set” og ”Reset”.</a:t>
            </a:r>
          </a:p>
        </p:txBody>
      </p:sp>
    </p:spTree>
    <p:extLst>
      <p:ext uri="{BB962C8B-B14F-4D97-AF65-F5344CB8AC3E}">
        <p14:creationId xmlns:p14="http://schemas.microsoft.com/office/powerpoint/2010/main" val="1576721198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3771</TotalTime>
  <Words>1025</Words>
  <Application>Microsoft Office PowerPoint</Application>
  <PresentationFormat>On-screen Show (4:3)</PresentationFormat>
  <Paragraphs>244</Paragraphs>
  <Slides>33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Kontortema</vt:lpstr>
      <vt:lpstr>ELE-plan for i dag</vt:lpstr>
      <vt:lpstr>Offset- og biasfejl</vt:lpstr>
      <vt:lpstr>PowerPoint Presentation</vt:lpstr>
      <vt:lpstr>Op Amp som switch-kredsløb: Ikke negativ feedback!</vt:lpstr>
      <vt:lpstr>Betingelsen for skift på udgangen af en Op Amp?</vt:lpstr>
      <vt:lpstr>Betingelsen for skift på udgangen af en Op Amp?</vt:lpstr>
      <vt:lpstr>Betingelsen for skift på udgangen af en Op Amp?</vt:lpstr>
      <vt:lpstr>PowerPoint Presentation</vt:lpstr>
      <vt:lpstr>PowerPoint Presentation</vt:lpstr>
      <vt:lpstr>PowerPoint Presentation</vt:lpstr>
      <vt:lpstr>Hvilke værdier kan vo så antage?</vt:lpstr>
      <vt:lpstr>Hvilke værdier kan vo så antage?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”Latch”</vt:lpstr>
      <vt:lpstr>PowerPoint Presentation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Lektion 5</dc:title>
  <dc:creator>Jan Petersen</dc:creator>
  <cp:lastModifiedBy>Jan Petersen</cp:lastModifiedBy>
  <cp:revision>448</cp:revision>
  <dcterms:created xsi:type="dcterms:W3CDTF">2013-01-28T12:22:54Z</dcterms:created>
  <dcterms:modified xsi:type="dcterms:W3CDTF">2026-05-04T06:03:49Z</dcterms:modified>
</cp:coreProperties>
</file>
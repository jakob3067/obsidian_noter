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y="6858000" cx="12192000"/>
  <p:notesSz cx="6858000" cy="9144000"/>
  <p:embeddedFontLst>
    <p:embeddedFont>
      <p:font typeface="Roboto Mono"/>
      <p:regular r:id="rId115"/>
      <p:bold r:id="rId116"/>
      <p:italic r:id="rId117"/>
      <p:boldItalic r:id="rId1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40">
          <p15:clr>
            <a:srgbClr val="A4A3A4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19" roundtripDataSignature="AMtx7miuSUQUMnalEKR5QOhAM53CSCxq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0E8BA9-356B-4163-899E-802C8855E5E2}">
  <a:tblStyle styleId="{570E8BA9-356B-4163-899E-802C8855E5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1C16A38-58B3-4CFE-88BA-426928C8911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RobotoMono-boldItalic.fntdata"/><Relationship Id="rId117" Type="http://schemas.openxmlformats.org/officeDocument/2006/relationships/font" Target="fonts/RobotoMono-italic.fntdata"/><Relationship Id="rId116" Type="http://schemas.openxmlformats.org/officeDocument/2006/relationships/font" Target="fonts/RobotoMono-bold.fntdata"/><Relationship Id="rId115" Type="http://schemas.openxmlformats.org/officeDocument/2006/relationships/font" Target="fonts/RobotoMono-regular.fntdata"/><Relationship Id="rId119" Type="http://customschemas.google.com/relationships/presentationmetadata" Target="meta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/>
          </a:p>
        </p:txBody>
      </p:sp>
      <p:sp>
        <p:nvSpPr>
          <p:cNvPr id="165" name="Google Shape;16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0da6d3164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74" name="Google Shape;174;g20da6d31641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1c00e193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81" name="Google Shape;181;g21c00e1933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af96dc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90" name="Google Shape;190;g2f18af96dc2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3a6a09a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98" name="Google Shape;198;g2d3a6a09a8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069c0c85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206" name="Google Shape;206;g3069c0c858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2025b0bb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213" name="Google Shape;213;g22025b0bba9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05b4eb1b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220" name="Google Shape;220;g305b4eb1b9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05b4eb1b9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227" name="Google Shape;227;g305b4eb1b9c_0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05b4eb1b9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236" name="Google Shape;236;g305b4eb1b9c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05b4eb1b9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245" name="Google Shape;245;g305b4eb1b9c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5b4eb1b9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254" name="Google Shape;254;g305b4eb1b9c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05b4eb1b9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263" name="Google Shape;263;g305b4eb1b9c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2025b0bba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272" name="Google Shape;272;g22025b0bba9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05b4eb1b9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281" name="Google Shape;281;g305b4eb1b9c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05b4eb1b9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291" name="Google Shape;291;g305b4eb1b9c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05b4eb1b9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301" name="Google Shape;301;g305b4eb1b9c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05b4eb1b9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311" name="Google Shape;311;g305b4eb1b9c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05b4eb1b9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321" name="Google Shape;321;g305b4eb1b9c_0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2025b0bba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331" name="Google Shape;331;g22025b0bba9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0617fb53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341" name="Google Shape;341;g30617fb537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069c0c858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351" name="Google Shape;351;g3069c0c8589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0617fb537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361" name="Google Shape;361;g30617fb5373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2025b0bba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371" name="Google Shape;371;g22025b0bba9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fd736fb5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379" name="Google Shape;379;g2fd736fb5b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0617fb537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387" name="Google Shape;387;g30617fb5373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2025b0bba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395" name="Google Shape;395;g22025b0bba9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069c0c858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403" name="Google Shape;403;g3069c0c8589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2025b0bba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411" name="Google Shape;411;g22025b0bba9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069c0c858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419" name="Google Shape;419;g3069c0c8589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f187c094b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427" name="Google Shape;427;g2f187c094b0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069c0c858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435" name="Google Shape;435;g3069c0c8589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f187c094b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443" name="Google Shape;443;g2f187c094b0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f18af96dc2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451" name="Google Shape;451;g2f18af96dc2_0_1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f0f0e84c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458" name="Google Shape;458;g2f0f0e84c1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05b4eb1b9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468" name="Google Shape;468;g305b4eb1b9c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05b4eb1b9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478" name="Google Shape;478;g305b4eb1b9c_0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05b4eb1b9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488" name="Google Shape;488;g305b4eb1b9c_0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05b4eb1b9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498" name="Google Shape;498;g305b4eb1b9c_0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f18af96dc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508" name="Google Shape;508;g2f18af96dc2_0_1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05b4eb1b9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517" name="Google Shape;517;g305b4eb1b9c_0_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05b4eb1b9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527" name="Google Shape;527;g305b4eb1b9c_0_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05b4eb1b9c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538" name="Google Shape;538;g305b4eb1b9c_0_1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f18af96dc2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550" name="Google Shape;550;g2f18af96dc2_0_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05b4eb1b9c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561" name="Google Shape;561;g305b4eb1b9c_0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05b4eb1b9c_13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568" name="Google Shape;568;g305b4eb1b9c_13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05b4eb1b9c_13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577" name="Google Shape;577;g305b4eb1b9c_131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05b4eb1b9c_13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587" name="Google Shape;587;g305b4eb1b9c_131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f18af96dc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598" name="Google Shape;598;g2f18af96dc2_0_2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05b4eb1b9c_13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605" name="Google Shape;605;g305b4eb1b9c_131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05b4eb1b9c_13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614" name="Google Shape;614;g305b4eb1b9c_131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05b4eb1b9c_13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624" name="Google Shape;624;g305b4eb1b9c_131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05b4eb1b9c_13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635" name="Google Shape;635;g305b4eb1b9c_131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f20ea9a4c1_3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647" name="Google Shape;647;g2f20ea9a4c1_33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f20ea9a4c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654" name="Google Shape;654;g2f20ea9a4c1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069c0c858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661" name="Google Shape;661;g3069c0c8589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05b4eb1b9c_13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668" name="Google Shape;668;g305b4eb1b9c_131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05b4eb1b9c_13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677" name="Google Shape;677;g305b4eb1b9c_131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05b4eb1b9c_13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686" name="Google Shape;686;g305b4eb1b9c_131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2f20ea9a4c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693" name="Google Shape;693;g2f20ea9a4c1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05b4eb1b9c_13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702" name="Google Shape;702;g305b4eb1b9c_131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2f20ea9a4c1_3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711" name="Google Shape;711;g2f20ea9a4c1_33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05b4eb1b9c_13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720" name="Google Shape;720;g305b4eb1b9c_131_1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05b4eb1b9c_13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730" name="Google Shape;730;g305b4eb1b9c_131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05b4eb1b9c_13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740" name="Google Shape;740;g305b4eb1b9c_131_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f20ea9a4c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750" name="Google Shape;750;g2f20ea9a4c1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05b4eb1b9c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762" name="Google Shape;762;g305b4eb1b9c_0_2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05b4eb1b9c_13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774" name="Google Shape;774;g305b4eb1b9c_131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f73d1f9d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781" name="Google Shape;781;g2f73d1f9d2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05b4eb1b9c_13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790" name="Google Shape;790;g305b4eb1b9c_131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f20ea9a4c1_3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799" name="Google Shape;799;g2f20ea9a4c1_33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f26faab6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808" name="Google Shape;808;g2f26faab6a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05b4eb1b9c_13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820" name="Google Shape;820;g305b4eb1b9c_131_1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05b4eb1b9c_13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829" name="Google Shape;829;g305b4eb1b9c_131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f20ea9a4c1_33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838" name="Google Shape;838;g2f20ea9a4c1_33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0617fb537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845" name="Google Shape;845;g30617fb5373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0617fb537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854" name="Google Shape;854;g30617fb5373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f20ea9a4c1_3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864" name="Google Shape;864;g2f20ea9a4c1_33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0617fb537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873" name="Google Shape;873;g30617fb5373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f20ea9a4c1_3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882" name="Google Shape;882;g2f20ea9a4c1_33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f23f207386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891" name="Google Shape;891;g2f23f207386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f2ad17ce3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899" name="Google Shape;899;g2f2ad17ce39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f2ad17ce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07" name="Google Shape;907;g2f2ad17ce39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069c0c858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17" name="Google Shape;917;g3069c0c8589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f23f207386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28" name="Google Shape;928;g2f23f207386_0_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f23f207386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35" name="Google Shape;935;g2f23f207386_0_2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f23f207386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44" name="Google Shape;944;g2f23f207386_0_2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f23f207386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55" name="Google Shape;955;g2f23f207386_0_2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069c0c858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64" name="Google Shape;964;g3069c0c8589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069c0c858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73" name="Google Shape;973;g3069c0c8589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069c0c858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82" name="Google Shape;982;g3069c0c8589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0617fb537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91" name="Google Shape;991;g30617fb5373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2f23f207386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002" name="Google Shape;1002;g2f23f207386_0_2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f23f207386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012" name="Google Shape;1012;g2f23f207386_0_2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2f264555a6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022" name="Google Shape;1022;g2f264555a69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f264555a6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032" name="Google Shape;1032;g2f264555a69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f264555a6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043" name="Google Shape;1043;g2f264555a69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f264555a6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051" name="Google Shape;1051;g2f264555a69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f264555a6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059" name="Google Shape;1059;g2f264555a69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061f14cd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066" name="Google Shape;1066;g3061f14cd5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069c0c858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073" name="Google Shape;1073;g3069c0c8589_0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069c0c858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082" name="Google Shape;1082;g3069c0c8589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069c0c858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091" name="Google Shape;1091;g3069c0c8589_0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06624580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100" name="Google Shape;1100;g3066245805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066245805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108" name="Google Shape;1108;g30662458056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066245805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116" name="Google Shape;1116;g30662458056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066245805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124" name="Google Shape;1124;g30662458056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f0fe8c690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131" name="Google Shape;1131;g2f0fe8c690b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vid forside">
  <p:cSld name="Hvid fors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349384" y="1760373"/>
            <a:ext cx="10069011" cy="4070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None/>
              <a:defRPr sz="9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B">
  <p:cSld name="Breaker B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/>
          <p:nvPr>
            <p:ph type="ctrTitle"/>
          </p:nvPr>
        </p:nvSpPr>
        <p:spPr>
          <a:xfrm>
            <a:off x="414697" y="1700212"/>
            <a:ext cx="5367600" cy="41417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/>
          <p:nvPr>
            <p:ph idx="2" type="pic"/>
          </p:nvPr>
        </p:nvSpPr>
        <p:spPr>
          <a:xfrm>
            <a:off x="6415848" y="1000443"/>
            <a:ext cx="4951428" cy="4841557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2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1"/>
          <p:cNvSpPr txBox="1"/>
          <p:nvPr/>
        </p:nvSpPr>
        <p:spPr>
          <a:xfrm>
            <a:off x="0" y="-349741"/>
            <a:ext cx="1145718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Skift baggrundsfarve. 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Højreklik på slidet og vælg </a:t>
            </a: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Formatér baggrund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Klik på </a:t>
            </a: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Fyld farve 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Formater baggrund vinduet og vælg farve fra øverste række i SDU’s farve palette eller fra den brugerdefinerede farvepalette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rt forside" showMasterSp="0">
  <p:cSld name="Sort fors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9"/>
          <p:cNvSpPr txBox="1"/>
          <p:nvPr>
            <p:ph type="ctrTitle"/>
          </p:nvPr>
        </p:nvSpPr>
        <p:spPr>
          <a:xfrm>
            <a:off x="349384" y="1760373"/>
            <a:ext cx="10069011" cy="4070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Arial"/>
              <a:buNone/>
              <a:defRPr sz="9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{&quot;templafy&quot;:{&quot;id&quot;:&quot;ab69690c-3529-4e2d-aa78-bd6ad8861af9&quot;}}" id="34" name="Google Shape;34;p19" title="UserProfile.Institut.InstituteDCU_{{DocumentLanguage}}"/>
          <p:cNvSpPr txBox="1"/>
          <p:nvPr/>
        </p:nvSpPr>
        <p:spPr>
          <a:xfrm>
            <a:off x="411163" y="450893"/>
            <a:ext cx="5684837" cy="284778"/>
          </a:xfrm>
          <a:prstGeom prst="rect">
            <a:avLst/>
          </a:prstGeom>
          <a:noFill/>
          <a:ln>
            <a:noFill/>
          </a:ln>
        </p:spPr>
        <p:txBody>
          <a:bodyPr anchorCtr="0" anchor="b" bIns="90000" lIns="1080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SDU UAS Center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3200" y="6296400"/>
            <a:ext cx="786874" cy="21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9"/>
          <p:cNvSpPr/>
          <p:nvPr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sdu.dk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/>
          <p:nvPr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#sdudk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19"/>
          <p:cNvCxnSpPr/>
          <p:nvPr/>
        </p:nvCxnSpPr>
        <p:spPr>
          <a:xfrm>
            <a:off x="410400" y="715665"/>
            <a:ext cx="699211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descr="{&quot;templafy&quot;:{&quot;id&quot;:&quot;853e8b13-d8cd-4a74-ba35-40b8772d8716&quot;}}" id="39" name="Google Shape;39;p19" title="Form.Date"/>
          <p:cNvSpPr/>
          <p:nvPr/>
        </p:nvSpPr>
        <p:spPr>
          <a:xfrm>
            <a:off x="9156032" y="6349384"/>
            <a:ext cx="2624806" cy="1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June 2021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A" showMasterSp="0">
  <p:cSld name="Breaker A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/>
          <p:nvPr>
            <p:ph idx="2" type="pic"/>
          </p:nvPr>
        </p:nvSpPr>
        <p:spPr>
          <a:xfrm>
            <a:off x="6415848" y="1000443"/>
            <a:ext cx="4951428" cy="4841557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0"/>
          <p:cNvSpPr txBox="1"/>
          <p:nvPr>
            <p:ph type="ctrTitle"/>
          </p:nvPr>
        </p:nvSpPr>
        <p:spPr>
          <a:xfrm>
            <a:off x="414697" y="1700212"/>
            <a:ext cx="5367600" cy="4141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{&quot;templafy&quot;:{&quot;id&quot;:&quot;92221f92-7624-46b3-ba56-4972fe71b5d5&quot;}}" id="46" name="Google Shape;46;p20" title="UserProfile.Institut.InstituteDCU_{{DocumentLanguage}}"/>
          <p:cNvSpPr txBox="1"/>
          <p:nvPr/>
        </p:nvSpPr>
        <p:spPr>
          <a:xfrm>
            <a:off x="411163" y="450893"/>
            <a:ext cx="5684837" cy="284778"/>
          </a:xfrm>
          <a:prstGeom prst="rect">
            <a:avLst/>
          </a:prstGeom>
          <a:noFill/>
          <a:ln>
            <a:noFill/>
          </a:ln>
        </p:spPr>
        <p:txBody>
          <a:bodyPr anchorCtr="0" anchor="b" bIns="90000" lIns="1080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SDU UAS Center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0"/>
          <p:cNvSpPr/>
          <p:nvPr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sdu.dk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0"/>
          <p:cNvSpPr/>
          <p:nvPr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#sdudk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20"/>
          <p:cNvCxnSpPr/>
          <p:nvPr/>
        </p:nvCxnSpPr>
        <p:spPr>
          <a:xfrm>
            <a:off x="410400" y="715665"/>
            <a:ext cx="69921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descr="{&quot;templafy&quot;:{&quot;id&quot;:&quot;c33ce483-6122-4788-b251-556b00bc73fd&quot;}}" id="50" name="Google Shape;50;p20" title="Form.Date"/>
          <p:cNvSpPr/>
          <p:nvPr/>
        </p:nvSpPr>
        <p:spPr>
          <a:xfrm>
            <a:off x="9156032" y="6349384"/>
            <a:ext cx="2624806" cy="1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June 2021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3346" y="6294893"/>
            <a:ext cx="784800" cy="21184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0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0"/>
          <p:cNvSpPr txBox="1"/>
          <p:nvPr/>
        </p:nvSpPr>
        <p:spPr>
          <a:xfrm>
            <a:off x="0" y="-349741"/>
            <a:ext cx="1145718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Skift baggrundsfarve. 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Højreklik på slidet og vælg </a:t>
            </a: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Formatér baggrund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Klik på </a:t>
            </a: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Fyld farve 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Formater baggrund vinduet og vælg farve fra øverste række i SDU’s farve palette eller fra den brugerdefinerede farvepalette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hold og tekst" showMasterSp="0">
  <p:cSld name="Indhold og teks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/>
          <p:nvPr>
            <p:ph type="ctrTitle"/>
          </p:nvPr>
        </p:nvSpPr>
        <p:spPr>
          <a:xfrm>
            <a:off x="6692202" y="1006605"/>
            <a:ext cx="4680000" cy="1938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" type="body"/>
          </p:nvPr>
        </p:nvSpPr>
        <p:spPr>
          <a:xfrm>
            <a:off x="6692202" y="3387600"/>
            <a:ext cx="4680000" cy="24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1pPr>
            <a:lvl2pPr indent="-3429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descr="{&quot;templafy&quot;:{&quot;id&quot;:&quot;01ea93db-2475-4667-b713-78fcafd413ee&quot;}}" id="58" name="Google Shape;58;p22" title="UserProfile.Institut.InstituteDCU_{{DocumentLanguage}}"/>
          <p:cNvSpPr txBox="1"/>
          <p:nvPr/>
        </p:nvSpPr>
        <p:spPr>
          <a:xfrm>
            <a:off x="411163" y="450893"/>
            <a:ext cx="5684837" cy="284778"/>
          </a:xfrm>
          <a:prstGeom prst="rect">
            <a:avLst/>
          </a:prstGeom>
          <a:noFill/>
          <a:ln>
            <a:noFill/>
          </a:ln>
        </p:spPr>
        <p:txBody>
          <a:bodyPr anchorCtr="0" anchor="b" bIns="90000" lIns="1080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SDU UAS Center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2"/>
          <p:cNvSpPr/>
          <p:nvPr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sdu.dk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2"/>
          <p:cNvSpPr/>
          <p:nvPr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#sdudk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22"/>
          <p:cNvCxnSpPr/>
          <p:nvPr/>
        </p:nvCxnSpPr>
        <p:spPr>
          <a:xfrm>
            <a:off x="410400" y="715665"/>
            <a:ext cx="69921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descr="{&quot;templafy&quot;:{&quot;id&quot;:&quot;1da6d360-ce98-44f7-aaf7-a57884d2d6dd&quot;}}" id="62" name="Google Shape;62;p22" title="Form.Date"/>
          <p:cNvSpPr/>
          <p:nvPr/>
        </p:nvSpPr>
        <p:spPr>
          <a:xfrm>
            <a:off x="9156032" y="6349384"/>
            <a:ext cx="2624806" cy="1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June 2021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3346" y="6294893"/>
            <a:ext cx="784800" cy="21184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2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2"/>
          <p:cNvSpPr txBox="1"/>
          <p:nvPr>
            <p:ph idx="2" type="body"/>
          </p:nvPr>
        </p:nvSpPr>
        <p:spPr>
          <a:xfrm>
            <a:off x="422432" y="1000443"/>
            <a:ext cx="5077365" cy="4853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1pPr>
            <a:lvl2pPr indent="-3429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1" type="ftr"/>
          </p:nvPr>
        </p:nvSpPr>
        <p:spPr>
          <a:xfrm>
            <a:off x="6915600" y="6376129"/>
            <a:ext cx="2240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22"/>
          <p:cNvSpPr txBox="1"/>
          <p:nvPr/>
        </p:nvSpPr>
        <p:spPr>
          <a:xfrm>
            <a:off x="0" y="-349741"/>
            <a:ext cx="1145718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Skift baggrundsfarve. 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Højreklik på slidet og vælg </a:t>
            </a: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Formatér baggrund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Klik på </a:t>
            </a: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Fyld farve 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Formater baggrund vinduet og vælg farve fra øverste række i SDU’s farve palette eller fra den brugerdefinerede farvepalette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lede og tekst (CV)" showMasterSp="0">
  <p:cSld name="Billede og tekst (CV)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"/>
          <p:cNvSpPr txBox="1"/>
          <p:nvPr>
            <p:ph type="title"/>
          </p:nvPr>
        </p:nvSpPr>
        <p:spPr>
          <a:xfrm>
            <a:off x="6710399" y="1700213"/>
            <a:ext cx="4677070" cy="1436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" type="body"/>
          </p:nvPr>
        </p:nvSpPr>
        <p:spPr>
          <a:xfrm>
            <a:off x="6692202" y="3387600"/>
            <a:ext cx="4680000" cy="24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1pPr>
            <a:lvl2pPr indent="-3429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2" type="body"/>
          </p:nvPr>
        </p:nvSpPr>
        <p:spPr>
          <a:xfrm>
            <a:off x="6710399" y="452437"/>
            <a:ext cx="4659277" cy="7904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74" name="Google Shape;74;p23"/>
          <p:cNvSpPr/>
          <p:nvPr>
            <p:ph idx="3" type="pic"/>
          </p:nvPr>
        </p:nvSpPr>
        <p:spPr>
          <a:xfrm>
            <a:off x="411163" y="1016000"/>
            <a:ext cx="4043879" cy="4804038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3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3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1" type="ftr"/>
          </p:nvPr>
        </p:nvSpPr>
        <p:spPr>
          <a:xfrm>
            <a:off x="6915600" y="6376129"/>
            <a:ext cx="2240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3"/>
          <p:cNvSpPr txBox="1"/>
          <p:nvPr>
            <p:ph idx="12" type="sldNum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9" name="Google Shape;79;p23"/>
          <p:cNvSpPr txBox="1"/>
          <p:nvPr/>
        </p:nvSpPr>
        <p:spPr>
          <a:xfrm>
            <a:off x="0" y="-349741"/>
            <a:ext cx="1145718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Skift baggrundsfarve. 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Højreklik på slidet og vælg </a:t>
            </a: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Formatér baggrund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Klik på </a:t>
            </a: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Fyld farve 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Formater baggrund vinduet og vælg farve fra øverste række i SDU’s farve palette eller fra den brugerdefinerede farvepalette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3346" y="6294893"/>
            <a:ext cx="784800" cy="211840"/>
          </a:xfrm>
          <a:prstGeom prst="rect">
            <a:avLst/>
          </a:prstGeom>
          <a:noFill/>
          <a:ln>
            <a:noFill/>
          </a:ln>
        </p:spPr>
      </p:pic>
      <p:sp>
        <p:nvSpPr>
          <p:cNvPr descr="{&quot;templafy&quot;:{&quot;id&quot;:&quot;fe7b3033-a14f-49c4-9f90-632d960b9417&quot;}}" id="81" name="Google Shape;81;p23" title="UserProfile.Institut.InstituteDCU_{{DocumentLanguage}}"/>
          <p:cNvSpPr txBox="1"/>
          <p:nvPr/>
        </p:nvSpPr>
        <p:spPr>
          <a:xfrm>
            <a:off x="411160" y="442422"/>
            <a:ext cx="6027347" cy="284778"/>
          </a:xfrm>
          <a:prstGeom prst="rect">
            <a:avLst/>
          </a:prstGeom>
          <a:noFill/>
          <a:ln>
            <a:noFill/>
          </a:ln>
        </p:spPr>
        <p:txBody>
          <a:bodyPr anchorCtr="0" anchor="b" bIns="90000" lIns="1080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SDU UAS Center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23"/>
          <p:cNvCxnSpPr/>
          <p:nvPr/>
        </p:nvCxnSpPr>
        <p:spPr>
          <a:xfrm>
            <a:off x="410400" y="715665"/>
            <a:ext cx="69921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" name="Google Shape;83;p23"/>
          <p:cNvSpPr/>
          <p:nvPr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sdu.dk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3"/>
          <p:cNvSpPr/>
          <p:nvPr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#sdudk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lede og indhold" showMasterSp="0">
  <p:cSld name="Billede og indhold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/>
          <p:nvPr>
            <p:ph idx="2" type="pic"/>
          </p:nvPr>
        </p:nvSpPr>
        <p:spPr>
          <a:xfrm>
            <a:off x="0" y="0"/>
            <a:ext cx="609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7" name="Google Shape;87;p24"/>
          <p:cNvSpPr txBox="1"/>
          <p:nvPr>
            <p:ph type="title"/>
          </p:nvPr>
        </p:nvSpPr>
        <p:spPr>
          <a:xfrm>
            <a:off x="6692401" y="1076109"/>
            <a:ext cx="4680000" cy="18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" type="body"/>
          </p:nvPr>
        </p:nvSpPr>
        <p:spPr>
          <a:xfrm>
            <a:off x="6692400" y="3387600"/>
            <a:ext cx="4680000" cy="24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1pPr>
            <a:lvl2pPr indent="-3429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descr="{&quot;templafy&quot;:{&quot;id&quot;:&quot;689a838f-b887-4ba6-893b-3174b789cdad&quot;}}" id="89" name="Google Shape;89;p24" title="UserProfile.Institut.InstituteDCU_{{DocumentLanguage}}"/>
          <p:cNvSpPr txBox="1"/>
          <p:nvPr/>
        </p:nvSpPr>
        <p:spPr>
          <a:xfrm>
            <a:off x="6692400" y="249585"/>
            <a:ext cx="4680000" cy="478677"/>
          </a:xfrm>
          <a:prstGeom prst="rect">
            <a:avLst/>
          </a:prstGeom>
          <a:noFill/>
          <a:ln>
            <a:noFill/>
          </a:ln>
        </p:spPr>
        <p:txBody>
          <a:bodyPr anchorCtr="0" anchor="b" bIns="90000" lIns="1080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SDU UAS Center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4"/>
          <p:cNvSpPr/>
          <p:nvPr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sdu.dk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4"/>
          <p:cNvSpPr/>
          <p:nvPr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#sdudk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24"/>
          <p:cNvCxnSpPr/>
          <p:nvPr/>
        </p:nvCxnSpPr>
        <p:spPr>
          <a:xfrm>
            <a:off x="6691637" y="715665"/>
            <a:ext cx="69921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descr="{&quot;templafy&quot;:{&quot;id&quot;:&quot;824dea48-45cd-4cc9-80c1-26489a3d063e&quot;}}" id="93" name="Google Shape;93;p24" title="Form.Date"/>
          <p:cNvSpPr/>
          <p:nvPr/>
        </p:nvSpPr>
        <p:spPr>
          <a:xfrm>
            <a:off x="9156032" y="6349384"/>
            <a:ext cx="2624806" cy="1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June 2021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92400" y="6294893"/>
            <a:ext cx="784800" cy="2118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4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/>
          <p:nvPr/>
        </p:nvSpPr>
        <p:spPr>
          <a:xfrm>
            <a:off x="0" y="-349741"/>
            <a:ext cx="1145718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Skift baggrundsfarve. 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Højreklik på slidet og vælg </a:t>
            </a: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Formatér baggrund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Klik på </a:t>
            </a: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Fyld farve 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Formater baggrund vinduet og vælg farve fra øverste række i SDU’s farve palette eller fra den brugerdefinerede farvepalette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skrift og billede">
  <p:cSld name="Overskrift og billed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414697" y="1700212"/>
            <a:ext cx="5367600" cy="4141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/>
          <p:nvPr>
            <p:ph idx="2" type="pic"/>
          </p:nvPr>
        </p:nvSpPr>
        <p:spPr>
          <a:xfrm>
            <a:off x="6415848" y="1000443"/>
            <a:ext cx="4951428" cy="4841557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5"/>
          <p:cNvSpPr txBox="1"/>
          <p:nvPr>
            <p:ph idx="11" type="ftr"/>
          </p:nvPr>
        </p:nvSpPr>
        <p:spPr>
          <a:xfrm>
            <a:off x="6915600" y="6376129"/>
            <a:ext cx="2240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skrift og logo">
  <p:cSld name="Overskrift og logo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ctrTitle"/>
          </p:nvPr>
        </p:nvSpPr>
        <p:spPr>
          <a:xfrm>
            <a:off x="414697" y="1700212"/>
            <a:ext cx="5367600" cy="4141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1" type="ftr"/>
          </p:nvPr>
        </p:nvSpPr>
        <p:spPr>
          <a:xfrm>
            <a:off x="6915600" y="6376129"/>
            <a:ext cx="2240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e indhold">
  <p:cSld name="Fire indhol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410401" y="1028247"/>
            <a:ext cx="2502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411163" y="1475354"/>
            <a:ext cx="2502000" cy="4366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?"/>
              <a:defRPr sz="1200"/>
            </a:lvl1pPr>
            <a:lvl2pPr indent="-3048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?"/>
              <a:defRPr sz="1200"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048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 sz="1200"/>
            </a:lvl4pPr>
            <a:lvl5pPr indent="-3048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 sz="1200"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2" type="subTitle"/>
          </p:nvPr>
        </p:nvSpPr>
        <p:spPr>
          <a:xfrm>
            <a:off x="3273164" y="1028246"/>
            <a:ext cx="2502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5" name="Google Shape;115;p27"/>
          <p:cNvSpPr txBox="1"/>
          <p:nvPr>
            <p:ph idx="3" type="body"/>
          </p:nvPr>
        </p:nvSpPr>
        <p:spPr>
          <a:xfrm>
            <a:off x="3273163" y="1475354"/>
            <a:ext cx="2502000" cy="4366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?"/>
              <a:defRPr sz="1200"/>
            </a:lvl1pPr>
            <a:lvl2pPr indent="-3048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?"/>
              <a:defRPr sz="1200"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048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 sz="1200"/>
            </a:lvl4pPr>
            <a:lvl5pPr indent="-3048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 sz="1200"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4" type="body"/>
          </p:nvPr>
        </p:nvSpPr>
        <p:spPr>
          <a:xfrm>
            <a:off x="6135163" y="1028246"/>
            <a:ext cx="2502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5" type="body"/>
          </p:nvPr>
        </p:nvSpPr>
        <p:spPr>
          <a:xfrm>
            <a:off x="6135163" y="1475354"/>
            <a:ext cx="2502000" cy="4366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?"/>
              <a:defRPr sz="1200"/>
            </a:lvl1pPr>
            <a:lvl2pPr indent="-3048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?"/>
              <a:defRPr sz="1200"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048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 sz="1200"/>
            </a:lvl4pPr>
            <a:lvl5pPr indent="-3048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 sz="1200"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6" type="body"/>
          </p:nvPr>
        </p:nvSpPr>
        <p:spPr>
          <a:xfrm>
            <a:off x="8997162" y="1028247"/>
            <a:ext cx="2502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7" type="body"/>
          </p:nvPr>
        </p:nvSpPr>
        <p:spPr>
          <a:xfrm>
            <a:off x="8997161" y="1475354"/>
            <a:ext cx="2501999" cy="4366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?"/>
              <a:defRPr sz="1200"/>
            </a:lvl1pPr>
            <a:lvl2pPr indent="-3048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?"/>
              <a:defRPr sz="1200"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048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 sz="1200"/>
            </a:lvl4pPr>
            <a:lvl5pPr indent="-3048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 sz="1200"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20" name="Google Shape;120;p27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7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11" type="ftr"/>
          </p:nvPr>
        </p:nvSpPr>
        <p:spPr>
          <a:xfrm>
            <a:off x="6915600" y="6376129"/>
            <a:ext cx="2240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7"/>
          <p:cNvSpPr txBox="1"/>
          <p:nvPr>
            <p:ph idx="12" type="sldNum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skrift og indhold A">
  <p:cSld name="Overskrift og indhold A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type="ctrTitle"/>
          </p:nvPr>
        </p:nvSpPr>
        <p:spPr>
          <a:xfrm>
            <a:off x="414697" y="1700212"/>
            <a:ext cx="5367600" cy="4141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8"/>
          <p:cNvSpPr txBox="1"/>
          <p:nvPr>
            <p:ph idx="1" type="body"/>
          </p:nvPr>
        </p:nvSpPr>
        <p:spPr>
          <a:xfrm>
            <a:off x="6673356" y="1700212"/>
            <a:ext cx="4693920" cy="4141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1pPr>
            <a:lvl2pPr indent="-3429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8"/>
          <p:cNvSpPr txBox="1"/>
          <p:nvPr>
            <p:ph idx="11" type="ftr"/>
          </p:nvPr>
        </p:nvSpPr>
        <p:spPr>
          <a:xfrm>
            <a:off x="6915600" y="6376129"/>
            <a:ext cx="2240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idx="12" type="sldNum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skrift og indhold B">
  <p:cSld name="Overskrift og indhold B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410400" y="1028246"/>
            <a:ext cx="5366267" cy="1884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>
            <a:off x="6156000" y="1028246"/>
            <a:ext cx="5216400" cy="482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1pPr>
            <a:lvl2pPr indent="-3429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34" name="Google Shape;134;p29"/>
          <p:cNvSpPr/>
          <p:nvPr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sdu.dk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9"/>
          <p:cNvSpPr/>
          <p:nvPr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#sdudk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{&quot;templafy&quot;:{&quot;id&quot;:&quot;af9a7ec2-950d-4724-a981-9133b74bd29a&quot;}}" id="136" name="Google Shape;136;p29" title="Form.Date"/>
          <p:cNvSpPr/>
          <p:nvPr/>
        </p:nvSpPr>
        <p:spPr>
          <a:xfrm>
            <a:off x="9156032" y="6349384"/>
            <a:ext cx="2624806" cy="1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June 2021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{&quot;templafy&quot;:{&quot;id&quot;:&quot;e1ac1505-f810-4b97-998d-771e5d65ff73&quot;}}" id="137" name="Google Shape;137;p29" title="UserProfile.Institut.InstituteDCU_{{DocumentLanguage}}"/>
          <p:cNvSpPr txBox="1"/>
          <p:nvPr/>
        </p:nvSpPr>
        <p:spPr>
          <a:xfrm>
            <a:off x="411163" y="450893"/>
            <a:ext cx="5684837" cy="284778"/>
          </a:xfrm>
          <a:prstGeom prst="rect">
            <a:avLst/>
          </a:prstGeom>
          <a:noFill/>
          <a:ln>
            <a:noFill/>
          </a:ln>
        </p:spPr>
        <p:txBody>
          <a:bodyPr anchorCtr="0" anchor="b" bIns="90000" lIns="1080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SDU UAS Center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29"/>
          <p:cNvCxnSpPr/>
          <p:nvPr/>
        </p:nvCxnSpPr>
        <p:spPr>
          <a:xfrm>
            <a:off x="410400" y="715665"/>
            <a:ext cx="69921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9" name="Google Shape;13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3346" y="6294893"/>
            <a:ext cx="784800" cy="21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1" type="ftr"/>
          </p:nvPr>
        </p:nvSpPr>
        <p:spPr>
          <a:xfrm>
            <a:off x="6915600" y="6376129"/>
            <a:ext cx="2240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3" name="Google Shape;143;p29"/>
          <p:cNvSpPr txBox="1"/>
          <p:nvPr/>
        </p:nvSpPr>
        <p:spPr>
          <a:xfrm>
            <a:off x="0" y="-349741"/>
            <a:ext cx="1145718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Skift baggrundsfarve. 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Højreklik på slidet og vælg </a:t>
            </a: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Formatér baggrund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Klik på </a:t>
            </a:r>
            <a:r>
              <a:rPr b="1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Fyld farve 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Formater baggrund vinduet og vælg farve fra øverste række i SDU’s farve palette eller fra den brugerdefinerede farvepalette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e ikoner">
  <p:cSld name="Fire ikon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2932902" y="1700213"/>
            <a:ext cx="9360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3429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46" name="Google Shape;146;p30"/>
          <p:cNvSpPr txBox="1"/>
          <p:nvPr>
            <p:ph idx="2" type="body"/>
          </p:nvPr>
        </p:nvSpPr>
        <p:spPr>
          <a:xfrm>
            <a:off x="2932902" y="2733129"/>
            <a:ext cx="3564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​"/>
              <a:defRPr b="1" sz="2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?"/>
              <a:defRPr/>
            </a:lvl2pPr>
            <a:lvl3pPr indent="-3048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3" type="body"/>
          </p:nvPr>
        </p:nvSpPr>
        <p:spPr>
          <a:xfrm>
            <a:off x="2934000" y="4012975"/>
            <a:ext cx="9360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3429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48" name="Google Shape;148;p30"/>
          <p:cNvSpPr txBox="1"/>
          <p:nvPr>
            <p:ph idx="4" type="body"/>
          </p:nvPr>
        </p:nvSpPr>
        <p:spPr>
          <a:xfrm>
            <a:off x="2932112" y="5093240"/>
            <a:ext cx="3564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​"/>
              <a:defRPr b="1" sz="20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?"/>
              <a:defRPr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49" name="Google Shape;149;p30"/>
          <p:cNvSpPr txBox="1"/>
          <p:nvPr>
            <p:ph idx="5" type="body"/>
          </p:nvPr>
        </p:nvSpPr>
        <p:spPr>
          <a:xfrm>
            <a:off x="7474740" y="1700213"/>
            <a:ext cx="9360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50" name="Google Shape;150;p30"/>
          <p:cNvSpPr txBox="1"/>
          <p:nvPr>
            <p:ph idx="6" type="body"/>
          </p:nvPr>
        </p:nvSpPr>
        <p:spPr>
          <a:xfrm>
            <a:off x="7459663" y="2732400"/>
            <a:ext cx="3564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​"/>
              <a:defRPr b="1" sz="20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?"/>
              <a:defRPr/>
            </a:lvl2pPr>
            <a:lvl3pPr indent="-3048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51" name="Google Shape;151;p30"/>
          <p:cNvSpPr txBox="1"/>
          <p:nvPr>
            <p:ph idx="7" type="body"/>
          </p:nvPr>
        </p:nvSpPr>
        <p:spPr>
          <a:xfrm>
            <a:off x="7459663" y="4012975"/>
            <a:ext cx="9360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3429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52" name="Google Shape;152;p30"/>
          <p:cNvSpPr txBox="1"/>
          <p:nvPr>
            <p:ph idx="8" type="body"/>
          </p:nvPr>
        </p:nvSpPr>
        <p:spPr>
          <a:xfrm>
            <a:off x="7473948" y="5093240"/>
            <a:ext cx="3564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​"/>
              <a:defRPr b="1" sz="20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?"/>
              <a:defRPr/>
            </a:lvl2pPr>
            <a:lvl3pPr indent="-3048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53" name="Google Shape;153;p30"/>
          <p:cNvSpPr txBox="1"/>
          <p:nvPr>
            <p:ph idx="11" type="ftr"/>
          </p:nvPr>
        </p:nvSpPr>
        <p:spPr>
          <a:xfrm>
            <a:off x="6915600" y="6376129"/>
            <a:ext cx="2240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3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2" type="sldNum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skrift og indhold C">
  <p:cSld name="Overskrift og indhold C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 txBox="1"/>
          <p:nvPr>
            <p:ph type="ctrTitle"/>
          </p:nvPr>
        </p:nvSpPr>
        <p:spPr>
          <a:xfrm>
            <a:off x="414696" y="999173"/>
            <a:ext cx="10952579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1"/>
          <p:cNvSpPr txBox="1"/>
          <p:nvPr>
            <p:ph idx="1" type="body"/>
          </p:nvPr>
        </p:nvSpPr>
        <p:spPr>
          <a:xfrm>
            <a:off x="414696" y="1989138"/>
            <a:ext cx="10952580" cy="3852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1pPr>
            <a:lvl2pPr indent="-3429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2pPr>
            <a:lvl3pPr indent="-3429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3pPr>
            <a:lvl4pPr indent="-3429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6pPr>
            <a:lvl7pPr indent="-3429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?"/>
              <a:defRPr/>
            </a:lvl7pPr>
            <a:lvl8pPr indent="-3429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indent="-3429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159" name="Google Shape;159;p3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1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1"/>
          <p:cNvSpPr txBox="1"/>
          <p:nvPr>
            <p:ph idx="11" type="ftr"/>
          </p:nvPr>
        </p:nvSpPr>
        <p:spPr>
          <a:xfrm>
            <a:off x="6915600" y="6376129"/>
            <a:ext cx="2240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1"/>
          <p:cNvSpPr txBox="1"/>
          <p:nvPr>
            <p:ph idx="12" type="sldNum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10400" y="1028247"/>
            <a:ext cx="11379347" cy="1602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10400" y="3369040"/>
            <a:ext cx="11371905" cy="247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​"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​"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​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03346" y="6294893"/>
            <a:ext cx="784800" cy="211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17"/>
          <p:cNvCxnSpPr/>
          <p:nvPr/>
        </p:nvCxnSpPr>
        <p:spPr>
          <a:xfrm>
            <a:off x="410400" y="715665"/>
            <a:ext cx="69921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" name="Google Shape;16;p17"/>
          <p:cNvSpPr txBox="1"/>
          <p:nvPr/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GB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15/05/2019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{&quot;templafy&quot;:{&quot;id&quot;:&quot;69fa9f3f-21ec-4d13-8073-4c9cde88db0d&quot;}}" id="17" name="Google Shape;17;p17" title="UserProfile.Institut.InstituteDCU_{{DocumentLanguage}}"/>
          <p:cNvSpPr txBox="1"/>
          <p:nvPr/>
        </p:nvSpPr>
        <p:spPr>
          <a:xfrm>
            <a:off x="411163" y="244947"/>
            <a:ext cx="5684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0000" lIns="1080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SDU – RB1-PMR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{&quot;templafy&quot;:{&quot;id&quot;:&quot;156daa5f-0db4-41c8-ae80-22821e6448c3&quot;}}" id="18" name="Google Shape;18;p17" title="Form.Date"/>
          <p:cNvSpPr/>
          <p:nvPr/>
        </p:nvSpPr>
        <p:spPr>
          <a:xfrm>
            <a:off x="411166" y="466625"/>
            <a:ext cx="6079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/>
              <a:t>Module 4: Object-Oriented Programming (OOP) and Actuator Interface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85">
          <p15:clr>
            <a:srgbClr val="F26B43"/>
          </p15:clr>
        </p15:guide>
        <p15:guide id="2" orient="horz" pos="1071">
          <p15:clr>
            <a:srgbClr val="F26B43"/>
          </p15:clr>
        </p15:guide>
        <p15:guide id="3" pos="259">
          <p15:clr>
            <a:srgbClr val="F26B43"/>
          </p15:clr>
        </p15:guide>
        <p15:guide id="4" pos="7421">
          <p15:clr>
            <a:srgbClr val="F26B43"/>
          </p15:clr>
        </p15:guide>
        <p15:guide id="5" orient="horz" pos="1253">
          <p15:clr>
            <a:srgbClr val="F26B43"/>
          </p15:clr>
        </p15:guide>
        <p15:guide id="6" orient="horz" pos="3680">
          <p15:clr>
            <a:srgbClr val="F26B43"/>
          </p15:clr>
        </p15:guide>
        <p15:guide id="7" orient="horz" pos="3916">
          <p15:clr>
            <a:srgbClr val="F26B43"/>
          </p15:clr>
        </p15:guide>
        <p15:guide id="8" orient="horz" pos="4094">
          <p15:clr>
            <a:srgbClr val="F26B43"/>
          </p15:clr>
        </p15:guide>
        <p15:guide id="9" pos="54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jegj@mmmi.sdu.d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nasounds.com/learn-how-to-solder-like-a-pro/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youtube.com/watch?v=_M93zSdylws" TargetMode="External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edium.com/pongpichs/oop-object-oriented-programing-4dda39dbb745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hyperlink" Target="https://medium.com/pongpichs/oop-object-oriented-programing-4dda39dbb745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hyperlink" Target="https://medium.com/pongpichs/oop-object-oriented-programing-4dda39dbb745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hyperlink" Target="https://medium.com/pongpichs/oop-object-oriented-programing-4dda39dbb745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hyperlink" Target="https://medium.com/pongpichs/oop-object-oriented-programing-4dda39dbb745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hyperlink" Target="https://medium.com/@sounder.rahul/python-oops-concepts-for-data-engineer-beginners-0b49d0fbce3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hyperlink" Target="https://medium.com/@sounder.rahul/python-oops-concepts-for-data-engineer-beginners-0b49d0fbce3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hyperlink" Target="https://medium.com/@sounder.rahul/python-oops-concepts-for-data-engineer-beginners-0b49d0fbce3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hyperlink" Target="https://medium.com/@sounder.rahul/python-oops-concepts-for-data-engineer-beginners-0b49d0fbce3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hyperlink" Target="https://medium.com/@sounder.rahul/python-oops-concepts-for-data-engineer-beginners-0b49d0fbce3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hyperlink" Target="https://medium.com/@sounder.rahul/python-oops-concepts-for-data-engineer-beginners-0b49d0fbce3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hyperlink" Target="https://medium.com/pongpichs/oop-object-oriented-programing-4dda39dbb745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hyperlink" Target="https://medium.com/pongpichs/oop-object-oriented-programing-4dda39dbb745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hyperlink" Target="https://medium.com/pongpichs/oop-object-oriented-programing-4dda39dbb745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hyperlink" Target="https://medium.com/pongpichs/oop-object-oriented-programing-4dda39dbb745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gif"/><Relationship Id="rId4" Type="http://schemas.openxmlformats.org/officeDocument/2006/relationships/image" Target="../media/image10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gif"/><Relationship Id="rId4" Type="http://schemas.openxmlformats.org/officeDocument/2006/relationships/image" Target="../media/image10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gif"/><Relationship Id="rId4" Type="http://schemas.openxmlformats.org/officeDocument/2006/relationships/image" Target="../media/image10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gif"/><Relationship Id="rId4" Type="http://schemas.openxmlformats.org/officeDocument/2006/relationships/image" Target="../media/image10.gif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gif"/><Relationship Id="rId4" Type="http://schemas.openxmlformats.org/officeDocument/2006/relationships/image" Target="../media/image10.gif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Relationship Id="rId4" Type="http://schemas.openxmlformats.org/officeDocument/2006/relationships/hyperlink" Target="https://www.quora.com/What-is-electric-actuator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Relationship Id="rId4" Type="http://schemas.openxmlformats.org/officeDocument/2006/relationships/image" Target="../media/image11.gif"/><Relationship Id="rId5" Type="http://schemas.openxmlformats.org/officeDocument/2006/relationships/hyperlink" Target="https://www.quora.com/What-is-electric-actuator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Relationship Id="rId4" Type="http://schemas.openxmlformats.org/officeDocument/2006/relationships/image" Target="../media/image11.gif"/><Relationship Id="rId5" Type="http://schemas.openxmlformats.org/officeDocument/2006/relationships/image" Target="../media/image18.gif"/><Relationship Id="rId6" Type="http://schemas.openxmlformats.org/officeDocument/2006/relationships/hyperlink" Target="https://www.quora.com/What-is-electric-actuator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Relationship Id="rId4" Type="http://schemas.openxmlformats.org/officeDocument/2006/relationships/image" Target="../media/image11.gif"/><Relationship Id="rId5" Type="http://schemas.openxmlformats.org/officeDocument/2006/relationships/image" Target="../media/image18.gif"/><Relationship Id="rId6" Type="http://schemas.openxmlformats.org/officeDocument/2006/relationships/image" Target="../media/image12.gif"/><Relationship Id="rId7" Type="http://schemas.openxmlformats.org/officeDocument/2006/relationships/hyperlink" Target="https://www.quora.com/What-is-electric-actuator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gif"/><Relationship Id="rId4" Type="http://schemas.openxmlformats.org/officeDocument/2006/relationships/hyperlink" Target="https://ar.pinterest.com/pin/308707749472703218/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gif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7.gif"/><Relationship Id="rId4" Type="http://schemas.openxmlformats.org/officeDocument/2006/relationships/image" Target="../media/image26.gif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7.gif"/><Relationship Id="rId4" Type="http://schemas.openxmlformats.org/officeDocument/2006/relationships/image" Target="../media/image26.gif"/><Relationship Id="rId5" Type="http://schemas.openxmlformats.org/officeDocument/2006/relationships/image" Target="../media/image14.gif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.gif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.gif"/><Relationship Id="rId4" Type="http://schemas.openxmlformats.org/officeDocument/2006/relationships/image" Target="../media/image32.gif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gif"/><Relationship Id="rId4" Type="http://schemas.openxmlformats.org/officeDocument/2006/relationships/image" Target="../media/image32.gif"/><Relationship Id="rId5" Type="http://schemas.openxmlformats.org/officeDocument/2006/relationships/image" Target="../media/image16.gif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gif"/><Relationship Id="rId4" Type="http://schemas.openxmlformats.org/officeDocument/2006/relationships/image" Target="../media/image32.gif"/><Relationship Id="rId5" Type="http://schemas.openxmlformats.org/officeDocument/2006/relationships/image" Target="../media/image16.gif"/><Relationship Id="rId6" Type="http://schemas.openxmlformats.org/officeDocument/2006/relationships/image" Target="../media/image24.gif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0.gif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0.gif"/><Relationship Id="rId4" Type="http://schemas.openxmlformats.org/officeDocument/2006/relationships/image" Target="../media/image2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docs.micropython.org/en/latest/library/machine.Pin.html" TargetMode="External"/><Relationship Id="rId4" Type="http://schemas.openxmlformats.org/officeDocument/2006/relationships/image" Target="../media/image31.png"/><Relationship Id="rId5" Type="http://schemas.openxmlformats.org/officeDocument/2006/relationships/image" Target="../media/image20.gif"/><Relationship Id="rId6" Type="http://schemas.openxmlformats.org/officeDocument/2006/relationships/image" Target="../media/image2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hyperlink" Target="https://www.ti.com/lit/ds/symlink/l293.pdf" TargetMode="External"/><Relationship Id="rId6" Type="http://schemas.openxmlformats.org/officeDocument/2006/relationships/image" Target="../media/image29.png"/><Relationship Id="rId7" Type="http://schemas.openxmlformats.org/officeDocument/2006/relationships/image" Target="../media/image2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1.png"/><Relationship Id="rId4" Type="http://schemas.openxmlformats.org/officeDocument/2006/relationships/hyperlink" Target="https://www.phidgets.com/education/learn/getting-started-kit-tutorial/dutycycle/" TargetMode="Externa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1.png"/><Relationship Id="rId4" Type="http://schemas.openxmlformats.org/officeDocument/2006/relationships/hyperlink" Target="https://www.phidgets.com/education/learn/getting-started-kit-tutorial/dutycycle/" TargetMode="Externa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3.gif"/><Relationship Id="rId4" Type="http://schemas.openxmlformats.org/officeDocument/2006/relationships/hyperlink" Target="https://www.phidgets.com/education/learn/getting-started-kit-tutorial/dutycycle/" TargetMode="Externa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0.png"/><Relationship Id="rId4" Type="http://schemas.openxmlformats.org/officeDocument/2006/relationships/image" Target="../media/image43.png"/><Relationship Id="rId5" Type="http://schemas.openxmlformats.org/officeDocument/2006/relationships/hyperlink" Target="https://datasheets.raspberrypi.com/rp2040/rp2040-datasheet.pdf" TargetMode="External"/><Relationship Id="rId6" Type="http://schemas.openxmlformats.org/officeDocument/2006/relationships/image" Target="../media/image38.png"/><Relationship Id="rId7" Type="http://schemas.openxmlformats.org/officeDocument/2006/relationships/image" Target="../media/image48.png"/></Relationships>
</file>

<file path=ppt/slides/_rels/slide73.xml.rels><?xml version="1.0" encoding="UTF-8" standalone="yes"?><Relationships xmlns="http://schemas.openxmlformats.org/package/2006/relationships"><Relationship Id="rId20" Type="http://schemas.openxmlformats.org/officeDocument/2006/relationships/hyperlink" Target="https://docs.micropython.org/en/latest/library/machine.I2C.html" TargetMode="External"/><Relationship Id="rId11" Type="http://schemas.openxmlformats.org/officeDocument/2006/relationships/hyperlink" Target="https://docs.micropython.org/en/latest/library/machine.ADC.html" TargetMode="External"/><Relationship Id="rId22" Type="http://schemas.openxmlformats.org/officeDocument/2006/relationships/hyperlink" Target="https://docs.micropython.org/en/latest/library/machine.I2S.html" TargetMode="External"/><Relationship Id="rId10" Type="http://schemas.openxmlformats.org/officeDocument/2006/relationships/hyperlink" Target="https://docs.micropython.org/en/latest/library/machine.ADC.html" TargetMode="External"/><Relationship Id="rId21" Type="http://schemas.openxmlformats.org/officeDocument/2006/relationships/hyperlink" Target="https://docs.micropython.org/en/latest/library/machine.I2C.html" TargetMode="External"/><Relationship Id="rId13" Type="http://schemas.openxmlformats.org/officeDocument/2006/relationships/hyperlink" Target="https://docs.micropython.org/en/latest/library/machine.ADCBlock.html" TargetMode="External"/><Relationship Id="rId12" Type="http://schemas.openxmlformats.org/officeDocument/2006/relationships/hyperlink" Target="https://docs.micropython.org/en/latest/library/machine.ADCBlock.html" TargetMode="External"/><Relationship Id="rId23" Type="http://schemas.openxmlformats.org/officeDocument/2006/relationships/hyperlink" Target="https://docs.micropython.org/en/latest/library/machine.I2S.html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hyperlink" Target="https://docs.micropython.org/en/latest/library/machine.PWM.html" TargetMode="External"/><Relationship Id="rId4" Type="http://schemas.openxmlformats.org/officeDocument/2006/relationships/hyperlink" Target="https://docs.micropython.org/en/latest/library/machine.PWM.html" TargetMode="External"/><Relationship Id="rId9" Type="http://schemas.openxmlformats.org/officeDocument/2006/relationships/hyperlink" Target="https://docs.micropython.org/en/latest/library/machine.Signal.html" TargetMode="External"/><Relationship Id="rId15" Type="http://schemas.openxmlformats.org/officeDocument/2006/relationships/hyperlink" Target="https://docs.micropython.org/en/latest/library/machine.PWM.html" TargetMode="External"/><Relationship Id="rId14" Type="http://schemas.openxmlformats.org/officeDocument/2006/relationships/hyperlink" Target="https://docs.micropython.org/en/latest/library/machine.PWM.html" TargetMode="External"/><Relationship Id="rId17" Type="http://schemas.openxmlformats.org/officeDocument/2006/relationships/hyperlink" Target="https://docs.micropython.org/en/latest/library/machine.UART.html" TargetMode="External"/><Relationship Id="rId16" Type="http://schemas.openxmlformats.org/officeDocument/2006/relationships/hyperlink" Target="https://docs.micropython.org/en/latest/library/machine.UART.html" TargetMode="External"/><Relationship Id="rId5" Type="http://schemas.openxmlformats.org/officeDocument/2006/relationships/hyperlink" Target="https://docs.micropython.org/en/latest/library/machine.PWM.html" TargetMode="External"/><Relationship Id="rId19" Type="http://schemas.openxmlformats.org/officeDocument/2006/relationships/hyperlink" Target="https://docs.micropython.org/en/latest/library/machine.SPI.html" TargetMode="External"/><Relationship Id="rId6" Type="http://schemas.openxmlformats.org/officeDocument/2006/relationships/hyperlink" Target="https://docs.micropython.org/en/latest/library/machine.Pin.html" TargetMode="External"/><Relationship Id="rId18" Type="http://schemas.openxmlformats.org/officeDocument/2006/relationships/hyperlink" Target="https://docs.micropython.org/en/latest/library/machine.SPI.html" TargetMode="External"/><Relationship Id="rId7" Type="http://schemas.openxmlformats.org/officeDocument/2006/relationships/hyperlink" Target="https://docs.micropython.org/en/latest/library/machine.Pin.html" TargetMode="External"/><Relationship Id="rId8" Type="http://schemas.openxmlformats.org/officeDocument/2006/relationships/hyperlink" Target="https://docs.micropython.org/en/latest/library/machine.Signal.html" TargetMode="External"/></Relationships>
</file>

<file path=ppt/slides/_rels/slide74.xml.rels><?xml version="1.0" encoding="UTF-8" standalone="yes"?><Relationships xmlns="http://schemas.openxmlformats.org/package/2006/relationships"><Relationship Id="rId20" Type="http://schemas.openxmlformats.org/officeDocument/2006/relationships/hyperlink" Target="https://docs.micropython.org/en/latest/library/machine.I2C.html" TargetMode="External"/><Relationship Id="rId11" Type="http://schemas.openxmlformats.org/officeDocument/2006/relationships/hyperlink" Target="https://docs.micropython.org/en/latest/library/machine.ADC.html" TargetMode="External"/><Relationship Id="rId22" Type="http://schemas.openxmlformats.org/officeDocument/2006/relationships/hyperlink" Target="https://docs.micropython.org/en/latest/library/machine.I2S.html" TargetMode="External"/><Relationship Id="rId10" Type="http://schemas.openxmlformats.org/officeDocument/2006/relationships/hyperlink" Target="https://docs.micropython.org/en/latest/library/machine.ADC.html" TargetMode="External"/><Relationship Id="rId21" Type="http://schemas.openxmlformats.org/officeDocument/2006/relationships/hyperlink" Target="https://docs.micropython.org/en/latest/library/machine.I2C.html" TargetMode="External"/><Relationship Id="rId13" Type="http://schemas.openxmlformats.org/officeDocument/2006/relationships/hyperlink" Target="https://docs.micropython.org/en/latest/library/machine.ADCBlock.html" TargetMode="External"/><Relationship Id="rId12" Type="http://schemas.openxmlformats.org/officeDocument/2006/relationships/hyperlink" Target="https://docs.micropython.org/en/latest/library/machine.ADCBlock.html" TargetMode="External"/><Relationship Id="rId23" Type="http://schemas.openxmlformats.org/officeDocument/2006/relationships/hyperlink" Target="https://docs.micropython.org/en/latest/library/machine.I2S.html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hyperlink" Target="https://docs.micropython.org/en/latest/library/machine.PWM.html" TargetMode="External"/><Relationship Id="rId4" Type="http://schemas.openxmlformats.org/officeDocument/2006/relationships/hyperlink" Target="https://docs.micropython.org/en/latest/library/machine.PWM.html" TargetMode="External"/><Relationship Id="rId9" Type="http://schemas.openxmlformats.org/officeDocument/2006/relationships/hyperlink" Target="https://docs.micropython.org/en/latest/library/machine.Signal.html" TargetMode="External"/><Relationship Id="rId15" Type="http://schemas.openxmlformats.org/officeDocument/2006/relationships/hyperlink" Target="https://docs.micropython.org/en/latest/library/machine.PWM.html" TargetMode="External"/><Relationship Id="rId14" Type="http://schemas.openxmlformats.org/officeDocument/2006/relationships/hyperlink" Target="https://docs.micropython.org/en/latest/library/machine.PWM.html" TargetMode="External"/><Relationship Id="rId17" Type="http://schemas.openxmlformats.org/officeDocument/2006/relationships/hyperlink" Target="https://docs.micropython.org/en/latest/library/machine.UART.html" TargetMode="External"/><Relationship Id="rId16" Type="http://schemas.openxmlformats.org/officeDocument/2006/relationships/hyperlink" Target="https://docs.micropython.org/en/latest/library/machine.UART.html" TargetMode="External"/><Relationship Id="rId5" Type="http://schemas.openxmlformats.org/officeDocument/2006/relationships/hyperlink" Target="https://docs.micropython.org/en/latest/library/machine.PWM.html" TargetMode="External"/><Relationship Id="rId19" Type="http://schemas.openxmlformats.org/officeDocument/2006/relationships/hyperlink" Target="https://docs.micropython.org/en/latest/library/machine.SPI.html" TargetMode="External"/><Relationship Id="rId6" Type="http://schemas.openxmlformats.org/officeDocument/2006/relationships/hyperlink" Target="https://docs.micropython.org/en/latest/library/machine.Pin.html" TargetMode="External"/><Relationship Id="rId18" Type="http://schemas.openxmlformats.org/officeDocument/2006/relationships/hyperlink" Target="https://docs.micropython.org/en/latest/library/machine.SPI.html" TargetMode="External"/><Relationship Id="rId7" Type="http://schemas.openxmlformats.org/officeDocument/2006/relationships/hyperlink" Target="https://docs.micropython.org/en/latest/library/machine.Pin.html" TargetMode="External"/><Relationship Id="rId8" Type="http://schemas.openxmlformats.org/officeDocument/2006/relationships/hyperlink" Target="https://docs.micropython.org/en/latest/library/machine.Signal.html" TargetMode="Externa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hyperlink" Target="https://www.phidgets.com/education/learn/getting-started-kit-tutorial/dutycycle/" TargetMode="External"/><Relationship Id="rId4" Type="http://schemas.openxmlformats.org/officeDocument/2006/relationships/image" Target="../media/image26.gif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hyperlink" Target="https://www.phidgets.com/education/learn/getting-started-kit-tutorial/dutycycle/" TargetMode="External"/><Relationship Id="rId4" Type="http://schemas.openxmlformats.org/officeDocument/2006/relationships/image" Target="../media/image39.png"/><Relationship Id="rId5" Type="http://schemas.openxmlformats.org/officeDocument/2006/relationships/image" Target="../media/image26.gif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hyperlink" Target="https://circuitdigest.com/microcontroller-projects/interface-servo-motor-with-arduino" TargetMode="External"/><Relationship Id="rId4" Type="http://schemas.openxmlformats.org/officeDocument/2006/relationships/image" Target="../media/image50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hyperlink" Target="https://circuitdigest.com/microcontroller-projects/interface-servo-motor-with-arduino" TargetMode="External"/><Relationship Id="rId4" Type="http://schemas.openxmlformats.org/officeDocument/2006/relationships/image" Target="../media/image50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hyperlink" Target="https://kroboblogs.wordpress.com/2016/11/17/servo-motor/" TargetMode="External"/><Relationship Id="rId4" Type="http://schemas.openxmlformats.org/officeDocument/2006/relationships/image" Target="../media/image34.gif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hyperlink" Target="https://docs.micropython.org/en/latest/library/machine.PWM.html" TargetMode="External"/><Relationship Id="rId4" Type="http://schemas.openxmlformats.org/officeDocument/2006/relationships/hyperlink" Target="https://docs.micropython.org/en/latest/library/machine.PWM.html" TargetMode="Externa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hyperlink" Target="https://docs.micropython.org/en/latest/library/machine.PWM.html" TargetMode="External"/><Relationship Id="rId4" Type="http://schemas.openxmlformats.org/officeDocument/2006/relationships/hyperlink" Target="https://docs.micropython.org/en/latest/library/machine.PWM.html" TargetMode="Externa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hyperlink" Target="https://docs.micropython.org/en/latest/library/machine.PWM.html" TargetMode="External"/><Relationship Id="rId4" Type="http://schemas.openxmlformats.org/officeDocument/2006/relationships/hyperlink" Target="https://docs.micropython.org/en/latest/library/machine.PWM.html" TargetMode="External"/><Relationship Id="rId5" Type="http://schemas.openxmlformats.org/officeDocument/2006/relationships/image" Target="../media/image50.png"/><Relationship Id="rId6" Type="http://schemas.openxmlformats.org/officeDocument/2006/relationships/hyperlink" Target="https://circuitdigest.com/microcontroller-projects/interface-servo-motor-with-arduino" TargetMode="Externa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hyperlink" Target="https://docs.micropython.org/en/latest/library/machine.PWM.html" TargetMode="External"/><Relationship Id="rId4" Type="http://schemas.openxmlformats.org/officeDocument/2006/relationships/hyperlink" Target="https://docs.micropython.org/en/latest/library/machine.PWM.html" TargetMode="External"/><Relationship Id="rId5" Type="http://schemas.openxmlformats.org/officeDocument/2006/relationships/image" Target="../media/image50.png"/><Relationship Id="rId6" Type="http://schemas.openxmlformats.org/officeDocument/2006/relationships/hyperlink" Target="https://circuitdigest.com/microcontroller-projects/interface-servo-motor-with-arduino" TargetMode="Externa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hyperlink" Target="https://www.digikey.dk/da/blog/the-basics-of-stepper-motors" TargetMode="External"/><Relationship Id="rId4" Type="http://schemas.openxmlformats.org/officeDocument/2006/relationships/image" Target="../media/image41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hyperlink" Target="https://fabacademy.org/archives/2014/students/begle.moritz/week13.html" TargetMode="External"/><Relationship Id="rId4" Type="http://schemas.openxmlformats.org/officeDocument/2006/relationships/image" Target="../media/image36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hyperlink" Target="https://en.wikipedia.org/wiki/Stepper_motor" TargetMode="External"/><Relationship Id="rId4" Type="http://schemas.openxmlformats.org/officeDocument/2006/relationships/image" Target="../media/image37.gif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hyperlink" Target="https://en.wikipedia.org/wiki/Stepper_motor" TargetMode="External"/><Relationship Id="rId4" Type="http://schemas.openxmlformats.org/officeDocument/2006/relationships/image" Target="../media/image37.gif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hyperlink" Target="https://en.wikipedia.org/wiki/Stepper_motor" TargetMode="External"/><Relationship Id="rId4" Type="http://schemas.openxmlformats.org/officeDocument/2006/relationships/image" Target="../media/image37.gif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hyperlink" Target="https://en.wikipedia.org/wiki/Stepper_motor" TargetMode="External"/><Relationship Id="rId4" Type="http://schemas.openxmlformats.org/officeDocument/2006/relationships/image" Target="../media/image37.gif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hyperlink" Target="https://en.wikipedia.org/wiki/Stepper_motor" TargetMode="External"/><Relationship Id="rId4" Type="http://schemas.openxmlformats.org/officeDocument/2006/relationships/hyperlink" Target="https://www.omc-stepperonline.com/e-series-nema-17-bipolar-55ncm-77-88oz-in-2a-42x48mm-4-wires-w-1m-cable-connector-17he19-2004s" TargetMode="External"/><Relationship Id="rId5" Type="http://schemas.openxmlformats.org/officeDocument/2006/relationships/image" Target="../media/image37.gif"/><Relationship Id="rId6" Type="http://schemas.openxmlformats.org/officeDocument/2006/relationships/image" Target="../media/image45.png"/><Relationship Id="rId7" Type="http://schemas.openxmlformats.org/officeDocument/2006/relationships/image" Target="../media/image42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hyperlink" Target="https://www.nanotec.com/eu/en/knowledge-base/stepper-motor-animation#" TargetMode="External"/><Relationship Id="rId4" Type="http://schemas.openxmlformats.org/officeDocument/2006/relationships/image" Target="../media/image44.gif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51.gif"/><Relationship Id="rId4" Type="http://schemas.openxmlformats.org/officeDocument/2006/relationships/hyperlink" Target="https://www.nanotec.com/eu/en/knowledge-base/stepper-motor-animation#" TargetMode="Externa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53.gif"/><Relationship Id="rId4" Type="http://schemas.openxmlformats.org/officeDocument/2006/relationships/hyperlink" Target="https://www.nanotec.com/eu/en/knowledge-base/stepper-motor-animation#" TargetMode="Externa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hyperlink" Target="https://www.nanotec.com/eu/en/knowledge-base/stepper-motor-animation#" TargetMode="External"/><Relationship Id="rId4" Type="http://schemas.openxmlformats.org/officeDocument/2006/relationships/image" Target="../media/image51.gif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hyperlink" Target="https://docs.micropython.org/en/latest/library/machine.Pin.html" TargetMode="Externa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hyperlink" Target="https://docs.micropython.org/en/latest/library/machine.PWM.html" TargetMode="Externa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52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52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52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hyperlink" Target="https://photos.app.goo.gl/hCaH4DwYtxyzFBie9" TargetMode="External"/><Relationship Id="rId4" Type="http://schemas.openxmlformats.org/officeDocument/2006/relationships/hyperlink" Target="http://drive.google.com/file/d/1ns5Nob7tQJ6jU1UaBbXS92SC135Ompps/view" TargetMode="External"/><Relationship Id="rId5" Type="http://schemas.openxmlformats.org/officeDocument/2006/relationships/image" Target="../media/image46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3" Type="http://schemas.openxmlformats.org/officeDocument/2006/relationships/hyperlink" Target="http://drive.google.com/file/d/1-y9AEP3Z_s-o6KsTgVKWcPh-rqnKoCqy/view" TargetMode="External"/><Relationship Id="rId4" Type="http://schemas.openxmlformats.org/officeDocument/2006/relationships/image" Target="../media/image47.jpg"/><Relationship Id="rId5" Type="http://schemas.openxmlformats.org/officeDocument/2006/relationships/hyperlink" Target="https://photos.app.goo.gl/WK56r75MM9Zwzdr16" TargetMode="Externa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3" Type="http://schemas.openxmlformats.org/officeDocument/2006/relationships/hyperlink" Target="http://drive.google.com/file/d/1w1ikxUEDqDHqecpfNeEK_lIBzqx8jBh7/view" TargetMode="External"/><Relationship Id="rId4" Type="http://schemas.openxmlformats.org/officeDocument/2006/relationships/image" Target="../media/image49.jpg"/><Relationship Id="rId5" Type="http://schemas.openxmlformats.org/officeDocument/2006/relationships/hyperlink" Target="https://photos.app.goo.gl/UL5M3smoSGfwaNX97" TargetMode="External"/><Relationship Id="rId6" Type="http://schemas.openxmlformats.org/officeDocument/2006/relationships/hyperlink" Target="https://www.youtube.com/watch?v=dQw4w9WgXcQ" TargetMode="Externa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"/>
          <p:cNvSpPr txBox="1"/>
          <p:nvPr>
            <p:ph type="ctrTitle"/>
          </p:nvPr>
        </p:nvSpPr>
        <p:spPr>
          <a:xfrm>
            <a:off x="941400" y="2075700"/>
            <a:ext cx="10309200" cy="27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800"/>
              <a:t>Programmering af Mobile Robotter</a:t>
            </a:r>
            <a:endParaRPr sz="3800"/>
          </a:p>
          <a:p>
            <a:pPr indent="0" lvl="0" marL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None/>
            </a:pPr>
            <a:r>
              <a:t/>
            </a:r>
            <a:endParaRPr b="0" i="1" sz="1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None/>
            </a:pPr>
            <a:r>
              <a:t/>
            </a:r>
            <a:endParaRPr b="0" i="1" sz="1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None/>
            </a:pPr>
            <a:r>
              <a:rPr b="0" i="1" lang="en-GB" sz="2900"/>
              <a:t>RB1-PMR – Module 4: Object-Oriented Programming (OOP) </a:t>
            </a:r>
            <a:r>
              <a:rPr b="0" i="1" lang="en-GB" sz="2900"/>
              <a:t>and</a:t>
            </a:r>
            <a:r>
              <a:rPr b="0" i="1" lang="en-GB" sz="2900"/>
              <a:t> </a:t>
            </a:r>
            <a:r>
              <a:rPr b="0" i="1" lang="en-GB" sz="2900"/>
              <a:t>Actuator Interface </a:t>
            </a:r>
            <a:endParaRPr b="0" i="1" sz="2900"/>
          </a:p>
        </p:txBody>
      </p:sp>
      <p:sp>
        <p:nvSpPr>
          <p:cNvPr id="168" name="Google Shape;168;p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69" name="Google Shape;169;p1"/>
          <p:cNvSpPr txBox="1"/>
          <p:nvPr>
            <p:ph type="ctrTitle"/>
          </p:nvPr>
        </p:nvSpPr>
        <p:spPr>
          <a:xfrm>
            <a:off x="3927950" y="6393325"/>
            <a:ext cx="4763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/>
              <a:t>Jes Hundevadt Jepsen | </a:t>
            </a:r>
            <a:r>
              <a:rPr lang="en-GB" sz="900" u="sng">
                <a:solidFill>
                  <a:schemeClr val="hlink"/>
                </a:solidFill>
                <a:hlinkClick r:id="rId3"/>
              </a:rPr>
              <a:t>jegj@mmmi.sdu.dk</a:t>
            </a:r>
            <a:r>
              <a:rPr b="0" lang="en-GB" sz="900"/>
              <a:t> </a:t>
            </a:r>
            <a:endParaRPr b="0" sz="9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900"/>
              <a:t>SDU Drone Center, MMMI, University of Southern Denmark, Odense, Denmark</a:t>
            </a:r>
            <a:endParaRPr b="0" sz="900"/>
          </a:p>
        </p:txBody>
      </p:sp>
      <p:sp>
        <p:nvSpPr>
          <p:cNvPr id="170" name="Google Shape;170;p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1" name="Google Shape;171;p1"/>
          <p:cNvSpPr/>
          <p:nvPr/>
        </p:nvSpPr>
        <p:spPr>
          <a:xfrm>
            <a:off x="154450" y="141600"/>
            <a:ext cx="5897100" cy="70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0da6d31641_0_1"/>
          <p:cNvSpPr txBox="1"/>
          <p:nvPr>
            <p:ph type="ctrTitle"/>
          </p:nvPr>
        </p:nvSpPr>
        <p:spPr>
          <a:xfrm>
            <a:off x="414700" y="939800"/>
            <a:ext cx="94824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GB" sz="2000"/>
              <a:t>Agenda</a:t>
            </a:r>
            <a:endParaRPr sz="20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n-GB" sz="1500"/>
              <a:t>Recap of last module</a:t>
            </a:r>
            <a:br>
              <a:rPr b="0" lang="en-GB" sz="1500"/>
            </a:br>
            <a:endParaRPr b="0"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n-GB" sz="1500"/>
              <a:t>Object-Oriented Programming (OOP) concepts</a:t>
            </a:r>
            <a:br>
              <a:rPr b="0" lang="en-GB" sz="1500"/>
            </a:br>
            <a:endParaRPr b="0"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n-GB" sz="1500"/>
              <a:t>Actuators</a:t>
            </a:r>
            <a:endParaRPr b="0"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DC motors</a:t>
            </a:r>
            <a:endParaRPr sz="1500"/>
          </a:p>
          <a:p>
            <a:pPr indent="-3238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GB" sz="1500"/>
              <a:t>H-Bridge</a:t>
            </a:r>
            <a:endParaRPr sz="1500"/>
          </a:p>
          <a:p>
            <a:pPr indent="-3238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GB" sz="1500"/>
              <a:t>Pulse-Width Modulation (PWM)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Servo motors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Stepper motors</a:t>
            </a:r>
            <a:br>
              <a:rPr lang="en-GB" sz="1500"/>
            </a:b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n-GB" sz="1500"/>
              <a:t>Introduction to</a:t>
            </a:r>
            <a:r>
              <a:rPr b="0" lang="en-GB" sz="1500" u="sng"/>
              <a:t> Extra Credit Activities #2</a:t>
            </a:r>
            <a:r>
              <a:rPr b="0" lang="en-GB" sz="1500"/>
              <a:t>:</a:t>
            </a:r>
            <a:r>
              <a:rPr lang="en-GB" sz="1500"/>
              <a:t> </a:t>
            </a:r>
            <a:r>
              <a:rPr b="0" lang="en-GB" sz="1500"/>
              <a:t>Stepper Motor Controller class</a:t>
            </a:r>
            <a:br>
              <a:rPr b="0" lang="en-GB" sz="1500"/>
            </a:br>
            <a:endParaRPr b="0"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n-GB" sz="1500"/>
              <a:t>Assignments</a:t>
            </a:r>
            <a:endParaRPr b="0" sz="1500"/>
          </a:p>
        </p:txBody>
      </p:sp>
      <p:sp>
        <p:nvSpPr>
          <p:cNvPr id="177" name="Google Shape;177;g20da6d31641_0_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78" name="Google Shape;178;g20da6d31641_0_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1c00e1933c_0_0"/>
          <p:cNvSpPr txBox="1"/>
          <p:nvPr>
            <p:ph type="ctrTitle"/>
          </p:nvPr>
        </p:nvSpPr>
        <p:spPr>
          <a:xfrm>
            <a:off x="414700" y="939800"/>
            <a:ext cx="94824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GB" sz="2000"/>
              <a:t>Recap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0" lang="en-GB" sz="1500"/>
              <a:t>Recap of last module</a:t>
            </a:r>
            <a:endParaRPr b="0"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Hardware walk-through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RP2040, Raspberry Pi Pico, Monk Makes, etc.</a:t>
            </a:r>
            <a:br>
              <a:rPr lang="en-GB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Software walk-through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Flash firmware, Thonny Python IDE, etc.</a:t>
            </a:r>
            <a:br>
              <a:rPr lang="en-GB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</a:rPr>
              <a:t>I</a:t>
            </a:r>
            <a:r>
              <a:rPr lang="en-GB" sz="1500"/>
              <a:t>ntroduction to IO programming </a:t>
            </a:r>
            <a:r>
              <a:rPr b="0" lang="en-GB" sz="1500"/>
              <a:t>using MicroPython</a:t>
            </a:r>
            <a:endParaRPr b="0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Standard </a:t>
            </a:r>
            <a:r>
              <a:rPr b="1" lang="en-GB" sz="1500">
                <a:solidFill>
                  <a:schemeClr val="dk1"/>
                </a:solidFill>
              </a:rPr>
              <a:t>libraries</a:t>
            </a:r>
            <a:r>
              <a:rPr lang="en-GB" sz="1500">
                <a:solidFill>
                  <a:schemeClr val="dk1"/>
                </a:solidFill>
              </a:rPr>
              <a:t> and </a:t>
            </a:r>
            <a:r>
              <a:rPr b="1" lang="en-GB" sz="1500">
                <a:solidFill>
                  <a:schemeClr val="dk1"/>
                </a:solidFill>
              </a:rPr>
              <a:t>micro-libraries 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Key modules, classes and functions 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GB" sz="1500">
                <a:solidFill>
                  <a:schemeClr val="dk1"/>
                </a:solidFill>
              </a:rPr>
              <a:t>Work with the </a:t>
            </a:r>
            <a:r>
              <a:rPr lang="en-GB" sz="1500" u="sng">
                <a:solidFill>
                  <a:schemeClr val="dk1"/>
                </a:solidFill>
              </a:rPr>
              <a:t>Machine</a:t>
            </a:r>
            <a:r>
              <a:rPr lang="en-GB" sz="1500">
                <a:solidFill>
                  <a:schemeClr val="dk1"/>
                </a:solidFill>
              </a:rPr>
              <a:t>, </a:t>
            </a:r>
            <a:r>
              <a:rPr lang="en-GB" sz="1500" u="sng">
                <a:solidFill>
                  <a:schemeClr val="dk1"/>
                </a:solidFill>
              </a:rPr>
              <a:t>Pin</a:t>
            </a:r>
            <a:r>
              <a:rPr lang="en-GB" sz="1500">
                <a:solidFill>
                  <a:schemeClr val="dk1"/>
                </a:solidFill>
              </a:rPr>
              <a:t>, and </a:t>
            </a:r>
            <a:r>
              <a:rPr lang="en-GB" sz="1500" u="sng">
                <a:solidFill>
                  <a:schemeClr val="dk1"/>
                </a:solidFill>
              </a:rPr>
              <a:t>Timer</a:t>
            </a:r>
            <a:r>
              <a:rPr lang="en-GB" sz="1500">
                <a:solidFill>
                  <a:schemeClr val="dk1"/>
                </a:solidFill>
              </a:rPr>
              <a:t> modules</a:t>
            </a:r>
            <a:br>
              <a:rPr lang="en-GB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/>
              <a:t>Assignments </a:t>
            </a:r>
            <a:r>
              <a:rPr b="0" lang="en-GB" sz="1500"/>
              <a:t>and </a:t>
            </a:r>
            <a:r>
              <a:rPr lang="en-GB" sz="1500"/>
              <a:t>Portfolio 1</a:t>
            </a:r>
            <a:br>
              <a:rPr lang="en-GB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Soldered the Practice PCB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Which we will be using for some of the </a:t>
            </a:r>
            <a:r>
              <a:rPr lang="en-GB" sz="1500"/>
              <a:t>assignments</a:t>
            </a:r>
            <a:r>
              <a:rPr lang="en-GB" sz="1500"/>
              <a:t> as well</a:t>
            </a:r>
            <a:endParaRPr sz="1500"/>
          </a:p>
        </p:txBody>
      </p:sp>
      <p:sp>
        <p:nvSpPr>
          <p:cNvPr id="184" name="Google Shape;184;g21c00e1933c_0_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85" name="Google Shape;185;g21c00e1933c_0_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g21c00e1933c_0_0"/>
          <p:cNvSpPr txBox="1"/>
          <p:nvPr/>
        </p:nvSpPr>
        <p:spPr>
          <a:xfrm>
            <a:off x="7402200" y="6499225"/>
            <a:ext cx="409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https://anasounds.com/learn-how-to-solder-like-a-pro/</a:t>
            </a:r>
            <a:r>
              <a:rPr lang="en-GB" sz="1000"/>
              <a:t> </a:t>
            </a:r>
            <a:endParaRPr sz="1000"/>
          </a:p>
        </p:txBody>
      </p:sp>
      <p:pic>
        <p:nvPicPr>
          <p:cNvPr id="187" name="Google Shape;187;g21c00e1933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1850" y="1584575"/>
            <a:ext cx="3654800" cy="39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f18af96dc2_0_2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93" name="Google Shape;193;g2f18af96dc2_0_2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" name="Google Shape;194;g2f18af96dc2_0_2"/>
          <p:cNvSpPr txBox="1"/>
          <p:nvPr>
            <p:ph idx="4294967295" type="body"/>
          </p:nvPr>
        </p:nvSpPr>
        <p:spPr>
          <a:xfrm>
            <a:off x="422425" y="1000450"/>
            <a:ext cx="11011200" cy="485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/>
              <a:t>Practice PCB</a:t>
            </a:r>
            <a:r>
              <a:rPr lang="en-GB" sz="5000"/>
              <a:t> (Hardware fix)</a:t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</p:txBody>
      </p:sp>
      <p:pic>
        <p:nvPicPr>
          <p:cNvPr id="195" name="Google Shape;195;g2f18af96dc2_0_2"/>
          <p:cNvPicPr preferRelativeResize="0"/>
          <p:nvPr/>
        </p:nvPicPr>
        <p:blipFill rotWithShape="1">
          <a:blip r:embed="rId3">
            <a:alphaModFix/>
          </a:blip>
          <a:srcRect b="20375" l="13530" r="14267" t="19765"/>
          <a:stretch/>
        </p:blipFill>
        <p:spPr>
          <a:xfrm>
            <a:off x="2412688" y="2071475"/>
            <a:ext cx="7366625" cy="45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d3a6a09a8a_0_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201" name="Google Shape;201;g2d3a6a09a8a_0_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2" name="Google Shape;202;g2d3a6a09a8a_0_0"/>
          <p:cNvSpPr txBox="1"/>
          <p:nvPr>
            <p:ph idx="4294967295" type="body"/>
          </p:nvPr>
        </p:nvSpPr>
        <p:spPr>
          <a:xfrm>
            <a:off x="422425" y="1000450"/>
            <a:ext cx="11011200" cy="485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/>
              <a:t>Portfolio 1</a:t>
            </a:r>
            <a:endParaRPr b="1"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/>
              <a:t>Q/A?</a:t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</p:txBody>
      </p:sp>
      <p:pic>
        <p:nvPicPr>
          <p:cNvPr id="203" name="Google Shape;203;g2d3a6a09a8a_0_0" title="Demo: 7-Segment Display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6763" y="2884650"/>
            <a:ext cx="6718475" cy="37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069c0c8589_0_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209" name="Google Shape;209;g3069c0c8589_0_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0" name="Google Shape;210;g3069c0c8589_0_0"/>
          <p:cNvSpPr txBox="1"/>
          <p:nvPr>
            <p:ph idx="4294967295" type="body"/>
          </p:nvPr>
        </p:nvSpPr>
        <p:spPr>
          <a:xfrm>
            <a:off x="422425" y="1000450"/>
            <a:ext cx="11011200" cy="485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/>
              <a:t>Object-Oriented Programming (OOP) concepts</a:t>
            </a:r>
            <a:endParaRPr b="1" sz="5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2025b0bba9_0_1"/>
          <p:cNvSpPr txBox="1"/>
          <p:nvPr>
            <p:ph type="ctrTitle"/>
          </p:nvPr>
        </p:nvSpPr>
        <p:spPr>
          <a:xfrm>
            <a:off x="414700" y="939800"/>
            <a:ext cx="116499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GB" sz="2000"/>
              <a:t>“...a programming paradigm based on the concept of “objects”, which can contain data and code”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/>
          </a:p>
        </p:txBody>
      </p:sp>
      <p:sp>
        <p:nvSpPr>
          <p:cNvPr id="216" name="Google Shape;216;g22025b0bba9_0_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217" name="Google Shape;217;g22025b0bba9_0_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05b4eb1b9c_0_0"/>
          <p:cNvSpPr txBox="1"/>
          <p:nvPr>
            <p:ph type="ctrTitle"/>
          </p:nvPr>
        </p:nvSpPr>
        <p:spPr>
          <a:xfrm>
            <a:off x="414700" y="939800"/>
            <a:ext cx="116499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GB" sz="2000"/>
              <a:t>“...a programming paradigm based on the concept of “objects”, which can contain data and code”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Data</a:t>
            </a:r>
            <a:r>
              <a:rPr b="0" lang="en-GB" sz="2000"/>
              <a:t> in the form of fields (often known as </a:t>
            </a:r>
            <a:r>
              <a:rPr b="0" lang="en-GB" sz="2000" u="sng"/>
              <a:t>attributes</a:t>
            </a:r>
            <a:r>
              <a:rPr b="0" lang="en-GB" sz="2000"/>
              <a:t> or </a:t>
            </a:r>
            <a:r>
              <a:rPr b="0" lang="en-GB" sz="2000" u="sng"/>
              <a:t>properties</a:t>
            </a:r>
            <a:r>
              <a:rPr b="0" lang="en-GB" sz="2000"/>
              <a:t>),</a:t>
            </a:r>
            <a:r>
              <a:rPr lang="en-GB" sz="2000"/>
              <a:t> </a:t>
            </a:r>
            <a:r>
              <a:rPr b="0" lang="en-GB" sz="2000"/>
              <a:t>and</a:t>
            </a:r>
            <a:r>
              <a:rPr lang="en-GB" sz="2000"/>
              <a:t> 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Code </a:t>
            </a:r>
            <a:r>
              <a:rPr b="0" lang="en-GB" sz="2000"/>
              <a:t>in the form of procedures (often known as </a:t>
            </a:r>
            <a:r>
              <a:rPr b="0" lang="en-GB" sz="2000" u="sng"/>
              <a:t>methods</a:t>
            </a:r>
            <a:r>
              <a:rPr b="0" lang="en-GB" sz="2000"/>
              <a:t> or </a:t>
            </a:r>
            <a:r>
              <a:rPr b="0" lang="en-GB" sz="2000" u="sng"/>
              <a:t>functions</a:t>
            </a:r>
            <a:r>
              <a:rPr b="0" lang="en-GB" sz="2000"/>
              <a:t>)</a:t>
            </a:r>
            <a:endParaRPr b="0" sz="2000"/>
          </a:p>
        </p:txBody>
      </p:sp>
      <p:sp>
        <p:nvSpPr>
          <p:cNvPr id="223" name="Google Shape;223;g305b4eb1b9c_0_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224" name="Google Shape;224;g305b4eb1b9c_0_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05b4eb1b9c_0_104"/>
          <p:cNvSpPr txBox="1"/>
          <p:nvPr>
            <p:ph type="ctrTitle"/>
          </p:nvPr>
        </p:nvSpPr>
        <p:spPr>
          <a:xfrm>
            <a:off x="414700" y="939800"/>
            <a:ext cx="116499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GB" sz="2000"/>
              <a:t>“...a programming paradigm based on the concept of “objects”, which can contain data and code”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Data</a:t>
            </a:r>
            <a:r>
              <a:rPr b="0" lang="en-GB" sz="2000"/>
              <a:t> in the form of fields (often known as attributes or properties),</a:t>
            </a:r>
            <a:r>
              <a:rPr lang="en-GB" sz="2000"/>
              <a:t> </a:t>
            </a:r>
            <a:r>
              <a:rPr b="0" lang="en-GB" sz="2000"/>
              <a:t>and</a:t>
            </a:r>
            <a:r>
              <a:rPr lang="en-GB" sz="2000"/>
              <a:t> 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Code </a:t>
            </a:r>
            <a:r>
              <a:rPr b="0" lang="en-GB" sz="2000"/>
              <a:t>in the form of procedures (often known as methods or functions)</a:t>
            </a:r>
            <a:br>
              <a:rPr b="0" lang="en-GB" sz="2000"/>
            </a:br>
            <a:endParaRPr b="0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-GB" sz="2000"/>
              <a:t>Like a car factory</a:t>
            </a:r>
            <a:endParaRPr b="0"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Produces multiple cars (Objects)</a:t>
            </a:r>
            <a:br>
              <a:rPr lang="en-GB" sz="2000"/>
            </a:b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Each car might look the same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GB" sz="2000"/>
              <a:t>but with different attributes (color,engine, etc.)</a:t>
            </a:r>
            <a:br>
              <a:rPr b="0" lang="en-GB" sz="2000"/>
            </a:br>
            <a:br>
              <a:rPr b="0" lang="en-GB" sz="2000"/>
            </a:br>
            <a:br>
              <a:rPr b="0" lang="en-GB" sz="2000"/>
            </a:br>
            <a:br>
              <a:rPr b="0" lang="en-GB" sz="2000"/>
            </a:br>
            <a:br>
              <a:rPr b="0" lang="en-GB" sz="2000"/>
            </a:br>
            <a:endParaRPr b="0" sz="20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Programming languages</a:t>
            </a:r>
            <a:r>
              <a:rPr b="0" lang="en-GB" sz="2000"/>
              <a:t> that are known for their OOP capabilities:</a:t>
            </a:r>
            <a:endParaRPr b="0" sz="2000"/>
          </a:p>
          <a:p>
            <a:pPr indent="-3556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C++, Java, Python, C#</a:t>
            </a:r>
            <a:endParaRPr b="0" sz="2000"/>
          </a:p>
        </p:txBody>
      </p:sp>
      <p:sp>
        <p:nvSpPr>
          <p:cNvPr id="230" name="Google Shape;230;g305b4eb1b9c_0_104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231" name="Google Shape;231;g305b4eb1b9c_0_104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2" name="Google Shape;232;g305b4eb1b9c_0_104"/>
          <p:cNvSpPr txBox="1"/>
          <p:nvPr/>
        </p:nvSpPr>
        <p:spPr>
          <a:xfrm>
            <a:off x="5402950" y="6457214"/>
            <a:ext cx="67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https://medium.com/pongpichs/oop-object-oriented-programing-4dda39dbb745</a:t>
            </a:r>
            <a:r>
              <a:rPr lang="en-GB"/>
              <a:t> </a:t>
            </a:r>
            <a:endParaRPr/>
          </a:p>
        </p:txBody>
      </p:sp>
      <p:pic>
        <p:nvPicPr>
          <p:cNvPr id="233" name="Google Shape;233;g305b4eb1b9c_0_104"/>
          <p:cNvPicPr preferRelativeResize="0"/>
          <p:nvPr/>
        </p:nvPicPr>
        <p:blipFill rotWithShape="1">
          <a:blip r:embed="rId4">
            <a:alphaModFix/>
          </a:blip>
          <a:srcRect b="5598" l="0" r="0" t="0"/>
          <a:stretch/>
        </p:blipFill>
        <p:spPr>
          <a:xfrm>
            <a:off x="7727975" y="2758123"/>
            <a:ext cx="4106175" cy="29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05b4eb1b9c_0_27"/>
          <p:cNvSpPr txBox="1"/>
          <p:nvPr>
            <p:ph type="ctrTitle"/>
          </p:nvPr>
        </p:nvSpPr>
        <p:spPr>
          <a:xfrm>
            <a:off x="414700" y="939800"/>
            <a:ext cx="66420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GB" sz="2000"/>
              <a:t>“...a programming paradigm based on the concept of “objects”, which can contain data and code”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Why?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39" name="Google Shape;239;g305b4eb1b9c_0_27"/>
          <p:cNvPicPr preferRelativeResize="0"/>
          <p:nvPr/>
        </p:nvPicPr>
        <p:blipFill rotWithShape="1">
          <a:blip r:embed="rId3">
            <a:alphaModFix/>
          </a:blip>
          <a:srcRect b="5598" l="0" r="0" t="0"/>
          <a:stretch/>
        </p:blipFill>
        <p:spPr>
          <a:xfrm>
            <a:off x="7727975" y="2758123"/>
            <a:ext cx="4106175" cy="29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05b4eb1b9c_0_27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241" name="Google Shape;241;g305b4eb1b9c_0_27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2" name="Google Shape;242;g305b4eb1b9c_0_27"/>
          <p:cNvSpPr txBox="1"/>
          <p:nvPr/>
        </p:nvSpPr>
        <p:spPr>
          <a:xfrm>
            <a:off x="2507350" y="6457214"/>
            <a:ext cx="67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https://medium.com/pongpichs/oop-object-oriented-programing-4dda39dbb745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05b4eb1b9c_0_37"/>
          <p:cNvSpPr txBox="1"/>
          <p:nvPr>
            <p:ph type="ctrTitle"/>
          </p:nvPr>
        </p:nvSpPr>
        <p:spPr>
          <a:xfrm>
            <a:off x="414700" y="939800"/>
            <a:ext cx="66420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GB" sz="2000"/>
              <a:t>“...a programming paradigm based on the concept of “objects”, which can contain data and code”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Why?</a:t>
            </a:r>
            <a:endParaRPr sz="20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b="1" lang="en-GB" sz="1600">
                <a:solidFill>
                  <a:schemeClr val="dk1"/>
                </a:solidFill>
              </a:rPr>
              <a:t>Modularity</a:t>
            </a:r>
            <a:r>
              <a:rPr lang="en-GB" sz="1600">
                <a:solidFill>
                  <a:schemeClr val="dk1"/>
                </a:solidFill>
              </a:rPr>
              <a:t>: An object can be written and maintained independently of the source code for other objects.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GB" sz="1600">
                <a:solidFill>
                  <a:schemeClr val="dk1"/>
                </a:solidFill>
              </a:rPr>
              <a:t>They can be removed, added, or replaced without affecting the rest of the program (to much…).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48" name="Google Shape;248;g305b4eb1b9c_0_37"/>
          <p:cNvPicPr preferRelativeResize="0"/>
          <p:nvPr/>
        </p:nvPicPr>
        <p:blipFill rotWithShape="1">
          <a:blip r:embed="rId3">
            <a:alphaModFix/>
          </a:blip>
          <a:srcRect b="5598" l="0" r="0" t="0"/>
          <a:stretch/>
        </p:blipFill>
        <p:spPr>
          <a:xfrm>
            <a:off x="7727975" y="2758123"/>
            <a:ext cx="4106175" cy="29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05b4eb1b9c_0_37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250" name="Google Shape;250;g305b4eb1b9c_0_37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1" name="Google Shape;251;g305b4eb1b9c_0_37"/>
          <p:cNvSpPr txBox="1"/>
          <p:nvPr/>
        </p:nvSpPr>
        <p:spPr>
          <a:xfrm>
            <a:off x="2507350" y="6457214"/>
            <a:ext cx="67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https://medium.com/pongpichs/oop-object-oriented-programing-4dda39dbb745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05b4eb1b9c_0_45"/>
          <p:cNvSpPr txBox="1"/>
          <p:nvPr>
            <p:ph type="ctrTitle"/>
          </p:nvPr>
        </p:nvSpPr>
        <p:spPr>
          <a:xfrm>
            <a:off x="414700" y="939800"/>
            <a:ext cx="66420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GB" sz="2000"/>
              <a:t>“...a programming paradigm based on the concept of “objects”, which can contain data and code”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Why?</a:t>
            </a:r>
            <a:endParaRPr sz="20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b="1" lang="en-GB" sz="1600">
                <a:solidFill>
                  <a:schemeClr val="dk1"/>
                </a:solidFill>
              </a:rPr>
              <a:t>Modularity</a:t>
            </a:r>
            <a:r>
              <a:rPr lang="en-GB" sz="1600">
                <a:solidFill>
                  <a:schemeClr val="dk1"/>
                </a:solidFill>
              </a:rPr>
              <a:t>: An object can be written and maintained independently of the source code for other objects.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GB" sz="1600">
                <a:solidFill>
                  <a:schemeClr val="dk1"/>
                </a:solidFill>
              </a:rPr>
              <a:t>They can be removed, added, or replaced without affecting the rest of the program (to much…).</a:t>
            </a:r>
            <a:endParaRPr sz="16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b="1" lang="en-GB" sz="1600">
                <a:solidFill>
                  <a:schemeClr val="dk1"/>
                </a:solidFill>
              </a:rPr>
              <a:t>Reusability / Distribution</a:t>
            </a:r>
            <a:r>
              <a:rPr lang="en-GB" sz="1600">
                <a:solidFill>
                  <a:schemeClr val="dk1"/>
                </a:solidFill>
              </a:rPr>
              <a:t>: Objects can be reused across programs and can easily be shared.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57" name="Google Shape;257;g305b4eb1b9c_0_45"/>
          <p:cNvPicPr preferRelativeResize="0"/>
          <p:nvPr/>
        </p:nvPicPr>
        <p:blipFill rotWithShape="1">
          <a:blip r:embed="rId3">
            <a:alphaModFix/>
          </a:blip>
          <a:srcRect b="5598" l="0" r="0" t="0"/>
          <a:stretch/>
        </p:blipFill>
        <p:spPr>
          <a:xfrm>
            <a:off x="7727975" y="2758123"/>
            <a:ext cx="4106175" cy="29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05b4eb1b9c_0_4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259" name="Google Shape;259;g305b4eb1b9c_0_45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0" name="Google Shape;260;g305b4eb1b9c_0_45"/>
          <p:cNvSpPr txBox="1"/>
          <p:nvPr/>
        </p:nvSpPr>
        <p:spPr>
          <a:xfrm>
            <a:off x="2507350" y="6457214"/>
            <a:ext cx="67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https://medium.com/pongpichs/oop-object-oriented-programing-4dda39dbb745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05b4eb1b9c_0_53"/>
          <p:cNvSpPr txBox="1"/>
          <p:nvPr>
            <p:ph type="ctrTitle"/>
          </p:nvPr>
        </p:nvSpPr>
        <p:spPr>
          <a:xfrm>
            <a:off x="414700" y="939800"/>
            <a:ext cx="66420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GB" sz="2000"/>
              <a:t>“...a programming paradigm based on the concept of “objects”, which can contain data and code”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Why?</a:t>
            </a:r>
            <a:endParaRPr sz="20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b="1" lang="en-GB" sz="1600">
                <a:solidFill>
                  <a:schemeClr val="dk1"/>
                </a:solidFill>
              </a:rPr>
              <a:t>Modularity</a:t>
            </a:r>
            <a:r>
              <a:rPr lang="en-GB" sz="1600">
                <a:solidFill>
                  <a:schemeClr val="dk1"/>
                </a:solidFill>
              </a:rPr>
              <a:t>: An object can be written and maintained independently of the source code for other objects.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GB" sz="1600">
                <a:solidFill>
                  <a:schemeClr val="dk1"/>
                </a:solidFill>
              </a:rPr>
              <a:t>They can be removed, added, or replaced without affecting the rest of the program (to much…).</a:t>
            </a:r>
            <a:endParaRPr sz="16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b="1" lang="en-GB" sz="1600">
                <a:solidFill>
                  <a:schemeClr val="dk1"/>
                </a:solidFill>
              </a:rPr>
              <a:t>Reusability / Distribution</a:t>
            </a:r>
            <a:r>
              <a:rPr lang="en-GB" sz="1600">
                <a:solidFill>
                  <a:schemeClr val="dk1"/>
                </a:solidFill>
              </a:rPr>
              <a:t>: Objects can be reused across programs and can easily be shared.  </a:t>
            </a:r>
            <a:endParaRPr sz="16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b="1" lang="en-GB" sz="1600">
                <a:solidFill>
                  <a:schemeClr val="dk1"/>
                </a:solidFill>
              </a:rPr>
              <a:t>Scalability and Manageability</a:t>
            </a:r>
            <a:r>
              <a:rPr lang="en-GB" sz="1600">
                <a:solidFill>
                  <a:schemeClr val="dk1"/>
                </a:solidFill>
              </a:rPr>
              <a:t>: OOP helps in managing and scaling large software projects by breaking them down into smaller, manageable objects.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GB" sz="1600">
                <a:solidFill>
                  <a:schemeClr val="dk1"/>
                </a:solidFill>
              </a:rPr>
              <a:t>If they object is well defined, the task of developing can be assigned to each group member or outsourced.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66" name="Google Shape;266;g305b4eb1b9c_0_53"/>
          <p:cNvPicPr preferRelativeResize="0"/>
          <p:nvPr/>
        </p:nvPicPr>
        <p:blipFill rotWithShape="1">
          <a:blip r:embed="rId3">
            <a:alphaModFix/>
          </a:blip>
          <a:srcRect b="5598" l="0" r="0" t="0"/>
          <a:stretch/>
        </p:blipFill>
        <p:spPr>
          <a:xfrm>
            <a:off x="7727975" y="2758123"/>
            <a:ext cx="4106175" cy="29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05b4eb1b9c_0_53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268" name="Google Shape;268;g305b4eb1b9c_0_53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9" name="Google Shape;269;g305b4eb1b9c_0_53"/>
          <p:cNvSpPr txBox="1"/>
          <p:nvPr/>
        </p:nvSpPr>
        <p:spPr>
          <a:xfrm>
            <a:off x="2507350" y="6457214"/>
            <a:ext cx="67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https://medium.com/pongpichs/oop-object-oriented-programing-4dda39dbb745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g22025b0bba9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8400" y="2435953"/>
            <a:ext cx="4233775" cy="33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22025b0bba9_0_1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276" name="Google Shape;276;g22025b0bba9_0_11"/>
          <p:cNvSpPr txBox="1"/>
          <p:nvPr>
            <p:ph type="ctrTitle"/>
          </p:nvPr>
        </p:nvSpPr>
        <p:spPr>
          <a:xfrm>
            <a:off x="414700" y="939800"/>
            <a:ext cx="7959000" cy="57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“...a programming paradigm based on the concept of objects, which can contain data and code”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Key concepts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7" name="Google Shape;277;g22025b0bba9_0_1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g22025b0bba9_0_11"/>
          <p:cNvSpPr txBox="1"/>
          <p:nvPr/>
        </p:nvSpPr>
        <p:spPr>
          <a:xfrm>
            <a:off x="2507350" y="6533414"/>
            <a:ext cx="679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https://medium.com/@sounder.rahul/python-oops-concepts-for-data-engineer-beginners-0b49d0fbce3e</a:t>
            </a:r>
            <a:r>
              <a:rPr lang="en-GB" sz="1000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05b4eb1b9c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8400" y="2435953"/>
            <a:ext cx="4233775" cy="33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05b4eb1b9c_0_1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285" name="Google Shape;285;g305b4eb1b9c_0_19"/>
          <p:cNvSpPr txBox="1"/>
          <p:nvPr>
            <p:ph type="ctrTitle"/>
          </p:nvPr>
        </p:nvSpPr>
        <p:spPr>
          <a:xfrm>
            <a:off x="414700" y="939800"/>
            <a:ext cx="7959000" cy="57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“...a programming paradigm based on the concept of objects, which can contain data and code”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Key concepts</a:t>
            </a:r>
            <a:endParaRPr sz="20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Classes and Objects:</a:t>
            </a:r>
            <a:r>
              <a:rPr lang="en-GB" sz="1400"/>
              <a:t> A class is a template (or blueprint) for creating objects.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It defines a set of attributes and methods that the created objects will have. An object is an instance of a class.</a:t>
            </a:r>
            <a:endParaRPr sz="1200"/>
          </a:p>
        </p:txBody>
      </p:sp>
      <p:sp>
        <p:nvSpPr>
          <p:cNvPr id="286" name="Google Shape;286;g305b4eb1b9c_0_1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7" name="Google Shape;287;g305b4eb1b9c_0_19"/>
          <p:cNvSpPr txBox="1"/>
          <p:nvPr/>
        </p:nvSpPr>
        <p:spPr>
          <a:xfrm>
            <a:off x="2507350" y="6533414"/>
            <a:ext cx="679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https://medium.com/@sounder.rahul/python-oops-concepts-for-data-engineer-beginners-0b49d0fbce3e</a:t>
            </a:r>
            <a:r>
              <a:rPr lang="en-GB" sz="1000"/>
              <a:t> </a:t>
            </a:r>
            <a:endParaRPr/>
          </a:p>
        </p:txBody>
      </p:sp>
      <p:sp>
        <p:nvSpPr>
          <p:cNvPr id="288" name="Google Shape;288;g305b4eb1b9c_0_19"/>
          <p:cNvSpPr/>
          <p:nvPr/>
        </p:nvSpPr>
        <p:spPr>
          <a:xfrm>
            <a:off x="8373700" y="2205950"/>
            <a:ext cx="2549100" cy="2001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g305b4eb1b9c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8400" y="2435953"/>
            <a:ext cx="4233775" cy="33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05b4eb1b9c_0_6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295" name="Google Shape;295;g305b4eb1b9c_0_61"/>
          <p:cNvSpPr txBox="1"/>
          <p:nvPr>
            <p:ph type="ctrTitle"/>
          </p:nvPr>
        </p:nvSpPr>
        <p:spPr>
          <a:xfrm>
            <a:off x="414700" y="939800"/>
            <a:ext cx="7959000" cy="57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“...a programming paradigm based on the concept of objects, which can contain data and code”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Key concepts</a:t>
            </a:r>
            <a:endParaRPr sz="20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Classes and Objects:</a:t>
            </a:r>
            <a:r>
              <a:rPr lang="en-GB" sz="1400"/>
              <a:t> A class is a template (or blueprint) for creating objects.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It defines a set of attributes and methods that the created objects will have. An object is an instance of a class.</a:t>
            </a:r>
            <a:br>
              <a:rPr lang="en-GB" sz="1200"/>
            </a:br>
            <a:endParaRPr sz="3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Encapsulation:</a:t>
            </a:r>
            <a:r>
              <a:rPr lang="en-GB" sz="1400"/>
              <a:t> This principle involves bundling the data (attributes) and </a:t>
            </a:r>
            <a:r>
              <a:rPr lang="en-GB" sz="1400">
                <a:solidFill>
                  <a:schemeClr val="dk1"/>
                </a:solidFill>
              </a:rPr>
              <a:t>procedures</a:t>
            </a:r>
            <a:r>
              <a:rPr lang="en-GB" sz="1400"/>
              <a:t> (methods/functions) that operate on the data into a single unit or class.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Encapsulation helps in keeping the internal state of an object hidden from the outside, exposing only what is necessary.</a:t>
            </a:r>
            <a:br>
              <a:rPr lang="en-GB" sz="1200"/>
            </a:br>
            <a:endParaRPr sz="12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6" name="Google Shape;296;g305b4eb1b9c_0_6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7" name="Google Shape;297;g305b4eb1b9c_0_61"/>
          <p:cNvSpPr txBox="1"/>
          <p:nvPr/>
        </p:nvSpPr>
        <p:spPr>
          <a:xfrm>
            <a:off x="2507350" y="6533414"/>
            <a:ext cx="679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https://medium.com/@sounder.rahul/python-oops-concepts-for-data-engineer-beginners-0b49d0fbce3e</a:t>
            </a:r>
            <a:r>
              <a:rPr lang="en-GB" sz="1000"/>
              <a:t> </a:t>
            </a:r>
            <a:endParaRPr/>
          </a:p>
        </p:txBody>
      </p:sp>
      <p:sp>
        <p:nvSpPr>
          <p:cNvPr id="298" name="Google Shape;298;g305b4eb1b9c_0_61"/>
          <p:cNvSpPr/>
          <p:nvPr/>
        </p:nvSpPr>
        <p:spPr>
          <a:xfrm>
            <a:off x="9959500" y="2759575"/>
            <a:ext cx="1800300" cy="1542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g305b4eb1b9c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8400" y="2435953"/>
            <a:ext cx="4233775" cy="33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05b4eb1b9c_0_6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305" name="Google Shape;305;g305b4eb1b9c_0_69"/>
          <p:cNvSpPr txBox="1"/>
          <p:nvPr>
            <p:ph type="ctrTitle"/>
          </p:nvPr>
        </p:nvSpPr>
        <p:spPr>
          <a:xfrm>
            <a:off x="414700" y="939800"/>
            <a:ext cx="7959000" cy="57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“...a programming paradigm based on the concept of objects, which can contain data and code”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Key concepts</a:t>
            </a:r>
            <a:endParaRPr sz="20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Classes and Objects:</a:t>
            </a:r>
            <a:r>
              <a:rPr lang="en-GB" sz="1400"/>
              <a:t> A class is a template (or blueprint) for creating objects.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It defines a set of attributes and methods that the created objects will have. An object is an instance of a class.</a:t>
            </a:r>
            <a:br>
              <a:rPr lang="en-GB" sz="1200"/>
            </a:br>
            <a:endParaRPr sz="3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Encapsulation:</a:t>
            </a:r>
            <a:r>
              <a:rPr lang="en-GB" sz="1400"/>
              <a:t> This principle involves bundling the data (attributes) and </a:t>
            </a:r>
            <a:r>
              <a:rPr lang="en-GB" sz="1400">
                <a:solidFill>
                  <a:schemeClr val="dk1"/>
                </a:solidFill>
              </a:rPr>
              <a:t>procedures</a:t>
            </a:r>
            <a:r>
              <a:rPr lang="en-GB" sz="1400"/>
              <a:t> (methods/functions) that operate on the data into a single unit or class.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Encapsulation helps in keeping the internal state of an object hidden from the outside, exposing only what is necessary.</a:t>
            </a:r>
            <a:br>
              <a:rPr lang="en-GB" sz="1200"/>
            </a:br>
            <a:endParaRPr sz="12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Inheritance:</a:t>
            </a:r>
            <a:r>
              <a:rPr lang="en-GB" sz="1400"/>
              <a:t> Inheritance allows one class (child class) to inherit attributes and methods from another class (parent class).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This promotes code reuse and establishes a natural hierarchy between classes.</a:t>
            </a:r>
            <a:br>
              <a:rPr lang="en-GB" sz="1200"/>
            </a:br>
            <a:endParaRPr sz="12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6" name="Google Shape;306;g305b4eb1b9c_0_6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7" name="Google Shape;307;g305b4eb1b9c_0_69"/>
          <p:cNvSpPr txBox="1"/>
          <p:nvPr/>
        </p:nvSpPr>
        <p:spPr>
          <a:xfrm>
            <a:off x="2507350" y="6533414"/>
            <a:ext cx="679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https://medium.com/@sounder.rahul/python-oops-concepts-for-data-engineer-beginners-0b49d0fbce3e</a:t>
            </a:r>
            <a:r>
              <a:rPr lang="en-GB" sz="1000"/>
              <a:t> </a:t>
            </a:r>
            <a:endParaRPr/>
          </a:p>
        </p:txBody>
      </p:sp>
      <p:sp>
        <p:nvSpPr>
          <p:cNvPr id="308" name="Google Shape;308;g305b4eb1b9c_0_69"/>
          <p:cNvSpPr/>
          <p:nvPr/>
        </p:nvSpPr>
        <p:spPr>
          <a:xfrm>
            <a:off x="9045100" y="4435975"/>
            <a:ext cx="1800300" cy="1542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g305b4eb1b9c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8400" y="2435953"/>
            <a:ext cx="4233775" cy="33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05b4eb1b9c_0_77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315" name="Google Shape;315;g305b4eb1b9c_0_77"/>
          <p:cNvSpPr txBox="1"/>
          <p:nvPr>
            <p:ph type="ctrTitle"/>
          </p:nvPr>
        </p:nvSpPr>
        <p:spPr>
          <a:xfrm>
            <a:off x="414700" y="939800"/>
            <a:ext cx="7959000" cy="57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“...a programming paradigm based on the concept of objects, which can contain data and code”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Key concepts</a:t>
            </a:r>
            <a:endParaRPr sz="20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Classes and Objects:</a:t>
            </a:r>
            <a:r>
              <a:rPr lang="en-GB" sz="1400"/>
              <a:t> A class is a template (or blueprint) for creating objects.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It defines a set of attributes and methods that the created objects will have. An object is an instance of a class.</a:t>
            </a:r>
            <a:br>
              <a:rPr lang="en-GB" sz="1200"/>
            </a:br>
            <a:endParaRPr sz="3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Encapsulation:</a:t>
            </a:r>
            <a:r>
              <a:rPr lang="en-GB" sz="1400"/>
              <a:t> This principle involves bundling the data (attributes) and </a:t>
            </a:r>
            <a:r>
              <a:rPr lang="en-GB" sz="1400">
                <a:solidFill>
                  <a:schemeClr val="dk1"/>
                </a:solidFill>
              </a:rPr>
              <a:t>procedures</a:t>
            </a:r>
            <a:r>
              <a:rPr lang="en-GB" sz="1400"/>
              <a:t> (methods/functions) that operate on the data into a single unit or class.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Encapsulation helps in keeping the internal state of an object hidden from the outside, exposing only what is necessary.</a:t>
            </a:r>
            <a:br>
              <a:rPr lang="en-GB" sz="1200"/>
            </a:br>
            <a:endParaRPr sz="12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Inheritance:</a:t>
            </a:r>
            <a:r>
              <a:rPr lang="en-GB" sz="1400"/>
              <a:t> Inheritance allows one class (child class) to inherit attributes and methods from another class (parent class).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This promotes code reuse and establishes a natural hierarchy between classes.</a:t>
            </a:r>
            <a:br>
              <a:rPr lang="en-GB" sz="1200"/>
            </a:br>
            <a:endParaRPr sz="12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Polymorphism:</a:t>
            </a:r>
            <a:r>
              <a:rPr lang="en-GB" sz="1400"/>
              <a:t> Polymorphism enables objects of different classes to be treated as objects of a common super class.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This is often implemented through method overriding, where a subclass provides a specific implementation of a method that is already defined in its superclass.</a:t>
            </a:r>
            <a:br>
              <a:rPr lang="en-GB" sz="1200"/>
            </a:b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6" name="Google Shape;316;g305b4eb1b9c_0_77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7" name="Google Shape;317;g305b4eb1b9c_0_77"/>
          <p:cNvSpPr txBox="1"/>
          <p:nvPr/>
        </p:nvSpPr>
        <p:spPr>
          <a:xfrm>
            <a:off x="2507350" y="6533414"/>
            <a:ext cx="679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https://medium.com/@sounder.rahul/python-oops-concepts-for-data-engineer-beginners-0b49d0fbce3e</a:t>
            </a:r>
            <a:r>
              <a:rPr lang="en-GB" sz="1000"/>
              <a:t> </a:t>
            </a:r>
            <a:endParaRPr/>
          </a:p>
        </p:txBody>
      </p:sp>
      <p:sp>
        <p:nvSpPr>
          <p:cNvPr id="318" name="Google Shape;318;g305b4eb1b9c_0_77"/>
          <p:cNvSpPr/>
          <p:nvPr/>
        </p:nvSpPr>
        <p:spPr>
          <a:xfrm>
            <a:off x="9959500" y="3826375"/>
            <a:ext cx="1800300" cy="1542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g305b4eb1b9c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8400" y="2435953"/>
            <a:ext cx="4233775" cy="33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05b4eb1b9c_0_8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325" name="Google Shape;325;g305b4eb1b9c_0_85"/>
          <p:cNvSpPr txBox="1"/>
          <p:nvPr>
            <p:ph type="ctrTitle"/>
          </p:nvPr>
        </p:nvSpPr>
        <p:spPr>
          <a:xfrm>
            <a:off x="414700" y="939800"/>
            <a:ext cx="7959000" cy="57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Object-Oriented Programming (OOP)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“...a programming paradigm based on the concept of objects, which can contain data and code”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Key concepts</a:t>
            </a:r>
            <a:endParaRPr sz="20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Classes and Objects:</a:t>
            </a:r>
            <a:r>
              <a:rPr lang="en-GB" sz="1400"/>
              <a:t> A class is a template (or blueprint) for creating objects.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It defines a set of attributes and methods that the created objects will have. An object is an instance of a class.</a:t>
            </a:r>
            <a:br>
              <a:rPr lang="en-GB" sz="1200"/>
            </a:br>
            <a:endParaRPr sz="3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Encapsulation:</a:t>
            </a:r>
            <a:r>
              <a:rPr lang="en-GB" sz="1400"/>
              <a:t> This principle involves bundling the data (attributes) and </a:t>
            </a:r>
            <a:r>
              <a:rPr lang="en-GB" sz="1400">
                <a:solidFill>
                  <a:schemeClr val="dk1"/>
                </a:solidFill>
              </a:rPr>
              <a:t>procedures</a:t>
            </a:r>
            <a:r>
              <a:rPr lang="en-GB" sz="1400"/>
              <a:t> (methods/functions) that operate on the data into a single unit or class.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Encapsulation helps in keeping the internal state of an object hidden from the outside, exposing only what is necessary.</a:t>
            </a:r>
            <a:br>
              <a:rPr lang="en-GB" sz="1200"/>
            </a:br>
            <a:endParaRPr sz="12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Inheritance:</a:t>
            </a:r>
            <a:r>
              <a:rPr lang="en-GB" sz="1400"/>
              <a:t> Inheritance allows one class (child class) to inherit attributes and methods from another class (parent class).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This promotes code reuse and establishes a natural hierarchy between classes.</a:t>
            </a:r>
            <a:br>
              <a:rPr lang="en-GB" sz="1200"/>
            </a:br>
            <a:endParaRPr sz="12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Polymorphism:</a:t>
            </a:r>
            <a:r>
              <a:rPr lang="en-GB" sz="1400"/>
              <a:t> Polymorphism enables objects of different classes to be treated as objects of a common super class.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This is often implemented through method overriding, where a subclass provides a specific implementation of a method that is already defined in its superclass.</a:t>
            </a:r>
            <a:br>
              <a:rPr lang="en-GB" sz="1200"/>
            </a:br>
            <a:endParaRPr sz="12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Abstraction:</a:t>
            </a:r>
            <a:r>
              <a:rPr lang="en-GB" sz="1400"/>
              <a:t> The concept of hiding complex implementation details and showing only the essential features of an object. </a:t>
            </a:r>
            <a:endParaRPr sz="14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/>
              <a:t>It simplifies interaction with the object by providing a clear and simple interface.</a:t>
            </a:r>
            <a:endParaRPr sz="1200"/>
          </a:p>
        </p:txBody>
      </p:sp>
      <p:sp>
        <p:nvSpPr>
          <p:cNvPr id="326" name="Google Shape;326;g305b4eb1b9c_0_85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7" name="Google Shape;327;g305b4eb1b9c_0_85"/>
          <p:cNvSpPr txBox="1"/>
          <p:nvPr/>
        </p:nvSpPr>
        <p:spPr>
          <a:xfrm>
            <a:off x="2507350" y="6533414"/>
            <a:ext cx="679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https://medium.com/@sounder.rahul/python-oops-concepts-for-data-engineer-beginners-0b49d0fbce3e</a:t>
            </a:r>
            <a:r>
              <a:rPr lang="en-GB" sz="1000"/>
              <a:t> </a:t>
            </a:r>
            <a:endParaRPr/>
          </a:p>
        </p:txBody>
      </p:sp>
      <p:sp>
        <p:nvSpPr>
          <p:cNvPr id="328" name="Google Shape;328;g305b4eb1b9c_0_85"/>
          <p:cNvSpPr/>
          <p:nvPr/>
        </p:nvSpPr>
        <p:spPr>
          <a:xfrm>
            <a:off x="8161423" y="3902575"/>
            <a:ext cx="1800300" cy="1542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2025b0bba9_0_22"/>
          <p:cNvSpPr txBox="1"/>
          <p:nvPr>
            <p:ph type="ctrTitle"/>
          </p:nvPr>
        </p:nvSpPr>
        <p:spPr>
          <a:xfrm>
            <a:off x="414700" y="939800"/>
            <a:ext cx="45501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Classes and Objects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</a:t>
            </a:r>
            <a:r>
              <a:rPr b="0" i="1" lang="en-GB" sz="2000"/>
              <a:t>a template for creating objects.</a:t>
            </a:r>
            <a:r>
              <a:rPr b="0" i="1" lang="en-GB" sz="2000"/>
              <a:t>”</a:t>
            </a:r>
            <a:endParaRPr b="0" i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/>
              <a:t>In this example: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b="0" lang="en-GB" sz="1100"/>
              <a:t> class defines </a:t>
            </a:r>
            <a:endParaRPr b="0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GB" sz="1100"/>
              <a:t>Three </a:t>
            </a:r>
            <a:r>
              <a:rPr b="1" lang="en-GB" sz="1100"/>
              <a:t>attributes</a:t>
            </a:r>
            <a:r>
              <a:rPr b="0" lang="en-GB" sz="1100"/>
              <a:t> (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brand</a:t>
            </a:r>
            <a:r>
              <a:rPr b="0" lang="en-GB" sz="1100"/>
              <a:t>,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</a:t>
            </a:r>
            <a:r>
              <a:rPr b="0" lang="en-GB" sz="1100"/>
              <a:t>,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b="0" lang="en-GB" sz="1100"/>
              <a:t>) and </a:t>
            </a:r>
            <a:endParaRPr b="0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b="0" lang="en-GB" sz="1100"/>
              <a:t>a </a:t>
            </a:r>
            <a:r>
              <a:rPr b="1" lang="en-GB" sz="1100"/>
              <a:t>method</a:t>
            </a:r>
            <a:r>
              <a:rPr b="0" lang="en-GB" sz="1100"/>
              <a:t> (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start_engine</a:t>
            </a:r>
            <a:r>
              <a:rPr b="0" lang="en-GB" sz="1100"/>
              <a:t>).</a:t>
            </a:r>
            <a:br>
              <a:rPr lang="en-GB" sz="1100">
                <a:solidFill>
                  <a:schemeClr val="dk1"/>
                </a:solidFill>
              </a:rPr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my_car</a:t>
            </a:r>
            <a:r>
              <a:rPr b="0" lang="en-GB" sz="1100"/>
              <a:t> object is an instance of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b="0" lang="en-GB" sz="1100"/>
              <a:t> class, with specific values for its attributes.</a:t>
            </a:r>
            <a:br>
              <a:rPr b="0" lang="en-GB" sz="1100"/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34" name="Google Shape;334;g22025b0bba9_0_22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335" name="Google Shape;335;g22025b0bba9_0_22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36" name="Google Shape;336;g22025b0bba9_0_22"/>
          <p:cNvGraphicFramePr/>
          <p:nvPr/>
        </p:nvGraphicFramePr>
        <p:xfrm>
          <a:off x="5545250" y="263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368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Example: 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Define a Class and make an Object of the class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33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Car: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brand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year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 = brand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 = model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 = year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start_engine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"The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's engine starts."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Creating an object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my_car = Car(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"Toyota"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"Corolla"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Accessing attributes and methods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(my_car.brand)        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Toyota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(my_car.start_engine())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The 2020 Toyota Corolla's engine starts.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37" name="Google Shape;337;g22025b0bba9_0_22"/>
          <p:cNvPicPr preferRelativeResize="0"/>
          <p:nvPr/>
        </p:nvPicPr>
        <p:blipFill rotWithShape="1">
          <a:blip r:embed="rId3">
            <a:alphaModFix/>
          </a:blip>
          <a:srcRect b="5598" l="0" r="0" t="0"/>
          <a:stretch/>
        </p:blipFill>
        <p:spPr>
          <a:xfrm>
            <a:off x="7208813" y="166425"/>
            <a:ext cx="3192175" cy="229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22025b0bba9_0_22"/>
          <p:cNvSpPr txBox="1"/>
          <p:nvPr/>
        </p:nvSpPr>
        <p:spPr>
          <a:xfrm>
            <a:off x="2507350" y="6533414"/>
            <a:ext cx="67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https://medium.com/pongpichs/oop-object-oriented-programing-4dda39dbb745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0617fb5373_0_0"/>
          <p:cNvSpPr txBox="1"/>
          <p:nvPr>
            <p:ph type="ctrTitle"/>
          </p:nvPr>
        </p:nvSpPr>
        <p:spPr>
          <a:xfrm>
            <a:off x="414700" y="939800"/>
            <a:ext cx="45501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Classes and Objects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“...a template for creating objects.”</a:t>
            </a:r>
            <a:endParaRPr b="0" i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/>
              <a:t>In this example: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b="0" lang="en-GB" sz="1100"/>
              <a:t> class defines three attributes (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brand</a:t>
            </a:r>
            <a:r>
              <a:rPr b="0" lang="en-GB" sz="1100"/>
              <a:t>,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</a:t>
            </a:r>
            <a:r>
              <a:rPr b="0" lang="en-GB" sz="1100"/>
              <a:t>,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b="0" lang="en-GB" sz="1100"/>
              <a:t>) and a method (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start_engine</a:t>
            </a:r>
            <a:r>
              <a:rPr b="0" lang="en-GB" sz="1100"/>
              <a:t>).</a:t>
            </a:r>
            <a:br>
              <a:rPr lang="en-GB" sz="1100">
                <a:solidFill>
                  <a:schemeClr val="dk1"/>
                </a:solidFill>
              </a:rPr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my_car</a:t>
            </a:r>
            <a:r>
              <a:rPr b="0" lang="en-GB" sz="1100"/>
              <a:t> object is an instance of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b="0" lang="en-GB" sz="1100"/>
              <a:t> class, with specific values for its attributes.</a:t>
            </a:r>
            <a:br>
              <a:rPr b="0" lang="en-GB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Key concepts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44" name="Google Shape;344;g30617fb5373_0_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345" name="Google Shape;345;g30617fb5373_0_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46" name="Google Shape;346;g30617fb5373_0_0"/>
          <p:cNvGraphicFramePr/>
          <p:nvPr/>
        </p:nvGraphicFramePr>
        <p:xfrm>
          <a:off x="5545250" y="263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368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Example: 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Define a Class and make an Object of the class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33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Car: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brand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year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 = brand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 = model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 = year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start_engine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"The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's engine starts."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Creating an object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my_car = Car(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"Toyota"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"Corolla"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Accessing attributes and methods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(my_car.brand)        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Toyota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(my_car.start_engine())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The 2020 Toyota Corolla's engine starts.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47" name="Google Shape;347;g30617fb5373_0_0"/>
          <p:cNvPicPr preferRelativeResize="0"/>
          <p:nvPr/>
        </p:nvPicPr>
        <p:blipFill rotWithShape="1">
          <a:blip r:embed="rId3">
            <a:alphaModFix/>
          </a:blip>
          <a:srcRect b="5598" l="0" r="0" t="0"/>
          <a:stretch/>
        </p:blipFill>
        <p:spPr>
          <a:xfrm>
            <a:off x="7208813" y="166425"/>
            <a:ext cx="3192175" cy="229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0617fb5373_0_0"/>
          <p:cNvSpPr txBox="1"/>
          <p:nvPr/>
        </p:nvSpPr>
        <p:spPr>
          <a:xfrm>
            <a:off x="2507350" y="6533414"/>
            <a:ext cx="67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https://medium.com/pongpichs/oop-object-oriented-programing-4dda39dbb745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069c0c8589_0_19"/>
          <p:cNvSpPr txBox="1"/>
          <p:nvPr>
            <p:ph type="ctrTitle"/>
          </p:nvPr>
        </p:nvSpPr>
        <p:spPr>
          <a:xfrm>
            <a:off x="414700" y="939800"/>
            <a:ext cx="45501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Classes and Objects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“...a template for creating objects.”</a:t>
            </a:r>
            <a:endParaRPr b="0" i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/>
              <a:t>In this example: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b="0" lang="en-GB" sz="1100"/>
              <a:t> class defines three attributes (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brand</a:t>
            </a:r>
            <a:r>
              <a:rPr b="0" lang="en-GB" sz="1100"/>
              <a:t>,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</a:t>
            </a:r>
            <a:r>
              <a:rPr b="0" lang="en-GB" sz="1100"/>
              <a:t>,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b="0" lang="en-GB" sz="1100"/>
              <a:t>) and a method (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start_engine</a:t>
            </a:r>
            <a:r>
              <a:rPr b="0" lang="en-GB" sz="1100"/>
              <a:t>).</a:t>
            </a:r>
            <a:br>
              <a:rPr lang="en-GB" sz="1100">
                <a:solidFill>
                  <a:schemeClr val="dk1"/>
                </a:solidFill>
              </a:rPr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my_car</a:t>
            </a:r>
            <a:r>
              <a:rPr b="0" lang="en-GB" sz="1100"/>
              <a:t> object is an instance of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b="0" lang="en-GB" sz="1100"/>
              <a:t> class, with specific values for its attributes.</a:t>
            </a:r>
            <a:br>
              <a:rPr b="0" lang="en-GB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Key concepts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b="1" lang="en-GB" sz="1100">
                <a:solidFill>
                  <a:schemeClr val="dk1"/>
                </a:solidFill>
              </a:rPr>
              <a:t>Constructor</a:t>
            </a:r>
            <a:r>
              <a:rPr lang="en-GB" sz="1100">
                <a:solidFill>
                  <a:schemeClr val="dk1"/>
                </a:solidFill>
              </a:rPr>
              <a:t> (or </a:t>
            </a:r>
            <a:r>
              <a:rPr b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b="1"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method)</a:t>
            </a:r>
            <a:r>
              <a:rPr b="1" lang="en-GB" sz="1100">
                <a:solidFill>
                  <a:schemeClr val="dk1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When an instance of the object is created, the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-GB" sz="1100">
                <a:solidFill>
                  <a:schemeClr val="dk1"/>
                </a:solidFill>
              </a:rPr>
              <a:t> method is automatically called.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-GB" sz="1100">
                <a:solidFill>
                  <a:schemeClr val="dk1"/>
                </a:solidFill>
              </a:rPr>
              <a:t>It take the arguments as inputs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-GB" sz="1100">
                <a:solidFill>
                  <a:schemeClr val="dk1"/>
                </a:solidFill>
              </a:rPr>
              <a:t>…typically used for initializing variable 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-GB" sz="1100">
                <a:solidFill>
                  <a:schemeClr val="dk1"/>
                </a:solidFill>
              </a:rPr>
              <a:t>Input to the Car class: </a:t>
            </a:r>
            <a:endParaRPr sz="1100">
              <a:solidFill>
                <a:schemeClr val="dk1"/>
              </a:solidFill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make</a:t>
            </a:r>
            <a:r>
              <a:rPr lang="en-GB" sz="1100">
                <a:solidFill>
                  <a:schemeClr val="dk1"/>
                </a:solidFill>
              </a:rPr>
              <a:t>,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</a:t>
            </a:r>
            <a:r>
              <a:rPr lang="en-GB" sz="1100">
                <a:solidFill>
                  <a:schemeClr val="dk1"/>
                </a:solidFill>
              </a:rPr>
              <a:t>,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-GB" sz="1100">
                <a:solidFill>
                  <a:schemeClr val="dk1"/>
                </a:solidFill>
              </a:rPr>
              <a:t> (no defaults)</a:t>
            </a:r>
            <a:endParaRPr sz="1100">
              <a:solidFill>
                <a:schemeClr val="dk1"/>
              </a:solidFill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However,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-GB" sz="1100">
                <a:solidFill>
                  <a:schemeClr val="dk1"/>
                </a:solidFill>
              </a:rPr>
              <a:t> takes four?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54" name="Google Shape;354;g3069c0c8589_0_1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355" name="Google Shape;355;g3069c0c8589_0_1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56" name="Google Shape;356;g3069c0c8589_0_19"/>
          <p:cNvGraphicFramePr/>
          <p:nvPr/>
        </p:nvGraphicFramePr>
        <p:xfrm>
          <a:off x="5545250" y="263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368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Example: 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Define a Class and make an Object of the class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33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Car: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brand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year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 = brand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 = model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 = year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start_engine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"The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's engine starts."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Creating an object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my_car = Car(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"Toyota"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"Corolla"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Accessing attributes and methods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(my_car.brand)        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Toyota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(my_car.start_engine())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The 2020 Toyota Corolla's engine starts.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57" name="Google Shape;357;g3069c0c8589_0_19"/>
          <p:cNvPicPr preferRelativeResize="0"/>
          <p:nvPr/>
        </p:nvPicPr>
        <p:blipFill rotWithShape="1">
          <a:blip r:embed="rId3">
            <a:alphaModFix/>
          </a:blip>
          <a:srcRect b="5598" l="0" r="0" t="0"/>
          <a:stretch/>
        </p:blipFill>
        <p:spPr>
          <a:xfrm>
            <a:off x="7208813" y="166425"/>
            <a:ext cx="3192175" cy="229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069c0c8589_0_19"/>
          <p:cNvSpPr txBox="1"/>
          <p:nvPr/>
        </p:nvSpPr>
        <p:spPr>
          <a:xfrm>
            <a:off x="2507350" y="6533414"/>
            <a:ext cx="67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https://medium.com/pongpichs/oop-object-oriented-programing-4dda39dbb745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0617fb5373_0_9"/>
          <p:cNvSpPr txBox="1"/>
          <p:nvPr>
            <p:ph type="ctrTitle"/>
          </p:nvPr>
        </p:nvSpPr>
        <p:spPr>
          <a:xfrm>
            <a:off x="414700" y="939800"/>
            <a:ext cx="45501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Classes and Objects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“...a template for creating objects.”</a:t>
            </a:r>
            <a:endParaRPr b="0" i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/>
              <a:t>In this example: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b="0" lang="en-GB" sz="1100"/>
              <a:t> class defines three attributes (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brand</a:t>
            </a:r>
            <a:r>
              <a:rPr b="0" lang="en-GB" sz="1100"/>
              <a:t>,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</a:t>
            </a:r>
            <a:r>
              <a:rPr b="0" lang="en-GB" sz="1100"/>
              <a:t>,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b="0" lang="en-GB" sz="1100"/>
              <a:t>) and a method (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start_engine</a:t>
            </a:r>
            <a:r>
              <a:rPr b="0" lang="en-GB" sz="1100"/>
              <a:t>).</a:t>
            </a:r>
            <a:br>
              <a:rPr lang="en-GB" sz="1100">
                <a:solidFill>
                  <a:schemeClr val="dk1"/>
                </a:solidFill>
              </a:rPr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my_car</a:t>
            </a:r>
            <a:r>
              <a:rPr b="0" lang="en-GB" sz="1100"/>
              <a:t> object is an instance of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b="0" lang="en-GB" sz="1100"/>
              <a:t> class, with specific values for its attributes.</a:t>
            </a:r>
            <a:br>
              <a:rPr b="0" lang="en-GB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Key concepts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b="1" lang="en-GB" sz="1100">
                <a:solidFill>
                  <a:schemeClr val="dk1"/>
                </a:solidFill>
              </a:rPr>
              <a:t>Constructor</a:t>
            </a:r>
            <a:r>
              <a:rPr lang="en-GB" sz="1100">
                <a:solidFill>
                  <a:schemeClr val="dk1"/>
                </a:solidFill>
              </a:rPr>
              <a:t> (or </a:t>
            </a:r>
            <a:r>
              <a:rPr b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b="1"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method)</a:t>
            </a:r>
            <a:r>
              <a:rPr b="1" lang="en-GB" sz="1100">
                <a:solidFill>
                  <a:schemeClr val="dk1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When an instance of the object is created, the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-GB" sz="1100">
                <a:solidFill>
                  <a:schemeClr val="dk1"/>
                </a:solidFill>
              </a:rPr>
              <a:t> method is automatically called.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-GB" sz="1100">
                <a:solidFill>
                  <a:schemeClr val="dk1"/>
                </a:solidFill>
              </a:rPr>
              <a:t>It take the arguments as inputs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-GB" sz="1100">
                <a:solidFill>
                  <a:schemeClr val="dk1"/>
                </a:solidFill>
              </a:rPr>
              <a:t>…typically used for initializing variable 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-GB" sz="1100">
                <a:solidFill>
                  <a:schemeClr val="dk1"/>
                </a:solidFill>
              </a:rPr>
              <a:t>Input to the Car class: </a:t>
            </a:r>
            <a:endParaRPr sz="1100">
              <a:solidFill>
                <a:schemeClr val="dk1"/>
              </a:solidFill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make</a:t>
            </a:r>
            <a:r>
              <a:rPr lang="en-GB" sz="1100">
                <a:solidFill>
                  <a:schemeClr val="dk1"/>
                </a:solidFill>
              </a:rPr>
              <a:t>,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</a:t>
            </a:r>
            <a:r>
              <a:rPr lang="en-GB" sz="1100">
                <a:solidFill>
                  <a:schemeClr val="dk1"/>
                </a:solidFill>
              </a:rPr>
              <a:t>,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-GB" sz="1100">
                <a:solidFill>
                  <a:schemeClr val="dk1"/>
                </a:solidFill>
              </a:rPr>
              <a:t> (no defaults)</a:t>
            </a:r>
            <a:endParaRPr sz="1100">
              <a:solidFill>
                <a:schemeClr val="dk1"/>
              </a:solidFill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However,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-GB" sz="1100">
                <a:solidFill>
                  <a:schemeClr val="dk1"/>
                </a:solidFill>
              </a:rPr>
              <a:t> takes four?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b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GB" sz="1100">
                <a:solidFill>
                  <a:schemeClr val="dk1"/>
                </a:solidFill>
              </a:rPr>
              <a:t> Parameter: </a:t>
            </a:r>
            <a:r>
              <a:rPr lang="en-GB" sz="1100">
                <a:solidFill>
                  <a:schemeClr val="dk1"/>
                </a:solidFill>
              </a:rPr>
              <a:t>a reference to the current instance of the class, and is used to access variables that belongs to the class.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64" name="Google Shape;364;g30617fb5373_0_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365" name="Google Shape;365;g30617fb5373_0_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66" name="Google Shape;366;g30617fb5373_0_9"/>
          <p:cNvGraphicFramePr/>
          <p:nvPr/>
        </p:nvGraphicFramePr>
        <p:xfrm>
          <a:off x="5545250" y="263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368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Example: 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Define a Class and make an Object of the class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33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Car: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brand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year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 = brand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 = model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 = year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start_engine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"The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's engine starts."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Creating an object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my_car = Car(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"Toyota"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"Corolla"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Accessing attributes and methods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(my_car.brand)        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Toyota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(my_car.start_engine())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The 2020 Toyota Corolla's engine starts.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67" name="Google Shape;367;g30617fb5373_0_9"/>
          <p:cNvPicPr preferRelativeResize="0"/>
          <p:nvPr/>
        </p:nvPicPr>
        <p:blipFill rotWithShape="1">
          <a:blip r:embed="rId3">
            <a:alphaModFix/>
          </a:blip>
          <a:srcRect b="5598" l="0" r="0" t="0"/>
          <a:stretch/>
        </p:blipFill>
        <p:spPr>
          <a:xfrm>
            <a:off x="7208813" y="166425"/>
            <a:ext cx="3192175" cy="229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0617fb5373_0_9"/>
          <p:cNvSpPr txBox="1"/>
          <p:nvPr/>
        </p:nvSpPr>
        <p:spPr>
          <a:xfrm>
            <a:off x="2507350" y="6533414"/>
            <a:ext cx="67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https://medium.com/pongpichs/oop-object-oriented-programing-4dda39dbb745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3" name="Google Shape;373;g22025b0bba9_0_32"/>
          <p:cNvGraphicFramePr/>
          <p:nvPr/>
        </p:nvGraphicFramePr>
        <p:xfrm>
          <a:off x="5545250" y="73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20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Split up into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separate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 files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204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File: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g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arage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.py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95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Car: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brand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year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 = brand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 = model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 = year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start_engine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"The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's engine starts."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28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File: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main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.py</a:t>
                      </a:r>
                      <a:endParaRPr sz="1050">
                        <a:solidFill>
                          <a:srgbClr val="FFFFFF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73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garage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Car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Import the Car class from Garage.py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Creating an object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my_car = Car(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"Toyota"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"Corolla"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Accessing attributes and methods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(my_car.brand)         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Toyota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(my_car.start_engine())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The 2020 Toyota Corolla's engine starts.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4" name="Google Shape;374;g22025b0bba9_0_32"/>
          <p:cNvSpPr txBox="1"/>
          <p:nvPr>
            <p:ph type="ctrTitle"/>
          </p:nvPr>
        </p:nvSpPr>
        <p:spPr>
          <a:xfrm>
            <a:off x="414700" y="939800"/>
            <a:ext cx="45501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Classes and Objects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“...a </a:t>
            </a:r>
            <a:r>
              <a:rPr b="0" i="1" lang="en-GB" sz="2000"/>
              <a:t>template</a:t>
            </a:r>
            <a:r>
              <a:rPr b="0" i="1" lang="en-GB" sz="2000"/>
              <a:t> for creating objects.”</a:t>
            </a:r>
            <a:endParaRPr b="0" i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Organize: </a:t>
            </a:r>
            <a:r>
              <a:rPr b="0" lang="en-GB" sz="1100"/>
              <a:t>Same</a:t>
            </a:r>
            <a:r>
              <a:rPr b="0" lang="en-GB" sz="1100"/>
              <a:t> example but in </a:t>
            </a:r>
            <a:r>
              <a:rPr b="0" lang="en-GB" sz="1100"/>
              <a:t>separate</a:t>
            </a:r>
            <a:r>
              <a:rPr b="0" lang="en-GB" sz="1100"/>
              <a:t> files: 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b="0" lang="en-GB" sz="1100"/>
              <a:t> class is defined in it own file </a:t>
            </a:r>
            <a:r>
              <a:rPr b="0" lang="en-GB" sz="1100"/>
              <a:t>(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garage.py</a:t>
            </a:r>
            <a:r>
              <a:rPr b="0" lang="en-GB" sz="1100"/>
              <a:t>).</a:t>
            </a:r>
            <a:br>
              <a:rPr b="0" lang="en-GB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main.py</a:t>
            </a:r>
            <a:r>
              <a:rPr b="0" lang="en-GB" sz="1100"/>
              <a:t> file imports the 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b="0" lang="en-GB" sz="1100"/>
              <a:t> class from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garage </a:t>
            </a:r>
            <a:r>
              <a:rPr b="0" lang="en-GB" sz="1100"/>
              <a:t>file.</a:t>
            </a:r>
            <a:endParaRPr b="0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2000"/>
              <a:t>= Simplifies the main file</a:t>
            </a:r>
            <a:br>
              <a:rPr b="0" lang="en-GB" sz="2000"/>
            </a:br>
            <a:endParaRPr b="0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= </a:t>
            </a:r>
            <a:r>
              <a:rPr lang="en-GB" sz="2000"/>
              <a:t>(Modularity)</a:t>
            </a:r>
            <a:r>
              <a:rPr b="0" lang="en-GB" sz="2000"/>
              <a:t> The class can be imported by multiple files at the same time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75" name="Google Shape;375;g22025b0bba9_0_32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376" name="Google Shape;376;g22025b0bba9_0_32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fd736fb5be_0_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382" name="Google Shape;382;g2fd736fb5be_0_0"/>
          <p:cNvSpPr txBox="1"/>
          <p:nvPr>
            <p:ph type="ctrTitle"/>
          </p:nvPr>
        </p:nvSpPr>
        <p:spPr>
          <a:xfrm>
            <a:off x="414700" y="939800"/>
            <a:ext cx="48339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File structure </a:t>
            </a:r>
            <a:r>
              <a:rPr b="0" lang="en-GB" sz="2000"/>
              <a:t>(on the Pico)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</a:t>
            </a:r>
            <a:r>
              <a:rPr b="0" i="1" lang="en-GB" sz="2000"/>
              <a:t>organizing files and directories (folders) in a logical and modular way to make code more manageable, readable, and maintainable.</a:t>
            </a:r>
            <a:r>
              <a:rPr b="0" i="1" lang="en-GB" sz="2000"/>
              <a:t>”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/>
              <a:t>In this example: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First, </a:t>
            </a:r>
            <a:r>
              <a:rPr b="0" lang="en-GB" sz="1100"/>
              <a:t>p</a:t>
            </a:r>
            <a:r>
              <a:rPr b="0" lang="en-GB" sz="1100"/>
              <a:t>ut your class definitions in separate Python files (modules). </a:t>
            </a:r>
            <a:endParaRPr b="0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b="0" lang="en-GB" sz="1100"/>
              <a:t>For example, you have a class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b="0" lang="en-GB" sz="1100"/>
              <a:t> that you want to use in multiple files. </a:t>
            </a:r>
            <a:endParaRPr b="0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b="0" lang="en-GB" sz="1100"/>
              <a:t>Create a file named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garage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.py</a:t>
            </a:r>
            <a:r>
              <a:rPr b="0" lang="en-GB" sz="1100"/>
              <a:t> and put your class there.</a:t>
            </a:r>
            <a:br>
              <a:rPr b="0" lang="en-GB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Then, in the main script (or another file where you want to use the class): </a:t>
            </a:r>
            <a:endParaRPr b="0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b="0" lang="en-GB" sz="1100"/>
              <a:t>import it using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b="0" lang="en-GB" sz="1100"/>
              <a:t> statement.</a:t>
            </a:r>
            <a:br>
              <a:rPr b="0"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Ensure both files are in the same directory, </a:t>
            </a:r>
            <a:r>
              <a:rPr b="0" lang="en-GB" sz="1100"/>
              <a:t> or</a:t>
            </a:r>
            <a:r>
              <a:rPr lang="en-GB" sz="1100"/>
              <a:t>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handle imports by specifying relative or absolute paths.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83" name="Google Shape;383;g2fd736fb5be_0_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84" name="Google Shape;384;g2fd736fb5be_0_0"/>
          <p:cNvGraphicFramePr/>
          <p:nvPr/>
        </p:nvGraphicFramePr>
        <p:xfrm>
          <a:off x="5545250" y="73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20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Split up into separate files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204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File: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garage.py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95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Car: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brand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year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 = brand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 = model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 = year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start_engine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"The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's engine starts."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28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File: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main.py</a:t>
                      </a:r>
                      <a:endParaRPr sz="1050">
                        <a:solidFill>
                          <a:srgbClr val="FFFFFF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73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garage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Car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Import the Car class from Garage.py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Creating an object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my_car = Car(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"Toyota"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"Corolla"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Accessing attributes and methods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(my_car.brand)         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Toyota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(my_car.start_engine())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The 2020 Toyota Corolla's engine starts.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0617fb5373_0_27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390" name="Google Shape;390;g30617fb5373_0_27"/>
          <p:cNvSpPr txBox="1"/>
          <p:nvPr>
            <p:ph type="ctrTitle"/>
          </p:nvPr>
        </p:nvSpPr>
        <p:spPr>
          <a:xfrm>
            <a:off x="414700" y="939800"/>
            <a:ext cx="48339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File structure </a:t>
            </a:r>
            <a:r>
              <a:rPr b="0" lang="en-GB" sz="2000"/>
              <a:t>(on the Pico)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“...organizing files and directories (folders) in a logical and modular way to make code more manageable, readable, and maintainable.”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9E9E9E"/>
                </a:solidFill>
              </a:rPr>
              <a:t>In this example:</a:t>
            </a:r>
            <a:endParaRPr b="0" sz="1100">
              <a:solidFill>
                <a:srgbClr val="9E9E9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9E9E9E"/>
              </a:buClr>
              <a:buSzPts val="1100"/>
              <a:buChar char="●"/>
            </a:pPr>
            <a:r>
              <a:rPr lang="en-GB" sz="1100">
                <a:solidFill>
                  <a:srgbClr val="9E9E9E"/>
                </a:solidFill>
              </a:rPr>
              <a:t>First, </a:t>
            </a:r>
            <a:r>
              <a:rPr b="0" lang="en-GB" sz="1100">
                <a:solidFill>
                  <a:srgbClr val="9E9E9E"/>
                </a:solidFill>
              </a:rPr>
              <a:t>put your class definitions in separate Python files (modules). </a:t>
            </a:r>
            <a:endParaRPr b="0" sz="1100">
              <a:solidFill>
                <a:srgbClr val="9E9E9E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AutoNum type="alphaLcPeriod"/>
            </a:pPr>
            <a:r>
              <a:rPr b="0" lang="en-GB" sz="1100">
                <a:solidFill>
                  <a:srgbClr val="9E9E9E"/>
                </a:solidFill>
              </a:rPr>
              <a:t>For example, you have a class </a:t>
            </a:r>
            <a:r>
              <a:rPr b="0" lang="en-GB" sz="1100">
                <a:solidFill>
                  <a:srgbClr val="9E9E9E"/>
                </a:solidFill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b="0" lang="en-GB" sz="1100">
                <a:solidFill>
                  <a:srgbClr val="9E9E9E"/>
                </a:solidFill>
              </a:rPr>
              <a:t> that you want to use in multiple files. </a:t>
            </a:r>
            <a:endParaRPr b="0" sz="1100">
              <a:solidFill>
                <a:srgbClr val="9E9E9E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AutoNum type="alphaLcPeriod"/>
            </a:pPr>
            <a:r>
              <a:rPr b="0" lang="en-GB" sz="1100">
                <a:solidFill>
                  <a:srgbClr val="9E9E9E"/>
                </a:solidFill>
              </a:rPr>
              <a:t>Create a file named </a:t>
            </a:r>
            <a:r>
              <a:rPr lang="en-GB" sz="1100">
                <a:solidFill>
                  <a:srgbClr val="9E9E9E"/>
                </a:solidFill>
                <a:latin typeface="Roboto Mono"/>
                <a:ea typeface="Roboto Mono"/>
                <a:cs typeface="Roboto Mono"/>
                <a:sym typeface="Roboto Mono"/>
              </a:rPr>
              <a:t>garage</a:t>
            </a:r>
            <a:r>
              <a:rPr b="0" lang="en-GB" sz="1100">
                <a:solidFill>
                  <a:srgbClr val="9E9E9E"/>
                </a:solidFill>
                <a:latin typeface="Roboto Mono"/>
                <a:ea typeface="Roboto Mono"/>
                <a:cs typeface="Roboto Mono"/>
                <a:sym typeface="Roboto Mono"/>
              </a:rPr>
              <a:t>.py</a:t>
            </a:r>
            <a:r>
              <a:rPr b="0" lang="en-GB" sz="1100">
                <a:solidFill>
                  <a:srgbClr val="9E9E9E"/>
                </a:solidFill>
              </a:rPr>
              <a:t> and put your class there.</a:t>
            </a:r>
            <a:br>
              <a:rPr b="0" lang="en-GB" sz="1100">
                <a:solidFill>
                  <a:srgbClr val="9E9E9E"/>
                </a:solidFill>
              </a:rPr>
            </a:br>
            <a:endParaRPr b="0" sz="1100">
              <a:solidFill>
                <a:srgbClr val="9E9E9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Char char="●"/>
            </a:pPr>
            <a:r>
              <a:rPr b="0" lang="en-GB" sz="1100">
                <a:solidFill>
                  <a:srgbClr val="9E9E9E"/>
                </a:solidFill>
              </a:rPr>
              <a:t>Then, in the main script (or another file where you want to use the class): </a:t>
            </a:r>
            <a:endParaRPr b="0" sz="1100">
              <a:solidFill>
                <a:srgbClr val="9E9E9E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AutoNum type="alphaLcPeriod"/>
            </a:pPr>
            <a:r>
              <a:rPr b="0" lang="en-GB" sz="1100">
                <a:solidFill>
                  <a:srgbClr val="9E9E9E"/>
                </a:solidFill>
              </a:rPr>
              <a:t>import it using the </a:t>
            </a:r>
            <a:r>
              <a:rPr b="0" lang="en-GB" sz="1100">
                <a:solidFill>
                  <a:srgbClr val="9E9E9E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b="0" lang="en-GB" sz="1100">
                <a:solidFill>
                  <a:srgbClr val="9E9E9E"/>
                </a:solidFill>
              </a:rPr>
              <a:t> statement.</a:t>
            </a:r>
            <a:br>
              <a:rPr b="0" lang="en-GB" sz="1100">
                <a:solidFill>
                  <a:srgbClr val="9E9E9E"/>
                </a:solidFill>
              </a:rPr>
            </a:br>
            <a:endParaRPr sz="1100">
              <a:solidFill>
                <a:srgbClr val="9E9E9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Char char="●"/>
            </a:pPr>
            <a:r>
              <a:rPr lang="en-GB" sz="1100">
                <a:solidFill>
                  <a:srgbClr val="9E9E9E"/>
                </a:solidFill>
              </a:rPr>
              <a:t>Ensure both files are in the same directory, </a:t>
            </a:r>
            <a:r>
              <a:rPr b="0" lang="en-GB" sz="1100">
                <a:solidFill>
                  <a:srgbClr val="9E9E9E"/>
                </a:solidFill>
              </a:rPr>
              <a:t> or</a:t>
            </a:r>
            <a:r>
              <a:rPr lang="en-GB" sz="1100">
                <a:solidFill>
                  <a:srgbClr val="9E9E9E"/>
                </a:solidFill>
              </a:rPr>
              <a:t> </a:t>
            </a:r>
            <a:endParaRPr sz="1100">
              <a:solidFill>
                <a:srgbClr val="9E9E9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Char char="●"/>
            </a:pPr>
            <a:r>
              <a:rPr lang="en-GB" sz="1100">
                <a:solidFill>
                  <a:srgbClr val="9E9E9E"/>
                </a:solidFill>
              </a:rPr>
              <a:t>handle imports by specifying relative or absolute paths.</a:t>
            </a:r>
            <a:endParaRPr sz="1100">
              <a:solidFill>
                <a:srgbClr val="9E9E9E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Example using Thonny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91" name="Google Shape;391;g30617fb5373_0_27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92" name="Google Shape;392;g30617fb5373_0_27"/>
          <p:cNvGraphicFramePr/>
          <p:nvPr/>
        </p:nvGraphicFramePr>
        <p:xfrm>
          <a:off x="5545250" y="73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20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Split up into separate files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204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File: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garage.py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95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Car: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brand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year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 = brand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 = model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 = year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start_engine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"The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.year}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.brand}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.model}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's engine starts."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28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File: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main.py</a:t>
                      </a:r>
                      <a:endParaRPr sz="1050">
                        <a:solidFill>
                          <a:srgbClr val="FFFFFF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73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garage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Car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Import the Car class from Garage.py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Creating an object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my_car = Car(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"Toyota"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"Corolla"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Accessing attributes and methods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(my_car.brand)         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Toyota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(my_car.start_engine())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The 2020 Toyota Corolla's engine starts.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2025b0bba9_0_42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398" name="Google Shape;398;g22025b0bba9_0_42"/>
          <p:cNvSpPr txBox="1"/>
          <p:nvPr>
            <p:ph type="ctrTitle"/>
          </p:nvPr>
        </p:nvSpPr>
        <p:spPr>
          <a:xfrm>
            <a:off x="414700" y="939800"/>
            <a:ext cx="48339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Encapsulation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</a:t>
            </a:r>
            <a:r>
              <a:rPr b="0" i="1" lang="en-GB" sz="2000"/>
              <a:t>bundling the data (attributes) and procedures (methods/functions) that operate on the data into a single unit or class.</a:t>
            </a:r>
            <a:r>
              <a:rPr b="0" i="1" lang="en-GB" sz="2000"/>
              <a:t>”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1100"/>
              <a:t>In this example: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Created a class for managing a bank account </a:t>
            </a:r>
            <a:br>
              <a:rPr b="0" lang="en-GB" sz="1100"/>
            </a:br>
            <a:endParaRPr b="0"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99" name="Google Shape;399;g22025b0bba9_0_42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00" name="Google Shape;400;g22025b0bba9_0_42"/>
          <p:cNvGraphicFramePr/>
          <p:nvPr/>
        </p:nvGraphicFramePr>
        <p:xfrm>
          <a:off x="5545250" y="12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38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Example: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 Define a Class and make an Object of the class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93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BankAccount: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owner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balance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.owner = owner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 = balance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Private attribute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deposit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amount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amount &gt;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 += amount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"$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{amount}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deposited. New balance: $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"Deposit amount must be positive."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withdraw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amount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&lt; amount &lt;=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 -= amount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"$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{amount}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withdrawn. New balance: $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"Insufficient balance or invalid amount."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get_balance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"Balance: $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Creating an object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account = BankAccount(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"Alice"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069c0c8589_0_28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406" name="Google Shape;406;g3069c0c8589_0_28"/>
          <p:cNvSpPr txBox="1"/>
          <p:nvPr>
            <p:ph type="ctrTitle"/>
          </p:nvPr>
        </p:nvSpPr>
        <p:spPr>
          <a:xfrm>
            <a:off x="414700" y="939800"/>
            <a:ext cx="48339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Encapsulation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“...bundling the data (attributes) and procedures (methods/functions) that operate on the data into a single unit or class.”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1100"/>
              <a:t>In this example: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Created a class for managing a bank account </a:t>
            </a:r>
            <a:br>
              <a:rPr b="0" lang="en-GB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__balance</a:t>
            </a:r>
            <a:r>
              <a:rPr b="0" lang="en-GB" sz="1100"/>
              <a:t> attribute is private and cannot be accessed directly from outside the class.</a:t>
            </a:r>
            <a:br>
              <a:rPr b="0" lang="en-GB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Methods like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deposit</a:t>
            </a:r>
            <a:r>
              <a:rPr b="0" lang="en-GB" sz="1100"/>
              <a:t>,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withdraw</a:t>
            </a:r>
            <a:r>
              <a:rPr b="0" lang="en-GB" sz="1100"/>
              <a:t>, and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get_balance</a:t>
            </a:r>
            <a:r>
              <a:rPr b="0" lang="en-GB" sz="1100"/>
              <a:t> provide controlled access to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__balance</a:t>
            </a:r>
            <a:r>
              <a:rPr b="0" lang="en-GB" sz="1100"/>
              <a:t> attribute.</a:t>
            </a:r>
            <a:endParaRPr b="0"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07" name="Google Shape;407;g3069c0c8589_0_28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08" name="Google Shape;408;g3069c0c8589_0_28"/>
          <p:cNvGraphicFramePr/>
          <p:nvPr/>
        </p:nvGraphicFramePr>
        <p:xfrm>
          <a:off x="5545250" y="12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38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Example: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 Define a Class and make an Object of the class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93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BankAccount: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owner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balance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.owner = owner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 = balance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Private attribute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deposit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amount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amount &gt;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 += amount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"$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{amount}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deposited. New balance: $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"Deposit amount must be positive."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withdraw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amount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&lt; amount &lt;=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 -= amount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"$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{amount}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withdrawn. New balance: $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"Insufficient balance or invalid amount."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get_balance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"Balance: $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.__balance}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Creating an object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account = BankAccount(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"Alice"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Using methods to interact with the balance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(account.deposit(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))   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$500 deposited. New balance: $1500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(account.withdraw(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))  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$200 withdrawn. New balance: $1300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(account.get_balance())  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Balance: $1300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print(account.__balance)      # This would raise an AttributeError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2025b0bba9_0_54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414" name="Google Shape;414;g22025b0bba9_0_54"/>
          <p:cNvSpPr txBox="1"/>
          <p:nvPr>
            <p:ph type="ctrTitle"/>
          </p:nvPr>
        </p:nvSpPr>
        <p:spPr>
          <a:xfrm>
            <a:off x="414700" y="939800"/>
            <a:ext cx="48339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Inheritance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</a:t>
            </a:r>
            <a:r>
              <a:rPr b="0" i="1" lang="en-GB" sz="2000"/>
              <a:t>allows one class (child class) to inherit attributes and methods from another class (parent class).</a:t>
            </a:r>
            <a:r>
              <a:rPr b="0" i="1" lang="en-GB" sz="2000"/>
              <a:t>”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/>
              <a:t>In this example: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Created a class for a generic animal</a:t>
            </a:r>
            <a:br>
              <a:rPr b="0" lang="en-GB" sz="1100"/>
            </a:br>
            <a:endParaRPr b="0"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15" name="Google Shape;415;g22025b0bba9_0_54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16" name="Google Shape;416;g22025b0bba9_0_54"/>
          <p:cNvGraphicFramePr/>
          <p:nvPr/>
        </p:nvGraphicFramePr>
        <p:xfrm>
          <a:off x="5545250" y="67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38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Define a Class and make an Object of the class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93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Animal: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 = name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speak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makes a sound."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FF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069c0c8589_0_42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422" name="Google Shape;422;g3069c0c8589_0_42"/>
          <p:cNvSpPr txBox="1"/>
          <p:nvPr>
            <p:ph type="ctrTitle"/>
          </p:nvPr>
        </p:nvSpPr>
        <p:spPr>
          <a:xfrm>
            <a:off x="414700" y="939800"/>
            <a:ext cx="48339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Inheritance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“...allows one class (child class) to inherit attributes and methods from another class (parent class).”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/>
              <a:t>In this example: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Created a class for a generic animal</a:t>
            </a:r>
            <a:br>
              <a:rPr b="0" lang="en-GB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Dog</a:t>
            </a:r>
            <a:r>
              <a:rPr b="0" lang="en-GB" sz="1100"/>
              <a:t> and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b="0" lang="en-GB" sz="1100"/>
              <a:t> classes inherit from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b="0" lang="en-GB" sz="1100"/>
              <a:t> class.</a:t>
            </a:r>
            <a:br>
              <a:rPr b="0" lang="en-GB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They override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speak</a:t>
            </a:r>
            <a:r>
              <a:rPr b="0" lang="en-GB" sz="1100"/>
              <a:t> method to provide behavior specific to dogs and cats.</a:t>
            </a:r>
            <a:endParaRPr b="0"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23" name="Google Shape;423;g3069c0c8589_0_42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24" name="Google Shape;424;g3069c0c8589_0_42"/>
          <p:cNvGraphicFramePr/>
          <p:nvPr/>
        </p:nvGraphicFramePr>
        <p:xfrm>
          <a:off x="5545250" y="67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38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Define a Class and make an Object of the class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93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Animal: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 = name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speak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makes a sound."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Dog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Animal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Dog inherits from Animal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speak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barks."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Animal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Cat inherits from Animal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speak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meows."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Creating objects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dog = Dog(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"Buddy"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cat = Cat(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"Whiskers"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Using inherited and overridden methods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(dog.speak())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Buddy barks.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(cat.speak())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Whiskers meows.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FF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f187c094b0_0_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430" name="Google Shape;430;g2f187c094b0_0_9"/>
          <p:cNvSpPr txBox="1"/>
          <p:nvPr>
            <p:ph type="ctrTitle"/>
          </p:nvPr>
        </p:nvSpPr>
        <p:spPr>
          <a:xfrm>
            <a:off x="414700" y="939800"/>
            <a:ext cx="48339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Polymorphism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</a:t>
            </a:r>
            <a:r>
              <a:rPr b="0" i="1" lang="en-GB" sz="2000"/>
              <a:t>enables objects of different classes to be treated as objects of a common super class.</a:t>
            </a:r>
            <a:r>
              <a:rPr b="0" i="1" lang="en-GB" sz="2000"/>
              <a:t>”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"having multiple forms."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/>
              <a:t>In this example: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Created a class for a generic bird, and inherit from it for two other classes.</a:t>
            </a:r>
            <a:br>
              <a:rPr b="0" lang="en-GB" sz="1100"/>
            </a:br>
            <a:endParaRPr b="0"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31" name="Google Shape;431;g2f187c094b0_0_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32" name="Google Shape;432;g2f187c094b0_0_9"/>
          <p:cNvGraphicFramePr/>
          <p:nvPr/>
        </p:nvGraphicFramePr>
        <p:xfrm>
          <a:off x="5545250" y="23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38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Example: 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Define a Class and make an Object of the class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93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Bird: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 = name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speak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chirps."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Parrot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Bird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speak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talks."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Crow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Bird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speak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caws."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FF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FF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069c0c8589_0_5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438" name="Google Shape;438;g3069c0c8589_0_51"/>
          <p:cNvSpPr txBox="1"/>
          <p:nvPr>
            <p:ph type="ctrTitle"/>
          </p:nvPr>
        </p:nvSpPr>
        <p:spPr>
          <a:xfrm>
            <a:off x="414700" y="939800"/>
            <a:ext cx="48339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Polymorphism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“...enables objects of different classes to be treated as objects of a common super class.”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"having multiple forms."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/>
              <a:t>In this example: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Created a class for a generic bird, and inherit from it for two other classes.</a:t>
            </a:r>
            <a:br>
              <a:rPr b="0" lang="en-GB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make_bird_speak</a:t>
            </a:r>
            <a:r>
              <a:rPr b="0" lang="en-GB" sz="1100"/>
              <a:t> function can take any object of a class that inherits from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Bird</a:t>
            </a:r>
            <a:r>
              <a:rPr b="0" lang="en-GB" sz="1100"/>
              <a:t> and call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speak</a:t>
            </a:r>
            <a:r>
              <a:rPr b="0" lang="en-GB" sz="1100"/>
              <a:t> method, demonstrating polymorphism.</a:t>
            </a:r>
            <a:endParaRPr b="0"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39" name="Google Shape;439;g3069c0c8589_0_5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40" name="Google Shape;440;g3069c0c8589_0_51"/>
          <p:cNvGraphicFramePr/>
          <p:nvPr/>
        </p:nvGraphicFramePr>
        <p:xfrm>
          <a:off x="5545250" y="23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38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Example: 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Define a Class and make an Object of the class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93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Bird: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 = name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speak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chirps."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Parrot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Bird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speak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talks."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Crow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Bird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speak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.name}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caws."</a:t>
                      </a:r>
                      <a:endParaRPr sz="1050">
                        <a:solidFill>
                          <a:srgbClr val="A31515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Function that takes a Bird object and calls its speak method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make_bird_speak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bird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(bird.speak())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Creating objects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parrot = Parrot(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"Polly"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crow = Crow(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"Blackie"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Using polymorphism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make_bird_speak(parrot)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Polly talks.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make_bird_speak(crow)  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Blackie caws.</a:t>
                      </a:r>
                      <a:endParaRPr sz="1050">
                        <a:solidFill>
                          <a:srgbClr val="0000FF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FF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f187c094b0_0_1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446" name="Google Shape;446;g2f187c094b0_0_19"/>
          <p:cNvSpPr txBox="1"/>
          <p:nvPr>
            <p:ph type="ctrTitle"/>
          </p:nvPr>
        </p:nvSpPr>
        <p:spPr>
          <a:xfrm>
            <a:off x="414700" y="939800"/>
            <a:ext cx="4833900" cy="5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Abstraction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“...t</a:t>
            </a:r>
            <a:r>
              <a:rPr b="0" i="1" lang="en-GB" sz="2000"/>
              <a:t>he concept of hiding complex implementation details and showing only the essential features of an object.</a:t>
            </a:r>
            <a:r>
              <a:rPr b="0" i="1" lang="en-GB" sz="2000"/>
              <a:t>”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/>
              <a:t>In this example: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Shape</a:t>
            </a:r>
            <a:r>
              <a:rPr b="0" lang="en-GB" sz="1100"/>
              <a:t> is an abstract class with an abstract method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area</a:t>
            </a:r>
            <a:r>
              <a:rPr b="0" lang="en-GB" sz="1100"/>
              <a:t>.</a:t>
            </a:r>
            <a:endParaRPr b="0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GB" sz="1100"/>
              <a:t>Simplify what is relevant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GB" sz="1100"/>
              <a:t>Define what is needed for the Class, and “hide” the rest </a:t>
            </a:r>
            <a:br>
              <a:rPr b="0" lang="en-GB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Rectangle</a:t>
            </a:r>
            <a:r>
              <a:rPr b="0" lang="en-GB" sz="1100"/>
              <a:t> is a concrete class that implements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area</a:t>
            </a:r>
            <a:r>
              <a:rPr b="0" lang="en-GB" sz="1100"/>
              <a:t> method.</a:t>
            </a:r>
            <a:br>
              <a:rPr b="0" lang="en-GB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GB" sz="1100"/>
              <a:t>The user interacts with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Rectangle</a:t>
            </a:r>
            <a:r>
              <a:rPr b="0" lang="en-GB" sz="1100"/>
              <a:t> object through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area</a:t>
            </a:r>
            <a:r>
              <a:rPr b="0" lang="en-GB" sz="1100"/>
              <a:t> method without needing to know how the area is calculated internally.</a:t>
            </a:r>
            <a:endParaRPr b="0"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47" name="Google Shape;447;g2f187c094b0_0_1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48" name="Google Shape;448;g2f187c094b0_0_19"/>
          <p:cNvGraphicFramePr/>
          <p:nvPr/>
        </p:nvGraphicFramePr>
        <p:xfrm>
          <a:off x="5545250" y="67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6519300"/>
              </a:tblGrid>
              <a:tr h="38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>
                          <a:solidFill>
                            <a:srgbClr val="FFFFFF"/>
                          </a:solidFill>
                        </a:rPr>
                        <a:t>Define a Class and make an Object of the class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4276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abc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ABC, abstractmethod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Shape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ABC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@abstractmethod</a:t>
                      </a:r>
                      <a:endParaRPr sz="1050">
                        <a:solidFill>
                          <a:srgbClr val="795E26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area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pass</a:t>
                      </a:r>
                      <a:endParaRPr sz="1050">
                        <a:solidFill>
                          <a:srgbClr val="AF00DB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Rectangle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Shape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width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height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.width = width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.height = height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area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.width * </a:t>
                      </a:r>
                      <a:r>
                        <a:rPr lang="en-GB" sz="105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.height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Creating an object and using the abstracted method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rect = Rectangle(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(rect.area()) 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Output: 15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FF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FF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18af96dc2_0_16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454" name="Google Shape;454;g2f18af96dc2_0_16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5" name="Google Shape;455;g2f18af96dc2_0_169"/>
          <p:cNvSpPr txBox="1"/>
          <p:nvPr>
            <p:ph idx="4294967295" type="body"/>
          </p:nvPr>
        </p:nvSpPr>
        <p:spPr>
          <a:xfrm>
            <a:off x="422425" y="1000450"/>
            <a:ext cx="11011200" cy="485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/>
              <a:t>Actuators</a:t>
            </a:r>
            <a:endParaRPr b="1" sz="5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f0f0e84c18_0_0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Roles of Actuators in Mobile Robots: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461" name="Google Shape;461;g2f0f0e84c18_0_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462" name="Google Shape;462;g2f0f0e84c18_0_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63" name="Google Shape;463;g2f0f0e84c1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875" y="3507475"/>
            <a:ext cx="4801676" cy="25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g2f0f0e84c18_0_0"/>
          <p:cNvPicPr preferRelativeResize="0"/>
          <p:nvPr/>
        </p:nvPicPr>
        <p:blipFill rotWithShape="1">
          <a:blip r:embed="rId4">
            <a:alphaModFix/>
          </a:blip>
          <a:srcRect b="12876" l="0" r="0" t="0"/>
          <a:stretch/>
        </p:blipFill>
        <p:spPr>
          <a:xfrm>
            <a:off x="7262875" y="991875"/>
            <a:ext cx="4801675" cy="23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g2f0f0e84c18_0_0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05b4eb1b9c_0_112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Roles of Actuators in Mobile Robots:</a:t>
            </a:r>
            <a:endParaRPr sz="2000"/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Locomotion</a:t>
            </a:r>
            <a:r>
              <a:rPr b="0" lang="en-GB" sz="1600"/>
              <a:t>: Moving the robot from one place to another, either through wheels, tracks, legs, or other means.</a:t>
            </a:r>
            <a:br>
              <a:rPr b="0" lang="en-GB" sz="1600"/>
            </a:br>
            <a:endParaRPr b="0"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471" name="Google Shape;471;g305b4eb1b9c_0_112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472" name="Google Shape;472;g305b4eb1b9c_0_112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73" name="Google Shape;473;g305b4eb1b9c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875" y="3507475"/>
            <a:ext cx="4801676" cy="25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305b4eb1b9c_0_112"/>
          <p:cNvPicPr preferRelativeResize="0"/>
          <p:nvPr/>
        </p:nvPicPr>
        <p:blipFill rotWithShape="1">
          <a:blip r:embed="rId4">
            <a:alphaModFix/>
          </a:blip>
          <a:srcRect b="12876" l="0" r="0" t="0"/>
          <a:stretch/>
        </p:blipFill>
        <p:spPr>
          <a:xfrm>
            <a:off x="7262875" y="991875"/>
            <a:ext cx="4801675" cy="23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05b4eb1b9c_0_112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05b4eb1b9c_0_120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Roles of Actuators in Mobile Robots:</a:t>
            </a:r>
            <a:endParaRPr sz="2000"/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Locomotion</a:t>
            </a:r>
            <a:r>
              <a:rPr b="0" lang="en-GB" sz="1600"/>
              <a:t>: Moving the robot from one place to another, either through wheels, tracks, legs, or other means.</a:t>
            </a:r>
            <a:br>
              <a:rPr b="0" lang="en-GB" sz="1600"/>
            </a:b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Manipulation</a:t>
            </a:r>
            <a:r>
              <a:rPr b="0" lang="en-GB" sz="1600"/>
              <a:t>: Controlling robotic arms or grippers to pick up, move, or manipulate objects.</a:t>
            </a:r>
            <a:br>
              <a:rPr b="0" lang="en-GB" sz="1600"/>
            </a:br>
            <a:endParaRPr b="0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481" name="Google Shape;481;g305b4eb1b9c_0_12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482" name="Google Shape;482;g305b4eb1b9c_0_12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3" name="Google Shape;483;g305b4eb1b9c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875" y="3507475"/>
            <a:ext cx="4801676" cy="25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g305b4eb1b9c_0_120"/>
          <p:cNvPicPr preferRelativeResize="0"/>
          <p:nvPr/>
        </p:nvPicPr>
        <p:blipFill rotWithShape="1">
          <a:blip r:embed="rId4">
            <a:alphaModFix/>
          </a:blip>
          <a:srcRect b="12876" l="0" r="0" t="0"/>
          <a:stretch/>
        </p:blipFill>
        <p:spPr>
          <a:xfrm>
            <a:off x="7262875" y="991875"/>
            <a:ext cx="4801675" cy="23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g305b4eb1b9c_0_120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05b4eb1b9c_0_128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Roles of Actuators in Mobile Robots:</a:t>
            </a:r>
            <a:endParaRPr sz="2000"/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Locomotion</a:t>
            </a:r>
            <a:r>
              <a:rPr b="0" lang="en-GB" sz="1600"/>
              <a:t>: Moving the robot from one place to another, either through wheels, tracks, legs, or other means.</a:t>
            </a:r>
            <a:br>
              <a:rPr b="0" lang="en-GB" sz="1600"/>
            </a:b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Manipulation</a:t>
            </a:r>
            <a:r>
              <a:rPr b="0" lang="en-GB" sz="1600"/>
              <a:t>: Controlling robotic arms or grippers to pick up, move, or manipulate objects.</a:t>
            </a:r>
            <a:br>
              <a:rPr b="0" lang="en-GB" sz="1600"/>
            </a:b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Steering</a:t>
            </a:r>
            <a:r>
              <a:rPr b="0" lang="en-GB" sz="1600"/>
              <a:t>: Controlling the direction in which the robot moves.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491" name="Google Shape;491;g305b4eb1b9c_0_128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492" name="Google Shape;492;g305b4eb1b9c_0_128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93" name="Google Shape;493;g305b4eb1b9c_0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875" y="3507475"/>
            <a:ext cx="4801676" cy="25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g305b4eb1b9c_0_128"/>
          <p:cNvPicPr preferRelativeResize="0"/>
          <p:nvPr/>
        </p:nvPicPr>
        <p:blipFill rotWithShape="1">
          <a:blip r:embed="rId4">
            <a:alphaModFix/>
          </a:blip>
          <a:srcRect b="12876" l="0" r="0" t="0"/>
          <a:stretch/>
        </p:blipFill>
        <p:spPr>
          <a:xfrm>
            <a:off x="7262875" y="991875"/>
            <a:ext cx="4801675" cy="23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305b4eb1b9c_0_128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05b4eb1b9c_0_136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Roles of Actuators in Mobile Robots:</a:t>
            </a:r>
            <a:endParaRPr sz="2000"/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Locomotion</a:t>
            </a:r>
            <a:r>
              <a:rPr b="0" lang="en-GB" sz="1600"/>
              <a:t>: Moving the robot from one place to another, either through wheels, tracks, legs, or other means.</a:t>
            </a:r>
            <a:br>
              <a:rPr b="0" lang="en-GB" sz="1600"/>
            </a:b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Manipulation</a:t>
            </a:r>
            <a:r>
              <a:rPr b="0" lang="en-GB" sz="1600"/>
              <a:t>: Controlling robotic arms or grippers to pick up, move, or manipulate objects.</a:t>
            </a:r>
            <a:br>
              <a:rPr b="0" lang="en-GB" sz="1600"/>
            </a:b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Steering</a:t>
            </a:r>
            <a:r>
              <a:rPr b="0" lang="en-GB" sz="1600"/>
              <a:t>: Controlling the direction in which the robot moves.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400"/>
              <a:t>(...so essentially, the </a:t>
            </a:r>
            <a:r>
              <a:rPr i="1" lang="en-GB" sz="1400" u="sng"/>
              <a:t>"muscles"</a:t>
            </a:r>
            <a:r>
              <a:rPr b="0" lang="en-GB" sz="1400"/>
              <a:t> of a robot, allowing it to </a:t>
            </a:r>
            <a:endParaRPr b="0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400"/>
              <a:t>move, manipulate objects, and interact with its environment.)</a:t>
            </a:r>
            <a:endParaRPr b="0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501" name="Google Shape;501;g305b4eb1b9c_0_136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502" name="Google Shape;502;g305b4eb1b9c_0_136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03" name="Google Shape;503;g305b4eb1b9c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875" y="3507475"/>
            <a:ext cx="4801676" cy="25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g305b4eb1b9c_0_136"/>
          <p:cNvPicPr preferRelativeResize="0"/>
          <p:nvPr/>
        </p:nvPicPr>
        <p:blipFill rotWithShape="1">
          <a:blip r:embed="rId4">
            <a:alphaModFix/>
          </a:blip>
          <a:srcRect b="12876" l="0" r="0" t="0"/>
          <a:stretch/>
        </p:blipFill>
        <p:spPr>
          <a:xfrm>
            <a:off x="7262875" y="991875"/>
            <a:ext cx="4801675" cy="23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g305b4eb1b9c_0_136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f18af96dc2_0_179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br>
              <a:rPr b="0" i="1" lang="en-GB" sz="2000"/>
            </a:b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Types of Actuators </a:t>
            </a:r>
            <a:r>
              <a:rPr b="0" lang="en-GB" sz="2000"/>
              <a:t>(typical source of energy)</a:t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11" name="Google Shape;511;g2f18af96dc2_0_17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512" name="Google Shape;512;g2f18af96dc2_0_17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13" name="Google Shape;513;g2f18af96dc2_0_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8350" y="60100"/>
            <a:ext cx="4838800" cy="164012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g2f18af96dc2_0_179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https://www.quora.com/What-is-electric-actuator</a:t>
            </a:r>
            <a:r>
              <a:rPr lang="en-GB" sz="1000"/>
              <a:t> and Google Images</a:t>
            </a:r>
            <a:endParaRPr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05b4eb1b9c_0_147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br>
              <a:rPr b="0" i="1" lang="en-GB" sz="2000"/>
            </a:b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Types of Actuators </a:t>
            </a:r>
            <a:r>
              <a:rPr b="0" lang="en-GB" sz="2000"/>
              <a:t>(typical source of energy)</a:t>
            </a:r>
            <a:endParaRPr b="0" sz="20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Pneumatic Actuators:</a:t>
            </a:r>
            <a:r>
              <a:rPr b="0" lang="en-GB" sz="1600"/>
              <a:t> Use </a:t>
            </a:r>
            <a:r>
              <a:rPr b="0" lang="en-GB" sz="1600" u="sng"/>
              <a:t>compressed air</a:t>
            </a:r>
            <a:r>
              <a:rPr b="0" lang="en-GB" sz="1600"/>
              <a:t> to generate movement, often used in robots where rapid motion is required.</a:t>
            </a:r>
            <a:br>
              <a:rPr b="0" lang="en-GB" sz="1600"/>
            </a:br>
            <a:endParaRPr sz="2000"/>
          </a:p>
        </p:txBody>
      </p:sp>
      <p:sp>
        <p:nvSpPr>
          <p:cNvPr id="520" name="Google Shape;520;g305b4eb1b9c_0_147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521" name="Google Shape;521;g305b4eb1b9c_0_147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2" name="Google Shape;522;g305b4eb1b9c_0_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8350" y="60100"/>
            <a:ext cx="4838800" cy="164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305b4eb1b9c_0_147"/>
          <p:cNvPicPr preferRelativeResize="0"/>
          <p:nvPr/>
        </p:nvPicPr>
        <p:blipFill rotWithShape="1">
          <a:blip r:embed="rId4">
            <a:alphaModFix/>
          </a:blip>
          <a:srcRect b="30607" l="0" r="0" t="20122"/>
          <a:stretch/>
        </p:blipFill>
        <p:spPr>
          <a:xfrm>
            <a:off x="7582838" y="1911188"/>
            <a:ext cx="3889824" cy="10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g305b4eb1b9c_0_147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</a:t>
            </a:r>
            <a:r>
              <a:rPr lang="en-GB" sz="1000" u="sng">
                <a:solidFill>
                  <a:schemeClr val="hlink"/>
                </a:solidFill>
                <a:hlinkClick r:id="rId5"/>
              </a:rPr>
              <a:t>https://www.quora.com/What-is-electric-actuator</a:t>
            </a:r>
            <a:r>
              <a:rPr lang="en-GB" sz="1000"/>
              <a:t> and Google Images</a:t>
            </a:r>
            <a:endParaRPr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05b4eb1b9c_0_158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br>
              <a:rPr b="0" i="1" lang="en-GB" sz="2000"/>
            </a:b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Types of Actuators </a:t>
            </a:r>
            <a:r>
              <a:rPr b="0" lang="en-GB" sz="2000"/>
              <a:t>(typical source of energy)</a:t>
            </a:r>
            <a:endParaRPr b="0" sz="20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solidFill>
                  <a:srgbClr val="9E9E9E"/>
                </a:solidFill>
              </a:rPr>
              <a:t>Pneumatic Actuators:</a:t>
            </a:r>
            <a:r>
              <a:rPr b="0" lang="en-GB" sz="1600">
                <a:solidFill>
                  <a:srgbClr val="9E9E9E"/>
                </a:solidFill>
              </a:rPr>
              <a:t> Use compressed air to generate movement, often used in robots where rapid motion is required.</a:t>
            </a:r>
            <a:br>
              <a:rPr b="0" lang="en-GB" sz="1600"/>
            </a:br>
            <a:endParaRPr b="0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Hydraulic Actuators: </a:t>
            </a:r>
            <a:r>
              <a:rPr b="0" lang="en-GB" sz="1600"/>
              <a:t>Use </a:t>
            </a:r>
            <a:r>
              <a:rPr b="0" lang="en-GB" sz="1600" u="sng"/>
              <a:t>pressurized fluid</a:t>
            </a:r>
            <a:r>
              <a:rPr b="0" lang="en-GB" sz="1600"/>
              <a:t> to create strong forces, suitable for heavy-duty tasks.</a:t>
            </a:r>
            <a:br>
              <a:rPr b="0" lang="en-GB" sz="1600"/>
            </a:b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30" name="Google Shape;530;g305b4eb1b9c_0_158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531" name="Google Shape;531;g305b4eb1b9c_0_158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32" name="Google Shape;532;g305b4eb1b9c_0_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8350" y="60100"/>
            <a:ext cx="4838800" cy="164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g305b4eb1b9c_0_158"/>
          <p:cNvPicPr preferRelativeResize="0"/>
          <p:nvPr/>
        </p:nvPicPr>
        <p:blipFill rotWithShape="1">
          <a:blip r:embed="rId4">
            <a:alphaModFix amt="10000"/>
          </a:blip>
          <a:srcRect b="30607" l="0" r="0" t="20122"/>
          <a:stretch/>
        </p:blipFill>
        <p:spPr>
          <a:xfrm>
            <a:off x="7582838" y="1911188"/>
            <a:ext cx="3889824" cy="10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g305b4eb1b9c_0_158"/>
          <p:cNvPicPr preferRelativeResize="0"/>
          <p:nvPr/>
        </p:nvPicPr>
        <p:blipFill rotWithShape="1">
          <a:blip r:embed="rId5">
            <a:alphaModFix/>
          </a:blip>
          <a:srcRect b="12681" l="8050" r="16574" t="12674"/>
          <a:stretch/>
        </p:blipFill>
        <p:spPr>
          <a:xfrm>
            <a:off x="7994725" y="3172850"/>
            <a:ext cx="3066025" cy="17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305b4eb1b9c_0_158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</a:t>
            </a:r>
            <a:r>
              <a:rPr lang="en-GB" sz="1000" u="sng">
                <a:solidFill>
                  <a:schemeClr val="hlink"/>
                </a:solidFill>
                <a:hlinkClick r:id="rId6"/>
              </a:rPr>
              <a:t>https://www.quora.com/What-is-electric-actuator</a:t>
            </a:r>
            <a:r>
              <a:rPr lang="en-GB" sz="1000"/>
              <a:t> and Google Images</a:t>
            </a:r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05b4eb1b9c_0_169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br>
              <a:rPr b="0" i="1" lang="en-GB" sz="2000"/>
            </a:b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Types of Actuators </a:t>
            </a:r>
            <a:r>
              <a:rPr b="0" lang="en-GB" sz="2000"/>
              <a:t>(typical source of energy)</a:t>
            </a:r>
            <a:endParaRPr b="0" sz="20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00"/>
              <a:buChar char="●"/>
            </a:pPr>
            <a:r>
              <a:rPr lang="en-GB" sz="1600">
                <a:solidFill>
                  <a:srgbClr val="9E9E9E"/>
                </a:solidFill>
              </a:rPr>
              <a:t>Pneumatic Actuators:</a:t>
            </a:r>
            <a:r>
              <a:rPr b="0" lang="en-GB" sz="1600">
                <a:solidFill>
                  <a:srgbClr val="9E9E9E"/>
                </a:solidFill>
              </a:rPr>
              <a:t> Use compressed air to generate movement, often used in robots where rapid motion is required.</a:t>
            </a:r>
            <a:br>
              <a:rPr b="0" lang="en-GB" sz="1600">
                <a:solidFill>
                  <a:srgbClr val="9E9E9E"/>
                </a:solidFill>
              </a:rPr>
            </a:br>
            <a:endParaRPr b="0" sz="1600">
              <a:solidFill>
                <a:srgbClr val="9E9E9E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solidFill>
                  <a:srgbClr val="9E9E9E"/>
                </a:solidFill>
              </a:rPr>
              <a:t>Hydraulic Actuators: </a:t>
            </a:r>
            <a:r>
              <a:rPr b="0" lang="en-GB" sz="1600">
                <a:solidFill>
                  <a:srgbClr val="9E9E9E"/>
                </a:solidFill>
              </a:rPr>
              <a:t>Use pressurized fluid to create strong forces, suitable for heavy-duty tasks.</a:t>
            </a:r>
            <a:br>
              <a:rPr b="0" lang="en-GB" sz="1600"/>
            </a:b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GB" sz="1600">
                <a:solidFill>
                  <a:srgbClr val="000000"/>
                </a:solidFill>
              </a:rPr>
              <a:t>Electric Actuators:</a:t>
            </a:r>
            <a:r>
              <a:rPr b="0" lang="en-GB" sz="1600">
                <a:solidFill>
                  <a:srgbClr val="000000"/>
                </a:solidFill>
              </a:rPr>
              <a:t> Use </a:t>
            </a:r>
            <a:r>
              <a:rPr b="0" lang="en-GB" sz="1600" u="sng">
                <a:solidFill>
                  <a:srgbClr val="000000"/>
                </a:solidFill>
              </a:rPr>
              <a:t>electrical energy</a:t>
            </a:r>
            <a:r>
              <a:rPr b="0" lang="en-GB" sz="1600">
                <a:solidFill>
                  <a:srgbClr val="000000"/>
                </a:solidFill>
              </a:rPr>
              <a:t> to generate movement, typically using </a:t>
            </a:r>
            <a:r>
              <a:rPr b="0" lang="en-GB" sz="1600" u="sng">
                <a:solidFill>
                  <a:srgbClr val="000000"/>
                </a:solidFill>
              </a:rPr>
              <a:t>electromagnetism</a:t>
            </a:r>
            <a:r>
              <a:rPr b="0" lang="en-GB" sz="1600">
                <a:solidFill>
                  <a:srgbClr val="000000"/>
                </a:solidFill>
              </a:rPr>
              <a:t>.</a:t>
            </a:r>
            <a:endParaRPr sz="2000"/>
          </a:p>
        </p:txBody>
      </p:sp>
      <p:sp>
        <p:nvSpPr>
          <p:cNvPr id="541" name="Google Shape;541;g305b4eb1b9c_0_16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542" name="Google Shape;542;g305b4eb1b9c_0_16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3" name="Google Shape;543;g305b4eb1b9c_0_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8350" y="60100"/>
            <a:ext cx="4838800" cy="164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305b4eb1b9c_0_169"/>
          <p:cNvPicPr preferRelativeResize="0"/>
          <p:nvPr/>
        </p:nvPicPr>
        <p:blipFill rotWithShape="1">
          <a:blip r:embed="rId4">
            <a:alphaModFix amt="10000"/>
          </a:blip>
          <a:srcRect b="30607" l="0" r="0" t="20122"/>
          <a:stretch/>
        </p:blipFill>
        <p:spPr>
          <a:xfrm>
            <a:off x="7582838" y="1911188"/>
            <a:ext cx="3889824" cy="10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g305b4eb1b9c_0_169"/>
          <p:cNvPicPr preferRelativeResize="0"/>
          <p:nvPr/>
        </p:nvPicPr>
        <p:blipFill rotWithShape="1">
          <a:blip r:embed="rId5">
            <a:alphaModFix amt="10000"/>
          </a:blip>
          <a:srcRect b="12681" l="8050" r="16574" t="12674"/>
          <a:stretch/>
        </p:blipFill>
        <p:spPr>
          <a:xfrm>
            <a:off x="7994725" y="3172850"/>
            <a:ext cx="3066025" cy="170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g305b4eb1b9c_0_1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53588" y="4910675"/>
            <a:ext cx="2348294" cy="170785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305b4eb1b9c_0_169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</a:t>
            </a:r>
            <a:r>
              <a:rPr lang="en-GB" sz="1000" u="sng">
                <a:solidFill>
                  <a:schemeClr val="hlink"/>
                </a:solidFill>
                <a:hlinkClick r:id="rId7"/>
              </a:rPr>
              <a:t>https://www.quora.com/What-is-electric-actuator</a:t>
            </a:r>
            <a:r>
              <a:rPr lang="en-GB" sz="1000"/>
              <a:t> and Google Images</a:t>
            </a:r>
            <a:endParaRPr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f18af96dc2_0_195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Electric </a:t>
            </a:r>
            <a:r>
              <a:rPr lang="en-GB" sz="2000"/>
              <a:t>Actuators </a:t>
            </a:r>
            <a:r>
              <a:rPr b="0" lang="en-GB" sz="2000"/>
              <a:t>(two types)</a:t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GB" sz="1600">
                <a:solidFill>
                  <a:srgbClr val="0000FF"/>
                </a:solidFill>
              </a:rPr>
              <a:t>Rotary</a:t>
            </a:r>
            <a:r>
              <a:rPr lang="en-GB" sz="1600">
                <a:solidFill>
                  <a:srgbClr val="000000"/>
                </a:solidFill>
              </a:rPr>
              <a:t> Actuators</a:t>
            </a:r>
            <a:r>
              <a:rPr b="0" lang="en-GB" sz="1600">
                <a:solidFill>
                  <a:srgbClr val="000000"/>
                </a:solidFill>
              </a:rPr>
              <a:t>:</a:t>
            </a:r>
            <a:r>
              <a:rPr lang="en-GB" sz="1600">
                <a:solidFill>
                  <a:srgbClr val="000000"/>
                </a:solidFill>
              </a:rPr>
              <a:t> </a:t>
            </a:r>
            <a:r>
              <a:rPr b="0" lang="en-GB" sz="1600">
                <a:solidFill>
                  <a:srgbClr val="000000"/>
                </a:solidFill>
              </a:rPr>
              <a:t>Produce rotational motion, meaning they rotate a component or a shaft around an axis.</a:t>
            </a:r>
            <a:br>
              <a:rPr b="0" lang="en-GB" sz="1600">
                <a:solidFill>
                  <a:srgbClr val="000000"/>
                </a:solidFill>
              </a:rPr>
            </a:br>
            <a:endParaRPr b="0"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GB" sz="1600">
                <a:solidFill>
                  <a:srgbClr val="FF0000"/>
                </a:solidFill>
              </a:rPr>
              <a:t>Linear</a:t>
            </a:r>
            <a:r>
              <a:rPr lang="en-GB" sz="1600">
                <a:solidFill>
                  <a:srgbClr val="000000"/>
                </a:solidFill>
              </a:rPr>
              <a:t> Actuators:</a:t>
            </a:r>
            <a:r>
              <a:rPr b="0" lang="en-GB" sz="1600">
                <a:solidFill>
                  <a:srgbClr val="000000"/>
                </a:solidFill>
              </a:rPr>
              <a:t> Produce straight-line motion, eg. by converting rotational motion into linear motion.</a:t>
            </a:r>
            <a:endParaRPr b="0"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553" name="Google Shape;553;g2f18af96dc2_0_19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554" name="Google Shape;554;g2f18af96dc2_0_195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55" name="Google Shape;555;g2f18af96dc2_0_195"/>
          <p:cNvPicPr preferRelativeResize="0"/>
          <p:nvPr/>
        </p:nvPicPr>
        <p:blipFill rotWithShape="1">
          <a:blip r:embed="rId3">
            <a:alphaModFix/>
          </a:blip>
          <a:srcRect b="0" l="9584" r="0" t="0"/>
          <a:stretch/>
        </p:blipFill>
        <p:spPr>
          <a:xfrm>
            <a:off x="7164325" y="1986500"/>
            <a:ext cx="4957774" cy="30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2f18af96dc2_0_195"/>
          <p:cNvSpPr/>
          <p:nvPr/>
        </p:nvSpPr>
        <p:spPr>
          <a:xfrm>
            <a:off x="6996975" y="1645550"/>
            <a:ext cx="2304600" cy="1913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2f18af96dc2_0_195"/>
          <p:cNvSpPr/>
          <p:nvPr/>
        </p:nvSpPr>
        <p:spPr>
          <a:xfrm>
            <a:off x="9511575" y="2178950"/>
            <a:ext cx="2304600" cy="19137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2f18af96dc2_0_195"/>
          <p:cNvSpPr txBox="1"/>
          <p:nvPr/>
        </p:nvSpPr>
        <p:spPr>
          <a:xfrm>
            <a:off x="7221908" y="6496225"/>
            <a:ext cx="484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https://ar.pinterest.com/pin/308707749472703218/</a:t>
            </a:r>
            <a:r>
              <a:rPr lang="en-GB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05b4eb1b9c_0_180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Electric Actuators </a:t>
            </a:r>
            <a:r>
              <a:rPr b="0" lang="en-GB" sz="2000"/>
              <a:t>(Rotary Actuators)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564" name="Google Shape;564;g305b4eb1b9c_0_18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565" name="Google Shape;565;g305b4eb1b9c_0_18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05b4eb1b9c_131_9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Electric Actuators </a:t>
            </a:r>
            <a:r>
              <a:rPr b="0" lang="en-GB" sz="2000"/>
              <a:t>(Rotary Actuators)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DC Motors:</a:t>
            </a:r>
            <a:r>
              <a:rPr lang="en-GB" sz="1600"/>
              <a:t> </a:t>
            </a:r>
            <a:r>
              <a:rPr b="0" lang="en-GB" sz="1600"/>
              <a:t>Operate on direct current and provide continuous rotational motion.</a:t>
            </a:r>
            <a:br>
              <a:rPr b="0" lang="en-GB" sz="1600"/>
            </a:br>
            <a:endParaRPr b="0"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571" name="Google Shape;571;g305b4eb1b9c_131_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572" name="Google Shape;572;g305b4eb1b9c_131_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73" name="Google Shape;573;g305b4eb1b9c_13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3725" y="152400"/>
            <a:ext cx="3743950" cy="210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g305b4eb1b9c_131_9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05b4eb1b9c_131_19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Electric Actuators </a:t>
            </a:r>
            <a:r>
              <a:rPr b="0" lang="en-GB" sz="2000"/>
              <a:t>(Rotary Actuators)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DC Motors:</a:t>
            </a:r>
            <a:r>
              <a:rPr lang="en-GB" sz="1600"/>
              <a:t> </a:t>
            </a:r>
            <a:r>
              <a:rPr b="0" lang="en-GB" sz="1600"/>
              <a:t>Operate on direct current and provide continuous rotational motion.</a:t>
            </a:r>
            <a:br>
              <a:rPr b="0" lang="en-GB" sz="1600"/>
            </a:br>
            <a:endParaRPr b="0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Servo Motors:</a:t>
            </a:r>
            <a:r>
              <a:rPr lang="en-GB" sz="1600">
                <a:solidFill>
                  <a:schemeClr val="dk1"/>
                </a:solidFill>
              </a:rPr>
              <a:t> </a:t>
            </a:r>
            <a:r>
              <a:rPr b="0" lang="en-GB" sz="1600">
                <a:solidFill>
                  <a:schemeClr val="dk1"/>
                </a:solidFill>
              </a:rPr>
              <a:t>A specialized type of motor that is designed for precise control of angular or linear position, velocity, and acceleration.</a:t>
            </a:r>
            <a:br>
              <a:rPr b="0" lang="en-GB" sz="1600">
                <a:solidFill>
                  <a:schemeClr val="dk1"/>
                </a:solidFill>
              </a:rPr>
            </a:br>
            <a:endParaRPr b="0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580" name="Google Shape;580;g305b4eb1b9c_131_1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581" name="Google Shape;581;g305b4eb1b9c_131_1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82" name="Google Shape;582;g305b4eb1b9c_131_19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083725" y="152400"/>
            <a:ext cx="3743950" cy="21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g305b4eb1b9c_131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1700" y="2477200"/>
            <a:ext cx="3048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g305b4eb1b9c_131_19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05b4eb1b9c_131_29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Electric Actuators </a:t>
            </a:r>
            <a:r>
              <a:rPr b="0" lang="en-GB" sz="2000"/>
              <a:t>(Rotary Actuators)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DC Motors:</a:t>
            </a:r>
            <a:r>
              <a:rPr lang="en-GB" sz="1600"/>
              <a:t> </a:t>
            </a:r>
            <a:r>
              <a:rPr b="0" lang="en-GB" sz="1600"/>
              <a:t>Operate on direct current and provide continuous rotational motion.</a:t>
            </a:r>
            <a:br>
              <a:rPr b="0" lang="en-GB" sz="1600"/>
            </a:br>
            <a:endParaRPr b="0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Servo Motors:</a:t>
            </a:r>
            <a:r>
              <a:rPr lang="en-GB" sz="1600">
                <a:solidFill>
                  <a:schemeClr val="dk1"/>
                </a:solidFill>
              </a:rPr>
              <a:t> </a:t>
            </a:r>
            <a:r>
              <a:rPr b="0" lang="en-GB" sz="1600">
                <a:solidFill>
                  <a:schemeClr val="dk1"/>
                </a:solidFill>
              </a:rPr>
              <a:t>A specialized type of motor that is designed for precise control of angular or linear position, velocity, and acceleration.</a:t>
            </a:r>
            <a:br>
              <a:rPr b="0" lang="en-GB" sz="1600">
                <a:solidFill>
                  <a:schemeClr val="dk1"/>
                </a:solidFill>
              </a:rPr>
            </a:br>
            <a:endParaRPr b="0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Stepper Motors: </a:t>
            </a:r>
            <a:r>
              <a:rPr b="0" lang="en-GB" sz="1600"/>
              <a:t>Move in discrete steps, allowing precise control over position, speed, and acceleration.</a:t>
            </a:r>
            <a:endParaRPr b="0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590" name="Google Shape;590;g305b4eb1b9c_131_2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591" name="Google Shape;591;g305b4eb1b9c_131_2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92" name="Google Shape;592;g305b4eb1b9c_131_29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083725" y="152400"/>
            <a:ext cx="3743950" cy="21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g305b4eb1b9c_131_29"/>
          <p:cNvPicPr preferRelativeResize="0"/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8431700" y="2477200"/>
            <a:ext cx="3048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g305b4eb1b9c_131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68688" y="5006625"/>
            <a:ext cx="1774025" cy="1670743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g305b4eb1b9c_131_29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f18af96dc2_0_219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Electric Actuators </a:t>
            </a:r>
            <a:r>
              <a:rPr b="0" lang="en-GB" sz="2000"/>
              <a:t>(Linear Actuators)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2000"/>
          </a:p>
        </p:txBody>
      </p:sp>
      <p:sp>
        <p:nvSpPr>
          <p:cNvPr id="601" name="Google Shape;601;g2f18af96dc2_0_21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602" name="Google Shape;602;g2f18af96dc2_0_21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05b4eb1b9c_131_39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Electric Actuators </a:t>
            </a:r>
            <a:r>
              <a:rPr b="0" lang="en-GB" sz="2000"/>
              <a:t>(Linear Actuators)</a:t>
            </a:r>
            <a:endParaRPr b="0" sz="20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-GB" sz="1600"/>
              <a:t>Screw Actuators (Lead or Ball): </a:t>
            </a:r>
            <a:r>
              <a:rPr b="0" lang="en-GB" sz="1600"/>
              <a:t>Use a threaded screw mechanism where a motor turns the screw to move a nut along its length.</a:t>
            </a:r>
            <a:endParaRPr b="0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2000"/>
          </a:p>
        </p:txBody>
      </p:sp>
      <p:sp>
        <p:nvSpPr>
          <p:cNvPr id="608" name="Google Shape;608;g305b4eb1b9c_131_3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609" name="Google Shape;609;g305b4eb1b9c_131_3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10" name="Google Shape;610;g305b4eb1b9c_13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0538" y="-349800"/>
            <a:ext cx="3292300" cy="23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g305b4eb1b9c_131_39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05b4eb1b9c_131_50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Electric Actuators </a:t>
            </a:r>
            <a:r>
              <a:rPr b="0" lang="en-GB" sz="2000"/>
              <a:t>(Linear Actuators)</a:t>
            </a:r>
            <a:endParaRPr b="0" sz="20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-GB" sz="1600">
                <a:solidFill>
                  <a:srgbClr val="9E9E9E"/>
                </a:solidFill>
              </a:rPr>
              <a:t>Screw Actuators (Lead or Ball): </a:t>
            </a:r>
            <a:r>
              <a:rPr b="0" lang="en-GB" sz="1600">
                <a:solidFill>
                  <a:srgbClr val="9E9E9E"/>
                </a:solidFill>
              </a:rPr>
              <a:t>Use a threaded screw mechanism where a motor turns the screw to move a nut along its length.</a:t>
            </a:r>
            <a:br>
              <a:rPr b="0" lang="en-GB" sz="1600"/>
            </a:br>
            <a:endParaRPr b="0"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Belt-Driven Actuators: </a:t>
            </a:r>
            <a:r>
              <a:rPr b="0" lang="en-GB" sz="1600"/>
              <a:t>Use a belt and pulley system for linear moti</a:t>
            </a:r>
            <a:r>
              <a:rPr lang="en-GB" sz="1600"/>
              <a:t>on.</a:t>
            </a:r>
            <a:br>
              <a:rPr lang="en-GB" sz="1600"/>
            </a:br>
            <a:endParaRPr b="0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2000"/>
          </a:p>
        </p:txBody>
      </p:sp>
      <p:sp>
        <p:nvSpPr>
          <p:cNvPr id="617" name="Google Shape;617;g305b4eb1b9c_131_5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618" name="Google Shape;618;g305b4eb1b9c_131_5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19" name="Google Shape;619;g305b4eb1b9c_131_50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040538" y="-349800"/>
            <a:ext cx="3292300" cy="2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g305b4eb1b9c_131_50"/>
          <p:cNvPicPr preferRelativeResize="0"/>
          <p:nvPr/>
        </p:nvPicPr>
        <p:blipFill rotWithShape="1">
          <a:blip r:embed="rId4">
            <a:alphaModFix/>
          </a:blip>
          <a:srcRect b="15301" l="0" r="0" t="15618"/>
          <a:stretch/>
        </p:blipFill>
        <p:spPr>
          <a:xfrm>
            <a:off x="7401188" y="1644800"/>
            <a:ext cx="4662625" cy="15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g305b4eb1b9c_131_50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05b4eb1b9c_131_61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Electric Actuators </a:t>
            </a:r>
            <a:r>
              <a:rPr b="0" lang="en-GB" sz="2000"/>
              <a:t>(Linear Actuators)</a:t>
            </a:r>
            <a:endParaRPr b="0" sz="20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00"/>
              <a:buChar char="●"/>
            </a:pPr>
            <a:r>
              <a:rPr b="1" lang="en-GB" sz="1600">
                <a:solidFill>
                  <a:srgbClr val="9E9E9E"/>
                </a:solidFill>
              </a:rPr>
              <a:t>Screw Actuators (Lead or Ball): </a:t>
            </a:r>
            <a:r>
              <a:rPr b="0" lang="en-GB" sz="1600">
                <a:solidFill>
                  <a:srgbClr val="9E9E9E"/>
                </a:solidFill>
              </a:rPr>
              <a:t>Use a threaded screw mechanism where a motor turns the screw to move a nut along its length.</a:t>
            </a:r>
            <a:br>
              <a:rPr b="0" lang="en-GB" sz="1600">
                <a:solidFill>
                  <a:srgbClr val="9E9E9E"/>
                </a:solidFill>
              </a:rPr>
            </a:br>
            <a:endParaRPr b="0" sz="1600">
              <a:solidFill>
                <a:srgbClr val="9E9E9E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00"/>
              <a:buChar char="●"/>
            </a:pPr>
            <a:r>
              <a:rPr b="1" lang="en-GB" sz="1600">
                <a:solidFill>
                  <a:srgbClr val="9E9E9E"/>
                </a:solidFill>
              </a:rPr>
              <a:t>Belt-Driven Actuators: </a:t>
            </a:r>
            <a:r>
              <a:rPr b="0" lang="en-GB" sz="1600">
                <a:solidFill>
                  <a:srgbClr val="9E9E9E"/>
                </a:solidFill>
              </a:rPr>
              <a:t>Use a belt and pulley system for linear moti</a:t>
            </a:r>
            <a:r>
              <a:rPr lang="en-GB" sz="1600">
                <a:solidFill>
                  <a:srgbClr val="9E9E9E"/>
                </a:solidFill>
              </a:rPr>
              <a:t>on.</a:t>
            </a:r>
            <a:br>
              <a:rPr lang="en-GB" sz="1600">
                <a:solidFill>
                  <a:srgbClr val="9E9E9E"/>
                </a:solidFill>
              </a:rPr>
            </a:br>
            <a:endParaRPr sz="1600">
              <a:solidFill>
                <a:srgbClr val="9E9E9E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-GB" sz="1600"/>
              <a:t>Solenoid Actuators:</a:t>
            </a:r>
            <a:r>
              <a:rPr b="0" lang="en-GB" sz="1600"/>
              <a:t> Use electromagnetic force to move a plunger or armature in a linear direction.</a:t>
            </a:r>
            <a:endParaRPr b="0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2000"/>
          </a:p>
        </p:txBody>
      </p:sp>
      <p:sp>
        <p:nvSpPr>
          <p:cNvPr id="627" name="Google Shape;627;g305b4eb1b9c_131_6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628" name="Google Shape;628;g305b4eb1b9c_131_6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29" name="Google Shape;629;g305b4eb1b9c_131_61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040538" y="-349800"/>
            <a:ext cx="3292300" cy="2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g305b4eb1b9c_131_61"/>
          <p:cNvPicPr preferRelativeResize="0"/>
          <p:nvPr/>
        </p:nvPicPr>
        <p:blipFill rotWithShape="1">
          <a:blip r:embed="rId4">
            <a:alphaModFix amt="10000"/>
          </a:blip>
          <a:srcRect b="15301" l="0" r="0" t="15618"/>
          <a:stretch/>
        </p:blipFill>
        <p:spPr>
          <a:xfrm>
            <a:off x="7401188" y="1644800"/>
            <a:ext cx="4662625" cy="15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g305b4eb1b9c_131_61"/>
          <p:cNvPicPr preferRelativeResize="0"/>
          <p:nvPr/>
        </p:nvPicPr>
        <p:blipFill rotWithShape="1">
          <a:blip r:embed="rId5">
            <a:alphaModFix/>
          </a:blip>
          <a:srcRect b="4260" l="0" r="0" t="0"/>
          <a:stretch/>
        </p:blipFill>
        <p:spPr>
          <a:xfrm>
            <a:off x="8117299" y="3420475"/>
            <a:ext cx="3382650" cy="1649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g305b4eb1b9c_131_61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05b4eb1b9c_131_72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Actuators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“Components that are responsible for moving or controlling the robot's mechanical systems. They convert electrical signals (energy) from the robot's control system into physical motion”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Electric Actuators </a:t>
            </a:r>
            <a:r>
              <a:rPr b="0" lang="en-GB" sz="2000"/>
              <a:t>(Linear Actuators)</a:t>
            </a:r>
            <a:endParaRPr b="0" sz="20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00"/>
              <a:buChar char="●"/>
            </a:pPr>
            <a:r>
              <a:rPr b="1" lang="en-GB" sz="1600">
                <a:solidFill>
                  <a:srgbClr val="9E9E9E"/>
                </a:solidFill>
              </a:rPr>
              <a:t>Screw Actuators (Lead or Ball): </a:t>
            </a:r>
            <a:r>
              <a:rPr b="0" lang="en-GB" sz="1600">
                <a:solidFill>
                  <a:srgbClr val="9E9E9E"/>
                </a:solidFill>
              </a:rPr>
              <a:t>Use a threaded screw mechanism where a motor turns the screw to move a nut along its length.</a:t>
            </a:r>
            <a:br>
              <a:rPr b="0" lang="en-GB" sz="1600">
                <a:solidFill>
                  <a:srgbClr val="9E9E9E"/>
                </a:solidFill>
              </a:rPr>
            </a:br>
            <a:endParaRPr b="0" sz="1600">
              <a:solidFill>
                <a:srgbClr val="9E9E9E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00"/>
              <a:buChar char="●"/>
            </a:pPr>
            <a:r>
              <a:rPr b="1" lang="en-GB" sz="1600">
                <a:solidFill>
                  <a:srgbClr val="9E9E9E"/>
                </a:solidFill>
              </a:rPr>
              <a:t>Belt-Driven Actuators: </a:t>
            </a:r>
            <a:r>
              <a:rPr b="0" lang="en-GB" sz="1600">
                <a:solidFill>
                  <a:srgbClr val="9E9E9E"/>
                </a:solidFill>
              </a:rPr>
              <a:t>Use a belt and pulley system for linear moti</a:t>
            </a:r>
            <a:r>
              <a:rPr lang="en-GB" sz="1600">
                <a:solidFill>
                  <a:srgbClr val="9E9E9E"/>
                </a:solidFill>
              </a:rPr>
              <a:t>on.</a:t>
            </a:r>
            <a:br>
              <a:rPr lang="en-GB" sz="1600">
                <a:solidFill>
                  <a:srgbClr val="9E9E9E"/>
                </a:solidFill>
              </a:rPr>
            </a:br>
            <a:endParaRPr sz="1600">
              <a:solidFill>
                <a:srgbClr val="9E9E9E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-GB" sz="1600">
                <a:solidFill>
                  <a:srgbClr val="9E9E9E"/>
                </a:solidFill>
              </a:rPr>
              <a:t>Solenoid Actuators:</a:t>
            </a:r>
            <a:r>
              <a:rPr b="0" lang="en-GB" sz="1600">
                <a:solidFill>
                  <a:srgbClr val="9E9E9E"/>
                </a:solidFill>
              </a:rPr>
              <a:t> Use electromagnetic force to move a plunger or armature in a linear direction.</a:t>
            </a:r>
            <a:br>
              <a:rPr b="0" lang="en-GB" sz="1600"/>
            </a:br>
            <a:endParaRPr b="0"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Magnetic Linear Actuators:</a:t>
            </a:r>
            <a:r>
              <a:rPr lang="en-GB" sz="1600"/>
              <a:t> </a:t>
            </a:r>
            <a:r>
              <a:rPr b="0" lang="en-GB" sz="1600"/>
              <a:t>Use magnetic fields to produce linear motion, often seen in magnetic levitation systems.</a:t>
            </a:r>
            <a:endParaRPr b="0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2000"/>
          </a:p>
        </p:txBody>
      </p:sp>
      <p:sp>
        <p:nvSpPr>
          <p:cNvPr id="638" name="Google Shape;638;g305b4eb1b9c_131_72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639" name="Google Shape;639;g305b4eb1b9c_131_72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40" name="Google Shape;640;g305b4eb1b9c_131_72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040538" y="-349800"/>
            <a:ext cx="3292300" cy="2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g305b4eb1b9c_131_72"/>
          <p:cNvPicPr preferRelativeResize="0"/>
          <p:nvPr/>
        </p:nvPicPr>
        <p:blipFill rotWithShape="1">
          <a:blip r:embed="rId4">
            <a:alphaModFix amt="10000"/>
          </a:blip>
          <a:srcRect b="15301" l="0" r="0" t="15618"/>
          <a:stretch/>
        </p:blipFill>
        <p:spPr>
          <a:xfrm>
            <a:off x="7401188" y="1644800"/>
            <a:ext cx="4662625" cy="15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g305b4eb1b9c_131_72"/>
          <p:cNvPicPr preferRelativeResize="0"/>
          <p:nvPr/>
        </p:nvPicPr>
        <p:blipFill rotWithShape="1">
          <a:blip r:embed="rId5">
            <a:alphaModFix amt="10000"/>
          </a:blip>
          <a:srcRect b="4260" l="0" r="0" t="0"/>
          <a:stretch/>
        </p:blipFill>
        <p:spPr>
          <a:xfrm>
            <a:off x="8117299" y="3420475"/>
            <a:ext cx="3382650" cy="164955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g305b4eb1b9c_131_72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  <p:pic>
        <p:nvPicPr>
          <p:cNvPr id="644" name="Google Shape;644;g305b4eb1b9c_131_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8638" y="5221924"/>
            <a:ext cx="2079986" cy="1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f20ea9a4c1_33_62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650" name="Google Shape;650;g2f20ea9a4c1_33_62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1" name="Google Shape;651;g2f20ea9a4c1_33_62"/>
          <p:cNvSpPr txBox="1"/>
          <p:nvPr>
            <p:ph idx="4294967295" type="body"/>
          </p:nvPr>
        </p:nvSpPr>
        <p:spPr>
          <a:xfrm>
            <a:off x="422425" y="1000450"/>
            <a:ext cx="11011200" cy="485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/>
              <a:t>DC Motors</a:t>
            </a:r>
            <a:endParaRPr b="1" sz="5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2f20ea9a4c1_0_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657" name="Google Shape;657;g2f20ea9a4c1_0_1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DC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</a:t>
            </a:r>
            <a:r>
              <a:rPr b="0" i="1" lang="en-GB" sz="2000"/>
              <a:t>Operates on Direct Current (DC) and provide continuous rotational motion (mechanical force)</a:t>
            </a:r>
            <a:r>
              <a:rPr b="0" i="1" lang="en-GB" sz="2000"/>
              <a:t>”</a:t>
            </a:r>
            <a:br>
              <a:rPr b="0" i="1" lang="en-GB" sz="2000"/>
            </a:br>
            <a:endParaRPr sz="20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GB" sz="1600">
                <a:solidFill>
                  <a:srgbClr val="000000"/>
                </a:solidFill>
              </a:rPr>
              <a:t>Control Methods: </a:t>
            </a:r>
            <a:r>
              <a:rPr b="0" lang="en-GB" sz="1600">
                <a:solidFill>
                  <a:srgbClr val="000000"/>
                </a:solidFill>
              </a:rPr>
              <a:t>DC motors are relatively easy to control, which makes them popular in robotics and automation, typically:</a:t>
            </a:r>
            <a:endParaRPr b="0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b="1" lang="en-GB" sz="1600"/>
              <a:t>Voltage Control: </a:t>
            </a:r>
            <a:r>
              <a:rPr lang="en-GB" sz="1600"/>
              <a:t>The speed of a DC motor is directly proportional to the applied voltage. </a:t>
            </a:r>
            <a:endParaRPr sz="1600"/>
          </a:p>
          <a:p>
            <a: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</a:pPr>
            <a:r>
              <a:rPr lang="en-GB" sz="1600"/>
              <a:t>= by varying the voltage, the speed of the motor can be adjusted.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658" name="Google Shape;658;g2f20ea9a4c1_0_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069c0c8589_0_58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664" name="Google Shape;664;g3069c0c8589_0_58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DC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“Operates on Direct Current (DC) and provide continuous rotational motion (mechanical force)”</a:t>
            </a:r>
            <a:br>
              <a:rPr b="0" i="1" lang="en-GB" sz="2000"/>
            </a:br>
            <a:endParaRPr sz="20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GB" sz="1600">
                <a:solidFill>
                  <a:srgbClr val="000000"/>
                </a:solidFill>
              </a:rPr>
              <a:t>Control Methods: </a:t>
            </a:r>
            <a:r>
              <a:rPr b="0" lang="en-GB" sz="1600">
                <a:solidFill>
                  <a:srgbClr val="000000"/>
                </a:solidFill>
              </a:rPr>
              <a:t>DC motors are relatively easy to control, which makes them popular in robotics and automation, typically:</a:t>
            </a:r>
            <a:endParaRPr b="0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b="1" lang="en-GB" sz="1600"/>
              <a:t>Voltage Control: </a:t>
            </a:r>
            <a:r>
              <a:rPr lang="en-GB" sz="1600"/>
              <a:t>The speed of a DC motor is directly proportional to the applied voltage. </a:t>
            </a:r>
            <a:endParaRPr sz="1600"/>
          </a:p>
          <a:p>
            <a: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</a:pPr>
            <a:r>
              <a:rPr lang="en-GB" sz="1600"/>
              <a:t>= by varying the voltage, the speed of the motor can be adjusted.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b="1" lang="en-GB" sz="1600"/>
              <a:t>For most applications</a:t>
            </a:r>
            <a:r>
              <a:rPr lang="en-GB" sz="1600"/>
              <a:t>, we want to be able to do two things with a motor:</a:t>
            </a:r>
            <a:endParaRPr sz="1600"/>
          </a:p>
          <a:p>
            <a: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</a:pPr>
            <a:r>
              <a:rPr lang="en-GB" sz="1600"/>
              <a:t>Run it in </a:t>
            </a:r>
            <a:r>
              <a:rPr lang="en-GB" sz="1600" u="sng"/>
              <a:t>forward</a:t>
            </a:r>
            <a:r>
              <a:rPr lang="en-GB" sz="1600"/>
              <a:t> and </a:t>
            </a:r>
            <a:r>
              <a:rPr lang="en-GB" sz="1600" u="sng"/>
              <a:t>backward</a:t>
            </a:r>
            <a:r>
              <a:rPr lang="en-GB" sz="1600"/>
              <a:t> directions </a:t>
            </a:r>
            <a:endParaRPr sz="1600"/>
          </a:p>
          <a:p>
            <a:pPr indent="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GB" sz="1600"/>
            </a:br>
            <a:endParaRPr b="1" sz="1600"/>
          </a:p>
          <a:p>
            <a: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</a:pPr>
            <a:r>
              <a:rPr lang="en-GB" sz="1600" u="sng"/>
              <a:t>Change its speed</a:t>
            </a:r>
            <a:endParaRPr sz="1600"/>
          </a:p>
          <a:p>
            <a:pPr indent="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665" name="Google Shape;665;g3069c0c8589_0_58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05b4eb1b9c_131_83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671" name="Google Shape;671;g305b4eb1b9c_131_83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DC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“Operates on Direct Current (DC) and provide continuous rotational motion (mechanical force)”</a:t>
            </a:r>
            <a:br>
              <a:rPr b="0" i="1" lang="en-GB" sz="2000"/>
            </a:br>
            <a:endParaRPr sz="20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GB" sz="1600">
                <a:solidFill>
                  <a:srgbClr val="000000"/>
                </a:solidFill>
              </a:rPr>
              <a:t>Control Methods: </a:t>
            </a:r>
            <a:r>
              <a:rPr b="0" lang="en-GB" sz="1600">
                <a:solidFill>
                  <a:srgbClr val="000000"/>
                </a:solidFill>
              </a:rPr>
              <a:t>DC motors are relatively easy to control, which makes them popular in robotics and automation, typically:</a:t>
            </a:r>
            <a:endParaRPr b="0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b="1" lang="en-GB" sz="1600"/>
              <a:t>Voltage Control: </a:t>
            </a:r>
            <a:r>
              <a:rPr lang="en-GB" sz="1600"/>
              <a:t>The speed of a DC motor is directly proportional to the applied voltage. </a:t>
            </a:r>
            <a:endParaRPr sz="1600"/>
          </a:p>
          <a:p>
            <a: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</a:pPr>
            <a:r>
              <a:rPr lang="en-GB" sz="1600"/>
              <a:t>= by varying the voltage, the speed of the motor can be adjusted.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b="1" lang="en-GB" sz="1600"/>
              <a:t>For most applications</a:t>
            </a:r>
            <a:r>
              <a:rPr lang="en-GB" sz="1600"/>
              <a:t>, we want to be able to do two things with a motor:</a:t>
            </a:r>
            <a:endParaRPr sz="1600"/>
          </a:p>
          <a:p>
            <a: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</a:pPr>
            <a:r>
              <a:rPr lang="en-GB" sz="1600"/>
              <a:t>Run it in </a:t>
            </a:r>
            <a:r>
              <a:rPr lang="en-GB" sz="1600" u="sng"/>
              <a:t>forward</a:t>
            </a:r>
            <a:r>
              <a:rPr lang="en-GB" sz="1600"/>
              <a:t> and </a:t>
            </a:r>
            <a:r>
              <a:rPr lang="en-GB" sz="1600" u="sng"/>
              <a:t>backward</a:t>
            </a:r>
            <a:r>
              <a:rPr lang="en-GB" sz="1600"/>
              <a:t> directions </a:t>
            </a:r>
            <a:endParaRPr sz="1600"/>
          </a:p>
          <a:p>
            <a: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GB" sz="1600"/>
              <a:t>Using a </a:t>
            </a:r>
            <a:r>
              <a:rPr b="1" lang="en-GB" sz="1600"/>
              <a:t>H-Bridge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GB" sz="1600" u="sng">
                <a:solidFill>
                  <a:schemeClr val="dk1"/>
                </a:solidFill>
              </a:rPr>
              <a:t>Change its speed</a:t>
            </a:r>
            <a:endParaRPr sz="2000"/>
          </a:p>
        </p:txBody>
      </p:sp>
      <p:sp>
        <p:nvSpPr>
          <p:cNvPr id="672" name="Google Shape;672;g305b4eb1b9c_131_83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73" name="Google Shape;673;g305b4eb1b9c_131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0125" y="707450"/>
            <a:ext cx="4610876" cy="275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g305b4eb1b9c_131_83"/>
          <p:cNvSpPr txBox="1"/>
          <p:nvPr/>
        </p:nvSpPr>
        <p:spPr>
          <a:xfrm>
            <a:off x="7623175" y="3713650"/>
            <a:ext cx="42324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Microcontrollers </a:t>
            </a:r>
            <a:r>
              <a:rPr lang="en-GB" sz="1800">
                <a:solidFill>
                  <a:schemeClr val="dk1"/>
                </a:solidFill>
              </a:rPr>
              <a:t>are</a:t>
            </a:r>
            <a:r>
              <a:rPr b="1" lang="en-GB" sz="1800">
                <a:solidFill>
                  <a:schemeClr val="dk1"/>
                </a:solidFill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very limited output power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(eg. the </a:t>
            </a:r>
            <a:r>
              <a:rPr b="1" lang="en-GB">
                <a:solidFill>
                  <a:schemeClr val="dk1"/>
                </a:solidFill>
              </a:rPr>
              <a:t>Pico has a maximum of 16mA per pin</a:t>
            </a:r>
            <a:r>
              <a:rPr lang="en-GB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(Typically) </a:t>
            </a:r>
            <a:r>
              <a:rPr lang="en-GB" sz="1600" u="sng">
                <a:solidFill>
                  <a:schemeClr val="dk1"/>
                </a:solidFill>
              </a:rPr>
              <a:t>Used to drive other logic chips</a:t>
            </a:r>
            <a:r>
              <a:rPr lang="en-GB" sz="1600">
                <a:solidFill>
                  <a:schemeClr val="dk1"/>
                </a:solidFill>
              </a:rPr>
              <a:t>, but never a motor directly.</a:t>
            </a:r>
            <a:endParaRPr sz="16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05b4eb1b9c_131_97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680" name="Google Shape;680;g305b4eb1b9c_131_97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DC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“Operates on Direct Current (DC) and provide continuous rotational motion (mechanical force)”</a:t>
            </a:r>
            <a:br>
              <a:rPr b="0" i="1" lang="en-GB" sz="2000"/>
            </a:br>
            <a:endParaRPr sz="20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GB" sz="1600">
                <a:solidFill>
                  <a:srgbClr val="000000"/>
                </a:solidFill>
              </a:rPr>
              <a:t>Control Methods: </a:t>
            </a:r>
            <a:r>
              <a:rPr b="0" lang="en-GB" sz="1600">
                <a:solidFill>
                  <a:srgbClr val="000000"/>
                </a:solidFill>
              </a:rPr>
              <a:t>DC motors are relatively easy to control, which makes them popular in robotics and automation, typically:</a:t>
            </a:r>
            <a:endParaRPr b="0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b="1" lang="en-GB" sz="1600"/>
              <a:t>Voltage Control: </a:t>
            </a:r>
            <a:r>
              <a:rPr lang="en-GB" sz="1600"/>
              <a:t>The speed of a DC motor is directly proportional to the applied voltage. </a:t>
            </a:r>
            <a:endParaRPr sz="1600"/>
          </a:p>
          <a:p>
            <a: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</a:pPr>
            <a:r>
              <a:rPr lang="en-GB" sz="1600"/>
              <a:t>= by varying the voltage, the speed of the motor can be adjusted.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b="1" lang="en-GB" sz="1600"/>
              <a:t>For most applications</a:t>
            </a:r>
            <a:r>
              <a:rPr lang="en-GB" sz="1600"/>
              <a:t>, we want to be able to do two things with a motor:</a:t>
            </a:r>
            <a:endParaRPr sz="1600"/>
          </a:p>
          <a:p>
            <a: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</a:pPr>
            <a:r>
              <a:rPr lang="en-GB" sz="1600"/>
              <a:t>Run it in </a:t>
            </a:r>
            <a:r>
              <a:rPr lang="en-GB" sz="1600" u="sng"/>
              <a:t>forward</a:t>
            </a:r>
            <a:r>
              <a:rPr lang="en-GB" sz="1600"/>
              <a:t> and </a:t>
            </a:r>
            <a:r>
              <a:rPr lang="en-GB" sz="1600" u="sng"/>
              <a:t>backward</a:t>
            </a:r>
            <a:r>
              <a:rPr lang="en-GB" sz="1600"/>
              <a:t> directions </a:t>
            </a:r>
            <a:endParaRPr sz="1600"/>
          </a:p>
          <a:p>
            <a: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GB" sz="1600"/>
              <a:t>Using a </a:t>
            </a:r>
            <a:r>
              <a:rPr b="1" lang="en-GB" sz="1600"/>
              <a:t>H-Bridge</a:t>
            </a:r>
            <a:br>
              <a:rPr b="1" lang="en-GB" sz="1600"/>
            </a:br>
            <a:endParaRPr b="1"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GB" sz="1600" u="sng">
                <a:solidFill>
                  <a:schemeClr val="dk1"/>
                </a:solidFill>
              </a:rPr>
              <a:t>Change its speed</a:t>
            </a:r>
            <a:endParaRPr sz="1600"/>
          </a:p>
          <a:p>
            <a: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GB" sz="1600"/>
              <a:t>Using </a:t>
            </a:r>
            <a:r>
              <a:rPr b="1" lang="en-GB" sz="1600"/>
              <a:t>Pulse Width Modulation (PWM)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681" name="Google Shape;681;g305b4eb1b9c_131_97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82" name="Google Shape;682;g305b4eb1b9c_131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0125" y="707450"/>
            <a:ext cx="4610876" cy="275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g305b4eb1b9c_131_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7625" y="4060627"/>
            <a:ext cx="4171949" cy="25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05b4eb1b9c_131_10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689" name="Google Shape;689;g305b4eb1b9c_131_105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0" name="Google Shape;690;g305b4eb1b9c_131_105"/>
          <p:cNvSpPr txBox="1"/>
          <p:nvPr>
            <p:ph idx="4294967295" type="body"/>
          </p:nvPr>
        </p:nvSpPr>
        <p:spPr>
          <a:xfrm>
            <a:off x="422425" y="1000450"/>
            <a:ext cx="11011200" cy="485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/>
              <a:t>H-Bridge</a:t>
            </a:r>
            <a:endParaRPr b="1" sz="5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2f20ea9a4c1_0_9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H-Bridge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</a:t>
            </a:r>
            <a:r>
              <a:rPr b="0" i="1" lang="en-GB" sz="2000"/>
              <a:t>n electronic circuit that allows a voltage to be applied across a load, such as a DC motor, in either direction.</a:t>
            </a:r>
            <a:r>
              <a:rPr b="0" i="1" lang="en-GB" sz="2000"/>
              <a:t>”</a:t>
            </a:r>
            <a:br>
              <a:rPr b="0" i="1" lang="en-GB" sz="2000"/>
            </a:br>
            <a:br>
              <a:rPr b="0" i="1" lang="en-GB" sz="2000"/>
            </a:br>
            <a:r>
              <a:rPr b="0" i="1" lang="en-GB" sz="2000"/>
              <a:t>= </a:t>
            </a:r>
            <a:r>
              <a:rPr b="0" i="1" lang="en-GB" sz="2000" u="sng"/>
              <a:t>change polarity</a:t>
            </a:r>
            <a:r>
              <a:rPr b="0" i="1" lang="en-GB" sz="2000"/>
              <a:t> of the supply voltage on the motor…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-GB" sz="2000"/>
              <a:t>G</a:t>
            </a:r>
            <a:r>
              <a:rPr b="0" lang="en-GB" sz="2000"/>
              <a:t>ets its name from the typical arrangement of its four switching elements, which resemble the shape of the letter "H."</a:t>
            </a:r>
            <a:endParaRPr sz="1600"/>
          </a:p>
        </p:txBody>
      </p:sp>
      <p:sp>
        <p:nvSpPr>
          <p:cNvPr id="696" name="Google Shape;696;g2f20ea9a4c1_0_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697" name="Google Shape;697;g2f20ea9a4c1_0_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98" name="Google Shape;698;g2f20ea9a4c1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450" y="1484487"/>
            <a:ext cx="5117175" cy="388903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g2f20ea9a4c1_0_9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</a:t>
            </a:r>
            <a:r>
              <a:rPr lang="en-GB" sz="1000"/>
              <a:t>: </a:t>
            </a:r>
            <a:r>
              <a:rPr lang="en-GB" sz="1000"/>
              <a:t>[eB1] From Mobile Robots to Autonomous Vehicles with Raspberry Pi and Arduino</a:t>
            </a:r>
            <a:endParaRPr sz="10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05b4eb1b9c_131_117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H-Bridge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“An electronic circuit that allows a voltage to be applied across a load, such as a DC motor, in either direction.”</a:t>
            </a:r>
            <a:br>
              <a:rPr b="0" i="1" lang="en-GB" sz="2000"/>
            </a:br>
            <a:br>
              <a:rPr b="0" i="1" lang="en-GB" sz="2000"/>
            </a:br>
            <a:r>
              <a:rPr b="0" i="1" lang="en-GB" sz="2000"/>
              <a:t>= </a:t>
            </a:r>
            <a:r>
              <a:rPr b="0" i="1" lang="en-GB" sz="2000" u="sng"/>
              <a:t>change polarity</a:t>
            </a:r>
            <a:r>
              <a:rPr b="0" i="1" lang="en-GB" sz="2000"/>
              <a:t> of the supply voltage on the motor…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-GB" sz="2000"/>
              <a:t>Gets its name from the typical arrangement of its four switching elements, which resemble the shape of the letter "H."</a:t>
            </a:r>
            <a:br>
              <a:rPr b="0" lang="en-GB" sz="2000"/>
            </a:br>
            <a:endParaRPr b="0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-GB" sz="2000"/>
              <a:t>Basic Structure of an H-Bridge</a:t>
            </a:r>
            <a:endParaRPr b="0" sz="20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-GB" sz="1600"/>
              <a:t>Four Switches:</a:t>
            </a:r>
            <a:r>
              <a:rPr lang="en-GB" sz="1600"/>
              <a:t> The H-bridge has four switches </a:t>
            </a:r>
            <a:endParaRPr sz="1600"/>
          </a:p>
          <a:p>
            <a: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GB" sz="1600"/>
              <a:t>Eg. labeled S1, S2, S3, and S4.</a:t>
            </a:r>
            <a:br>
              <a:rPr lang="en-GB" sz="1600"/>
            </a:b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-GB" sz="1600"/>
              <a:t>Load</a:t>
            </a:r>
            <a:r>
              <a:rPr lang="en-GB" sz="1600"/>
              <a:t> (Motor)</a:t>
            </a:r>
            <a:br>
              <a:rPr lang="en-GB" sz="1600"/>
            </a:b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-GB" sz="1600"/>
              <a:t>Power Supply</a:t>
            </a:r>
            <a:r>
              <a:rPr lang="en-GB" sz="1600"/>
              <a:t>: provide the necessary voltage and current.</a:t>
            </a:r>
            <a:endParaRPr sz="1600"/>
          </a:p>
        </p:txBody>
      </p:sp>
      <p:sp>
        <p:nvSpPr>
          <p:cNvPr id="705" name="Google Shape;705;g305b4eb1b9c_131_117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706" name="Google Shape;706;g305b4eb1b9c_131_117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07" name="Google Shape;707;g305b4eb1b9c_131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450" y="1484487"/>
            <a:ext cx="5117175" cy="388903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g305b4eb1b9c_131_117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[eB1] From Mobile Robots to Autonomous Vehicles with Raspberry Pi and Arduino</a:t>
            </a:r>
            <a:endParaRPr sz="10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f20ea9a4c1_33_8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H-Bridge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“An electronic circuit that allows a voltage to be applied across a load, such as a DC motor, in either direction.”</a:t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Controlling a H-</a:t>
            </a:r>
            <a:r>
              <a:rPr lang="en-GB" sz="2000"/>
              <a:t>Bridge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600"/>
            </a:br>
            <a:endParaRPr b="0" sz="1600"/>
          </a:p>
        </p:txBody>
      </p:sp>
      <p:sp>
        <p:nvSpPr>
          <p:cNvPr id="714" name="Google Shape;714;g2f20ea9a4c1_33_8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715" name="Google Shape;715;g2f20ea9a4c1_33_8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6" name="Google Shape;716;g2f20ea9a4c1_33_8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[eB1] From Mobile Robots to Autonomous Vehicles with Raspberry Pi and Arduino</a:t>
            </a:r>
            <a:endParaRPr sz="1000"/>
          </a:p>
        </p:txBody>
      </p:sp>
      <p:pic>
        <p:nvPicPr>
          <p:cNvPr id="717" name="Google Shape;717;g2f20ea9a4c1_33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450" y="1484487"/>
            <a:ext cx="5117175" cy="3889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05b4eb1b9c_131_145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H-Bridge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“An electronic circuit that allows a voltage to be applied across a load, such as a DC motor, in either direction.”</a:t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Controlling a H-Bridge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Coasting </a:t>
            </a:r>
            <a:r>
              <a:rPr b="0" lang="en-GB" sz="1800"/>
              <a:t>(Motor Freewheeling)</a:t>
            </a:r>
            <a:r>
              <a:rPr lang="en-GB" sz="1800"/>
              <a:t>: 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sz="1400">
                <a:solidFill>
                  <a:schemeClr val="dk1"/>
                </a:solidFill>
              </a:rPr>
              <a:t>All switches open (1, 2, 3, and 4)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sz="1400">
                <a:solidFill>
                  <a:schemeClr val="dk1"/>
                </a:solidFill>
              </a:rPr>
              <a:t>No current flows through the motor.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600"/>
            </a:br>
            <a:endParaRPr b="0" sz="1600"/>
          </a:p>
        </p:txBody>
      </p:sp>
      <p:sp>
        <p:nvSpPr>
          <p:cNvPr id="723" name="Google Shape;723;g305b4eb1b9c_131_14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724" name="Google Shape;724;g305b4eb1b9c_131_145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5" name="Google Shape;725;g305b4eb1b9c_131_145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[eB1] From Mobile Robots to Autonomous Vehicles with Raspberry Pi and Arduino</a:t>
            </a:r>
            <a:endParaRPr sz="1000"/>
          </a:p>
        </p:txBody>
      </p:sp>
      <p:pic>
        <p:nvPicPr>
          <p:cNvPr id="726" name="Google Shape;726;g305b4eb1b9c_131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450" y="1484487"/>
            <a:ext cx="5117175" cy="388903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g305b4eb1b9c_131_145"/>
          <p:cNvSpPr/>
          <p:nvPr/>
        </p:nvSpPr>
        <p:spPr>
          <a:xfrm>
            <a:off x="8112625" y="1327450"/>
            <a:ext cx="3316800" cy="2343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05b4eb1b9c_131_129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H-Bridge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“An electronic circuit that allows a voltage to be applied across a load, such as a DC motor, in either direction.”</a:t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Controlling a H-Bridge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Coasting </a:t>
            </a:r>
            <a:r>
              <a:rPr b="0" lang="en-GB" sz="1800"/>
              <a:t>(Motor Freewheeling)</a:t>
            </a:r>
            <a:r>
              <a:rPr lang="en-GB" sz="1800"/>
              <a:t>: 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sz="1400">
                <a:solidFill>
                  <a:schemeClr val="dk1"/>
                </a:solidFill>
              </a:rPr>
              <a:t>All switches open (1, 2, 3, and 4)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sz="1400">
                <a:solidFill>
                  <a:schemeClr val="dk1"/>
                </a:solidFill>
              </a:rPr>
              <a:t>No current flows through the motor.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Forward Direction</a:t>
            </a:r>
            <a:r>
              <a:rPr b="0" lang="en-GB" sz="1800"/>
              <a:t> (Clockwise Rotation)</a:t>
            </a:r>
            <a:endParaRPr b="0"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Switches Closed: </a:t>
            </a:r>
            <a:r>
              <a:rPr lang="en-GB" sz="1400"/>
              <a:t>1 and 2,</a:t>
            </a:r>
            <a:r>
              <a:rPr b="1" lang="en-GB" sz="1400"/>
              <a:t> Switches Open:</a:t>
            </a:r>
            <a:r>
              <a:rPr lang="en-GB" sz="1400"/>
              <a:t> 3 and 4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Current flows from the power supply, through 1, across the motor (from one terminal to the other), and then through 2 to ground.</a:t>
            </a:r>
            <a:br>
              <a:rPr lang="en-GB" sz="1400"/>
            </a:b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600"/>
            </a:br>
            <a:endParaRPr b="0" sz="1600"/>
          </a:p>
        </p:txBody>
      </p:sp>
      <p:sp>
        <p:nvSpPr>
          <p:cNvPr id="733" name="Google Shape;733;g305b4eb1b9c_131_12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734" name="Google Shape;734;g305b4eb1b9c_131_12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35" name="Google Shape;735;g305b4eb1b9c_131_129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[eB1] From Mobile Robots to Autonomous Vehicles with Raspberry Pi and Arduino</a:t>
            </a:r>
            <a:endParaRPr sz="1000"/>
          </a:p>
        </p:txBody>
      </p:sp>
      <p:pic>
        <p:nvPicPr>
          <p:cNvPr id="736" name="Google Shape;736;g305b4eb1b9c_131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450" y="1484487"/>
            <a:ext cx="5117175" cy="388903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g305b4eb1b9c_131_129"/>
          <p:cNvSpPr/>
          <p:nvPr/>
        </p:nvSpPr>
        <p:spPr>
          <a:xfrm>
            <a:off x="7174025" y="3314025"/>
            <a:ext cx="2424300" cy="2343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05b4eb1b9c_131_137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H-Bridge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“An electronic circuit that allows a voltage to be applied across a load, such as a DC motor, in either direction.”</a:t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Controlling a H-Bridge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Coasting </a:t>
            </a:r>
            <a:r>
              <a:rPr b="0" lang="en-GB" sz="1800"/>
              <a:t>(Motor Freewheeling)</a:t>
            </a:r>
            <a:r>
              <a:rPr lang="en-GB" sz="1800"/>
              <a:t>: 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sz="1400">
                <a:solidFill>
                  <a:schemeClr val="dk1"/>
                </a:solidFill>
              </a:rPr>
              <a:t>All switches open (1, 2, 3, and 4)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sz="1400">
                <a:solidFill>
                  <a:schemeClr val="dk1"/>
                </a:solidFill>
              </a:rPr>
              <a:t>No current flows through the motor.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Forward Direction</a:t>
            </a:r>
            <a:r>
              <a:rPr b="0" lang="en-GB" sz="1800"/>
              <a:t> (Clockwise Rotation)</a:t>
            </a:r>
            <a:endParaRPr b="0"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Switches Closed: </a:t>
            </a:r>
            <a:r>
              <a:rPr lang="en-GB" sz="1400"/>
              <a:t>1 and 2,</a:t>
            </a:r>
            <a:r>
              <a:rPr b="1" lang="en-GB" sz="1400"/>
              <a:t> Switches Open:</a:t>
            </a:r>
            <a:r>
              <a:rPr lang="en-GB" sz="1400"/>
              <a:t> 3 and 4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Current flows from the power supply, through 1, across the motor (from one terminal to the other), and then through 2 to ground.</a:t>
            </a:r>
            <a:br>
              <a:rPr lang="en-GB" sz="1400"/>
            </a:b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Reverse Direction </a:t>
            </a:r>
            <a:r>
              <a:rPr b="0" lang="en-GB" sz="1800"/>
              <a:t>(Counterclockwise Rotation)</a:t>
            </a:r>
            <a:endParaRPr b="0"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Switches Closed: </a:t>
            </a:r>
            <a:r>
              <a:rPr lang="en-GB" sz="1400"/>
              <a:t>3 and 4, </a:t>
            </a:r>
            <a:r>
              <a:rPr b="1" lang="en-GB" sz="1400"/>
              <a:t>Switches Open:</a:t>
            </a:r>
            <a:r>
              <a:rPr lang="en-GB" sz="1400"/>
              <a:t> 1 and 2</a:t>
            </a:r>
            <a:endParaRPr sz="14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400"/>
              <a:t>Current flows from the power supply, through 3, across the motor in the opposite direction, and then through 4 to ground.</a:t>
            </a:r>
            <a:br>
              <a:rPr lang="en-GB" sz="1600"/>
            </a:br>
            <a:endParaRPr b="0" sz="1600"/>
          </a:p>
        </p:txBody>
      </p:sp>
      <p:sp>
        <p:nvSpPr>
          <p:cNvPr id="743" name="Google Shape;743;g305b4eb1b9c_131_137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744" name="Google Shape;744;g305b4eb1b9c_131_137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5" name="Google Shape;745;g305b4eb1b9c_131_137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Illustration: [eB1] From Mobile Robots to Autonomous Vehicles with Raspberry Pi and Arduino</a:t>
            </a:r>
            <a:endParaRPr sz="1000"/>
          </a:p>
        </p:txBody>
      </p:sp>
      <p:pic>
        <p:nvPicPr>
          <p:cNvPr id="746" name="Google Shape;746;g305b4eb1b9c_131_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450" y="1484487"/>
            <a:ext cx="5117175" cy="388903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g305b4eb1b9c_131_137"/>
          <p:cNvSpPr/>
          <p:nvPr/>
        </p:nvSpPr>
        <p:spPr>
          <a:xfrm>
            <a:off x="9764825" y="3314025"/>
            <a:ext cx="2424300" cy="2343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f20ea9a4c1_0_36"/>
          <p:cNvSpPr txBox="1"/>
          <p:nvPr>
            <p:ph type="ctrTitle"/>
          </p:nvPr>
        </p:nvSpPr>
        <p:spPr>
          <a:xfrm>
            <a:off x="411175" y="936050"/>
            <a:ext cx="6555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H-Bridge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</a:t>
            </a:r>
            <a:r>
              <a:rPr b="0" i="1" lang="en-GB" sz="2000"/>
              <a:t>An electronic circuit that allows a voltage to be applied across a load, such as a DC motor, in either direction.</a:t>
            </a:r>
            <a:r>
              <a:rPr b="0" i="1" lang="en-GB" sz="2000"/>
              <a:t>”</a:t>
            </a:r>
            <a:br>
              <a:rPr lang="en-GB" sz="2000"/>
            </a:br>
            <a:endParaRPr sz="2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Example: </a:t>
            </a:r>
            <a:r>
              <a:rPr b="0" lang="en-GB" sz="1800"/>
              <a:t>L298N DC Driver (use </a:t>
            </a:r>
            <a:r>
              <a:rPr b="0" lang="en-GB" sz="18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Pin</a:t>
            </a:r>
            <a:r>
              <a:rPr lang="en-GB" sz="1800"/>
              <a:t> </a:t>
            </a:r>
            <a:r>
              <a:rPr b="0" lang="en-GB" sz="1800"/>
              <a:t>class as interface</a:t>
            </a:r>
            <a:r>
              <a:rPr b="0" lang="en-GB" sz="1800"/>
              <a:t>)</a:t>
            </a:r>
            <a:endParaRPr b="0" sz="1800"/>
          </a:p>
        </p:txBody>
      </p:sp>
      <p:sp>
        <p:nvSpPr>
          <p:cNvPr id="753" name="Google Shape;753;g2f20ea9a4c1_0_36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754" name="Google Shape;754;g2f20ea9a4c1_0_36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55" name="Google Shape;755;g2f20ea9a4c1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3313" y="2957177"/>
            <a:ext cx="4056144" cy="3453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g2f20ea9a4c1_0_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7309" y="4034825"/>
            <a:ext cx="3703800" cy="221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g2f20ea9a4c1_0_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12775" y="349775"/>
            <a:ext cx="5177224" cy="29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g2f20ea9a4c1_0_36"/>
          <p:cNvSpPr/>
          <p:nvPr/>
        </p:nvSpPr>
        <p:spPr>
          <a:xfrm>
            <a:off x="7314000" y="3092075"/>
            <a:ext cx="1461000" cy="120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g2f20ea9a4c1_0_36"/>
          <p:cNvSpPr txBox="1"/>
          <p:nvPr/>
        </p:nvSpPr>
        <p:spPr>
          <a:xfrm>
            <a:off x="3348900" y="6499225"/>
            <a:ext cx="54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Illustrations:</a:t>
            </a:r>
            <a:r>
              <a:rPr lang="en-GB" sz="1000"/>
              <a:t> from Google Images</a:t>
            </a:r>
            <a:endParaRPr sz="1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05b4eb1b9c_0_206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765" name="Google Shape;765;g305b4eb1b9c_0_206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6" name="Google Shape;766;g305b4eb1b9c_0_206"/>
          <p:cNvSpPr/>
          <p:nvPr/>
        </p:nvSpPr>
        <p:spPr>
          <a:xfrm>
            <a:off x="7314000" y="3092075"/>
            <a:ext cx="1461000" cy="120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7" name="Google Shape;767;g305b4eb1b9c_0_2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50" y="4295975"/>
            <a:ext cx="2562150" cy="25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g305b4eb1b9c_0_2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8825" y="3420025"/>
            <a:ext cx="5259450" cy="3395224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g305b4eb1b9c_0_206"/>
          <p:cNvSpPr txBox="1"/>
          <p:nvPr>
            <p:ph type="ctrTitle"/>
          </p:nvPr>
        </p:nvSpPr>
        <p:spPr>
          <a:xfrm>
            <a:off x="411175" y="936050"/>
            <a:ext cx="6555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H-Bridge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“An electronic circuit that allows a voltage to be applied across a load, such as a DC motor, in either direction.”</a:t>
            </a:r>
            <a:br>
              <a:rPr lang="en-GB" sz="2000"/>
            </a:br>
            <a:endParaRPr sz="2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Example: </a:t>
            </a:r>
            <a:r>
              <a:rPr b="0" lang="en-GB" sz="1800"/>
              <a:t>L293x </a:t>
            </a:r>
            <a:r>
              <a:rPr b="0" lang="en-GB" sz="1800"/>
              <a:t>Quadruple Half-H Drivers (Test PCB)</a:t>
            </a:r>
            <a:endParaRPr b="0"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Datasheet: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https://www.ti.com/lit/ds/symlink/l293.pdf</a:t>
            </a:r>
            <a:r>
              <a:rPr lang="en-GB"/>
              <a:t> </a:t>
            </a:r>
            <a:endParaRPr b="0" sz="1800"/>
          </a:p>
        </p:txBody>
      </p:sp>
      <p:pic>
        <p:nvPicPr>
          <p:cNvPr id="770" name="Google Shape;770;g305b4eb1b9c_0_20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213" y="971163"/>
            <a:ext cx="3838575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g305b4eb1b9c_0_20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7150" y="4530039"/>
            <a:ext cx="2406875" cy="224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05b4eb1b9c_131_11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777" name="Google Shape;777;g305b4eb1b9c_131_11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8" name="Google Shape;778;g305b4eb1b9c_131_111"/>
          <p:cNvSpPr txBox="1"/>
          <p:nvPr>
            <p:ph idx="4294967295" type="body"/>
          </p:nvPr>
        </p:nvSpPr>
        <p:spPr>
          <a:xfrm>
            <a:off x="422425" y="1000450"/>
            <a:ext cx="11011200" cy="485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/>
              <a:t>Pulse Width Modulation (PWM)</a:t>
            </a:r>
            <a:endParaRPr b="1" sz="50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f73d1f9d2b_0_0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Pulse Width Modulation (PWM)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 digital technique to control a signal by repeatedly toggling a signal between a HIGH and a LOW state in a consistent pattern”</a:t>
            </a:r>
            <a:br>
              <a:rPr b="0" i="1" lang="en-GB" sz="2000"/>
            </a:b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</p:txBody>
      </p:sp>
      <p:sp>
        <p:nvSpPr>
          <p:cNvPr id="784" name="Google Shape;784;g2f73d1f9d2b_0_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785" name="Google Shape;785;g2f73d1f9d2b_0_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86" name="Google Shape;786;g2f73d1f9d2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418" y="2546373"/>
            <a:ext cx="6451165" cy="38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g2f73d1f9d2b_0_0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https://www.phidgets.com/education/learn/getting-started-kit-tutorial/dutycycle/</a:t>
            </a:r>
            <a:r>
              <a:rPr lang="en-GB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05b4eb1b9c_131_156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Pulse Width Modulation (PWM)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 digital technique to control a signal by repeatedly toggling a signal between a HIGH and a LOW state in a consistent pattern”</a:t>
            </a:r>
            <a:br>
              <a:rPr b="0" i="1" lang="en-GB" sz="2000"/>
            </a:br>
            <a:endParaRPr sz="20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Duty Cycle: </a:t>
            </a:r>
            <a:r>
              <a:rPr b="0" lang="en-GB" sz="1600"/>
              <a:t>The amount of time the signal stays high (on) compared to the time it stays low (off) within a single cycle. </a:t>
            </a:r>
            <a:endParaRPr b="0" sz="16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b="1" lang="en-GB" sz="1600">
                <a:solidFill>
                  <a:schemeClr val="dk1"/>
                </a:solidFill>
              </a:rPr>
              <a:t>0% Duty Cycle:</a:t>
            </a:r>
            <a:r>
              <a:rPr lang="en-GB" sz="1600">
                <a:solidFill>
                  <a:schemeClr val="dk1"/>
                </a:solidFill>
              </a:rPr>
              <a:t> The signal is always off (0% of the time on). The load receives no power.</a:t>
            </a:r>
            <a:endParaRPr sz="16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b="1" lang="en-GB" sz="1600">
                <a:solidFill>
                  <a:schemeClr val="dk1"/>
                </a:solidFill>
              </a:rPr>
              <a:t>50% Duty Cycle:</a:t>
            </a:r>
            <a:r>
              <a:rPr lang="en-GB" sz="1600">
                <a:solidFill>
                  <a:schemeClr val="dk1"/>
                </a:solidFill>
              </a:rPr>
              <a:t> The signal is on for half of the time and off for the other half. The load receives 50% of the maximum possible power.</a:t>
            </a:r>
            <a:endParaRPr sz="16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b="1" lang="en-GB" sz="1600">
                <a:solidFill>
                  <a:schemeClr val="dk1"/>
                </a:solidFill>
              </a:rPr>
              <a:t>100% Duty Cycle:</a:t>
            </a:r>
            <a:r>
              <a:rPr lang="en-GB" sz="1600">
                <a:solidFill>
                  <a:schemeClr val="dk1"/>
                </a:solidFill>
              </a:rPr>
              <a:t> The signal is always on (100% of the time on). The load receives full power.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/>
              <a:t>Frequency: </a:t>
            </a:r>
            <a:r>
              <a:rPr b="0" lang="en-GB" sz="1600"/>
              <a:t>The pulses are generated at a fixed frequency, for example 20 kHz, so they are beyond the human hearing range.</a:t>
            </a:r>
            <a:endParaRPr b="0" sz="1600"/>
          </a:p>
        </p:txBody>
      </p:sp>
      <p:sp>
        <p:nvSpPr>
          <p:cNvPr id="793" name="Google Shape;793;g305b4eb1b9c_131_156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794" name="Google Shape;794;g305b4eb1b9c_131_156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95" name="Google Shape;795;g305b4eb1b9c_131_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0125" y="2257025"/>
            <a:ext cx="4974426" cy="2991762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g305b4eb1b9c_131_156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https://www.phidgets.com/education/learn/getting-started-kit-tutorial/dutycycle/</a:t>
            </a:r>
            <a:r>
              <a:rPr lang="en-GB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f20ea9a4c1_33_39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Pulse Width Modulation (PWM)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 digital technique to control a signal by repeatedly toggling a signal between a HIGH and a LOW state in a consistent pattern”</a:t>
            </a:r>
            <a:br>
              <a:rPr b="0" i="1" lang="en-GB" sz="2000"/>
            </a:b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Applications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GB" sz="2000"/>
              <a:t>LED Dimming:</a:t>
            </a:r>
            <a:r>
              <a:rPr lang="en-GB" sz="2000"/>
              <a:t> By adjusting the duty cycle, you can control the brightness of the LED. A lower duty cycle makes the LED dimmer, while a higher duty cycle makes it brighter.</a:t>
            </a:r>
            <a:br>
              <a:rPr lang="en-GB" sz="2000"/>
            </a:b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GB" sz="2000"/>
              <a:t>DC Motor Speed Control:</a:t>
            </a:r>
            <a:r>
              <a:rPr lang="en-GB" sz="2000"/>
              <a:t> Same principle as the LED; A lower duty cycle makes the motor slower, while a higher duty cycle makes faster. Zero PWM is full stop.</a:t>
            </a:r>
            <a:endParaRPr sz="2000"/>
          </a:p>
        </p:txBody>
      </p:sp>
      <p:sp>
        <p:nvSpPr>
          <p:cNvPr id="802" name="Google Shape;802;g2f20ea9a4c1_33_3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803" name="Google Shape;803;g2f20ea9a4c1_33_3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04" name="Google Shape;804;g2f20ea9a4c1_33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4575" y="2857475"/>
            <a:ext cx="4379976" cy="17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g2f20ea9a4c1_33_39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https://www.phidgets.com/education/learn/getting-started-kit-tutorial/dutycycle/</a:t>
            </a:r>
            <a:r>
              <a:rPr lang="en-GB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f26faab6a1_0_0"/>
          <p:cNvSpPr txBox="1"/>
          <p:nvPr>
            <p:ph type="ctrTitle"/>
          </p:nvPr>
        </p:nvSpPr>
        <p:spPr>
          <a:xfrm>
            <a:off x="411175" y="1016000"/>
            <a:ext cx="6426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On-chip PWM (RP2040)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-GB" sz="1400"/>
              <a:t>The RP2040 has </a:t>
            </a:r>
            <a:r>
              <a:rPr lang="en-GB" sz="1400"/>
              <a:t>8 PWM slices</a:t>
            </a:r>
            <a:r>
              <a:rPr b="0" lang="en-GB" sz="1400"/>
              <a:t>.</a:t>
            </a:r>
            <a:endParaRPr b="0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-GB" sz="1400"/>
              <a:t>Each slice can control </a:t>
            </a:r>
            <a:r>
              <a:rPr lang="en-GB" sz="1400"/>
              <a:t>two independent channels</a:t>
            </a:r>
            <a:r>
              <a:rPr b="0" lang="en-GB" sz="1400"/>
              <a:t>, labeled A and B.</a:t>
            </a:r>
            <a:endParaRPr b="0"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-GB" sz="1400"/>
              <a:t>This allows up to </a:t>
            </a:r>
            <a:r>
              <a:rPr lang="en-GB" sz="1400"/>
              <a:t>16 PWM channels</a:t>
            </a:r>
            <a:r>
              <a:rPr b="0" lang="en-GB" sz="1400"/>
              <a:t> in total, where each channel can be connected to a GPIO pin (subject to pin availability and alternate functions).</a:t>
            </a:r>
            <a:br>
              <a:rPr b="0" lang="en-GB" sz="1400"/>
            </a:br>
            <a:endParaRPr b="0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-GB" sz="1400"/>
              <a:t>The PWM counters are 16-bit, meaning the duty cycle can be set from 0 to 65535 (CC / </a:t>
            </a:r>
            <a:r>
              <a:rPr b="0" lang="en-GB" sz="1400"/>
              <a:t>Counter</a:t>
            </a:r>
            <a:r>
              <a:rPr b="0" lang="en-GB" sz="1400"/>
              <a:t> compare)</a:t>
            </a:r>
            <a:br>
              <a:rPr b="0" lang="en-GB" sz="1400"/>
            </a:br>
            <a:endParaRPr b="0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-GB" sz="1400"/>
              <a:t>Default behaviour of a PWM slice</a:t>
            </a:r>
            <a:endParaRPr b="0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-GB" sz="1400"/>
              <a:t>Count upward until the maximum value</a:t>
            </a:r>
            <a:r>
              <a:rPr lang="en-GB" sz="1400"/>
              <a:t> (TOP / 65535 cycles) </a:t>
            </a:r>
            <a:r>
              <a:rPr b="0" lang="en-GB" sz="1400"/>
              <a:t>is reached</a:t>
            </a:r>
            <a:r>
              <a:rPr lang="en-GB" sz="1400"/>
              <a:t>, </a:t>
            </a:r>
            <a:endParaRPr sz="14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0" lang="en-GB" sz="1400"/>
              <a:t>if CC is </a:t>
            </a:r>
            <a:r>
              <a:rPr lang="en-GB" sz="1400"/>
              <a:t>higher than the counter, set output high, else low </a:t>
            </a:r>
            <a:endParaRPr b="0"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11" name="Google Shape;811;g2f26faab6a1_0_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812" name="Google Shape;812;g2f26faab6a1_0_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13" name="Google Shape;813;g2f26faab6a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175" y="2018635"/>
            <a:ext cx="4766901" cy="844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g2f26faab6a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2924" y="414300"/>
            <a:ext cx="4441275" cy="2909191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g2f26faab6a1_0_0"/>
          <p:cNvSpPr txBox="1"/>
          <p:nvPr/>
        </p:nvSpPr>
        <p:spPr>
          <a:xfrm>
            <a:off x="3022200" y="6499225"/>
            <a:ext cx="614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Source</a:t>
            </a:r>
            <a:r>
              <a:rPr lang="en-GB" sz="1000"/>
              <a:t>: </a:t>
            </a:r>
            <a:r>
              <a:rPr lang="en-GB" sz="1000" u="sng">
                <a:solidFill>
                  <a:schemeClr val="hlink"/>
                </a:solidFill>
                <a:hlinkClick r:id="rId5"/>
              </a:rPr>
              <a:t>https://datasheets.raspberrypi.com/rp2040/rp2040-datasheet.pdf</a:t>
            </a:r>
            <a:r>
              <a:rPr lang="en-GB" sz="1000"/>
              <a:t> </a:t>
            </a:r>
            <a:endParaRPr sz="1000"/>
          </a:p>
        </p:txBody>
      </p:sp>
      <p:pic>
        <p:nvPicPr>
          <p:cNvPr id="816" name="Google Shape;816;g2f26faab6a1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875" y="5262100"/>
            <a:ext cx="6287200" cy="1187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g2f26faab6a1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62925" y="3475901"/>
            <a:ext cx="4441276" cy="2900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05b4eb1b9c_131_172"/>
          <p:cNvSpPr txBox="1"/>
          <p:nvPr>
            <p:ph type="ctrTitle"/>
          </p:nvPr>
        </p:nvSpPr>
        <p:spPr>
          <a:xfrm>
            <a:off x="411175" y="1016000"/>
            <a:ext cx="6426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Key modules, classes and functions</a:t>
            </a:r>
            <a:endParaRPr sz="2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0" lang="en-GB" sz="1200" u="sng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PWM</a:t>
            </a:r>
            <a:r>
              <a:rPr lang="en-GB" sz="1200"/>
              <a:t> class: </a:t>
            </a:r>
            <a:r>
              <a:rPr b="0" lang="en-GB" sz="1200"/>
              <a:t>A PWM object provides pulse width modulation output.</a:t>
            </a:r>
            <a:endParaRPr b="0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Constructor</a:t>
            </a:r>
            <a:endParaRPr sz="1200"/>
          </a:p>
          <a:p>
            <a:pPr indent="-3048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>
                <a:solidFill>
                  <a:srgbClr val="0000FF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2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machine.PWM(dest, *, freq, duty_u16, duty_ns, invert)</a:t>
            </a:r>
            <a:endParaRPr sz="1200">
              <a:solidFill>
                <a:srgbClr val="0000FF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Methods</a:t>
            </a:r>
            <a:r>
              <a:rPr b="0" lang="en-GB" sz="1200"/>
              <a:t>:</a:t>
            </a:r>
            <a:endParaRPr b="0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init()</a:t>
            </a:r>
            <a:r>
              <a:rPr lang="en-GB" sz="1200">
                <a:solidFill>
                  <a:schemeClr val="dk1"/>
                </a:solidFill>
              </a:rPr>
              <a:t>: Initialize a PWM signal on a specific pin.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-GB" sz="12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PWM.init(*, freq, duty_u16, duty_ns)</a:t>
            </a:r>
            <a:endParaRPr sz="120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2" marL="1371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-GB" sz="1200">
                <a:solidFill>
                  <a:schemeClr val="dk1"/>
                </a:solidFill>
                <a:highlight>
                  <a:srgbClr val="F7F7F7"/>
                </a:highlight>
              </a:rPr>
              <a:t>(You first need to initialize a Pin object, and then pass it to the PWM constructor)</a:t>
            </a:r>
            <a:br>
              <a:rPr lang="en-GB" sz="1200">
                <a:solidFill>
                  <a:schemeClr val="dk1"/>
                </a:solidFill>
                <a:highlight>
                  <a:srgbClr val="F7F7F7"/>
                </a:highlight>
              </a:rPr>
            </a:br>
            <a:endParaRPr sz="1200">
              <a:solidFill>
                <a:schemeClr val="dk1"/>
              </a:solidFill>
              <a:highlight>
                <a:srgbClr val="F7F7F7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freq()</a:t>
            </a:r>
            <a:r>
              <a:rPr lang="en-GB" sz="1200">
                <a:solidFill>
                  <a:schemeClr val="dk1"/>
                </a:solidFill>
              </a:rPr>
              <a:t>: Set the frequency of the PWM signal.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duty_u16()</a:t>
            </a:r>
            <a:r>
              <a:rPr lang="en-GB" sz="1200">
                <a:solidFill>
                  <a:schemeClr val="dk1"/>
                </a:solidFill>
              </a:rPr>
              <a:t>: Set the proportion of time the signal stays high within each period.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-GB" sz="1200">
                <a:solidFill>
                  <a:schemeClr val="dk1"/>
                </a:solidFill>
              </a:rPr>
              <a:t>Accepts a 16-bit integer (0 to 65535): </a:t>
            </a:r>
            <a:endParaRPr sz="1200">
              <a:solidFill>
                <a:schemeClr val="dk1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0 represents a 0% duty cycle</a:t>
            </a:r>
            <a:endParaRPr sz="1200">
              <a:solidFill>
                <a:schemeClr val="dk1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65535 represents a 100% duty cycle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duty_ns()</a:t>
            </a:r>
            <a:r>
              <a:rPr lang="en-GB" sz="1200">
                <a:solidFill>
                  <a:schemeClr val="dk1"/>
                </a:solidFill>
              </a:rPr>
              <a:t>: Set the current pulse width of the PWM output, as a value in nanoseconds.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deinit()</a:t>
            </a:r>
            <a:r>
              <a:rPr lang="en-GB" sz="1200">
                <a:solidFill>
                  <a:schemeClr val="dk1"/>
                </a:solidFill>
              </a:rPr>
              <a:t>: De-initializes the PWM object. Disable the PWM output and free up resources.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23" name="Google Shape;823;g305b4eb1b9c_131_172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824" name="Google Shape;824;g305b4eb1b9c_131_172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825" name="Google Shape;825;g305b4eb1b9c_131_172"/>
          <p:cNvGraphicFramePr/>
          <p:nvPr/>
        </p:nvGraphicFramePr>
        <p:xfrm>
          <a:off x="6866813" y="339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5192450"/>
              </a:tblGrid>
              <a:tr h="22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Import </a:t>
                      </a:r>
                      <a:r>
                        <a:rPr lang="en-GB" sz="1200" u="sng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PWM</a:t>
                      </a: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module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151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machine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Pin, PWM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time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led = PWM(Pin(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"GP15"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))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Initialize the PWM signal on pin 15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led.freq(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Gradually increase brightness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duty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range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65536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256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led.duty_u16(duty)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time.sleep(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0.01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led.duty_u16(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Turn it of once done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AF00DB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26" name="Google Shape;826;g305b4eb1b9c_131_172"/>
          <p:cNvGraphicFramePr/>
          <p:nvPr/>
        </p:nvGraphicFramePr>
        <p:xfrm>
          <a:off x="7285150" y="15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4355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</a:rPr>
                        <a:t>Classes (</a:t>
                      </a:r>
                      <a:r>
                        <a:rPr lang="en-GB" sz="1600" u="sng">
                          <a:solidFill>
                            <a:srgbClr val="1155C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PWM</a:t>
                      </a:r>
                      <a:r>
                        <a:rPr lang="en-GB" sz="1600">
                          <a:solidFill>
                            <a:srgbClr val="FFFFFF"/>
                          </a:solidFill>
                        </a:rPr>
                        <a:t> module)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Pin 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– control I/O pins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Signal 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– control and sense external I/O devices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ADC 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– analog to digital conversion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ADCBlock 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– control ADC peripherals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55CC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1155C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PWM – </a:t>
                      </a:r>
                      <a:r>
                        <a:rPr lang="en-GB" sz="1100" u="sng">
                          <a:solidFill>
                            <a:srgbClr val="1155CC"/>
                          </a:solidFill>
                          <a:hlinkClick r:id="rId1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pulse width modulation</a:t>
                      </a:r>
                      <a:endParaRPr sz="1100" u="sng">
                        <a:solidFill>
                          <a:srgbClr val="1155CC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1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UART – 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1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duplex serial communication bus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1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SPI –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1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a Serial Peripheral Interface bus protocol (controller side)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2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I2C –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2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a two-wire serial protocol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2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I2S –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2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Inter-IC Sound bus protocol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solidFill>
                          <a:srgbClr val="C9DAF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Constants: None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05b4eb1b9c_131_180"/>
          <p:cNvSpPr txBox="1"/>
          <p:nvPr>
            <p:ph type="ctrTitle"/>
          </p:nvPr>
        </p:nvSpPr>
        <p:spPr>
          <a:xfrm>
            <a:off x="411175" y="1016000"/>
            <a:ext cx="6426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Key modules, classes and functions</a:t>
            </a:r>
            <a:endParaRPr sz="2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●"/>
            </a:pPr>
            <a:r>
              <a:rPr b="0" lang="en-GB" sz="1200" u="sng">
                <a:solidFill>
                  <a:srgbClr val="9E9E9E"/>
                </a:solid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PWM</a:t>
            </a:r>
            <a:r>
              <a:rPr lang="en-GB" sz="1200">
                <a:solidFill>
                  <a:srgbClr val="9E9E9E"/>
                </a:solidFill>
              </a:rPr>
              <a:t> class: </a:t>
            </a:r>
            <a:r>
              <a:rPr b="0" lang="en-GB" sz="1200">
                <a:solidFill>
                  <a:srgbClr val="9E9E9E"/>
                </a:solidFill>
              </a:rPr>
              <a:t>A PWM object provides pulse width modulation output.</a:t>
            </a:r>
            <a:endParaRPr b="0" sz="1200"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9E9E9E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●"/>
            </a:pPr>
            <a:r>
              <a:rPr lang="en-GB" sz="1200">
                <a:solidFill>
                  <a:srgbClr val="9E9E9E"/>
                </a:solidFill>
              </a:rPr>
              <a:t>Constructor</a:t>
            </a:r>
            <a:endParaRPr sz="1200">
              <a:solidFill>
                <a:srgbClr val="9E9E9E"/>
              </a:solidFill>
            </a:endParaRPr>
          </a:p>
          <a:p>
            <a:pPr indent="-3048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○"/>
            </a:pPr>
            <a:r>
              <a:rPr lang="en-GB" sz="1200">
                <a:solidFill>
                  <a:srgbClr val="9E9E9E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class machine.PWM(dest, *, freq, duty_u16, duty_ns, invert)</a:t>
            </a:r>
            <a:endParaRPr sz="1200">
              <a:solidFill>
                <a:srgbClr val="9E9E9E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●"/>
            </a:pPr>
            <a:r>
              <a:rPr lang="en-GB" sz="1200">
                <a:solidFill>
                  <a:srgbClr val="9E9E9E"/>
                </a:solidFill>
              </a:rPr>
              <a:t>Methods</a:t>
            </a:r>
            <a:r>
              <a:rPr b="0" lang="en-GB" sz="1200">
                <a:solidFill>
                  <a:srgbClr val="9E9E9E"/>
                </a:solidFill>
              </a:rPr>
              <a:t>:</a:t>
            </a:r>
            <a:endParaRPr b="0" sz="1200">
              <a:solidFill>
                <a:srgbClr val="9E9E9E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○"/>
            </a:pPr>
            <a:r>
              <a:rPr lang="en-GB" sz="1200">
                <a:solidFill>
                  <a:srgbClr val="9E9E9E"/>
                </a:solidFill>
                <a:latin typeface="Roboto Mono"/>
                <a:ea typeface="Roboto Mono"/>
                <a:cs typeface="Roboto Mono"/>
                <a:sym typeface="Roboto Mono"/>
              </a:rPr>
              <a:t>init()</a:t>
            </a:r>
            <a:r>
              <a:rPr lang="en-GB" sz="1200">
                <a:solidFill>
                  <a:srgbClr val="9E9E9E"/>
                </a:solidFill>
              </a:rPr>
              <a:t>: Initialize a PWM signal on a specific pin.</a:t>
            </a:r>
            <a:endParaRPr sz="1200">
              <a:solidFill>
                <a:srgbClr val="9E9E9E"/>
              </a:solidFill>
            </a:endParaRPr>
          </a:p>
          <a:p>
            <a:pPr indent="-304800" lvl="2" marL="1371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■"/>
            </a:pPr>
            <a:r>
              <a:rPr lang="en-GB" sz="1200">
                <a:solidFill>
                  <a:srgbClr val="9E9E9E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PWM.init(*, freq, duty_u16, duty_ns)</a:t>
            </a:r>
            <a:endParaRPr sz="1200">
              <a:solidFill>
                <a:srgbClr val="9E9E9E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2" marL="1371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■"/>
            </a:pPr>
            <a:r>
              <a:rPr lang="en-GB" sz="1200">
                <a:solidFill>
                  <a:srgbClr val="9E9E9E"/>
                </a:solidFill>
                <a:highlight>
                  <a:srgbClr val="F7F7F7"/>
                </a:highlight>
              </a:rPr>
              <a:t>(You first need to initialize a Pin object, and then pass it to the PWM constructor)</a:t>
            </a:r>
            <a:br>
              <a:rPr lang="en-GB" sz="1200">
                <a:solidFill>
                  <a:srgbClr val="9E9E9E"/>
                </a:solidFill>
                <a:highlight>
                  <a:srgbClr val="F7F7F7"/>
                </a:highlight>
              </a:rPr>
            </a:br>
            <a:endParaRPr sz="1200">
              <a:solidFill>
                <a:srgbClr val="9E9E9E"/>
              </a:solidFill>
              <a:highlight>
                <a:srgbClr val="F7F7F7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○"/>
            </a:pPr>
            <a:r>
              <a:rPr lang="en-GB" sz="1200">
                <a:solidFill>
                  <a:srgbClr val="9E9E9E"/>
                </a:solidFill>
                <a:latin typeface="Roboto Mono"/>
                <a:ea typeface="Roboto Mono"/>
                <a:cs typeface="Roboto Mono"/>
                <a:sym typeface="Roboto Mono"/>
              </a:rPr>
              <a:t>freq()</a:t>
            </a:r>
            <a:r>
              <a:rPr lang="en-GB" sz="1200">
                <a:solidFill>
                  <a:srgbClr val="9E9E9E"/>
                </a:solidFill>
              </a:rPr>
              <a:t>: Set the frequency of the PWM signal.</a:t>
            </a:r>
            <a:br>
              <a:rPr lang="en-GB" sz="1200">
                <a:solidFill>
                  <a:srgbClr val="9E9E9E"/>
                </a:solidFill>
              </a:rPr>
            </a:br>
            <a:endParaRPr sz="1200">
              <a:solidFill>
                <a:srgbClr val="9E9E9E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○"/>
            </a:pPr>
            <a:r>
              <a:rPr lang="en-GB" sz="1200">
                <a:solidFill>
                  <a:srgbClr val="9E9E9E"/>
                </a:solidFill>
                <a:latin typeface="Roboto Mono"/>
                <a:ea typeface="Roboto Mono"/>
                <a:cs typeface="Roboto Mono"/>
                <a:sym typeface="Roboto Mono"/>
              </a:rPr>
              <a:t>duty_u16()</a:t>
            </a:r>
            <a:r>
              <a:rPr lang="en-GB" sz="1200">
                <a:solidFill>
                  <a:srgbClr val="9E9E9E"/>
                </a:solidFill>
              </a:rPr>
              <a:t>: Set the proportion of time the signal stays high within each period.</a:t>
            </a:r>
            <a:endParaRPr sz="1200">
              <a:solidFill>
                <a:srgbClr val="9E9E9E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■"/>
            </a:pPr>
            <a:r>
              <a:rPr lang="en-GB" sz="1200">
                <a:solidFill>
                  <a:srgbClr val="9E9E9E"/>
                </a:solidFill>
              </a:rPr>
              <a:t>Accepts a 16-bit integer (0 to 65535): </a:t>
            </a:r>
            <a:endParaRPr sz="1200">
              <a:solidFill>
                <a:srgbClr val="9E9E9E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●"/>
            </a:pPr>
            <a:r>
              <a:rPr lang="en-GB" sz="1200">
                <a:solidFill>
                  <a:srgbClr val="9E9E9E"/>
                </a:solidFill>
              </a:rPr>
              <a:t>0 represents a 0% duty cycle</a:t>
            </a:r>
            <a:endParaRPr sz="1200">
              <a:solidFill>
                <a:srgbClr val="9E9E9E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●"/>
            </a:pPr>
            <a:r>
              <a:rPr lang="en-GB" sz="1200">
                <a:solidFill>
                  <a:srgbClr val="9E9E9E"/>
                </a:solidFill>
              </a:rPr>
              <a:t>65535 represents a 100% duty cycle</a:t>
            </a:r>
            <a:br>
              <a:rPr lang="en-GB" sz="1200">
                <a:solidFill>
                  <a:srgbClr val="9E9E9E"/>
                </a:solidFill>
              </a:rPr>
            </a:br>
            <a:endParaRPr sz="1200">
              <a:solidFill>
                <a:srgbClr val="9E9E9E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○"/>
            </a:pPr>
            <a:r>
              <a:rPr lang="en-GB" sz="1200">
                <a:solidFill>
                  <a:srgbClr val="9E9E9E"/>
                </a:solidFill>
                <a:latin typeface="Roboto Mono"/>
                <a:ea typeface="Roboto Mono"/>
                <a:cs typeface="Roboto Mono"/>
                <a:sym typeface="Roboto Mono"/>
              </a:rPr>
              <a:t>duty_ns()</a:t>
            </a:r>
            <a:r>
              <a:rPr lang="en-GB" sz="1200">
                <a:solidFill>
                  <a:srgbClr val="9E9E9E"/>
                </a:solidFill>
              </a:rPr>
              <a:t>: Set the current pulse width of the PWM output, as a value in nanoseconds.</a:t>
            </a:r>
            <a:br>
              <a:rPr lang="en-GB" sz="1200">
                <a:solidFill>
                  <a:srgbClr val="9E9E9E"/>
                </a:solidFill>
              </a:rPr>
            </a:br>
            <a:endParaRPr sz="1200">
              <a:solidFill>
                <a:srgbClr val="9E9E9E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Char char="○"/>
            </a:pPr>
            <a:r>
              <a:rPr lang="en-GB" sz="1200">
                <a:solidFill>
                  <a:srgbClr val="9E9E9E"/>
                </a:solidFill>
                <a:latin typeface="Roboto Mono"/>
                <a:ea typeface="Roboto Mono"/>
                <a:cs typeface="Roboto Mono"/>
                <a:sym typeface="Roboto Mono"/>
              </a:rPr>
              <a:t>deinit()</a:t>
            </a:r>
            <a:r>
              <a:rPr lang="en-GB" sz="1200">
                <a:solidFill>
                  <a:srgbClr val="9E9E9E"/>
                </a:solidFill>
              </a:rPr>
              <a:t>: De-initializes the PWM object. Disable the PWM output and free up resources.</a:t>
            </a:r>
            <a:endParaRPr sz="1200"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Demo using an LED and EMG49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32" name="Google Shape;832;g305b4eb1b9c_131_18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833" name="Google Shape;833;g305b4eb1b9c_131_18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834" name="Google Shape;834;g305b4eb1b9c_131_180"/>
          <p:cNvGraphicFramePr/>
          <p:nvPr/>
        </p:nvGraphicFramePr>
        <p:xfrm>
          <a:off x="6866813" y="339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5192450"/>
              </a:tblGrid>
              <a:tr h="22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Import </a:t>
                      </a:r>
                      <a:r>
                        <a:rPr lang="en-GB" sz="1200" u="sng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PWM</a:t>
                      </a: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module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151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machine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Pin, PWM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time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led = PWM(Pin(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"GP15"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))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Initialize the PWM signal on pin 15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led.freq(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Gradually increase brightness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duty </a:t>
                      </a:r>
                      <a:r>
                        <a:rPr lang="en-GB" sz="105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105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range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65536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256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led.duty_u16(duty)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time.sleep(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0.01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led.duty_u16(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 </a:t>
                      </a: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Turn it of once done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AF00DB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35" name="Google Shape;835;g305b4eb1b9c_131_180"/>
          <p:cNvGraphicFramePr/>
          <p:nvPr/>
        </p:nvGraphicFramePr>
        <p:xfrm>
          <a:off x="7285150" y="15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4355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</a:rPr>
                        <a:t>Classes (</a:t>
                      </a:r>
                      <a:r>
                        <a:rPr lang="en-GB" sz="1600" u="sng">
                          <a:solidFill>
                            <a:srgbClr val="1155C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PWM</a:t>
                      </a:r>
                      <a:r>
                        <a:rPr lang="en-GB" sz="1600">
                          <a:solidFill>
                            <a:srgbClr val="FFFFFF"/>
                          </a:solidFill>
                        </a:rPr>
                        <a:t> module)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Pin 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– control I/O pins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Signal 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– control and sense external I/O devices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ADC 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– analog to digital conversion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ADCBlock 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– control ADC peripherals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55CC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1155C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PWM – </a:t>
                      </a:r>
                      <a:r>
                        <a:rPr lang="en-GB" sz="1100" u="sng">
                          <a:solidFill>
                            <a:srgbClr val="1155CC"/>
                          </a:solidFill>
                          <a:hlinkClick r:id="rId1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pulse width modulation</a:t>
                      </a:r>
                      <a:endParaRPr sz="1100" u="sng">
                        <a:solidFill>
                          <a:srgbClr val="1155CC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1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UART – 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1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duplex serial communication bus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1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SPI –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1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a Serial Peripheral Interface bus protocol (controller side)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2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I2C –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2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a two-wire serial protocol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 u="sng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2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class I2S –</a:t>
                      </a:r>
                      <a:r>
                        <a:rPr lang="en-GB" sz="1100" u="sng">
                          <a:solidFill>
                            <a:srgbClr val="C9DAF8"/>
                          </a:solidFill>
                          <a:hlinkClick r:id="rId2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Inter-IC Sound bus protocol</a:t>
                      </a:r>
                      <a:endParaRPr sz="1100" u="sng">
                        <a:solidFill>
                          <a:srgbClr val="C9DAF8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DAF8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rgbClr val="C9DAF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…</a:t>
                      </a:r>
                      <a:endParaRPr>
                        <a:solidFill>
                          <a:srgbClr val="C9DAF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Constants: None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f20ea9a4c1_33_68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841" name="Google Shape;841;g2f20ea9a4c1_33_68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42" name="Google Shape;842;g2f20ea9a4c1_33_68"/>
          <p:cNvSpPr txBox="1"/>
          <p:nvPr>
            <p:ph idx="4294967295" type="body"/>
          </p:nvPr>
        </p:nvSpPr>
        <p:spPr>
          <a:xfrm>
            <a:off x="422425" y="1000450"/>
            <a:ext cx="11011200" cy="485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/>
              <a:t>Servo Motors</a:t>
            </a:r>
            <a:endParaRPr b="1" sz="50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0617fb5373_0_3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848" name="Google Shape;848;g30617fb5373_0_35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Servo motor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 specialized type of motor that is designed for precise control of angular or linear position, velocity, and acceleration”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1" lang="en-GB" sz="2000"/>
            </a:br>
            <a:r>
              <a:rPr b="0" i="1" lang="en-GB" sz="1700"/>
              <a:t>(Typically: cannot perform a continuous rotation like a normal DC motor)</a:t>
            </a:r>
            <a:endParaRPr b="0" i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7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Range: </a:t>
            </a:r>
            <a:r>
              <a:rPr b="0" lang="en-GB" sz="1600"/>
              <a:t>±90° from its middle position (depending on the model)</a:t>
            </a:r>
            <a:br>
              <a:rPr b="0" lang="en-GB" sz="1600"/>
            </a:br>
            <a:endParaRPr b="0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700"/>
          </a:p>
        </p:txBody>
      </p:sp>
      <p:sp>
        <p:nvSpPr>
          <p:cNvPr id="849" name="Google Shape;849;g30617fb5373_0_35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0" name="Google Shape;850;g30617fb5373_0_35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https://www.phidgets.com/education/learn/getting-started-kit-tutorial/dutycycle/</a:t>
            </a:r>
            <a:r>
              <a:rPr lang="en-GB" sz="1000"/>
              <a:t> </a:t>
            </a:r>
            <a:endParaRPr sz="1000"/>
          </a:p>
        </p:txBody>
      </p:sp>
      <p:pic>
        <p:nvPicPr>
          <p:cNvPr id="851" name="Google Shape;851;g30617fb5373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2213" y="774725"/>
            <a:ext cx="3048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0617fb5373_0_44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857" name="Google Shape;857;g30617fb5373_0_44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Servo motor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 specialized type of motor that is designed for precise control of angular or linear position, velocity, and acceleration”</a:t>
            </a:r>
            <a:endParaRPr b="0"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1" lang="en-GB" sz="2000"/>
            </a:br>
            <a:r>
              <a:rPr b="0" i="1" lang="en-GB" sz="1700"/>
              <a:t>(Typically: cannot perform a continuous rotation like a normal DC motor)</a:t>
            </a:r>
            <a:br>
              <a:rPr b="0" i="1" lang="en-GB" sz="1700"/>
            </a:br>
            <a:endParaRPr b="0" sz="17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Range: </a:t>
            </a:r>
            <a:r>
              <a:rPr b="0" lang="en-GB" sz="1600"/>
              <a:t>±90° from its middle position (depending on the model)</a:t>
            </a:r>
            <a:br>
              <a:rPr b="0" lang="en-GB" sz="1600"/>
            </a:br>
            <a:endParaRPr b="0"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Basic Components of a Servo Motor</a:t>
            </a:r>
            <a:endParaRPr sz="16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Motor</a:t>
            </a:r>
            <a:r>
              <a:rPr lang="en-GB" sz="1400"/>
              <a:t>: typically a DC motor</a:t>
            </a:r>
            <a:br>
              <a:rPr lang="en-GB" sz="1400"/>
            </a:b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Control Circuit:</a:t>
            </a:r>
            <a:r>
              <a:rPr lang="en-GB" sz="1400"/>
              <a:t> interprets input signals (usually PWM) and adjusts the motor's operation to reach the target position.</a:t>
            </a:r>
            <a:br>
              <a:rPr lang="en-GB" sz="1400"/>
            </a:b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Position Sensor (feedback):</a:t>
            </a:r>
            <a:r>
              <a:rPr lang="en-GB" sz="1400"/>
              <a:t> a potentiometer or encoder, is used to measure the current position of the motor shaft.</a:t>
            </a:r>
            <a:br>
              <a:rPr lang="en-GB" sz="1400"/>
            </a:b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(optional) Gearbox:</a:t>
            </a:r>
            <a:r>
              <a:rPr lang="en-GB" sz="1400"/>
              <a:t> to reduce the motor’s speed and increase torque.</a:t>
            </a:r>
            <a:endParaRPr sz="1400"/>
          </a:p>
        </p:txBody>
      </p:sp>
      <p:sp>
        <p:nvSpPr>
          <p:cNvPr id="858" name="Google Shape;858;g30617fb5373_0_44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9" name="Google Shape;859;g30617fb5373_0_44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https://www.phidgets.com/education/learn/getting-started-kit-tutorial/dutycycle/</a:t>
            </a:r>
            <a:r>
              <a:rPr lang="en-GB" sz="1000"/>
              <a:t> </a:t>
            </a:r>
            <a:endParaRPr sz="1000"/>
          </a:p>
        </p:txBody>
      </p:sp>
      <p:pic>
        <p:nvPicPr>
          <p:cNvPr id="860" name="Google Shape;860;g30617fb5373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9875" y="3324800"/>
            <a:ext cx="4712675" cy="2837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g30617fb5373_0_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2213" y="774725"/>
            <a:ext cx="3048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f20ea9a4c1_33_104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867" name="Google Shape;867;g2f20ea9a4c1_33_104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Servo motor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 specialized type of motor that is designed for precise control of angular or linear position, velocity, and acceleration”</a:t>
            </a:r>
            <a:br>
              <a:rPr b="0" i="1" lang="en-GB" sz="2000"/>
            </a:b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Control of a Servo Motor </a:t>
            </a:r>
            <a:r>
              <a:rPr b="0" lang="en-GB" sz="2000"/>
              <a:t>(using PWM)</a:t>
            </a:r>
            <a:endParaRPr b="0"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GB" sz="2000"/>
              <a:t>Typically three wires: </a:t>
            </a:r>
            <a:endParaRPr b="1"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GB" sz="2000"/>
              <a:t>Vcc (power input), 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GB" sz="2000"/>
              <a:t>Gnd (ground), and 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GB" sz="2000"/>
              <a:t>Control signal (PWM)</a:t>
            </a:r>
            <a:endParaRPr sz="2000"/>
          </a:p>
          <a:p>
            <a:pPr indent="-355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…but not any PWM signal… </a:t>
            </a:r>
            <a:br>
              <a:rPr lang="en-GB" sz="2000"/>
            </a:br>
            <a:endParaRPr sz="2000"/>
          </a:p>
        </p:txBody>
      </p:sp>
      <p:sp>
        <p:nvSpPr>
          <p:cNvPr id="868" name="Google Shape;868;g2f20ea9a4c1_33_104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9" name="Google Shape;869;g2f20ea9a4c1_33_104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https://circuitdigest.com/microcontroller-projects/interface-servo-motor-with-arduino</a:t>
            </a:r>
            <a:r>
              <a:rPr lang="en-GB" sz="1000"/>
              <a:t> </a:t>
            </a:r>
            <a:endParaRPr sz="1000"/>
          </a:p>
        </p:txBody>
      </p:sp>
      <p:pic>
        <p:nvPicPr>
          <p:cNvPr id="870" name="Google Shape;870;g2f20ea9a4c1_33_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8100" y="1770862"/>
            <a:ext cx="4974426" cy="3316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0617fb5373_0_53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876" name="Google Shape;876;g30617fb5373_0_53"/>
          <p:cNvSpPr txBox="1"/>
          <p:nvPr>
            <p:ph type="ctrTitle"/>
          </p:nvPr>
        </p:nvSpPr>
        <p:spPr>
          <a:xfrm>
            <a:off x="411175" y="936050"/>
            <a:ext cx="6501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Servo motor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 specialized type of motor that is designed for precise control of angular or linear position, velocity, and acceleration”</a:t>
            </a:r>
            <a:br>
              <a:rPr b="0" i="1" lang="en-GB" sz="2000"/>
            </a:b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GB" sz="2000"/>
              <a:t>Control signal</a:t>
            </a:r>
            <a:endParaRPr b="1"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-GB" sz="2000"/>
              <a:t>Frequency</a:t>
            </a:r>
            <a:r>
              <a:rPr b="1" lang="en-GB" sz="2000"/>
              <a:t>: </a:t>
            </a:r>
            <a:r>
              <a:rPr lang="en-GB" sz="2000"/>
              <a:t>The PWM signal used for servos always has a </a:t>
            </a:r>
            <a:r>
              <a:rPr b="1" lang="en-GB" sz="2000" u="sng"/>
              <a:t>frequency of 50 Hz</a:t>
            </a:r>
            <a:r>
              <a:rPr b="1" lang="en-GB" sz="2000"/>
              <a:t> </a:t>
            </a:r>
            <a:r>
              <a:rPr lang="en-GB" sz="2000"/>
              <a:t>(pulses are generated </a:t>
            </a:r>
            <a:r>
              <a:rPr lang="en-GB" sz="2000" u="sng"/>
              <a:t>every 20 ms</a:t>
            </a:r>
            <a:r>
              <a:rPr lang="en-GB" sz="2000"/>
              <a:t>).</a:t>
            </a:r>
            <a:br>
              <a:rPr lang="en-GB" sz="2000"/>
            </a:b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-GB" sz="2000"/>
              <a:t>Pulse Width: </a:t>
            </a:r>
            <a:r>
              <a:rPr lang="en-GB" sz="2000"/>
              <a:t>The </a:t>
            </a:r>
            <a:r>
              <a:rPr lang="en-GB" sz="2000" u="sng"/>
              <a:t>width of the pulse</a:t>
            </a:r>
            <a:r>
              <a:rPr lang="en-GB" sz="2000"/>
              <a:t> within each PWM cycle determines the target position of the servo.</a:t>
            </a:r>
            <a:endParaRPr sz="2000"/>
          </a:p>
        </p:txBody>
      </p:sp>
      <p:sp>
        <p:nvSpPr>
          <p:cNvPr id="877" name="Google Shape;877;g30617fb5373_0_53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8" name="Google Shape;878;g30617fb5373_0_53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https://circuitdigest.com/microcontroller-projects/interface-servo-motor-with-arduino</a:t>
            </a:r>
            <a:r>
              <a:rPr lang="en-GB" sz="1000"/>
              <a:t> </a:t>
            </a:r>
            <a:endParaRPr sz="1000"/>
          </a:p>
        </p:txBody>
      </p:sp>
      <p:pic>
        <p:nvPicPr>
          <p:cNvPr id="879" name="Google Shape;879;g30617fb5373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8100" y="1770862"/>
            <a:ext cx="4974426" cy="3316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f20ea9a4c1_33_8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885" name="Google Shape;885;g2f20ea9a4c1_33_85"/>
          <p:cNvSpPr txBox="1"/>
          <p:nvPr>
            <p:ph type="ctrTitle"/>
          </p:nvPr>
        </p:nvSpPr>
        <p:spPr>
          <a:xfrm>
            <a:off x="411175" y="936050"/>
            <a:ext cx="73311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Servo motor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“A specialized type of motor that is designed for precise control of angular or linear position, velocity, and acceleration”</a:t>
            </a:r>
            <a:br>
              <a:rPr b="0" i="1" lang="en-GB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Pulse Width:</a:t>
            </a:r>
            <a:r>
              <a:rPr b="0" lang="en-GB" sz="2000"/>
              <a:t> Typically, the pulse width ranges from </a:t>
            </a:r>
            <a:r>
              <a:rPr b="0" lang="en-GB" sz="2000" u="sng"/>
              <a:t>1 ms</a:t>
            </a:r>
            <a:r>
              <a:rPr b="0" lang="en-GB" sz="2000"/>
              <a:t> to </a:t>
            </a:r>
            <a:r>
              <a:rPr b="0" lang="en-GB" sz="2000" u="sng"/>
              <a:t>2 ms</a:t>
            </a:r>
            <a:r>
              <a:rPr b="0" lang="en-GB" sz="2000"/>
              <a:t> within a </a:t>
            </a:r>
            <a:r>
              <a:rPr lang="en-GB" sz="2000" u="sng"/>
              <a:t>20 ms</a:t>
            </a:r>
            <a:r>
              <a:rPr b="0" lang="en-GB" sz="2000"/>
              <a:t> cycle.</a:t>
            </a:r>
            <a:endParaRPr b="0"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1 ms pulse:</a:t>
            </a:r>
            <a:r>
              <a:rPr b="0" lang="en-GB" sz="2000"/>
              <a:t> Positions the motor shaft at one extreme (e.g., 0 degrees).</a:t>
            </a:r>
            <a:br>
              <a:rPr b="0" lang="en-GB" sz="2000"/>
            </a:br>
            <a:endParaRPr b="0"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1.5 ms pulse:</a:t>
            </a:r>
            <a:r>
              <a:rPr b="0" lang="en-GB" sz="2000"/>
              <a:t> Positions the motor shaft at the midpoint (e.g., 90 degrees).</a:t>
            </a:r>
            <a:br>
              <a:rPr b="0" lang="en-GB" sz="2000"/>
            </a:br>
            <a:endParaRPr b="0"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2 ms pulse:</a:t>
            </a:r>
            <a:r>
              <a:rPr b="0" lang="en-GB" sz="2000"/>
              <a:t> Positions the motor shaft at the other extreme (e.g., 180 degrees).</a:t>
            </a:r>
            <a:endParaRPr sz="2900"/>
          </a:p>
        </p:txBody>
      </p:sp>
      <p:sp>
        <p:nvSpPr>
          <p:cNvPr id="886" name="Google Shape;886;g2f20ea9a4c1_33_85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87" name="Google Shape;887;g2f20ea9a4c1_33_85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https://kroboblogs.wordpress.com/2016/11/17/servo-motor/</a:t>
            </a:r>
            <a:r>
              <a:rPr lang="en-GB" sz="1000"/>
              <a:t> </a:t>
            </a:r>
            <a:endParaRPr sz="1000"/>
          </a:p>
        </p:txBody>
      </p:sp>
      <p:pic>
        <p:nvPicPr>
          <p:cNvPr id="888" name="Google Shape;888;g2f20ea9a4c1_33_85"/>
          <p:cNvPicPr preferRelativeResize="0"/>
          <p:nvPr/>
        </p:nvPicPr>
        <p:blipFill rotWithShape="1">
          <a:blip r:embed="rId4">
            <a:alphaModFix/>
          </a:blip>
          <a:srcRect b="2352" l="3073" r="4058" t="4294"/>
          <a:stretch/>
        </p:blipFill>
        <p:spPr>
          <a:xfrm>
            <a:off x="8592047" y="1743889"/>
            <a:ext cx="3188804" cy="40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f23f207386_0_192"/>
          <p:cNvSpPr txBox="1"/>
          <p:nvPr>
            <p:ph type="ctrTitle"/>
          </p:nvPr>
        </p:nvSpPr>
        <p:spPr>
          <a:xfrm>
            <a:off x="411175" y="1016000"/>
            <a:ext cx="6426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Key modules, classes and functions</a:t>
            </a:r>
            <a:endParaRPr sz="2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0" lang="en-GB" sz="1200" u="sng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PWM</a:t>
            </a:r>
            <a:r>
              <a:rPr lang="en-GB" sz="1200"/>
              <a:t> class: </a:t>
            </a:r>
            <a:r>
              <a:rPr b="0" lang="en-GB" sz="1200"/>
              <a:t>A PWM object provides pulse width modulation output.</a:t>
            </a:r>
            <a:endParaRPr b="0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Constructor</a:t>
            </a:r>
            <a:endParaRPr sz="1200"/>
          </a:p>
          <a:p>
            <a:pPr indent="-3048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>
                <a:solidFill>
                  <a:srgbClr val="0000FF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2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machine.PWM(dest, *, freq, duty_u16, duty_ns, invert)</a:t>
            </a:r>
            <a:endParaRPr sz="1200">
              <a:solidFill>
                <a:srgbClr val="0000FF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Methods</a:t>
            </a:r>
            <a:r>
              <a:rPr b="0" lang="en-GB" sz="1200"/>
              <a:t>:</a:t>
            </a:r>
            <a:endParaRPr b="0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init()</a:t>
            </a:r>
            <a:r>
              <a:rPr lang="en-GB" sz="1200">
                <a:solidFill>
                  <a:schemeClr val="dk1"/>
                </a:solidFill>
              </a:rPr>
              <a:t>: Initialize a PWM signal on a specific pin.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-GB" sz="12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PWM.init(*, freq, duty_u16, duty_ns)</a:t>
            </a:r>
            <a:endParaRPr sz="120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2" marL="1371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-GB" sz="1200">
                <a:solidFill>
                  <a:schemeClr val="dk1"/>
                </a:solidFill>
                <a:highlight>
                  <a:srgbClr val="F7F7F7"/>
                </a:highlight>
              </a:rPr>
              <a:t>(You first need to initialize a Pin object, and then pass it to the PWM constructor)</a:t>
            </a:r>
            <a:br>
              <a:rPr lang="en-GB" sz="1200">
                <a:solidFill>
                  <a:schemeClr val="dk1"/>
                </a:solidFill>
                <a:highlight>
                  <a:srgbClr val="F7F7F7"/>
                </a:highlight>
              </a:rPr>
            </a:br>
            <a:endParaRPr sz="1200">
              <a:solidFill>
                <a:schemeClr val="dk1"/>
              </a:solidFill>
              <a:highlight>
                <a:srgbClr val="F7F7F7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freq()</a:t>
            </a:r>
            <a:r>
              <a:rPr lang="en-GB" sz="1200">
                <a:solidFill>
                  <a:schemeClr val="dk1"/>
                </a:solidFill>
              </a:rPr>
              <a:t>: Set the frequency of the PWM signal.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duty_u16()</a:t>
            </a:r>
            <a:r>
              <a:rPr lang="en-GB" sz="1200">
                <a:solidFill>
                  <a:schemeClr val="dk1"/>
                </a:solidFill>
              </a:rPr>
              <a:t>: Set the proportion of time the signal stays high within each period.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-GB" sz="1200">
                <a:solidFill>
                  <a:schemeClr val="dk1"/>
                </a:solidFill>
              </a:rPr>
              <a:t>Accepts a 16-bit integer (0 to 65535): </a:t>
            </a:r>
            <a:endParaRPr sz="1200">
              <a:solidFill>
                <a:schemeClr val="dk1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0 represents a 0% duty cycle</a:t>
            </a:r>
            <a:endParaRPr sz="1200">
              <a:solidFill>
                <a:schemeClr val="dk1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65535 represents a 100% duty cycle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duty_ns()</a:t>
            </a:r>
            <a:r>
              <a:rPr lang="en-GB" sz="1200">
                <a:solidFill>
                  <a:schemeClr val="dk1"/>
                </a:solidFill>
              </a:rPr>
              <a:t>: Set the current pulse width of the PWM output, as a value in nanoseconds.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deinit()</a:t>
            </a:r>
            <a:r>
              <a:rPr lang="en-GB" sz="1200">
                <a:solidFill>
                  <a:schemeClr val="dk1"/>
                </a:solidFill>
              </a:rPr>
              <a:t>: De-initializes the PWM object. Disable the PWM output and free up resources.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94" name="Google Shape;894;g2f23f207386_0_192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895" name="Google Shape;895;g2f23f207386_0_192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896" name="Google Shape;896;g2f23f207386_0_192"/>
          <p:cNvGraphicFramePr/>
          <p:nvPr/>
        </p:nvGraphicFramePr>
        <p:xfrm>
          <a:off x="6912463" y="90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5152075"/>
              </a:tblGrid>
              <a:tr h="22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Import </a:t>
                      </a:r>
                      <a:r>
                        <a:rPr lang="en-GB" sz="1200" u="sng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PWM</a:t>
                      </a: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module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151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machine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Pin, PWM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time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Initialize the servo on GP15 and set PWM frequency to 50Hz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servo_pin = Pin(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"GP15"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 = PWM(servo_pin)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servo.freq(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Calculate min and max duty cycles for 0° and 180° positions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duty =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65535</a:t>
                      </a:r>
                      <a:endParaRPr sz="1050">
                        <a:solidFill>
                          <a:srgbClr val="116644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max_duty =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2.0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/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* 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min_duty =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1.0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/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* 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Move servo to 0°, wait, then move to 180°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servo.duty_u16(min_duty)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time.sleep(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servo.duty_u16(max_duty)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AF00DB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f2ad17ce39_0_1"/>
          <p:cNvSpPr txBox="1"/>
          <p:nvPr>
            <p:ph type="ctrTitle"/>
          </p:nvPr>
        </p:nvSpPr>
        <p:spPr>
          <a:xfrm>
            <a:off x="411175" y="1016000"/>
            <a:ext cx="6426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Key modules, classes and functions</a:t>
            </a:r>
            <a:endParaRPr sz="2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0" lang="en-GB" sz="1200" u="sng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PWM</a:t>
            </a:r>
            <a:r>
              <a:rPr lang="en-GB" sz="1200"/>
              <a:t> class: </a:t>
            </a:r>
            <a:r>
              <a:rPr b="0" lang="en-GB" sz="1200"/>
              <a:t>A PWM object provides pulse width modulation output.</a:t>
            </a:r>
            <a:endParaRPr b="0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Constructor</a:t>
            </a:r>
            <a:endParaRPr sz="1200"/>
          </a:p>
          <a:p>
            <a:pPr indent="-3048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0000FF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2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machine.PWM(dest, *, freq, duty_u16, duty_ns, invert)</a:t>
            </a:r>
            <a:br>
              <a:rPr lang="en-GB" sz="12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sz="1200">
              <a:solidFill>
                <a:srgbClr val="0000FF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In this example</a:t>
            </a:r>
            <a:r>
              <a:rPr b="0" lang="en-GB" sz="1200"/>
              <a:t>: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duty = 65535</a:t>
            </a:r>
            <a:r>
              <a:rPr lang="en-GB" sz="1200">
                <a:solidFill>
                  <a:schemeClr val="dk1"/>
                </a:solidFill>
              </a:rPr>
              <a:t> represents the full range of the 16-bit PWM (from 0 to 65535).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max_duty</a:t>
            </a:r>
            <a:r>
              <a:rPr lang="en-GB" sz="1200">
                <a:solidFill>
                  <a:schemeClr val="dk1"/>
                </a:solidFill>
              </a:rPr>
              <a:t> is calculated for the 2.0 ms pulse width, corresponding to 180°.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min_duty</a:t>
            </a:r>
            <a:r>
              <a:rPr lang="en-GB" sz="1200">
                <a:solidFill>
                  <a:schemeClr val="dk1"/>
                </a:solidFill>
              </a:rPr>
              <a:t> is calculated for the 1.0 ms pulse width, corresponding to 0°.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Moving the servo: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■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servo.duty_u16(min_duty)</a:t>
            </a:r>
            <a:r>
              <a:rPr lang="en-GB" sz="1200">
                <a:solidFill>
                  <a:schemeClr val="dk1"/>
                </a:solidFill>
              </a:rPr>
              <a:t> sets the duty cycle to </a:t>
            </a: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min_duty</a:t>
            </a:r>
            <a:r>
              <a:rPr lang="en-GB" sz="1200">
                <a:solidFill>
                  <a:schemeClr val="dk1"/>
                </a:solidFill>
              </a:rPr>
              <a:t>, moving the servo to its 0° position, 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■"/>
            </a:pPr>
            <a:r>
              <a:rPr lang="en-GB" sz="1200">
                <a:solidFill>
                  <a:schemeClr val="dk1"/>
                </a:solidFill>
              </a:rPr>
              <a:t>then pauses for 5 seconds, and then 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servo.duty_u16(max_duty)</a:t>
            </a:r>
            <a:r>
              <a:rPr lang="en-GB" sz="1200">
                <a:solidFill>
                  <a:schemeClr val="dk1"/>
                </a:solidFill>
              </a:rPr>
              <a:t> sets the duty cycle to </a:t>
            </a: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min_duty</a:t>
            </a:r>
            <a:r>
              <a:rPr lang="en-GB" sz="1200">
                <a:solidFill>
                  <a:schemeClr val="dk1"/>
                </a:solidFill>
              </a:rPr>
              <a:t>, moving the servo to its 180° position,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02" name="Google Shape;902;g2f2ad17ce39_0_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903" name="Google Shape;903;g2f2ad17ce39_0_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904" name="Google Shape;904;g2f2ad17ce39_0_1"/>
          <p:cNvGraphicFramePr/>
          <p:nvPr/>
        </p:nvGraphicFramePr>
        <p:xfrm>
          <a:off x="6912463" y="90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5152075"/>
              </a:tblGrid>
              <a:tr h="22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Import </a:t>
                      </a:r>
                      <a:r>
                        <a:rPr lang="en-GB" sz="1200" u="sng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PWM</a:t>
                      </a: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module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151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machine </a:t>
                      </a: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Pin, PWM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time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Initialize the servo on GP15 and set PWM frequency to 50Hz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servo_pin = Pin(</a:t>
                      </a:r>
                      <a:r>
                        <a:rPr lang="en-GB" sz="105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"GP15"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 = PWM(servo_pin)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servo.freq(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Calculate min and max duty cycles for 0° and 180° positions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duty =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65535</a:t>
                      </a:r>
                      <a:endParaRPr sz="1050">
                        <a:solidFill>
                          <a:srgbClr val="116644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max_duty =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2.0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/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* 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min_duty =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1.0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/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* 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Move servo to 0°, wait, then move to 180°</a:t>
                      </a:r>
                      <a:endParaRPr sz="105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servo.duty_u16(min_duty)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time.sleep(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servo.duty_u16(max_duty)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AF00DB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f2ad17ce39_0_11"/>
          <p:cNvSpPr txBox="1"/>
          <p:nvPr>
            <p:ph type="ctrTitle"/>
          </p:nvPr>
        </p:nvSpPr>
        <p:spPr>
          <a:xfrm>
            <a:off x="411175" y="1016000"/>
            <a:ext cx="6426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Key modules, classes and functions</a:t>
            </a:r>
            <a:endParaRPr sz="2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0" lang="en-GB" sz="1200" u="sng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PWM</a:t>
            </a:r>
            <a:r>
              <a:rPr lang="en-GB" sz="1200"/>
              <a:t> class: </a:t>
            </a:r>
            <a:r>
              <a:rPr b="0" lang="en-GB" sz="1200"/>
              <a:t>A PWM object provides pulse width modulation output.</a:t>
            </a:r>
            <a:endParaRPr b="0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GB" sz="1200"/>
            </a:br>
            <a:endParaRPr b="0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Actual (full) range for the SG90:</a:t>
            </a:r>
            <a:r>
              <a:rPr b="0" lang="en-GB" sz="1200"/>
              <a:t> from 0.7 ms → 2.4 ms</a:t>
            </a:r>
            <a:endParaRPr b="0" sz="1200">
              <a:solidFill>
                <a:schemeClr val="dk1"/>
              </a:solidFill>
            </a:endParaRPr>
          </a:p>
        </p:txBody>
      </p:sp>
      <p:sp>
        <p:nvSpPr>
          <p:cNvPr id="910" name="Google Shape;910;g2f2ad17ce39_0_1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911" name="Google Shape;911;g2f2ad17ce39_0_1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912" name="Google Shape;912;g2f2ad17ce39_0_11"/>
          <p:cNvGraphicFramePr/>
          <p:nvPr/>
        </p:nvGraphicFramePr>
        <p:xfrm>
          <a:off x="6912463" y="90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5152075"/>
              </a:tblGrid>
              <a:tr h="22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Import </a:t>
                      </a:r>
                      <a:r>
                        <a:rPr lang="en-GB" sz="1200" u="sng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PWM</a:t>
                      </a: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module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151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machine import Pin, PWM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 time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Initialize the servo on GP15 and set PWM frequency to 50Hz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servo_pin = Pin("GP15")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 = PWM(servo_pin)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servo.freq(50)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Calculate min and max duty cycles for 0° and 180° positions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duty = 65535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max_duty =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2.4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/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* 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min_duty =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0.7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/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* 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Move servo to 0°, wait, then move to 180°, wait, and back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servo.duty_u16(min_duty)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time.sleep(5)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servo.duty_u16(max_duty)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time.sleep(5)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servo.duty_u16(min_duty)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AF00DB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913" name="Google Shape;913;g2f2ad17ce39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7413" y="2325137"/>
            <a:ext cx="4974426" cy="3316284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g2f2ad17ce39_0_11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6"/>
              </a:rPr>
              <a:t>https://circuitdigest.com/microcontroller-projects/interface-servo-motor-with-arduino</a:t>
            </a:r>
            <a:r>
              <a:rPr lang="en-GB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069c0c8589_0_65"/>
          <p:cNvSpPr txBox="1"/>
          <p:nvPr>
            <p:ph type="ctrTitle"/>
          </p:nvPr>
        </p:nvSpPr>
        <p:spPr>
          <a:xfrm>
            <a:off x="411175" y="1016000"/>
            <a:ext cx="6426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Key modules, classes and functions</a:t>
            </a:r>
            <a:endParaRPr sz="2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0" lang="en-GB" sz="1200" u="sng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PWM</a:t>
            </a:r>
            <a:r>
              <a:rPr lang="en-GB" sz="1200"/>
              <a:t> class: </a:t>
            </a:r>
            <a:r>
              <a:rPr b="0" lang="en-GB" sz="1200"/>
              <a:t>A PWM object provides pulse width modulation output.</a:t>
            </a:r>
            <a:endParaRPr b="0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GB" sz="1200"/>
            </a:br>
            <a:endParaRPr b="0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Actual (full) range for the SG90:</a:t>
            </a:r>
            <a:r>
              <a:rPr b="0" lang="en-GB" sz="1200"/>
              <a:t> from 0.7 ms → 2.4 ms</a:t>
            </a:r>
            <a:endParaRPr b="0" sz="1200">
              <a:solidFill>
                <a:schemeClr val="dk1"/>
              </a:solidFill>
            </a:endParaRPr>
          </a:p>
        </p:txBody>
      </p:sp>
      <p:sp>
        <p:nvSpPr>
          <p:cNvPr id="920" name="Google Shape;920;g3069c0c8589_0_6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921" name="Google Shape;921;g3069c0c8589_0_65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922" name="Google Shape;922;g3069c0c8589_0_65"/>
          <p:cNvGraphicFramePr/>
          <p:nvPr/>
        </p:nvGraphicFramePr>
        <p:xfrm>
          <a:off x="6912463" y="90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5152075"/>
              </a:tblGrid>
              <a:tr h="22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Import </a:t>
                      </a:r>
                      <a:r>
                        <a:rPr lang="en-GB" sz="1200" u="sng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PWM</a:t>
                      </a: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module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151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machine import Pin, PWM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 time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Initialize the servo on GP15 and set PWM frequency to 50Hz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servo_pin = Pin("GP15")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 = PWM(servo_pin)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servo.freq(50)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Calculate min and max duty cycles for 0° and 180° positions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duty = 65535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max_duty =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2.4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/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* 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min_duty = </a:t>
                      </a:r>
                      <a:r>
                        <a:rPr lang="en-GB" sz="105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0.7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/ </a:t>
                      </a:r>
                      <a:r>
                        <a:rPr lang="en-GB" sz="105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r>
                        <a:rPr lang="en-GB" sz="105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* duty)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Move servo to 0°, wait, then move to 180°, wait, and back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servo.duty_u16(min_duty)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time.sleep(5)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servo.duty_u16(max_duty)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time.sleep(5)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50">
                          <a:solidFill>
                            <a:srgbClr val="9E9E9E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servo.duty_u16(min_duty)</a:t>
                      </a:r>
                      <a:endParaRPr sz="1050">
                        <a:solidFill>
                          <a:srgbClr val="9E9E9E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AF00DB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923" name="Google Shape;923;g3069c0c8589_0_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7413" y="2325137"/>
            <a:ext cx="4974426" cy="3316284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g3069c0c8589_0_65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6"/>
              </a:rPr>
              <a:t>https://circuitdigest.com/microcontroller-projects/interface-servo-motor-with-arduino</a:t>
            </a:r>
            <a:r>
              <a:rPr lang="en-GB" sz="1000"/>
              <a:t> </a:t>
            </a:r>
            <a:endParaRPr sz="1000"/>
          </a:p>
        </p:txBody>
      </p:sp>
      <p:sp>
        <p:nvSpPr>
          <p:cNvPr id="925" name="Google Shape;925;g3069c0c8589_0_65"/>
          <p:cNvSpPr/>
          <p:nvPr/>
        </p:nvSpPr>
        <p:spPr>
          <a:xfrm>
            <a:off x="2278525" y="2791400"/>
            <a:ext cx="2692200" cy="20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/>
              <a:t>Demo</a:t>
            </a:r>
            <a:r>
              <a:rPr lang="en-GB" sz="3000"/>
              <a:t> 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using 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/>
              <a:t>Thonny</a:t>
            </a:r>
            <a:endParaRPr b="1" sz="30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f23f207386_0_20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931" name="Google Shape;931;g2f23f207386_0_20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2" name="Google Shape;932;g2f23f207386_0_209"/>
          <p:cNvSpPr txBox="1"/>
          <p:nvPr>
            <p:ph idx="4294967295" type="body"/>
          </p:nvPr>
        </p:nvSpPr>
        <p:spPr>
          <a:xfrm>
            <a:off x="422425" y="1000450"/>
            <a:ext cx="11011200" cy="485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/>
              <a:t>Stepper Motors</a:t>
            </a:r>
            <a:endParaRPr b="1" sz="50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f23f207386_0_20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938" name="Google Shape;938;g2f23f207386_0_20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9" name="Google Shape;939;g2f23f207386_0_200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https://www.digikey.dk/da/blog/the-basics-of-stepper-motors</a:t>
            </a:r>
            <a:r>
              <a:rPr lang="en-GB" sz="1000"/>
              <a:t> </a:t>
            </a:r>
            <a:endParaRPr sz="1000"/>
          </a:p>
        </p:txBody>
      </p:sp>
      <p:pic>
        <p:nvPicPr>
          <p:cNvPr id="940" name="Google Shape;940;g2f23f207386_0_200"/>
          <p:cNvPicPr preferRelativeResize="0"/>
          <p:nvPr/>
        </p:nvPicPr>
        <p:blipFill rotWithShape="1">
          <a:blip r:embed="rId4">
            <a:alphaModFix/>
          </a:blip>
          <a:srcRect b="0" l="8466" r="0" t="0"/>
          <a:stretch/>
        </p:blipFill>
        <p:spPr>
          <a:xfrm>
            <a:off x="7614275" y="2070665"/>
            <a:ext cx="4450277" cy="2716676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g2f23f207386_0_200"/>
          <p:cNvSpPr txBox="1"/>
          <p:nvPr>
            <p:ph type="ctrTitle"/>
          </p:nvPr>
        </p:nvSpPr>
        <p:spPr>
          <a:xfrm>
            <a:off x="411175" y="936050"/>
            <a:ext cx="6825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Stepper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</a:t>
            </a:r>
            <a:r>
              <a:rPr b="0" i="1" lang="en-GB" sz="2000"/>
              <a:t>Move in discrete steps, allowing precise control over position, speed, and acceleration</a:t>
            </a:r>
            <a:r>
              <a:rPr b="0" i="1" lang="en-GB" sz="2000"/>
              <a:t>”</a:t>
            </a:r>
            <a:br>
              <a:rPr b="0" i="1" lang="en-GB" sz="2000"/>
            </a:br>
            <a:endParaRPr sz="2000"/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lang="en-GB" sz="1600"/>
              <a:t>Designed to move in discrete steps rather than continuously rotating like traditional DC motors</a:t>
            </a:r>
            <a:br>
              <a:rPr lang="en-GB" sz="1600"/>
            </a:br>
            <a:endParaRPr sz="1600"/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Basic Components of a Servo Motor</a:t>
            </a:r>
            <a:endParaRPr sz="1600"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 sz="1400">
                <a:solidFill>
                  <a:schemeClr val="dk1"/>
                </a:solidFill>
              </a:rPr>
              <a:t>Rotor: </a:t>
            </a:r>
            <a:r>
              <a:rPr lang="en-GB" sz="1400">
                <a:solidFill>
                  <a:schemeClr val="dk1"/>
                </a:solidFill>
              </a:rPr>
              <a:t>The rotor is the rotating part of the motor, typically made of a permanent magnet or soft iron.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 sz="1400">
                <a:solidFill>
                  <a:schemeClr val="dk1"/>
                </a:solidFill>
              </a:rPr>
              <a:t>Stator:</a:t>
            </a:r>
            <a:r>
              <a:rPr lang="en-GB" sz="1400">
                <a:solidFill>
                  <a:schemeClr val="dk1"/>
                </a:solidFill>
              </a:rPr>
              <a:t> The stator is the stationary part surrounding the rotor, composed of multiple coils (also called windings). These coils are energized in a specific sequence to create a magnetic field that interacts with the rotor, causing it to move.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f23f207386_0_23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947" name="Google Shape;947;g2f23f207386_0_235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48" name="Google Shape;948;g2f23f207386_0_235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https://fabacademy.org/archives/2014/students/begle.moritz/week13.html</a:t>
            </a:r>
            <a:r>
              <a:rPr lang="en-GB" sz="1000"/>
              <a:t> and from Google Images</a:t>
            </a:r>
            <a:endParaRPr sz="1000"/>
          </a:p>
        </p:txBody>
      </p:sp>
      <p:sp>
        <p:nvSpPr>
          <p:cNvPr id="949" name="Google Shape;949;g2f23f207386_0_235"/>
          <p:cNvSpPr txBox="1"/>
          <p:nvPr>
            <p:ph type="ctrTitle"/>
          </p:nvPr>
        </p:nvSpPr>
        <p:spPr>
          <a:xfrm>
            <a:off x="411175" y="936050"/>
            <a:ext cx="6825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Stepper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“Move in discrete steps, allowing precise control over position, speed, and acceleration”</a:t>
            </a:r>
            <a:br>
              <a:rPr b="0" i="1" lang="en-GB" sz="2000"/>
            </a:b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Stepper motor types </a:t>
            </a:r>
            <a:r>
              <a:rPr b="0" lang="en-GB" sz="2000"/>
              <a:t>(typical)</a:t>
            </a:r>
            <a:endParaRPr b="0" sz="2000"/>
          </a:p>
          <a:p>
            <a:pPr indent="-3556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eriod"/>
            </a:pPr>
            <a:r>
              <a:rPr lang="en-GB" sz="2000"/>
              <a:t>Unipolar Stepper Motors</a:t>
            </a:r>
            <a:endParaRPr sz="2000"/>
          </a:p>
          <a:p>
            <a:pPr indent="-3556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eriod"/>
            </a:pPr>
            <a:r>
              <a:rPr lang="en-GB" sz="2000"/>
              <a:t>Bipolar Stepper Motors</a:t>
            </a:r>
            <a:endParaRPr sz="2000"/>
          </a:p>
        </p:txBody>
      </p:sp>
      <p:pic>
        <p:nvPicPr>
          <p:cNvPr id="950" name="Google Shape;950;g2f23f207386_0_2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2425" y="3790000"/>
            <a:ext cx="5501951" cy="263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g2f23f207386_0_2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8177" y="171450"/>
            <a:ext cx="3353413" cy="262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g2f23f207386_0_2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8700" y="2919649"/>
            <a:ext cx="3353413" cy="3506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f23f207386_0_22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958" name="Google Shape;958;g2f23f207386_0_22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9" name="Google Shape;959;g2f23f207386_0_221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https://en.wikipedia.org/wiki/Stepper_motor</a:t>
            </a:r>
            <a:r>
              <a:rPr lang="en-GB" sz="1000"/>
              <a:t> </a:t>
            </a:r>
            <a:r>
              <a:rPr lang="en-GB" sz="1000"/>
              <a:t> </a:t>
            </a:r>
            <a:endParaRPr sz="1000"/>
          </a:p>
        </p:txBody>
      </p:sp>
      <p:sp>
        <p:nvSpPr>
          <p:cNvPr id="960" name="Google Shape;960;g2f23f207386_0_221"/>
          <p:cNvSpPr txBox="1"/>
          <p:nvPr>
            <p:ph type="ctrTitle"/>
          </p:nvPr>
        </p:nvSpPr>
        <p:spPr>
          <a:xfrm>
            <a:off x="411175" y="936050"/>
            <a:ext cx="6825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Stepper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“Move in discrete steps, allowing precise control over position, speed, and acceleration”</a:t>
            </a:r>
            <a:br>
              <a:rPr b="0" i="1" lang="en-GB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Stepping</a:t>
            </a:r>
            <a:r>
              <a:rPr b="0" lang="en-GB" sz="2000"/>
              <a:t> (key concepts)</a:t>
            </a:r>
            <a:endParaRPr sz="1600"/>
          </a:p>
        </p:txBody>
      </p:sp>
      <p:pic>
        <p:nvPicPr>
          <p:cNvPr id="961" name="Google Shape;961;g2f23f207386_0_2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4600" y="1285875"/>
            <a:ext cx="42862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069c0c8589_0_9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967" name="Google Shape;967;g3069c0c8589_0_9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68" name="Google Shape;968;g3069c0c8589_0_91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https://en.wikipedia.org/wiki/Stepper_motor</a:t>
            </a:r>
            <a:r>
              <a:rPr lang="en-GB" sz="1000"/>
              <a:t>  </a:t>
            </a:r>
            <a:endParaRPr sz="1000"/>
          </a:p>
        </p:txBody>
      </p:sp>
      <p:sp>
        <p:nvSpPr>
          <p:cNvPr id="969" name="Google Shape;969;g3069c0c8589_0_91"/>
          <p:cNvSpPr txBox="1"/>
          <p:nvPr>
            <p:ph type="ctrTitle"/>
          </p:nvPr>
        </p:nvSpPr>
        <p:spPr>
          <a:xfrm>
            <a:off x="411175" y="936050"/>
            <a:ext cx="6825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Stepper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“Move in discrete steps, allowing precise control over position, speed, and acceleration”</a:t>
            </a:r>
            <a:br>
              <a:rPr b="0" i="1" lang="en-GB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Stepping</a:t>
            </a:r>
            <a:r>
              <a:rPr b="0" lang="en-GB" sz="2000"/>
              <a:t> (key concepts)</a:t>
            </a:r>
            <a:endParaRPr b="0"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A stepper motor moves in </a:t>
            </a:r>
            <a:r>
              <a:rPr lang="en-GB" sz="1600" u="sng"/>
              <a:t>fixed angular increments c</a:t>
            </a:r>
            <a:r>
              <a:rPr lang="en-GB" sz="1600"/>
              <a:t>alled steps.</a:t>
            </a:r>
            <a:br>
              <a:rPr lang="en-GB" sz="1600"/>
            </a:br>
            <a:endParaRPr sz="1600"/>
          </a:p>
        </p:txBody>
      </p:sp>
      <p:pic>
        <p:nvPicPr>
          <p:cNvPr id="970" name="Google Shape;970;g3069c0c8589_0_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4600" y="1285875"/>
            <a:ext cx="42862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069c0c8589_0_7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976" name="Google Shape;976;g3069c0c8589_0_75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7" name="Google Shape;977;g3069c0c8589_0_75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https://en.wikipedia.org/wiki/Stepper_motor</a:t>
            </a:r>
            <a:r>
              <a:rPr lang="en-GB" sz="1000"/>
              <a:t>  </a:t>
            </a:r>
            <a:endParaRPr sz="1000"/>
          </a:p>
        </p:txBody>
      </p:sp>
      <p:sp>
        <p:nvSpPr>
          <p:cNvPr id="978" name="Google Shape;978;g3069c0c8589_0_75"/>
          <p:cNvSpPr txBox="1"/>
          <p:nvPr>
            <p:ph type="ctrTitle"/>
          </p:nvPr>
        </p:nvSpPr>
        <p:spPr>
          <a:xfrm>
            <a:off x="411175" y="936050"/>
            <a:ext cx="6825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Stepper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“Move in discrete steps, allowing precise control over position, speed, and acceleration”</a:t>
            </a:r>
            <a:br>
              <a:rPr b="0" i="1" lang="en-GB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Stepping</a:t>
            </a:r>
            <a:r>
              <a:rPr b="0" lang="en-GB" sz="2000"/>
              <a:t> (key concepts)</a:t>
            </a:r>
            <a:endParaRPr b="0"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A stepper motor moves in </a:t>
            </a:r>
            <a:r>
              <a:rPr lang="en-GB" sz="1600" u="sng"/>
              <a:t>fixed angular increments c</a:t>
            </a:r>
            <a:r>
              <a:rPr lang="en-GB" sz="1600"/>
              <a:t>alled steps.</a:t>
            </a:r>
            <a:br>
              <a:rPr lang="en-GB" sz="1600"/>
            </a:b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 u="sng"/>
              <a:t>Each step</a:t>
            </a:r>
            <a:r>
              <a:rPr lang="en-GB" sz="1600"/>
              <a:t> is controlled by </a:t>
            </a:r>
            <a:r>
              <a:rPr b="1" lang="en-GB" sz="1600"/>
              <a:t>energizing the coils in a specific sequence</a:t>
            </a:r>
            <a:r>
              <a:rPr lang="en-GB" sz="1600"/>
              <a:t>, which creates a rotating magnetic field that pulls the rotor into the next position.</a:t>
            </a:r>
            <a:br>
              <a:rPr lang="en-GB" sz="1600"/>
            </a:br>
            <a:endParaRPr sz="16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79" name="Google Shape;979;g3069c0c8589_0_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4600" y="1285875"/>
            <a:ext cx="42862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069c0c8589_0_83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985" name="Google Shape;985;g3069c0c8589_0_83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86" name="Google Shape;986;g3069c0c8589_0_83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https://en.wikipedia.org/wiki/Stepper_motor</a:t>
            </a:r>
            <a:r>
              <a:rPr lang="en-GB" sz="1000"/>
              <a:t>  </a:t>
            </a:r>
            <a:endParaRPr sz="1000"/>
          </a:p>
        </p:txBody>
      </p:sp>
      <p:sp>
        <p:nvSpPr>
          <p:cNvPr id="987" name="Google Shape;987;g3069c0c8589_0_83"/>
          <p:cNvSpPr txBox="1"/>
          <p:nvPr>
            <p:ph type="ctrTitle"/>
          </p:nvPr>
        </p:nvSpPr>
        <p:spPr>
          <a:xfrm>
            <a:off x="411175" y="936050"/>
            <a:ext cx="6825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Stepper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“Move in discrete steps, allowing precise control over position, speed, and acceleration”</a:t>
            </a:r>
            <a:br>
              <a:rPr b="0" i="1" lang="en-GB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Stepping</a:t>
            </a:r>
            <a:r>
              <a:rPr b="0" lang="en-GB" sz="2000"/>
              <a:t> (key concepts)</a:t>
            </a:r>
            <a:endParaRPr b="0"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A stepper motor moves in </a:t>
            </a:r>
            <a:r>
              <a:rPr lang="en-GB" sz="1600" u="sng"/>
              <a:t>fixed angular increments c</a:t>
            </a:r>
            <a:r>
              <a:rPr lang="en-GB" sz="1600"/>
              <a:t>alled steps.</a:t>
            </a:r>
            <a:br>
              <a:rPr lang="en-GB" sz="1600"/>
            </a:b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 u="sng"/>
              <a:t>Each step</a:t>
            </a:r>
            <a:r>
              <a:rPr lang="en-GB" sz="1600"/>
              <a:t> is controlled by </a:t>
            </a:r>
            <a:r>
              <a:rPr b="1" lang="en-GB" sz="1600"/>
              <a:t>energizing the coils in a specific sequence</a:t>
            </a:r>
            <a:r>
              <a:rPr lang="en-GB" sz="1600"/>
              <a:t>, which creates a rotating magnetic field that pulls the rotor into the next position.</a:t>
            </a:r>
            <a:br>
              <a:rPr lang="en-GB" sz="1600"/>
            </a:b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…by changing the order and timing of the pulses to the coils, you can control the motor's direction, speed, and position.</a:t>
            </a:r>
            <a:endParaRPr sz="1600"/>
          </a:p>
        </p:txBody>
      </p:sp>
      <p:pic>
        <p:nvPicPr>
          <p:cNvPr id="988" name="Google Shape;988;g3069c0c8589_0_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4600" y="1285875"/>
            <a:ext cx="42862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0617fb5373_0_74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994" name="Google Shape;994;g30617fb5373_0_74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5" name="Google Shape;995;g30617fb5373_0_74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https://en.wikipedia.org/wiki/Stepper_motor</a:t>
            </a:r>
            <a:r>
              <a:rPr lang="en-GB" sz="1000"/>
              <a:t>  </a:t>
            </a:r>
            <a:endParaRPr sz="1000"/>
          </a:p>
        </p:txBody>
      </p:sp>
      <p:sp>
        <p:nvSpPr>
          <p:cNvPr id="996" name="Google Shape;996;g30617fb5373_0_74"/>
          <p:cNvSpPr txBox="1"/>
          <p:nvPr>
            <p:ph type="ctrTitle"/>
          </p:nvPr>
        </p:nvSpPr>
        <p:spPr>
          <a:xfrm>
            <a:off x="411175" y="936050"/>
            <a:ext cx="6825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Stepper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“Move in discrete steps, allowing precise control over position, speed, and acceleration”</a:t>
            </a:r>
            <a:br>
              <a:rPr b="0" i="1" lang="en-GB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Stepping</a:t>
            </a:r>
            <a:r>
              <a:rPr b="0" lang="en-GB" sz="2000"/>
              <a:t> (key concepts)</a:t>
            </a:r>
            <a:endParaRPr b="0"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A stepper motor moves in fixed angular increments called steps.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GB" sz="1600"/>
              <a:t>Example: </a:t>
            </a:r>
            <a:r>
              <a:rPr b="1" lang="en-GB" sz="1600"/>
              <a:t>17HE19-2004S</a:t>
            </a:r>
            <a:endParaRPr b="1" sz="1600"/>
          </a:p>
          <a:p>
            <a: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/>
              <a:t>Motor Type:</a:t>
            </a:r>
            <a:r>
              <a:rPr lang="en-GB" sz="1600"/>
              <a:t> Bipolar Stepper</a:t>
            </a:r>
            <a:endParaRPr sz="1600"/>
          </a:p>
          <a:p>
            <a: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/>
              <a:t>Step Angle:</a:t>
            </a:r>
            <a:r>
              <a:rPr lang="en-GB" sz="1600"/>
              <a:t> 1.8deg (</a:t>
            </a:r>
            <a:r>
              <a:rPr lang="en-GB" sz="1600"/>
              <a:t>200 steps per revolution)</a:t>
            </a:r>
            <a:endParaRPr sz="1600"/>
          </a:p>
          <a:p>
            <a: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Number of Leads:</a:t>
            </a:r>
            <a:r>
              <a:rPr lang="en-GB" sz="1600"/>
              <a:t> 4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400"/>
              <a:t>Datasheet: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400" u="sng">
                <a:solidFill>
                  <a:schemeClr val="hlink"/>
                </a:solidFill>
                <a:hlinkClick r:id="rId4"/>
              </a:rPr>
              <a:t>https://www.omc-stepperonline.com/e-series-nema-17-bipolar-55ncm-77-88oz-in-2a-42x48mm-4-wires-w-1m-cable-connector-17he19-2004s</a:t>
            </a:r>
            <a:r>
              <a:rPr b="0" lang="en-GB" sz="1400"/>
              <a:t> </a:t>
            </a:r>
            <a:br>
              <a:rPr lang="en-GB" sz="1600"/>
            </a:br>
            <a:endParaRPr sz="1600"/>
          </a:p>
        </p:txBody>
      </p:sp>
      <p:pic>
        <p:nvPicPr>
          <p:cNvPr id="997" name="Google Shape;997;g30617fb5373_0_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20525" y="66675"/>
            <a:ext cx="2560324" cy="25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g30617fb5373_0_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20525" y="2627000"/>
            <a:ext cx="2560325" cy="25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g30617fb5373_0_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79375" y="4222500"/>
            <a:ext cx="3359275" cy="10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f23f207386_0_244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005" name="Google Shape;1005;g2f23f207386_0_244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6" name="Google Shape;1006;g2f23f207386_0_244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https://www.nanotec.com/eu/en/knowledge-base/stepper-motor-animation#</a:t>
            </a:r>
            <a:r>
              <a:rPr lang="en-GB" sz="1000"/>
              <a:t> </a:t>
            </a:r>
            <a:endParaRPr sz="1000"/>
          </a:p>
        </p:txBody>
      </p:sp>
      <p:sp>
        <p:nvSpPr>
          <p:cNvPr id="1007" name="Google Shape;1007;g2f23f207386_0_244"/>
          <p:cNvSpPr txBox="1"/>
          <p:nvPr>
            <p:ph type="ctrTitle"/>
          </p:nvPr>
        </p:nvSpPr>
        <p:spPr>
          <a:xfrm>
            <a:off x="411175" y="936050"/>
            <a:ext cx="6825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Stepper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“Move in discrete steps, allowing precise control over position, speed, and acceleration”</a:t>
            </a:r>
            <a:br>
              <a:rPr b="0" i="1" lang="en-GB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Stepping Modes: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Full Step</a:t>
            </a:r>
            <a:r>
              <a:rPr b="0" lang="en-GB" sz="2000"/>
              <a:t>: The motor moves one full step per pulse. This is the simplest and most common mode.</a:t>
            </a:r>
            <a:br>
              <a:rPr b="0" lang="en-GB" sz="2000"/>
            </a:br>
            <a:endParaRPr b="0"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Char char="●"/>
            </a:pPr>
            <a:r>
              <a:rPr lang="en-GB" sz="2000">
                <a:solidFill>
                  <a:srgbClr val="B7B7B7"/>
                </a:solidFill>
              </a:rPr>
              <a:t>Half Step</a:t>
            </a:r>
            <a:r>
              <a:rPr b="0" lang="en-GB" sz="2000">
                <a:solidFill>
                  <a:srgbClr val="B7B7B7"/>
                </a:solidFill>
              </a:rPr>
              <a:t>: The motor moves half a step per pulse, offering more precision but less torque.</a:t>
            </a:r>
            <a:br>
              <a:rPr b="0" lang="en-GB" sz="2000">
                <a:solidFill>
                  <a:srgbClr val="B7B7B7"/>
                </a:solidFill>
              </a:rPr>
            </a:br>
            <a:endParaRPr b="0" sz="2000">
              <a:solidFill>
                <a:srgbClr val="B7B7B7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Char char="●"/>
            </a:pPr>
            <a:r>
              <a:rPr lang="en-GB" sz="2000">
                <a:solidFill>
                  <a:srgbClr val="B7B7B7"/>
                </a:solidFill>
              </a:rPr>
              <a:t>Microstepping</a:t>
            </a:r>
            <a:r>
              <a:rPr b="0" lang="en-GB" sz="2000">
                <a:solidFill>
                  <a:srgbClr val="B7B7B7"/>
                </a:solidFill>
              </a:rPr>
              <a:t>: By controlling the current through the coils, the motor can be made to take fractional steps, providing smoother motion and higher resolution.</a:t>
            </a:r>
            <a:endParaRPr b="0" sz="2000">
              <a:solidFill>
                <a:srgbClr val="B7B7B7"/>
              </a:solidFill>
            </a:endParaRPr>
          </a:p>
        </p:txBody>
      </p:sp>
      <p:pic>
        <p:nvPicPr>
          <p:cNvPr id="1008" name="Google Shape;1008;g2f23f207386_0_2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4425" y="1855550"/>
            <a:ext cx="4650125" cy="3302112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g2f23f207386_0_244"/>
          <p:cNvSpPr txBox="1"/>
          <p:nvPr/>
        </p:nvSpPr>
        <p:spPr>
          <a:xfrm>
            <a:off x="8239475" y="51576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Full step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g2f23f207386_0_2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4450" y="1855547"/>
            <a:ext cx="4650099" cy="33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g2f23f207386_0_254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016" name="Google Shape;1016;g2f23f207386_0_254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7" name="Google Shape;1017;g2f23f207386_0_254"/>
          <p:cNvSpPr txBox="1"/>
          <p:nvPr>
            <p:ph type="ctrTitle"/>
          </p:nvPr>
        </p:nvSpPr>
        <p:spPr>
          <a:xfrm>
            <a:off x="411175" y="936050"/>
            <a:ext cx="6825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Stepper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“Move in discrete steps, allowing precise control over position, speed, and acceleration”</a:t>
            </a:r>
            <a:br>
              <a:rPr b="0" i="1" lang="en-GB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Stepping Modes: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000"/>
              <a:buChar char="●"/>
            </a:pPr>
            <a:r>
              <a:rPr lang="en-GB" sz="2000">
                <a:solidFill>
                  <a:srgbClr val="B7B7B7"/>
                </a:solidFill>
              </a:rPr>
              <a:t>Full Step</a:t>
            </a:r>
            <a:r>
              <a:rPr b="0" lang="en-GB" sz="2000">
                <a:solidFill>
                  <a:srgbClr val="B7B7B7"/>
                </a:solidFill>
              </a:rPr>
              <a:t>: The motor moves one full step per pulse. This is the simplest and most common mode.</a:t>
            </a:r>
            <a:br>
              <a:rPr b="0" lang="en-GB" sz="2000"/>
            </a:br>
            <a:endParaRPr b="0"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Half Step</a:t>
            </a:r>
            <a:r>
              <a:rPr b="0" lang="en-GB" sz="2000"/>
              <a:t>: The motor moves half a step per pulse, offering more precision but less torque.</a:t>
            </a:r>
            <a:br>
              <a:rPr b="0" lang="en-GB" sz="2000"/>
            </a:br>
            <a:endParaRPr b="0"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Char char="●"/>
            </a:pPr>
            <a:r>
              <a:rPr lang="en-GB" sz="2000">
                <a:solidFill>
                  <a:srgbClr val="B7B7B7"/>
                </a:solidFill>
              </a:rPr>
              <a:t>Microstepping</a:t>
            </a:r>
            <a:r>
              <a:rPr b="0" lang="en-GB" sz="2000">
                <a:solidFill>
                  <a:srgbClr val="B7B7B7"/>
                </a:solidFill>
              </a:rPr>
              <a:t>: By controlling the current through the coils, the motor can be made to take fractional steps, providing smoother motion and higher resolution.</a:t>
            </a:r>
            <a:endParaRPr b="0" sz="2000">
              <a:solidFill>
                <a:srgbClr val="B7B7B7"/>
              </a:solidFill>
            </a:endParaRPr>
          </a:p>
        </p:txBody>
      </p:sp>
      <p:sp>
        <p:nvSpPr>
          <p:cNvPr id="1018" name="Google Shape;1018;g2f23f207386_0_254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https://www.nanotec.com/eu/en/knowledge-base/stepper-motor-animation#</a:t>
            </a:r>
            <a:r>
              <a:rPr lang="en-GB" sz="1000"/>
              <a:t> </a:t>
            </a:r>
            <a:endParaRPr sz="1000"/>
          </a:p>
        </p:txBody>
      </p:sp>
      <p:sp>
        <p:nvSpPr>
          <p:cNvPr id="1019" name="Google Shape;1019;g2f23f207386_0_254"/>
          <p:cNvSpPr txBox="1"/>
          <p:nvPr/>
        </p:nvSpPr>
        <p:spPr>
          <a:xfrm>
            <a:off x="8239488" y="51576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Half</a:t>
            </a:r>
            <a:r>
              <a:rPr b="1" lang="en-GB" sz="2000">
                <a:solidFill>
                  <a:schemeClr val="dk1"/>
                </a:solidFill>
              </a:rPr>
              <a:t> step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Google Shape;1024;g2f264555a69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4475" y="1855550"/>
            <a:ext cx="4650074" cy="3302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g2f264555a69_0_3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026" name="Google Shape;1026;g2f264555a69_0_3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7" name="Google Shape;1027;g2f264555a69_0_3"/>
          <p:cNvSpPr txBox="1"/>
          <p:nvPr>
            <p:ph type="ctrTitle"/>
          </p:nvPr>
        </p:nvSpPr>
        <p:spPr>
          <a:xfrm>
            <a:off x="411175" y="936050"/>
            <a:ext cx="6825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Stepper motors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“Move in discrete steps, allowing precise control over position, speed, and acceleration”</a:t>
            </a:r>
            <a:br>
              <a:rPr b="0" i="1" lang="en-GB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Stepping Modes: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Char char="●"/>
            </a:pPr>
            <a:r>
              <a:rPr lang="en-GB" sz="2000">
                <a:solidFill>
                  <a:srgbClr val="B7B7B7"/>
                </a:solidFill>
              </a:rPr>
              <a:t>Full Step</a:t>
            </a:r>
            <a:r>
              <a:rPr b="0" lang="en-GB" sz="2000">
                <a:solidFill>
                  <a:srgbClr val="B7B7B7"/>
                </a:solidFill>
              </a:rPr>
              <a:t>: The motor moves one full step per pulse. This is the simplest and most common mode.</a:t>
            </a:r>
            <a:br>
              <a:rPr b="0" lang="en-GB" sz="2000">
                <a:solidFill>
                  <a:srgbClr val="B7B7B7"/>
                </a:solidFill>
              </a:rPr>
            </a:br>
            <a:endParaRPr b="0" sz="2000">
              <a:solidFill>
                <a:srgbClr val="B7B7B7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000"/>
              <a:buChar char="●"/>
            </a:pPr>
            <a:r>
              <a:rPr lang="en-GB" sz="2000">
                <a:solidFill>
                  <a:srgbClr val="B7B7B7"/>
                </a:solidFill>
              </a:rPr>
              <a:t>Half Step</a:t>
            </a:r>
            <a:r>
              <a:rPr b="0" lang="en-GB" sz="2000">
                <a:solidFill>
                  <a:srgbClr val="B7B7B7"/>
                </a:solidFill>
              </a:rPr>
              <a:t>: The motor moves half a step per pulse, offering more precision but less torque.</a:t>
            </a:r>
            <a:br>
              <a:rPr b="0" lang="en-GB" sz="2000"/>
            </a:br>
            <a:endParaRPr b="0"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Microstepping</a:t>
            </a:r>
            <a:r>
              <a:rPr b="0" lang="en-GB" sz="2000"/>
              <a:t>: By controlling the current through the coils, the motor can be made to take fractional steps, providing smoother motion and higher resolution.</a:t>
            </a:r>
            <a:endParaRPr b="0" sz="2000"/>
          </a:p>
        </p:txBody>
      </p:sp>
      <p:sp>
        <p:nvSpPr>
          <p:cNvPr id="1028" name="Google Shape;1028;g2f264555a69_0_3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4"/>
              </a:rPr>
              <a:t>https://www.nanotec.com/eu/en/knowledge-base/stepper-motor-animation#</a:t>
            </a:r>
            <a:r>
              <a:rPr lang="en-GB" sz="1000"/>
              <a:t> </a:t>
            </a:r>
            <a:endParaRPr sz="1000"/>
          </a:p>
        </p:txBody>
      </p:sp>
      <p:sp>
        <p:nvSpPr>
          <p:cNvPr id="1029" name="Google Shape;1029;g2f264555a69_0_3"/>
          <p:cNvSpPr txBox="1"/>
          <p:nvPr/>
        </p:nvSpPr>
        <p:spPr>
          <a:xfrm>
            <a:off x="8239500" y="51576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Microstepping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2f264555a69_0_1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035" name="Google Shape;1035;g2f264555a69_0_1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36" name="Google Shape;1036;g2f264555a69_0_19"/>
          <p:cNvSpPr txBox="1"/>
          <p:nvPr/>
        </p:nvSpPr>
        <p:spPr>
          <a:xfrm>
            <a:off x="2087400" y="6426275"/>
            <a:ext cx="80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Image: </a:t>
            </a:r>
            <a:r>
              <a:rPr lang="en-GB" sz="1000" u="sng">
                <a:solidFill>
                  <a:schemeClr val="hlink"/>
                </a:solidFill>
                <a:hlinkClick r:id="rId3"/>
              </a:rPr>
              <a:t>https://www.nanotec.com/eu/en/knowledge-base/stepper-motor-animation#</a:t>
            </a:r>
            <a:r>
              <a:rPr lang="en-GB" sz="1000"/>
              <a:t> </a:t>
            </a:r>
            <a:endParaRPr sz="1000"/>
          </a:p>
        </p:txBody>
      </p:sp>
      <p:pic>
        <p:nvPicPr>
          <p:cNvPr id="1037" name="Google Shape;1037;g2f264555a69_0_19"/>
          <p:cNvPicPr preferRelativeResize="0"/>
          <p:nvPr/>
        </p:nvPicPr>
        <p:blipFill rotWithShape="1">
          <a:blip r:embed="rId4">
            <a:alphaModFix/>
          </a:blip>
          <a:srcRect b="14233" l="56427" r="0" t="46803"/>
          <a:stretch/>
        </p:blipFill>
        <p:spPr>
          <a:xfrm>
            <a:off x="7980100" y="264153"/>
            <a:ext cx="3800749" cy="241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g2f264555a69_0_19"/>
          <p:cNvSpPr txBox="1"/>
          <p:nvPr/>
        </p:nvSpPr>
        <p:spPr>
          <a:xfrm>
            <a:off x="8380463" y="-12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Half step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039" name="Google Shape;1039;g2f264555a69_0_19"/>
          <p:cNvSpPr txBox="1"/>
          <p:nvPr>
            <p:ph type="ctrTitle"/>
          </p:nvPr>
        </p:nvSpPr>
        <p:spPr>
          <a:xfrm>
            <a:off x="411175" y="936050"/>
            <a:ext cx="72264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Grey Code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2000"/>
              <a:t>“</a:t>
            </a:r>
            <a:r>
              <a:rPr b="0" i="1" lang="en-GB" sz="2000"/>
              <a:t>a binary numeral system where two successive values differ in only one bit.</a:t>
            </a:r>
            <a:r>
              <a:rPr b="0" i="1" lang="en-GB" sz="2000"/>
              <a:t>”</a:t>
            </a:r>
            <a:br>
              <a:rPr b="0" i="1" lang="en-GB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0" lang="en-GB" sz="2000"/>
              <a:t>T</a:t>
            </a:r>
            <a:r>
              <a:rPr b="0" lang="en-GB" sz="2000"/>
              <a:t>he stepping</a:t>
            </a:r>
            <a:r>
              <a:rPr b="0" lang="en-GB" sz="2000"/>
              <a:t> sequence pattern resembles a </a:t>
            </a:r>
            <a:r>
              <a:rPr lang="en-GB" sz="2000"/>
              <a:t>gray code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A</a:t>
            </a:r>
            <a:r>
              <a:rPr b="0" lang="en-GB" sz="2000"/>
              <a:t> form of binary that uses a different method of incrementing from one number to the next.</a:t>
            </a:r>
            <a:endParaRPr b="0"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GB" sz="2000"/>
              <a:t>Only a single bit changes at each transition</a:t>
            </a:r>
            <a:br>
              <a:rPr lang="en-GB" sz="2000"/>
            </a:b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R</a:t>
            </a:r>
            <a:r>
              <a:rPr b="0" lang="en-GB" sz="2000"/>
              <a:t>educ</a:t>
            </a:r>
            <a:r>
              <a:rPr lang="en-GB" sz="2000"/>
              <a:t>es</a:t>
            </a:r>
            <a:r>
              <a:rPr b="0" lang="en-GB" sz="2000"/>
              <a:t> the likelihood of errors during the transition.</a:t>
            </a:r>
            <a:endParaRPr b="0" sz="2000"/>
          </a:p>
        </p:txBody>
      </p:sp>
      <p:graphicFrame>
        <p:nvGraphicFramePr>
          <p:cNvPr id="1040" name="Google Shape;1040;g2f264555a69_0_19"/>
          <p:cNvGraphicFramePr/>
          <p:nvPr/>
        </p:nvGraphicFramePr>
        <p:xfrm>
          <a:off x="7853513" y="28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{E1C16A38-58B3-4CFE-88BA-426928C89110}</a:tableStyleId>
              </a:tblPr>
              <a:tblGrid>
                <a:gridCol w="771075"/>
                <a:gridCol w="771075"/>
                <a:gridCol w="963850"/>
                <a:gridCol w="257150"/>
                <a:gridCol w="1290775"/>
              </a:tblGrid>
              <a:tr h="109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FFFF"/>
                          </a:solidFill>
                        </a:rPr>
                        <a:t>Decimal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FFFF"/>
                          </a:solidFill>
                        </a:rPr>
                        <a:t>Binary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FFFF"/>
                          </a:solidFill>
                        </a:rPr>
                        <a:t>Gray Code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FFFF"/>
                          </a:solidFill>
                        </a:rPr>
                        <a:t>Stepping</a:t>
                      </a:r>
                      <a:r>
                        <a:rPr b="1" lang="en-GB" sz="1000">
                          <a:solidFill>
                            <a:srgbClr val="FFFFFF"/>
                          </a:solidFill>
                        </a:rPr>
                        <a:t> sequence 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000</a:t>
                      </a:r>
                      <a:r>
                        <a:rPr lang="en-GB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000</a:t>
                      </a:r>
                      <a:r>
                        <a:rPr lang="en-GB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000</a:t>
                      </a:r>
                      <a:r>
                        <a:rPr lang="en-GB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000</a:t>
                      </a:r>
                      <a:r>
                        <a:rPr lang="en-GB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0100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00</a:t>
                      </a:r>
                      <a:r>
                        <a:rPr lang="en-GB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00</a:t>
                      </a:r>
                      <a:r>
                        <a:rPr lang="en-GB" sz="1000"/>
                        <a:t>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0110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00</a:t>
                      </a:r>
                      <a:r>
                        <a:rPr lang="en-GB" sz="1000"/>
                        <a:t>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00</a:t>
                      </a:r>
                      <a:r>
                        <a:rPr lang="en-GB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0010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</a:t>
                      </a:r>
                      <a:r>
                        <a:rPr lang="en-GB" sz="1000"/>
                        <a:t>100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</a:t>
                      </a:r>
                      <a:r>
                        <a:rPr lang="en-GB" sz="1000"/>
                        <a:t>110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0011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</a:t>
                      </a:r>
                      <a:r>
                        <a:rPr lang="en-GB" sz="1000"/>
                        <a:t>101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</a:t>
                      </a:r>
                      <a:r>
                        <a:rPr lang="en-GB" sz="1000"/>
                        <a:t>111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0001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</a:t>
                      </a:r>
                      <a:r>
                        <a:rPr lang="en-GB" sz="1000"/>
                        <a:t>110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</a:t>
                      </a:r>
                      <a:r>
                        <a:rPr lang="en-GB" sz="1000"/>
                        <a:t>101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</a:t>
                      </a:r>
                      <a:r>
                        <a:rPr lang="en-GB" sz="1000"/>
                        <a:t>111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</a:t>
                      </a:r>
                      <a:r>
                        <a:rPr lang="en-GB" sz="1000"/>
                        <a:t>100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2f264555a69_0_38"/>
          <p:cNvSpPr txBox="1"/>
          <p:nvPr>
            <p:ph type="ctrTitle"/>
          </p:nvPr>
        </p:nvSpPr>
        <p:spPr>
          <a:xfrm>
            <a:off x="411175" y="1016000"/>
            <a:ext cx="6696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Key modules, classes and functions</a:t>
            </a:r>
            <a:endParaRPr sz="2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0" lang="en-GB" sz="12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Pin</a:t>
            </a:r>
            <a:r>
              <a:rPr lang="en-GB" sz="1200"/>
              <a:t> class: </a:t>
            </a:r>
            <a:r>
              <a:rPr b="0" lang="en-GB" sz="1200"/>
              <a:t>A pin object is used to control digital I/O pins</a:t>
            </a:r>
            <a:endParaRPr b="0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Constructor</a:t>
            </a:r>
            <a:endParaRPr sz="1200"/>
          </a:p>
          <a:p>
            <a:pPr indent="-3048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100">
                <a:solidFill>
                  <a:srgbClr val="0000FF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1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machine.Pin(id, mode=</a:t>
            </a:r>
            <a:r>
              <a:rPr lang="en-GB" sz="110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GB" sz="11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pull=</a:t>
            </a:r>
            <a:r>
              <a:rPr lang="en-GB" sz="110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GB" sz="11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*, value=</a:t>
            </a:r>
            <a:r>
              <a:rPr lang="en-GB" sz="1100">
                <a:solidFill>
                  <a:srgbClr val="0000FF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n-GB" sz="11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drive=</a:t>
            </a:r>
            <a:r>
              <a:rPr lang="en-GB" sz="110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1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alt=</a:t>
            </a:r>
            <a:r>
              <a:rPr lang="en-GB" sz="110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GB" sz="11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lang="en-GB" sz="12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b="0" sz="120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Example</a:t>
            </a:r>
            <a:r>
              <a:rPr b="0" lang="en-GB" sz="1200"/>
              <a:t>: </a:t>
            </a:r>
            <a:endParaRPr b="0" sz="12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Define GPIO Pins</a:t>
            </a:r>
            <a:r>
              <a:rPr lang="en-GB" sz="1100">
                <a:solidFill>
                  <a:schemeClr val="dk1"/>
                </a:solidFill>
              </a:rPr>
              <a:t>: The GPIO pins connected to the motor driver are defined as outputs.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Full-Step Sequence</a:t>
            </a:r>
            <a:r>
              <a:rPr lang="en-GB" sz="1100">
                <a:solidFill>
                  <a:schemeClr val="dk1"/>
                </a:solidFill>
              </a:rPr>
              <a:t>: The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full_step_sequence</a:t>
            </a:r>
            <a:r>
              <a:rPr lang="en-GB" sz="1100">
                <a:solidFill>
                  <a:schemeClr val="dk1"/>
                </a:solidFill>
              </a:rPr>
              <a:t> list contains the binary values for each full step. The sequence energizes two coils at a time, which ensures that the motor moves in full steps.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set_step Function</a:t>
            </a:r>
            <a:r>
              <a:rPr lang="en-GB" sz="1100">
                <a:solidFill>
                  <a:schemeClr val="dk1"/>
                </a:solidFill>
              </a:rPr>
              <a:t>: This function sets the GPIO pins' states according to the current step in the sequence.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rotate_full_step Function</a:t>
            </a:r>
            <a:r>
              <a:rPr lang="en-GB" sz="1100">
                <a:solidFill>
                  <a:schemeClr val="dk1"/>
                </a:solidFill>
              </a:rPr>
              <a:t>: This function loops through the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full_step_sequence</a:t>
            </a:r>
            <a:r>
              <a:rPr lang="en-GB" sz="1100">
                <a:solidFill>
                  <a:schemeClr val="dk1"/>
                </a:solidFill>
              </a:rPr>
              <a:t> to rotate the motor. The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steps</a:t>
            </a:r>
            <a:r>
              <a:rPr lang="en-GB" sz="1100">
                <a:solidFill>
                  <a:schemeClr val="dk1"/>
                </a:solidFill>
              </a:rPr>
              <a:t> parameter specifies the number of steps, and the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delay</a:t>
            </a:r>
            <a:r>
              <a:rPr lang="en-GB" sz="1100">
                <a:solidFill>
                  <a:schemeClr val="dk1"/>
                </a:solidFill>
              </a:rPr>
              <a:t> parameter specifies the delay between steps, controlling the speed of the motor.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Turning Off the Coils</a:t>
            </a:r>
            <a:r>
              <a:rPr lang="en-GB" sz="1100">
                <a:solidFill>
                  <a:schemeClr val="dk1"/>
                </a:solidFill>
              </a:rPr>
              <a:t>: After completing the rotation, the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set_step([0, 0, 0, 0])</a:t>
            </a:r>
            <a:r>
              <a:rPr lang="en-GB" sz="1100">
                <a:solidFill>
                  <a:schemeClr val="dk1"/>
                </a:solidFill>
              </a:rPr>
              <a:t> function call ensures that all coils are turned off to prevent unnecessary power consumption.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Example Usage</a:t>
            </a:r>
            <a:r>
              <a:rPr lang="en-GB" sz="1100">
                <a:solidFill>
                  <a:schemeClr val="dk1"/>
                </a:solidFill>
              </a:rPr>
              <a:t>: The motor is rotated 10 steps forward and then 10 steps backward, with a 10ms delay between each step.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46" name="Google Shape;1046;g2f264555a69_0_38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047" name="Google Shape;1047;g2f264555a69_0_38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048" name="Google Shape;1048;g2f264555a69_0_38"/>
          <p:cNvGraphicFramePr/>
          <p:nvPr/>
        </p:nvGraphicFramePr>
        <p:xfrm>
          <a:off x="7367538" y="28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4309800"/>
              </a:tblGrid>
              <a:tr h="32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Stepper</a:t>
                      </a:r>
                      <a:r>
                        <a:rPr b="1" lang="en-GB" sz="120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GB" sz="1200">
                          <a:solidFill>
                            <a:srgbClr val="FFFFFF"/>
                          </a:solidFill>
                        </a:rPr>
                        <a:t>motor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558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machine </a:t>
                      </a:r>
                      <a:r>
                        <a:rPr lang="en-GB" sz="80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Pin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time </a:t>
                      </a:r>
                      <a:r>
                        <a:rPr lang="en-GB" sz="80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sleep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Define the GPIO pins connected to the stepper motor driver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coil_A1 = Pin(</a:t>
                      </a:r>
                      <a:r>
                        <a:rPr lang="en-GB" sz="80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"GP0"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Pin.OUT)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coil_A2 = Pin(</a:t>
                      </a:r>
                      <a:r>
                        <a:rPr lang="en-GB" sz="80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"GP1"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Pin.OUT)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coil_B1 = Pin(</a:t>
                      </a:r>
                      <a:r>
                        <a:rPr lang="en-GB" sz="80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"GP2"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Pin.OUT)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coil_B2 = Pin(</a:t>
                      </a:r>
                      <a:r>
                        <a:rPr lang="en-GB" sz="80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"GP3"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Pin.OUT)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Define the full-step sequence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full_step_sequence = [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],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Step 0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],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Step 1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],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Step 2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],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Step 3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80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set_step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80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step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Set the GPIO outputs according to the step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coil_A1.value(step[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coil_A2.value(step[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coil_B1.value(step[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coil_B2.value(step[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80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rotate_full_step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80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steps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delay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Rotate the motor for a given number of steps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80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_ </a:t>
                      </a:r>
                      <a:r>
                        <a:rPr lang="en-GB" sz="80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80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range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(steps):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80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step </a:t>
                      </a:r>
                      <a:r>
                        <a:rPr lang="en-GB" sz="80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full_step_sequence: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set_step(step)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sleep(delay)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Turn off all coils after rotation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set_step([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Example usage: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rotate_full_step(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0.01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Rotate the motor 10 full steps</a:t>
                      </a:r>
                      <a:endParaRPr sz="800">
                        <a:solidFill>
                          <a:srgbClr val="AF00DB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3" name="Google Shape;1053;g2f264555a69_0_59"/>
          <p:cNvGraphicFramePr/>
          <p:nvPr/>
        </p:nvGraphicFramePr>
        <p:xfrm>
          <a:off x="7373138" y="758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{570E8BA9-356B-4163-899E-802C8855E5E2}</a:tableStyleId>
              </a:tblPr>
              <a:tblGrid>
                <a:gridCol w="4709925"/>
              </a:tblGrid>
              <a:tr h="30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FFFF"/>
                          </a:solidFill>
                        </a:rPr>
                        <a:t>Example: </a:t>
                      </a:r>
                      <a:r>
                        <a:rPr lang="en-GB" sz="1000">
                          <a:solidFill>
                            <a:srgbClr val="FFFFFF"/>
                          </a:solidFill>
                        </a:rPr>
                        <a:t>Stepper</a:t>
                      </a:r>
                      <a:r>
                        <a:rPr b="1" lang="en-GB" sz="100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GB" sz="1000">
                          <a:solidFill>
                            <a:srgbClr val="FFFFFF"/>
                          </a:solidFill>
                        </a:rPr>
                        <a:t>motor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591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machine </a:t>
                      </a:r>
                      <a:r>
                        <a:rPr lang="en-GB" sz="80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Pin, PWM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time </a:t>
                      </a:r>
                      <a:r>
                        <a:rPr lang="en-GB" sz="80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sleep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Define the GPIO pins connected to the stepper motor driver as PWM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coil_A1 = PWM(Pin(</a:t>
                      </a:r>
                      <a:r>
                        <a:rPr lang="en-GB" sz="80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"GP0"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Pin.OUT))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coil_A2 = PWM(Pin(</a:t>
                      </a:r>
                      <a:r>
                        <a:rPr lang="en-GB" sz="80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"GP1"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Pin.OUT))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coil_B1 = PWM(Pin(</a:t>
                      </a:r>
                      <a:r>
                        <a:rPr lang="en-GB" sz="80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"GP2"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Pin.OUT))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coil_B2 = PWM(Pin(</a:t>
                      </a:r>
                      <a:r>
                        <a:rPr lang="en-GB" sz="800">
                          <a:solidFill>
                            <a:srgbClr val="A31515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"GP3"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Pin.OUT))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Set the PWM frequency (a good starting point is 16 kHz)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coil_A1.freq(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16_000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coil_A2.freq(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16_000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coil_B1.freq(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16_000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coil_B2.freq(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16_000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Define the full-step sequence with 50% PWM duty cycles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full_step_sequence = [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0.5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0.5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],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Step 0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0.5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0.5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],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Step 1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0.5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0.5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],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Step 2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0.5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0.5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],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Step 3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80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set_step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80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step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Set the PWM duty cycle according to the step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coil_A1.duty_u16(</a:t>
                      </a:r>
                      <a:r>
                        <a:rPr lang="en-GB" sz="80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(step[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 *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65535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))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Convert to 16-bit duty cycle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coil_A2.duty_u16(</a:t>
                      </a:r>
                      <a:r>
                        <a:rPr lang="en-GB" sz="80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(step[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 *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65535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coil_B1.duty_u16(</a:t>
                      </a:r>
                      <a:r>
                        <a:rPr lang="en-GB" sz="80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(step[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 *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65535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coil_B2.duty_u16(</a:t>
                      </a:r>
                      <a:r>
                        <a:rPr lang="en-GB" sz="800">
                          <a:solidFill>
                            <a:srgbClr val="257693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(step[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 *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65535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80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rotate_full_step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80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steps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00108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delay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Rotate the motor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-GB" sz="80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_ </a:t>
                      </a:r>
                      <a:r>
                        <a:rPr lang="en-GB" sz="80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80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range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GB" sz="800">
                          <a:solidFill>
                            <a:srgbClr val="795E26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abs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(steps)):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-GB" sz="800">
                          <a:solidFill>
                            <a:srgbClr val="AF00DB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step </a:t>
                      </a:r>
                      <a:r>
                        <a:rPr lang="en-GB" sz="800">
                          <a:solidFill>
                            <a:srgbClr val="0000FF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full_step_sequence: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set_step(step)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sleep(delay)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set_step([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])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Turn off all coils after rotation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rotate_full_step(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-GB" sz="800">
                          <a:solidFill>
                            <a:srgbClr val="116644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0.01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  </a:t>
                      </a:r>
                      <a:r>
                        <a:rPr lang="en-GB" sz="800">
                          <a:solidFill>
                            <a:srgbClr val="008000"/>
                          </a:solidFill>
                          <a:highlight>
                            <a:srgbClr val="F7F7F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Rotate the motor 50 full steps seqeunces</a:t>
                      </a:r>
                      <a:endParaRPr sz="800">
                        <a:solidFill>
                          <a:srgbClr val="008000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AF00DB"/>
                        </a:solidFill>
                        <a:highlight>
                          <a:srgbClr val="F7F7F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54" name="Google Shape;1054;g2f264555a69_0_59"/>
          <p:cNvSpPr txBox="1"/>
          <p:nvPr>
            <p:ph type="ctrTitle"/>
          </p:nvPr>
        </p:nvSpPr>
        <p:spPr>
          <a:xfrm>
            <a:off x="411175" y="1016000"/>
            <a:ext cx="6696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Key modules, classes and functions</a:t>
            </a:r>
            <a:endParaRPr sz="2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0" lang="en-GB" sz="1200" u="sng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PWM</a:t>
            </a:r>
            <a:r>
              <a:rPr lang="en-GB" sz="1200"/>
              <a:t> class: </a:t>
            </a:r>
            <a:r>
              <a:rPr b="0" lang="en-GB" sz="1200"/>
              <a:t>A PWM object provides pulse width modulation output.</a:t>
            </a:r>
            <a:br>
              <a:rPr b="0" lang="en-GB" sz="1200"/>
            </a:br>
            <a:endParaRPr b="0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Constructor</a:t>
            </a:r>
            <a:endParaRPr sz="12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0" lang="en-GB" sz="1100">
                <a:solidFill>
                  <a:srgbClr val="0000FF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GB" sz="110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machine.PWM(dest, *, freq, duty_u16, duty_ns, invert)</a:t>
            </a:r>
            <a:br>
              <a:rPr lang="en-GB" sz="11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b="0" sz="110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Example</a:t>
            </a:r>
            <a:r>
              <a:rPr b="0" lang="en-GB" sz="1200"/>
              <a:t>: </a:t>
            </a:r>
            <a:endParaRPr b="0" sz="12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PWM Setup</a:t>
            </a:r>
            <a:r>
              <a:rPr lang="en-GB" sz="1100">
                <a:solidFill>
                  <a:schemeClr val="dk1"/>
                </a:solidFill>
              </a:rPr>
              <a:t>: Each GPIO pin connected to the stepper motor is configured as a PWM output. The frequency is set to 16 kHz, which is a good starting point.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Full-Step Sequence with PWM</a:t>
            </a:r>
            <a:r>
              <a:rPr lang="en-GB" sz="1100">
                <a:solidFill>
                  <a:schemeClr val="dk1"/>
                </a:solidFill>
              </a:rPr>
              <a:t>: The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full_step_sequence</a:t>
            </a:r>
            <a:r>
              <a:rPr lang="en-GB" sz="1100">
                <a:solidFill>
                  <a:schemeClr val="dk1"/>
                </a:solidFill>
              </a:rPr>
              <a:t> now includes PWM duty cycles instead of simple binary values. The duty cycle values are represented as percentage (0 = 0% → 1 = 100%), which correspond to the motor coil's current level.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set_step Function</a:t>
            </a:r>
            <a:r>
              <a:rPr lang="en-GB" sz="1100">
                <a:solidFill>
                  <a:schemeClr val="dk1"/>
                </a:solidFill>
              </a:rPr>
              <a:t>: This function sets the PWM duty cycle for each coil according to the current step. The duty cycle is multiplied by 65535 to convert it into the 16-bit format expected by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duty_u16()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rotate_full_step Function</a:t>
            </a:r>
            <a:r>
              <a:rPr lang="en-GB" sz="1100">
                <a:solidFill>
                  <a:schemeClr val="dk1"/>
                </a:solidFill>
              </a:rPr>
              <a:t>: This function rotates the motor for a given number of steps, with a specified delay between each step. It runs the full-step sequence in the forward or reverse direction, depending on the sign of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steps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Turning Off the Coils</a:t>
            </a:r>
            <a:r>
              <a:rPr lang="en-GB" sz="1100">
                <a:solidFill>
                  <a:schemeClr val="dk1"/>
                </a:solidFill>
              </a:rPr>
              <a:t>: After completing the rotation, the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set_step([0, 0, 0, 0])</a:t>
            </a:r>
            <a:r>
              <a:rPr lang="en-GB" sz="1100">
                <a:solidFill>
                  <a:schemeClr val="dk1"/>
                </a:solidFill>
              </a:rPr>
              <a:t> function call ensures that all coils are turned off to prevent unnecessary power consumption.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br>
              <a:rPr b="1" lang="en-GB" sz="1100">
                <a:solidFill>
                  <a:schemeClr val="dk1"/>
                </a:solidFill>
              </a:rPr>
            </a:br>
            <a:r>
              <a:rPr b="1" lang="en-GB" sz="1100">
                <a:solidFill>
                  <a:schemeClr val="dk1"/>
                </a:solidFill>
              </a:rPr>
              <a:t>Example Usage</a:t>
            </a:r>
            <a:r>
              <a:rPr lang="en-GB" sz="1100">
                <a:solidFill>
                  <a:schemeClr val="dk1"/>
                </a:solidFill>
              </a:rPr>
              <a:t>: The motor is rotated 10 steps forward and then 10 steps backward, with a 10ms delay between each step.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55" name="Google Shape;1055;g2f264555a69_0_5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056" name="Google Shape;1056;g2f264555a69_0_5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f264555a69_0_78"/>
          <p:cNvSpPr txBox="1"/>
          <p:nvPr>
            <p:ph type="ctrTitle"/>
          </p:nvPr>
        </p:nvSpPr>
        <p:spPr>
          <a:xfrm>
            <a:off x="411175" y="936050"/>
            <a:ext cx="104982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4800"/>
              <a:t>Extra Credit Activities #2: 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4800"/>
              <a:t>Stepper Motor Controller class</a:t>
            </a:r>
            <a:endParaRPr sz="2000"/>
          </a:p>
        </p:txBody>
      </p:sp>
      <p:sp>
        <p:nvSpPr>
          <p:cNvPr id="1062" name="Google Shape;1062;g2f264555a69_0_78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063" name="Google Shape;1063;g2f264555a69_0_78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061f14cd5a_0_0"/>
          <p:cNvSpPr txBox="1"/>
          <p:nvPr>
            <p:ph type="ctrTitle"/>
          </p:nvPr>
        </p:nvSpPr>
        <p:spPr>
          <a:xfrm>
            <a:off x="411175" y="936050"/>
            <a:ext cx="104982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800"/>
              <a:t>Test setup</a:t>
            </a:r>
            <a:endParaRPr sz="2000"/>
          </a:p>
        </p:txBody>
      </p:sp>
      <p:sp>
        <p:nvSpPr>
          <p:cNvPr id="1069" name="Google Shape;1069;g3061f14cd5a_0_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070" name="Google Shape;1070;g3061f14cd5a_0_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069c0c8589_0_99"/>
          <p:cNvSpPr txBox="1"/>
          <p:nvPr>
            <p:ph type="ctrTitle"/>
          </p:nvPr>
        </p:nvSpPr>
        <p:spPr>
          <a:xfrm>
            <a:off x="411175" y="936050"/>
            <a:ext cx="104982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800"/>
              <a:t>Test setup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</p:txBody>
      </p:sp>
      <p:sp>
        <p:nvSpPr>
          <p:cNvPr id="1076" name="Google Shape;1076;g3069c0c8589_0_99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077" name="Google Shape;1077;g3069c0c8589_0_99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78" name="Google Shape;1078;g3069c0c8589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512" y="1700225"/>
            <a:ext cx="6797517" cy="5098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g3069c0c8589_0_99"/>
          <p:cNvSpPr/>
          <p:nvPr/>
        </p:nvSpPr>
        <p:spPr>
          <a:xfrm>
            <a:off x="5356175" y="2224150"/>
            <a:ext cx="3556200" cy="2301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highlight>
                  <a:srgbClr val="FFFFFF"/>
                </a:highlight>
              </a:rPr>
              <a:t>Practice PCB</a:t>
            </a:r>
            <a:endParaRPr b="1" sz="240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069c0c8589_0_107"/>
          <p:cNvSpPr txBox="1"/>
          <p:nvPr>
            <p:ph type="ctrTitle"/>
          </p:nvPr>
        </p:nvSpPr>
        <p:spPr>
          <a:xfrm>
            <a:off x="411175" y="936050"/>
            <a:ext cx="104982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800"/>
              <a:t>Test setup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</p:txBody>
      </p:sp>
      <p:sp>
        <p:nvSpPr>
          <p:cNvPr id="1085" name="Google Shape;1085;g3069c0c8589_0_107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086" name="Google Shape;1086;g3069c0c8589_0_107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87" name="Google Shape;1087;g3069c0c8589_0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512" y="1700225"/>
            <a:ext cx="6797517" cy="5098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g3069c0c8589_0_107"/>
          <p:cNvSpPr/>
          <p:nvPr/>
        </p:nvSpPr>
        <p:spPr>
          <a:xfrm>
            <a:off x="5838225" y="4316100"/>
            <a:ext cx="3556200" cy="2301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highlight>
                  <a:schemeClr val="lt1"/>
                </a:highlight>
              </a:rPr>
              <a:t>Stepper motor</a:t>
            </a:r>
            <a:endParaRPr b="1" sz="240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highlight>
                  <a:schemeClr val="lt1"/>
                </a:highlight>
              </a:rPr>
              <a:t>(with tape)</a:t>
            </a:r>
            <a:endParaRPr b="1" sz="24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069c0c8589_0_115"/>
          <p:cNvSpPr txBox="1"/>
          <p:nvPr>
            <p:ph type="ctrTitle"/>
          </p:nvPr>
        </p:nvSpPr>
        <p:spPr>
          <a:xfrm>
            <a:off x="411175" y="936050"/>
            <a:ext cx="104982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800"/>
              <a:t>Test setup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/>
          </a:p>
        </p:txBody>
      </p:sp>
      <p:sp>
        <p:nvSpPr>
          <p:cNvPr id="1094" name="Google Shape;1094;g3069c0c8589_0_11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095" name="Google Shape;1095;g3069c0c8589_0_115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96" name="Google Shape;1096;g3069c0c8589_0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512" y="1700225"/>
            <a:ext cx="6797517" cy="5098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g3069c0c8589_0_115"/>
          <p:cNvSpPr/>
          <p:nvPr/>
        </p:nvSpPr>
        <p:spPr>
          <a:xfrm>
            <a:off x="2409225" y="2278350"/>
            <a:ext cx="3556200" cy="4093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highlight>
                  <a:schemeClr val="lt1"/>
                </a:highlight>
              </a:rPr>
              <a:t>Power Supply </a:t>
            </a:r>
            <a:endParaRPr b="1" sz="240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highlight>
                  <a:schemeClr val="lt1"/>
                </a:highlight>
              </a:rPr>
              <a:t>(18V/1A)</a:t>
            </a:r>
            <a:endParaRPr b="1" sz="24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0662458056_0_0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103" name="Google Shape;1103;g30662458056_0_0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04" name="Google Shape;1104;g30662458056_0_0"/>
          <p:cNvSpPr txBox="1"/>
          <p:nvPr/>
        </p:nvSpPr>
        <p:spPr>
          <a:xfrm>
            <a:off x="2324450" y="6287825"/>
            <a:ext cx="75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Full stepper: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https://photos.app.goo.gl/hCaH4DwYtxyzFBie9</a:t>
            </a:r>
            <a:r>
              <a:rPr lang="en-GB"/>
              <a:t> </a:t>
            </a:r>
            <a:endParaRPr/>
          </a:p>
        </p:txBody>
      </p:sp>
      <p:pic>
        <p:nvPicPr>
          <p:cNvPr id="1105" name="Google Shape;1105;g30662458056_0_0" title="full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6838" y="1024430"/>
            <a:ext cx="8898325" cy="480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Google Shape;1110;g30662458056_0_15" title="half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6850" y="1016000"/>
            <a:ext cx="8898325" cy="4817573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g30662458056_0_15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112" name="Google Shape;1112;g30662458056_0_15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13" name="Google Shape;1113;g30662458056_0_15"/>
          <p:cNvSpPr txBox="1"/>
          <p:nvPr/>
        </p:nvSpPr>
        <p:spPr>
          <a:xfrm>
            <a:off x="2324450" y="6287825"/>
            <a:ext cx="75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Half stepper: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https://photos.app.goo.gl/WK56r75MM9Zwzdr16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g30662458056_0_21" title="micr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6850" y="1024425"/>
            <a:ext cx="8898325" cy="48091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g30662458056_0_21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120" name="Google Shape;1120;g30662458056_0_21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1" name="Google Shape;1121;g30662458056_0_21"/>
          <p:cNvSpPr txBox="1"/>
          <p:nvPr/>
        </p:nvSpPr>
        <p:spPr>
          <a:xfrm>
            <a:off x="2324450" y="6287825"/>
            <a:ext cx="75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Micro stepper: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https://photos.app.goo.gl/UL5M3smoSGfwaNX97</a:t>
            </a:r>
            <a:r>
              <a:rPr lang="en-GB"/>
              <a:t> </a:t>
            </a:r>
            <a:r>
              <a:rPr lang="en-GB">
                <a:solidFill>
                  <a:srgbClr val="9E9E9E"/>
                </a:solidFill>
              </a:rPr>
              <a:t>(</a:t>
            </a:r>
            <a:r>
              <a:rPr lang="en-GB" u="sng">
                <a:solidFill>
                  <a:srgbClr val="9E9E9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solution</a:t>
            </a:r>
            <a:r>
              <a:rPr lang="en-GB">
                <a:solidFill>
                  <a:srgbClr val="9E9E9E"/>
                </a:solidFill>
              </a:rPr>
              <a:t>)</a:t>
            </a:r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0662458056_0_34"/>
          <p:cNvSpPr txBox="1"/>
          <p:nvPr>
            <p:ph type="ctrTitle"/>
          </p:nvPr>
        </p:nvSpPr>
        <p:spPr>
          <a:xfrm>
            <a:off x="411175" y="936050"/>
            <a:ext cx="104982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800"/>
              <a:t>Demo using Thonny</a:t>
            </a:r>
            <a:endParaRPr sz="2000"/>
          </a:p>
        </p:txBody>
      </p:sp>
      <p:sp>
        <p:nvSpPr>
          <p:cNvPr id="1127" name="Google Shape;1127;g30662458056_0_34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128" name="Google Shape;1128;g30662458056_0_34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f0fe8c690b_0_63"/>
          <p:cNvSpPr txBox="1"/>
          <p:nvPr>
            <p:ph type="ctrTitle"/>
          </p:nvPr>
        </p:nvSpPr>
        <p:spPr>
          <a:xfrm>
            <a:off x="411175" y="936050"/>
            <a:ext cx="104982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4800"/>
              <a:t>Assignments</a:t>
            </a:r>
            <a:endParaRPr b="0" sz="4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2000"/>
          </a:p>
        </p:txBody>
      </p:sp>
      <p:sp>
        <p:nvSpPr>
          <p:cNvPr id="1134" name="Google Shape;1134;g2f0fe8c690b_0_63"/>
          <p:cNvSpPr txBox="1"/>
          <p:nvPr>
            <p:ph idx="10" type="dt"/>
          </p:nvPr>
        </p:nvSpPr>
        <p:spPr>
          <a:xfrm>
            <a:off x="0" y="6912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15/05/2019</a:t>
            </a:r>
            <a:endParaRPr/>
          </a:p>
        </p:txBody>
      </p:sp>
      <p:sp>
        <p:nvSpPr>
          <p:cNvPr id="1135" name="Google Shape;1135;g2f0fe8c690b_0_63"/>
          <p:cNvSpPr txBox="1"/>
          <p:nvPr>
            <p:ph idx="12" type="sldNum"/>
          </p:nvPr>
        </p:nvSpPr>
        <p:spPr>
          <a:xfrm>
            <a:off x="113328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ank">
  <a:themeElements>
    <a:clrScheme name="SDU">
      <a:dk1>
        <a:srgbClr val="000000"/>
      </a:dk1>
      <a:lt1>
        <a:srgbClr val="FFFFFF"/>
      </a:lt1>
      <a:dk2>
        <a:srgbClr val="7A6040"/>
      </a:dk2>
      <a:lt2>
        <a:srgbClr val="DDCBA4"/>
      </a:lt2>
      <a:accent1>
        <a:srgbClr val="AEB862"/>
      </a:accent1>
      <a:accent2>
        <a:srgbClr val="789D4A"/>
      </a:accent2>
      <a:accent3>
        <a:srgbClr val="F2C75C"/>
      </a:accent3>
      <a:accent4>
        <a:srgbClr val="E07E3C"/>
      </a:accent4>
      <a:accent5>
        <a:srgbClr val="E1BBB4"/>
      </a:accent5>
      <a:accent6>
        <a:srgbClr val="D05A5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2019-01-15T10:32:39Z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2019-03-26T09:32:31.2904676Z</vt:lpwstr>
  </property>
  <property fmtid="{D5CDD505-2E9C-101B-9397-08002B2CF9AE}" pid="3" name="TemplafyTenantId">
    <vt:lpwstr>sdu</vt:lpwstr>
  </property>
  <property fmtid="{D5CDD505-2E9C-101B-9397-08002B2CF9AE}" pid="4" name="TemplafyTemplateId">
    <vt:lpwstr>636891894186761813</vt:lpwstr>
  </property>
  <property fmtid="{D5CDD505-2E9C-101B-9397-08002B2CF9AE}" pid="5" name="TemplafyUserProfileId">
    <vt:lpwstr>637552994138646760</vt:lpwstr>
  </property>
  <property fmtid="{D5CDD505-2E9C-101B-9397-08002B2CF9AE}" pid="6" name="TemplafyLanguageCode">
    <vt:lpwstr>en-GB</vt:lpwstr>
  </property>
</Properties>
</file>